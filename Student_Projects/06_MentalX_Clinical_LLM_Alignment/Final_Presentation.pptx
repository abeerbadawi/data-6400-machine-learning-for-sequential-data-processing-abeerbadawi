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Raleway"/>
      <p:regular r:id="rId31"/>
      <p:bold r:id="rId32"/>
      <p:italic r:id="rId33"/>
      <p:boldItalic r:id="rId34"/>
    </p:embeddedFont>
    <p:embeddedFont>
      <p:font typeface="Anaheim"/>
      <p:regular r:id="rId35"/>
      <p:bold r:id="rId36"/>
    </p:embeddedFont>
    <p:embeddedFont>
      <p:font typeface="Cairo"/>
      <p:regular r:id="rId37"/>
      <p:bold r:id="rId38"/>
    </p:embeddedFont>
    <p:embeddedFont>
      <p:font typeface="Space Grotesk Medium"/>
      <p:regular r:id="rId39"/>
      <p:bold r:id="rId40"/>
    </p:embeddedFont>
    <p:embeddedFont>
      <p:font typeface="PT Sans"/>
      <p:regular r:id="rId41"/>
      <p:bold r:id="rId42"/>
      <p:italic r:id="rId43"/>
      <p:boldItalic r:id="rId44"/>
    </p:embeddedFont>
    <p:embeddedFont>
      <p:font typeface="Space Grotesk"/>
      <p:regular r:id="rId45"/>
      <p:bold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jHjpdE36XSb1g7JQVFVtYY6Wrw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FB9743-5CBF-4F99-AFBA-8D4838ED25C9}">
  <a:tblStyle styleId="{91FB9743-5CBF-4F99-AFBA-8D4838ED25C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8470163-4DC5-4E25-A939-496A2A0D2DF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Medium-bold.fntdata"/><Relationship Id="rId20" Type="http://schemas.openxmlformats.org/officeDocument/2006/relationships/slide" Target="slides/slide15.xml"/><Relationship Id="rId42" Type="http://schemas.openxmlformats.org/officeDocument/2006/relationships/font" Target="fonts/PTSans-bold.fntdata"/><Relationship Id="rId41" Type="http://schemas.openxmlformats.org/officeDocument/2006/relationships/font" Target="fonts/PTSans-regular.fntdata"/><Relationship Id="rId22" Type="http://schemas.openxmlformats.org/officeDocument/2006/relationships/slide" Target="slides/slide17.xml"/><Relationship Id="rId44" Type="http://schemas.openxmlformats.org/officeDocument/2006/relationships/font" Target="fonts/PT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PTSans-italic.fntdata"/><Relationship Id="rId24" Type="http://schemas.openxmlformats.org/officeDocument/2006/relationships/slide" Target="slides/slide19.xml"/><Relationship Id="rId46" Type="http://schemas.openxmlformats.org/officeDocument/2006/relationships/font" Target="fonts/SpaceGrotesk-bold.fntdata"/><Relationship Id="rId23" Type="http://schemas.openxmlformats.org/officeDocument/2006/relationships/slide" Target="slides/slide18.xml"/><Relationship Id="rId45" Type="http://schemas.openxmlformats.org/officeDocument/2006/relationships/font" Target="fonts/SpaceGrotesk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italic.fntdata"/><Relationship Id="rId10" Type="http://schemas.openxmlformats.org/officeDocument/2006/relationships/slide" Target="slides/slide5.xml"/><Relationship Id="rId32" Type="http://schemas.openxmlformats.org/officeDocument/2006/relationships/font" Target="fonts/Raleway-bold.fntdata"/><Relationship Id="rId13" Type="http://schemas.openxmlformats.org/officeDocument/2006/relationships/slide" Target="slides/slide8.xml"/><Relationship Id="rId35" Type="http://schemas.openxmlformats.org/officeDocument/2006/relationships/font" Target="fonts/Anaheim-regular.fntdata"/><Relationship Id="rId12" Type="http://schemas.openxmlformats.org/officeDocument/2006/relationships/slide" Target="slides/slide7.xml"/><Relationship Id="rId34" Type="http://schemas.openxmlformats.org/officeDocument/2006/relationships/font" Target="fonts/Raleway-boldItalic.fntdata"/><Relationship Id="rId15" Type="http://schemas.openxmlformats.org/officeDocument/2006/relationships/slide" Target="slides/slide10.xml"/><Relationship Id="rId37" Type="http://schemas.openxmlformats.org/officeDocument/2006/relationships/font" Target="fonts/Cairo-regular.fntdata"/><Relationship Id="rId14" Type="http://schemas.openxmlformats.org/officeDocument/2006/relationships/slide" Target="slides/slide9.xml"/><Relationship Id="rId36" Type="http://schemas.openxmlformats.org/officeDocument/2006/relationships/font" Target="fonts/Anaheim-bold.fntdata"/><Relationship Id="rId17" Type="http://schemas.openxmlformats.org/officeDocument/2006/relationships/slide" Target="slides/slide12.xml"/><Relationship Id="rId39" Type="http://schemas.openxmlformats.org/officeDocument/2006/relationships/font" Target="fonts/SpaceGroteskMedium-regular.fntdata"/><Relationship Id="rId16" Type="http://schemas.openxmlformats.org/officeDocument/2006/relationships/slide" Target="slides/slide11.xml"/><Relationship Id="rId38" Type="http://schemas.openxmlformats.org/officeDocument/2006/relationships/font" Target="fonts/Cair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7"/>
          <p:cNvSpPr txBox="1"/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" type="subTitle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" name="Google Shape;1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" name="Google Shape;15;p28"/>
          <p:cNvSpPr txBox="1"/>
          <p:nvPr>
            <p:ph idx="3" type="title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" name="Google Shape;16;p28"/>
          <p:cNvSpPr txBox="1"/>
          <p:nvPr>
            <p:ph idx="4" type="title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" name="Google Shape;17;p28"/>
          <p:cNvSpPr txBox="1"/>
          <p:nvPr>
            <p:ph idx="5" type="title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" name="Google Shape;18;p28"/>
          <p:cNvSpPr txBox="1"/>
          <p:nvPr>
            <p:ph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" name="Google Shape;19;p28"/>
          <p:cNvSpPr txBox="1"/>
          <p:nvPr>
            <p:ph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" name="Google Shape;20;p28"/>
          <p:cNvSpPr txBox="1"/>
          <p:nvPr>
            <p:ph idx="1" type="subTitle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28"/>
          <p:cNvSpPr txBox="1"/>
          <p:nvPr>
            <p:ph idx="8" type="subTitle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28"/>
          <p:cNvSpPr txBox="1"/>
          <p:nvPr>
            <p:ph idx="9" type="subTitle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28"/>
          <p:cNvSpPr txBox="1"/>
          <p:nvPr>
            <p:ph idx="13" type="subTitle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28"/>
          <p:cNvSpPr txBox="1"/>
          <p:nvPr>
            <p:ph idx="14" type="subTitle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28"/>
          <p:cNvSpPr txBox="1"/>
          <p:nvPr>
            <p:ph idx="15" type="subTitle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6" name="Google Shape;26;p28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27" name="Google Shape;27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" name="Google Shape;29;p28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0" name="Google Shape;30;p2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" name="Google Shape;34;p29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30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38" name="Google Shape;38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" name="Google Shape;40;p30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41" name="Google Shape;41;p3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" type="subTitle"/>
          </p:nvPr>
        </p:nvSpPr>
        <p:spPr>
          <a:xfrm>
            <a:off x="1225674" y="1659425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2" type="subTitle"/>
          </p:nvPr>
        </p:nvSpPr>
        <p:spPr>
          <a:xfrm>
            <a:off x="5052125" y="1659425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3" type="subTitle"/>
          </p:nvPr>
        </p:nvSpPr>
        <p:spPr>
          <a:xfrm>
            <a:off x="1225674" y="3320000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4" type="subTitle"/>
          </p:nvPr>
        </p:nvSpPr>
        <p:spPr>
          <a:xfrm>
            <a:off x="5052125" y="3320000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5" type="subTitle"/>
          </p:nvPr>
        </p:nvSpPr>
        <p:spPr>
          <a:xfrm>
            <a:off x="1225675" y="13316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9" name="Google Shape;49;p30"/>
          <p:cNvSpPr txBox="1"/>
          <p:nvPr>
            <p:ph idx="6" type="subTitle"/>
          </p:nvPr>
        </p:nvSpPr>
        <p:spPr>
          <a:xfrm>
            <a:off x="1225675" y="29922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30"/>
          <p:cNvSpPr txBox="1"/>
          <p:nvPr>
            <p:ph idx="7" type="subTitle"/>
          </p:nvPr>
        </p:nvSpPr>
        <p:spPr>
          <a:xfrm>
            <a:off x="5052099" y="13316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1" name="Google Shape;51;p30"/>
          <p:cNvSpPr txBox="1"/>
          <p:nvPr>
            <p:ph idx="8" type="subTitle"/>
          </p:nvPr>
        </p:nvSpPr>
        <p:spPr>
          <a:xfrm>
            <a:off x="5052099" y="29922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3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4" name="Google Shape;54;p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" name="Google Shape;56;p31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7" name="Google Shape;57;p3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subTitle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2" type="subTitle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3" type="subTitle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4" type="subTitle"/>
          </p:nvPr>
        </p:nvSpPr>
        <p:spPr>
          <a:xfrm>
            <a:off x="865525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4" name="Google Shape;64;p31"/>
          <p:cNvSpPr txBox="1"/>
          <p:nvPr>
            <p:ph idx="5" type="subTitle"/>
          </p:nvPr>
        </p:nvSpPr>
        <p:spPr>
          <a:xfrm>
            <a:off x="3433878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5" name="Google Shape;65;p31"/>
          <p:cNvSpPr txBox="1"/>
          <p:nvPr>
            <p:ph idx="6" type="subTitle"/>
          </p:nvPr>
        </p:nvSpPr>
        <p:spPr>
          <a:xfrm>
            <a:off x="6002231" y="2046500"/>
            <a:ext cx="2189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" type="subTitle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2" type="subTitle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3" type="subTitle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1" name="Google Shape;71;p32"/>
          <p:cNvSpPr txBox="1"/>
          <p:nvPr>
            <p:ph idx="4" type="subTitle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72" name="Google Shape;72;p32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73" name="Google Shape;73;p3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" name="Google Shape;75;p32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76" name="Google Shape;76;p32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2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33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80" name="Google Shape;80;p3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" name="Google Shape;82;p33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83" name="Google Shape;83;p3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" name="Google Shape;85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4"/>
          <p:cNvSpPr txBox="1"/>
          <p:nvPr>
            <p:ph type="title"/>
          </p:nvPr>
        </p:nvSpPr>
        <p:spPr>
          <a:xfrm>
            <a:off x="1200575" y="2266166"/>
            <a:ext cx="2739300" cy="66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34"/>
          <p:cNvSpPr txBox="1"/>
          <p:nvPr>
            <p:ph idx="1" type="subTitle"/>
          </p:nvPr>
        </p:nvSpPr>
        <p:spPr>
          <a:xfrm>
            <a:off x="1200575" y="2948884"/>
            <a:ext cx="273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9" name="Google Shape;89;p34"/>
          <p:cNvSpPr txBox="1"/>
          <p:nvPr>
            <p:ph idx="2" type="title"/>
          </p:nvPr>
        </p:nvSpPr>
        <p:spPr>
          <a:xfrm>
            <a:off x="1200575" y="977950"/>
            <a:ext cx="2739300" cy="66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34"/>
          <p:cNvSpPr txBox="1"/>
          <p:nvPr>
            <p:ph idx="3" type="subTitle"/>
          </p:nvPr>
        </p:nvSpPr>
        <p:spPr>
          <a:xfrm>
            <a:off x="1200575" y="1669422"/>
            <a:ext cx="2739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91" name="Google Shape;91;p34"/>
          <p:cNvSpPr txBox="1"/>
          <p:nvPr>
            <p:ph idx="4" type="title"/>
          </p:nvPr>
        </p:nvSpPr>
        <p:spPr>
          <a:xfrm>
            <a:off x="1200575" y="3555582"/>
            <a:ext cx="2739300" cy="66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34"/>
          <p:cNvSpPr txBox="1"/>
          <p:nvPr>
            <p:ph idx="5" type="subTitle"/>
          </p:nvPr>
        </p:nvSpPr>
        <p:spPr>
          <a:xfrm>
            <a:off x="1200575" y="4238300"/>
            <a:ext cx="273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93" name="Google Shape;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/>
          <p:nvPr>
            <p:ph type="title"/>
          </p:nvPr>
        </p:nvSpPr>
        <p:spPr>
          <a:xfrm>
            <a:off x="713225" y="747263"/>
            <a:ext cx="32817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" name="Google Shape;96;p35"/>
          <p:cNvSpPr txBox="1"/>
          <p:nvPr>
            <p:ph idx="1" type="subTitle"/>
          </p:nvPr>
        </p:nvSpPr>
        <p:spPr>
          <a:xfrm>
            <a:off x="713225" y="1584449"/>
            <a:ext cx="3281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97" name="Google Shape;9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5"/>
          <p:cNvSpPr txBox="1"/>
          <p:nvPr/>
        </p:nvSpPr>
        <p:spPr>
          <a:xfrm>
            <a:off x="713225" y="3410538"/>
            <a:ext cx="32787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This presentation template was created by </a:t>
            </a:r>
            <a:r>
              <a:rPr b="1" i="0" lang="en" sz="1000" u="sng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includes icons by </a:t>
            </a:r>
            <a:r>
              <a:rPr b="1" i="0" lang="en" sz="1000" u="sng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b="1" i="0" lang="en" sz="1000" u="sng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en" sz="1000" u="sng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36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01" name="Google Shape;101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" name="Google Shape;104;p36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05" name="Google Shape;105;p36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06" name="Google Shape;106;p3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0" name="Google Shape;110;p37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111" name="Google Shape;111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" name="Google Shape;113;p37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14" name="Google Shape;114;p3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/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8" name="Google Shape;118;p38"/>
          <p:cNvSpPr txBox="1"/>
          <p:nvPr>
            <p:ph idx="1" type="subTitle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119" name="Google Shape;119;p38"/>
          <p:cNvSpPr/>
          <p:nvPr>
            <p:ph idx="2" type="pic"/>
          </p:nvPr>
        </p:nvSpPr>
        <p:spPr>
          <a:xfrm>
            <a:off x="5088475" y="770400"/>
            <a:ext cx="3081600" cy="360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20" name="Google Shape;120;p38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21" name="Google Shape;121;p3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38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24" name="Google Shape;124;p3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39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128" name="Google Shape;128;p3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39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131" name="Google Shape;131;p3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39"/>
          <p:cNvSpPr txBox="1"/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40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136" name="Google Shape;136;p4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40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39" name="Google Shape;139;p4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1" name="Google Shape;141;p40"/>
          <p:cNvSpPr txBox="1"/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40"/>
          <p:cNvSpPr txBox="1"/>
          <p:nvPr>
            <p:ph idx="1" type="subTitle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41"/>
          <p:cNvSpPr txBox="1"/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46" name="Google Shape;146;p41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147" name="Google Shape;147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9" name="Google Shape;149;p41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150" name="Google Shape;150;p41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151" name="Google Shape;151;p41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41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p41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154" name="Google Shape;154;p41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1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2"/>
          <p:cNvSpPr txBox="1"/>
          <p:nvPr>
            <p:ph hasCustomPrompt="1" type="title"/>
          </p:nvPr>
        </p:nvSpPr>
        <p:spPr>
          <a:xfrm>
            <a:off x="4076350" y="2296400"/>
            <a:ext cx="3843300" cy="108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8" name="Google Shape;158;p42"/>
          <p:cNvSpPr txBox="1"/>
          <p:nvPr>
            <p:ph idx="1" type="subTitle"/>
          </p:nvPr>
        </p:nvSpPr>
        <p:spPr>
          <a:xfrm>
            <a:off x="4076350" y="3426700"/>
            <a:ext cx="38433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159" name="Google Shape;15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44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163" name="Google Shape;163;p4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" name="Google Shape;165;p44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66" name="Google Shape;166;p4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4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44"/>
          <p:cNvSpPr txBox="1"/>
          <p:nvPr>
            <p:ph type="title"/>
          </p:nvPr>
        </p:nvSpPr>
        <p:spPr>
          <a:xfrm>
            <a:off x="3889175" y="1000050"/>
            <a:ext cx="32055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" name="Google Shape;169;p44"/>
          <p:cNvSpPr txBox="1"/>
          <p:nvPr>
            <p:ph idx="1" type="subTitle"/>
          </p:nvPr>
        </p:nvSpPr>
        <p:spPr>
          <a:xfrm>
            <a:off x="3889175" y="2131950"/>
            <a:ext cx="41853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4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72" name="Google Shape;172;p4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" name="Google Shape;174;p45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75" name="Google Shape;175;p4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4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45"/>
          <p:cNvSpPr txBox="1"/>
          <p:nvPr>
            <p:ph type="title"/>
          </p:nvPr>
        </p:nvSpPr>
        <p:spPr>
          <a:xfrm>
            <a:off x="713225" y="707075"/>
            <a:ext cx="23454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" name="Google Shape;178;p45"/>
          <p:cNvSpPr txBox="1"/>
          <p:nvPr>
            <p:ph idx="1" type="subTitle"/>
          </p:nvPr>
        </p:nvSpPr>
        <p:spPr>
          <a:xfrm>
            <a:off x="713225" y="1606775"/>
            <a:ext cx="23454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45"/>
          <p:cNvSpPr/>
          <p:nvPr>
            <p:ph idx="2" type="pic"/>
          </p:nvPr>
        </p:nvSpPr>
        <p:spPr>
          <a:xfrm>
            <a:off x="5588500" y="539500"/>
            <a:ext cx="2801100" cy="406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0" name="Google Shape;180;p45"/>
          <p:cNvSpPr/>
          <p:nvPr>
            <p:ph idx="3" type="pic"/>
          </p:nvPr>
        </p:nvSpPr>
        <p:spPr>
          <a:xfrm>
            <a:off x="3171450" y="539500"/>
            <a:ext cx="2304300" cy="2285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1" name="Google Shape;181;p45"/>
          <p:cNvSpPr/>
          <p:nvPr>
            <p:ph idx="4" type="pic"/>
          </p:nvPr>
        </p:nvSpPr>
        <p:spPr>
          <a:xfrm>
            <a:off x="317145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2" name="Google Shape;182;p45"/>
          <p:cNvSpPr/>
          <p:nvPr>
            <p:ph idx="5" type="pic"/>
          </p:nvPr>
        </p:nvSpPr>
        <p:spPr>
          <a:xfrm>
            <a:off x="754400" y="2953775"/>
            <a:ext cx="2304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2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46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185" name="Google Shape;185;p4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46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88" name="Google Shape;188;p4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" name="Google Shape;191;p46"/>
          <p:cNvSpPr txBox="1"/>
          <p:nvPr>
            <p:ph idx="1" type="subTitle"/>
          </p:nvPr>
        </p:nvSpPr>
        <p:spPr>
          <a:xfrm>
            <a:off x="719975" y="1164450"/>
            <a:ext cx="37488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3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47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94" name="Google Shape;194;p4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47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97" name="Google Shape;197;p4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47"/>
          <p:cNvSpPr txBox="1"/>
          <p:nvPr>
            <p:ph idx="1" type="subTitle"/>
          </p:nvPr>
        </p:nvSpPr>
        <p:spPr>
          <a:xfrm>
            <a:off x="719975" y="1393800"/>
            <a:ext cx="50154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00" name="Google Shape;200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48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03" name="Google Shape;203;p4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" name="Google Shape;205;p48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206" name="Google Shape;206;p4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9" name="Google Shape;209;p48"/>
          <p:cNvSpPr txBox="1"/>
          <p:nvPr>
            <p:ph idx="1" type="subTitle"/>
          </p:nvPr>
        </p:nvSpPr>
        <p:spPr>
          <a:xfrm>
            <a:off x="1162025" y="1656927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0" name="Google Shape;210;p48"/>
          <p:cNvSpPr txBox="1"/>
          <p:nvPr>
            <p:ph idx="2" type="subTitle"/>
          </p:nvPr>
        </p:nvSpPr>
        <p:spPr>
          <a:xfrm>
            <a:off x="3782975" y="1656925"/>
            <a:ext cx="1972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1" name="Google Shape;211;p48"/>
          <p:cNvSpPr txBox="1"/>
          <p:nvPr>
            <p:ph idx="3" type="subTitle"/>
          </p:nvPr>
        </p:nvSpPr>
        <p:spPr>
          <a:xfrm>
            <a:off x="1162025" y="3387221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48"/>
          <p:cNvSpPr txBox="1"/>
          <p:nvPr>
            <p:ph idx="4" type="subTitle"/>
          </p:nvPr>
        </p:nvSpPr>
        <p:spPr>
          <a:xfrm>
            <a:off x="3782975" y="3387221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48"/>
          <p:cNvSpPr txBox="1"/>
          <p:nvPr>
            <p:ph idx="5" type="subTitle"/>
          </p:nvPr>
        </p:nvSpPr>
        <p:spPr>
          <a:xfrm>
            <a:off x="6403925" y="1656927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6" type="subTitle"/>
          </p:nvPr>
        </p:nvSpPr>
        <p:spPr>
          <a:xfrm>
            <a:off x="6403925" y="3387221"/>
            <a:ext cx="197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7" type="subTitle"/>
          </p:nvPr>
        </p:nvSpPr>
        <p:spPr>
          <a:xfrm>
            <a:off x="1162025" y="1359241"/>
            <a:ext cx="1975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6" name="Google Shape;216;p48"/>
          <p:cNvSpPr txBox="1"/>
          <p:nvPr>
            <p:ph idx="8" type="subTitle"/>
          </p:nvPr>
        </p:nvSpPr>
        <p:spPr>
          <a:xfrm>
            <a:off x="3782975" y="1359241"/>
            <a:ext cx="1972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7" name="Google Shape;217;p48"/>
          <p:cNvSpPr txBox="1"/>
          <p:nvPr>
            <p:ph idx="9" type="subTitle"/>
          </p:nvPr>
        </p:nvSpPr>
        <p:spPr>
          <a:xfrm>
            <a:off x="6403925" y="1359241"/>
            <a:ext cx="1972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8" name="Google Shape;218;p48"/>
          <p:cNvSpPr txBox="1"/>
          <p:nvPr>
            <p:ph idx="13" type="subTitle"/>
          </p:nvPr>
        </p:nvSpPr>
        <p:spPr>
          <a:xfrm>
            <a:off x="1162025" y="3086317"/>
            <a:ext cx="1975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9" name="Google Shape;219;p48"/>
          <p:cNvSpPr txBox="1"/>
          <p:nvPr>
            <p:ph idx="14" type="subTitle"/>
          </p:nvPr>
        </p:nvSpPr>
        <p:spPr>
          <a:xfrm>
            <a:off x="3782975" y="3086317"/>
            <a:ext cx="1972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0" name="Google Shape;220;p48"/>
          <p:cNvSpPr txBox="1"/>
          <p:nvPr>
            <p:ph idx="15" type="subTitle"/>
          </p:nvPr>
        </p:nvSpPr>
        <p:spPr>
          <a:xfrm>
            <a:off x="6403925" y="3086317"/>
            <a:ext cx="1972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4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4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49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4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50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5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50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50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5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5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50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5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5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0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44" name="Google Shape;244;p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6" name="Google Shape;2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6682550" y="0"/>
            <a:ext cx="24614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"/>
          <p:cNvSpPr txBox="1"/>
          <p:nvPr>
            <p:ph type="ctrTitle"/>
          </p:nvPr>
        </p:nvSpPr>
        <p:spPr>
          <a:xfrm>
            <a:off x="713225" y="1468846"/>
            <a:ext cx="6089700" cy="18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>
                <a:solidFill>
                  <a:schemeClr val="dk1"/>
                </a:solidFill>
              </a:rPr>
              <a:t>From Generalization to Clinical Utility: 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400">
                <a:solidFill>
                  <a:schemeClr val="dk1"/>
                </a:solidFill>
              </a:rPr>
              <a:t>A Strategic Alignment Pipeline for Qwen 3-4B in Mental-Health Dialogue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48" name="Google Shape;248;p1"/>
          <p:cNvSpPr txBox="1"/>
          <p:nvPr>
            <p:ph idx="1" type="subTitle"/>
          </p:nvPr>
        </p:nvSpPr>
        <p:spPr>
          <a:xfrm>
            <a:off x="713225" y="3799950"/>
            <a:ext cx="5818800" cy="46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Ridwan Adeniyi  |  Hao Han  |  Zhengyang Li  |  Rui Wang  |  Bin Liu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/>
          </a:p>
        </p:txBody>
      </p:sp>
      <p:sp>
        <p:nvSpPr>
          <p:cNvPr id="249" name="Google Shape;249;p1"/>
          <p:cNvSpPr txBox="1"/>
          <p:nvPr>
            <p:ph idx="1" type="subTitle"/>
          </p:nvPr>
        </p:nvSpPr>
        <p:spPr>
          <a:xfrm>
            <a:off x="713225" y="4539524"/>
            <a:ext cx="1025400" cy="46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/>
              <a:t>Mental-X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55" name="Google Shape;255;p2"/>
          <p:cNvSpPr txBox="1"/>
          <p:nvPr>
            <p:ph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56" name="Google Shape;256;p2"/>
          <p:cNvSpPr txBox="1"/>
          <p:nvPr>
            <p:ph idx="3" type="title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57" name="Google Shape;257;p2"/>
          <p:cNvSpPr txBox="1"/>
          <p:nvPr>
            <p:ph idx="4" type="title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58" name="Google Shape;258;p2"/>
          <p:cNvSpPr txBox="1"/>
          <p:nvPr>
            <p:ph idx="5" type="title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59" name="Google Shape;259;p2"/>
          <p:cNvSpPr txBox="1"/>
          <p:nvPr>
            <p:ph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60" name="Google Shape;260;p2"/>
          <p:cNvSpPr txBox="1"/>
          <p:nvPr>
            <p:ph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61" name="Google Shape;261;p2"/>
          <p:cNvSpPr txBox="1"/>
          <p:nvPr>
            <p:ph idx="1" type="subTitle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62" name="Google Shape;262;p2"/>
          <p:cNvSpPr txBox="1"/>
          <p:nvPr>
            <p:ph idx="8" type="subTitle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Related Work</a:t>
            </a:r>
            <a:endParaRPr/>
          </a:p>
        </p:txBody>
      </p:sp>
      <p:sp>
        <p:nvSpPr>
          <p:cNvPr id="263" name="Google Shape;263;p2"/>
          <p:cNvSpPr txBox="1"/>
          <p:nvPr>
            <p:ph idx="9" type="subTitle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264" name="Google Shape;264;p2"/>
          <p:cNvSpPr txBox="1"/>
          <p:nvPr>
            <p:ph idx="13" type="subTitle"/>
          </p:nvPr>
        </p:nvSpPr>
        <p:spPr>
          <a:xfrm>
            <a:off x="720000" y="3544900"/>
            <a:ext cx="25320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Results &amp;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265" name="Google Shape;265;p2"/>
          <p:cNvSpPr txBox="1"/>
          <p:nvPr>
            <p:ph idx="14" type="subTitle"/>
          </p:nvPr>
        </p:nvSpPr>
        <p:spPr>
          <a:xfrm>
            <a:off x="3306000" y="3544900"/>
            <a:ext cx="2293800" cy="6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66" name="Google Shape;266;p2"/>
          <p:cNvSpPr txBox="1"/>
          <p:nvPr>
            <p:ph idx="15" type="subTitle"/>
          </p:nvPr>
        </p:nvSpPr>
        <p:spPr>
          <a:xfrm>
            <a:off x="5892000" y="3544900"/>
            <a:ext cx="20991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Conclusion &amp; Next Steps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"/>
          <p:cNvSpPr txBox="1"/>
          <p:nvPr>
            <p:ph type="title"/>
          </p:nvPr>
        </p:nvSpPr>
        <p:spPr>
          <a:xfrm>
            <a:off x="4047175" y="2388500"/>
            <a:ext cx="4861200" cy="1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Introduction </a:t>
            </a:r>
            <a:r>
              <a:rPr lang="en" sz="2000"/>
              <a:t>(Motivation and Problem Definition)</a:t>
            </a:r>
            <a:endParaRPr sz="2000"/>
          </a:p>
        </p:txBody>
      </p:sp>
      <p:sp>
        <p:nvSpPr>
          <p:cNvPr id="273" name="Google Shape;273;p3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74" name="Google Shape;274;p3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75" name="Google Shape;275;p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"/>
          <p:cNvSpPr txBox="1"/>
          <p:nvPr>
            <p:ph idx="6" type="subTitle"/>
          </p:nvPr>
        </p:nvSpPr>
        <p:spPr>
          <a:xfrm>
            <a:off x="1225675" y="29922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LLM’s input </a:t>
            </a:r>
            <a:endParaRPr/>
          </a:p>
        </p:txBody>
      </p:sp>
      <p:sp>
        <p:nvSpPr>
          <p:cNvPr id="282" name="Google Shape;28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283" name="Google Shape;283;p4"/>
          <p:cNvSpPr txBox="1"/>
          <p:nvPr>
            <p:ph idx="1" type="subTitle"/>
          </p:nvPr>
        </p:nvSpPr>
        <p:spPr>
          <a:xfrm>
            <a:off x="1225674" y="1659425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Over 1 billion people worldwide experience mental health conditions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84" name="Google Shape;284;p4"/>
          <p:cNvSpPr txBox="1"/>
          <p:nvPr>
            <p:ph idx="2" type="subTitle"/>
          </p:nvPr>
        </p:nvSpPr>
        <p:spPr>
          <a:xfrm>
            <a:off x="5052125" y="1659425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Limited access to professional support globally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85" name="Google Shape;285;p4"/>
          <p:cNvSpPr txBox="1"/>
          <p:nvPr>
            <p:ph idx="3" type="subTitle"/>
          </p:nvPr>
        </p:nvSpPr>
        <p:spPr>
          <a:xfrm>
            <a:off x="1225674" y="3320000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LLMs provide scalable conversational assistance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However, general LLM responses are often generic, unsafe, or lack empathy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86" name="Google Shape;286;p4"/>
          <p:cNvSpPr txBox="1"/>
          <p:nvPr>
            <p:ph idx="4" type="subTitle"/>
          </p:nvPr>
        </p:nvSpPr>
        <p:spPr>
          <a:xfrm>
            <a:off x="5052125" y="3320000"/>
            <a:ext cx="32187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Mental‑health dialogue requires emotionally aligned responses</a:t>
            </a:r>
            <a:endParaRPr/>
          </a:p>
        </p:txBody>
      </p:sp>
      <p:sp>
        <p:nvSpPr>
          <p:cNvPr id="287" name="Google Shape;287;p4"/>
          <p:cNvSpPr txBox="1"/>
          <p:nvPr>
            <p:ph idx="5" type="subTitle"/>
          </p:nvPr>
        </p:nvSpPr>
        <p:spPr>
          <a:xfrm>
            <a:off x="1225675" y="13316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The numbers</a:t>
            </a:r>
            <a:endParaRPr/>
          </a:p>
        </p:txBody>
      </p:sp>
      <p:sp>
        <p:nvSpPr>
          <p:cNvPr id="288" name="Google Shape;288;p4"/>
          <p:cNvSpPr txBox="1"/>
          <p:nvPr>
            <p:ph idx="7" type="subTitle"/>
          </p:nvPr>
        </p:nvSpPr>
        <p:spPr>
          <a:xfrm>
            <a:off x="5052099" y="13316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Scarcity</a:t>
            </a:r>
            <a:endParaRPr/>
          </a:p>
        </p:txBody>
      </p:sp>
      <p:sp>
        <p:nvSpPr>
          <p:cNvPr id="289" name="Google Shape;289;p4"/>
          <p:cNvSpPr txBox="1"/>
          <p:nvPr>
            <p:ph idx="8" type="subTitle"/>
          </p:nvPr>
        </p:nvSpPr>
        <p:spPr>
          <a:xfrm>
            <a:off x="5052099" y="2992275"/>
            <a:ext cx="3218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Requirement</a:t>
            </a:r>
            <a:endParaRPr/>
          </a:p>
        </p:txBody>
      </p:sp>
      <p:grpSp>
        <p:nvGrpSpPr>
          <p:cNvPr id="290" name="Google Shape;290;p4"/>
          <p:cNvGrpSpPr/>
          <p:nvPr/>
        </p:nvGrpSpPr>
        <p:grpSpPr>
          <a:xfrm>
            <a:off x="4631496" y="1425509"/>
            <a:ext cx="329201" cy="329201"/>
            <a:chOff x="5648375" y="238125"/>
            <a:chExt cx="483125" cy="483125"/>
          </a:xfrm>
        </p:grpSpPr>
        <p:sp>
          <p:nvSpPr>
            <p:cNvPr id="291" name="Google Shape;291;p4"/>
            <p:cNvSpPr/>
            <p:nvPr/>
          </p:nvSpPr>
          <p:spPr>
            <a:xfrm>
              <a:off x="5648375" y="238125"/>
              <a:ext cx="483125" cy="483125"/>
            </a:xfrm>
            <a:custGeom>
              <a:rect b="b" l="l" r="r" t="t"/>
              <a:pathLst>
                <a:path extrusionOk="0" h="19325" w="19325">
                  <a:moveTo>
                    <a:pt x="4001" y="1132"/>
                  </a:moveTo>
                  <a:cubicBezTo>
                    <a:pt x="4315" y="1132"/>
                    <a:pt x="4569" y="1386"/>
                    <a:pt x="4569" y="1700"/>
                  </a:cubicBezTo>
                  <a:lnTo>
                    <a:pt x="4569" y="3965"/>
                  </a:lnTo>
                  <a:cubicBezTo>
                    <a:pt x="4569" y="4276"/>
                    <a:pt x="4315" y="4529"/>
                    <a:pt x="4001" y="4529"/>
                  </a:cubicBezTo>
                  <a:cubicBezTo>
                    <a:pt x="3687" y="4529"/>
                    <a:pt x="3436" y="4276"/>
                    <a:pt x="3436" y="3965"/>
                  </a:cubicBezTo>
                  <a:lnTo>
                    <a:pt x="3436" y="1700"/>
                  </a:lnTo>
                  <a:cubicBezTo>
                    <a:pt x="3436" y="1386"/>
                    <a:pt x="3687" y="1132"/>
                    <a:pt x="4001" y="1132"/>
                  </a:cubicBezTo>
                  <a:close/>
                  <a:moveTo>
                    <a:pt x="9662" y="1132"/>
                  </a:moveTo>
                  <a:cubicBezTo>
                    <a:pt x="9976" y="1132"/>
                    <a:pt x="10230" y="1386"/>
                    <a:pt x="10230" y="1700"/>
                  </a:cubicBezTo>
                  <a:lnTo>
                    <a:pt x="10230" y="3965"/>
                  </a:lnTo>
                  <a:cubicBezTo>
                    <a:pt x="10230" y="4276"/>
                    <a:pt x="9976" y="4529"/>
                    <a:pt x="9662" y="4529"/>
                  </a:cubicBezTo>
                  <a:cubicBezTo>
                    <a:pt x="9348" y="4529"/>
                    <a:pt x="9098" y="4276"/>
                    <a:pt x="9098" y="3965"/>
                  </a:cubicBezTo>
                  <a:lnTo>
                    <a:pt x="9098" y="1700"/>
                  </a:lnTo>
                  <a:cubicBezTo>
                    <a:pt x="9098" y="1386"/>
                    <a:pt x="9348" y="1132"/>
                    <a:pt x="9662" y="1132"/>
                  </a:cubicBezTo>
                  <a:close/>
                  <a:moveTo>
                    <a:pt x="15324" y="1132"/>
                  </a:moveTo>
                  <a:cubicBezTo>
                    <a:pt x="15638" y="1132"/>
                    <a:pt x="15891" y="1386"/>
                    <a:pt x="15891" y="1700"/>
                  </a:cubicBezTo>
                  <a:lnTo>
                    <a:pt x="15891" y="3965"/>
                  </a:lnTo>
                  <a:cubicBezTo>
                    <a:pt x="15891" y="4276"/>
                    <a:pt x="15638" y="4529"/>
                    <a:pt x="15324" y="4529"/>
                  </a:cubicBezTo>
                  <a:cubicBezTo>
                    <a:pt x="15010" y="4529"/>
                    <a:pt x="14759" y="4276"/>
                    <a:pt x="14759" y="3965"/>
                  </a:cubicBezTo>
                  <a:lnTo>
                    <a:pt x="14759" y="1700"/>
                  </a:lnTo>
                  <a:cubicBezTo>
                    <a:pt x="14759" y="1386"/>
                    <a:pt x="15010" y="1132"/>
                    <a:pt x="15324" y="1132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51"/>
                    <a:pt x="18192" y="3965"/>
                  </a:cubicBezTo>
                  <a:lnTo>
                    <a:pt x="18192" y="6833"/>
                  </a:lnTo>
                  <a:lnTo>
                    <a:pt x="1132" y="6833"/>
                  </a:lnTo>
                  <a:lnTo>
                    <a:pt x="1132" y="3965"/>
                  </a:lnTo>
                  <a:cubicBezTo>
                    <a:pt x="1132" y="3651"/>
                    <a:pt x="1386" y="3397"/>
                    <a:pt x="1700" y="3397"/>
                  </a:cubicBezTo>
                  <a:lnTo>
                    <a:pt x="2304" y="3397"/>
                  </a:lnTo>
                  <a:lnTo>
                    <a:pt x="2304" y="3965"/>
                  </a:lnTo>
                  <a:cubicBezTo>
                    <a:pt x="2304" y="4901"/>
                    <a:pt x="3062" y="5661"/>
                    <a:pt x="4001" y="5661"/>
                  </a:cubicBezTo>
                  <a:cubicBezTo>
                    <a:pt x="4940" y="5661"/>
                    <a:pt x="5701" y="4901"/>
                    <a:pt x="5701" y="3965"/>
                  </a:cubicBezTo>
                  <a:lnTo>
                    <a:pt x="5701" y="3397"/>
                  </a:lnTo>
                  <a:lnTo>
                    <a:pt x="7965" y="3397"/>
                  </a:lnTo>
                  <a:lnTo>
                    <a:pt x="7965" y="3965"/>
                  </a:lnTo>
                  <a:cubicBezTo>
                    <a:pt x="7965" y="4901"/>
                    <a:pt x="8723" y="5661"/>
                    <a:pt x="9662" y="5661"/>
                  </a:cubicBezTo>
                  <a:cubicBezTo>
                    <a:pt x="10601" y="5661"/>
                    <a:pt x="11362" y="4901"/>
                    <a:pt x="11362" y="3965"/>
                  </a:cubicBezTo>
                  <a:lnTo>
                    <a:pt x="11362" y="3397"/>
                  </a:lnTo>
                  <a:lnTo>
                    <a:pt x="13627" y="3397"/>
                  </a:lnTo>
                  <a:lnTo>
                    <a:pt x="13627" y="3965"/>
                  </a:lnTo>
                  <a:cubicBezTo>
                    <a:pt x="13627" y="4901"/>
                    <a:pt x="14385" y="5661"/>
                    <a:pt x="15324" y="5661"/>
                  </a:cubicBezTo>
                  <a:cubicBezTo>
                    <a:pt x="16263" y="5661"/>
                    <a:pt x="17024" y="4901"/>
                    <a:pt x="17024" y="3965"/>
                  </a:cubicBezTo>
                  <a:lnTo>
                    <a:pt x="17024" y="3397"/>
                  </a:lnTo>
                  <a:close/>
                  <a:moveTo>
                    <a:pt x="18192" y="7965"/>
                  </a:moveTo>
                  <a:lnTo>
                    <a:pt x="18192" y="17628"/>
                  </a:lnTo>
                  <a:cubicBezTo>
                    <a:pt x="18192" y="17939"/>
                    <a:pt x="17939" y="18192"/>
                    <a:pt x="17628" y="18192"/>
                  </a:cubicBezTo>
                  <a:lnTo>
                    <a:pt x="1700" y="18192"/>
                  </a:lnTo>
                  <a:cubicBezTo>
                    <a:pt x="1386" y="18192"/>
                    <a:pt x="1132" y="17939"/>
                    <a:pt x="1132" y="17628"/>
                  </a:cubicBezTo>
                  <a:lnTo>
                    <a:pt x="1132" y="7965"/>
                  </a:lnTo>
                  <a:close/>
                  <a:moveTo>
                    <a:pt x="4001" y="0"/>
                  </a:moveTo>
                  <a:cubicBezTo>
                    <a:pt x="3062" y="0"/>
                    <a:pt x="2304" y="761"/>
                    <a:pt x="2304" y="1700"/>
                  </a:cubicBezTo>
                  <a:lnTo>
                    <a:pt x="2304" y="2265"/>
                  </a:lnTo>
                  <a:lnTo>
                    <a:pt x="1700" y="2265"/>
                  </a:lnTo>
                  <a:cubicBezTo>
                    <a:pt x="761" y="2265"/>
                    <a:pt x="0" y="3025"/>
                    <a:pt x="0" y="3965"/>
                  </a:cubicBezTo>
                  <a:lnTo>
                    <a:pt x="0" y="17628"/>
                  </a:lnTo>
                  <a:cubicBezTo>
                    <a:pt x="0" y="18564"/>
                    <a:pt x="761" y="19324"/>
                    <a:pt x="1700" y="19324"/>
                  </a:cubicBezTo>
                  <a:lnTo>
                    <a:pt x="17628" y="19324"/>
                  </a:lnTo>
                  <a:cubicBezTo>
                    <a:pt x="18564" y="19324"/>
                    <a:pt x="19325" y="18564"/>
                    <a:pt x="19325" y="17628"/>
                  </a:cubicBezTo>
                  <a:lnTo>
                    <a:pt x="19325" y="3965"/>
                  </a:lnTo>
                  <a:cubicBezTo>
                    <a:pt x="19325" y="3025"/>
                    <a:pt x="18564" y="2265"/>
                    <a:pt x="17628" y="2265"/>
                  </a:cubicBezTo>
                  <a:lnTo>
                    <a:pt x="17024" y="2265"/>
                  </a:lnTo>
                  <a:lnTo>
                    <a:pt x="17024" y="1700"/>
                  </a:lnTo>
                  <a:cubicBezTo>
                    <a:pt x="17024" y="761"/>
                    <a:pt x="16263" y="0"/>
                    <a:pt x="15324" y="0"/>
                  </a:cubicBezTo>
                  <a:cubicBezTo>
                    <a:pt x="14385" y="0"/>
                    <a:pt x="13627" y="761"/>
                    <a:pt x="13627" y="1700"/>
                  </a:cubicBezTo>
                  <a:lnTo>
                    <a:pt x="13627" y="2265"/>
                  </a:lnTo>
                  <a:lnTo>
                    <a:pt x="11362" y="2265"/>
                  </a:lnTo>
                  <a:lnTo>
                    <a:pt x="11362" y="1700"/>
                  </a:lnTo>
                  <a:cubicBezTo>
                    <a:pt x="11362" y="761"/>
                    <a:pt x="10601" y="0"/>
                    <a:pt x="9662" y="0"/>
                  </a:cubicBezTo>
                  <a:cubicBezTo>
                    <a:pt x="8723" y="0"/>
                    <a:pt x="7965" y="761"/>
                    <a:pt x="7965" y="1700"/>
                  </a:cubicBezTo>
                  <a:lnTo>
                    <a:pt x="7965" y="2265"/>
                  </a:lnTo>
                  <a:lnTo>
                    <a:pt x="5701" y="2265"/>
                  </a:lnTo>
                  <a:lnTo>
                    <a:pt x="5701" y="1700"/>
                  </a:lnTo>
                  <a:cubicBezTo>
                    <a:pt x="5701" y="761"/>
                    <a:pt x="4940" y="0"/>
                    <a:pt x="40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5705950" y="465550"/>
              <a:ext cx="84875" cy="28325"/>
            </a:xfrm>
            <a:custGeom>
              <a:rect b="b" l="l" r="r" t="t"/>
              <a:pathLst>
                <a:path extrusionOk="0" h="1133" w="3395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5847500" y="465550"/>
              <a:ext cx="84875" cy="28325"/>
            </a:xfrm>
            <a:custGeom>
              <a:rect b="b" l="l" r="r" t="t"/>
              <a:pathLst>
                <a:path extrusionOk="0" h="1133" w="3395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5989025" y="465550"/>
              <a:ext cx="84875" cy="28325"/>
            </a:xfrm>
            <a:custGeom>
              <a:rect b="b" l="l" r="r" t="t"/>
              <a:pathLst>
                <a:path extrusionOk="0" h="1133" w="3395"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5705950" y="550475"/>
              <a:ext cx="84875" cy="28325"/>
            </a:xfrm>
            <a:custGeom>
              <a:rect b="b" l="l" r="r" t="t"/>
              <a:pathLst>
                <a:path extrusionOk="0" h="1133" w="3395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5847500" y="550475"/>
              <a:ext cx="84875" cy="28325"/>
            </a:xfrm>
            <a:custGeom>
              <a:rect b="b" l="l" r="r" t="t"/>
              <a:pathLst>
                <a:path extrusionOk="0" h="1133" w="3395"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5989025" y="550475"/>
              <a:ext cx="84875" cy="28325"/>
            </a:xfrm>
            <a:custGeom>
              <a:rect b="b" l="l" r="r" t="t"/>
              <a:pathLst>
                <a:path extrusionOk="0" h="1133" w="3395"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5705950" y="636300"/>
              <a:ext cx="84875" cy="28325"/>
            </a:xfrm>
            <a:custGeom>
              <a:rect b="b" l="l" r="r" t="t"/>
              <a:pathLst>
                <a:path extrusionOk="0" h="1133" w="3395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5847500" y="636300"/>
              <a:ext cx="84875" cy="28325"/>
            </a:xfrm>
            <a:custGeom>
              <a:rect b="b" l="l" r="r" t="t"/>
              <a:pathLst>
                <a:path extrusionOk="0" h="1133" w="3395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8"/>
                  </a:cubicBezTo>
                  <a:cubicBezTo>
                    <a:pt x="3394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5989025" y="636300"/>
              <a:ext cx="84875" cy="28325"/>
            </a:xfrm>
            <a:custGeom>
              <a:rect b="b" l="l" r="r" t="t"/>
              <a:pathLst>
                <a:path extrusionOk="0" h="1133" w="3395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1" name="Google Shape;301;p4"/>
          <p:cNvGrpSpPr/>
          <p:nvPr/>
        </p:nvGrpSpPr>
        <p:grpSpPr>
          <a:xfrm>
            <a:off x="4626801" y="3095818"/>
            <a:ext cx="338591" cy="329186"/>
            <a:chOff x="-31889075" y="2658950"/>
            <a:chExt cx="302475" cy="290775"/>
          </a:xfrm>
        </p:grpSpPr>
        <p:sp>
          <p:nvSpPr>
            <p:cNvPr id="302" name="Google Shape;302;p4"/>
            <p:cNvSpPr/>
            <p:nvPr/>
          </p:nvSpPr>
          <p:spPr>
            <a:xfrm>
              <a:off x="-31889075" y="2658950"/>
              <a:ext cx="302475" cy="290775"/>
            </a:xfrm>
            <a:custGeom>
              <a:rect b="b" l="l" r="r" t="t"/>
              <a:pathLst>
                <a:path extrusionOk="0" h="11631" w="12099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-31838650" y="2838200"/>
              <a:ext cx="70100" cy="68550"/>
            </a:xfrm>
            <a:custGeom>
              <a:rect b="b" l="l" r="r" t="t"/>
              <a:pathLst>
                <a:path extrusionOk="0" h="2742" w="2804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p4"/>
          <p:cNvGrpSpPr/>
          <p:nvPr/>
        </p:nvGrpSpPr>
        <p:grpSpPr>
          <a:xfrm>
            <a:off x="777477" y="3095818"/>
            <a:ext cx="382269" cy="329184"/>
            <a:chOff x="-45664625" y="2352225"/>
            <a:chExt cx="300125" cy="263875"/>
          </a:xfrm>
        </p:grpSpPr>
        <p:sp>
          <p:nvSpPr>
            <p:cNvPr id="305" name="Google Shape;305;p4"/>
            <p:cNvSpPr/>
            <p:nvPr/>
          </p:nvSpPr>
          <p:spPr>
            <a:xfrm>
              <a:off x="-45664625" y="2352225"/>
              <a:ext cx="300125" cy="263875"/>
            </a:xfrm>
            <a:custGeom>
              <a:rect b="b" l="l" r="r" t="t"/>
              <a:pathLst>
                <a:path extrusionOk="0" h="10555" w="12005">
                  <a:moveTo>
                    <a:pt x="10965" y="694"/>
                  </a:moveTo>
                  <a:cubicBezTo>
                    <a:pt x="11154" y="694"/>
                    <a:pt x="11311" y="851"/>
                    <a:pt x="11311" y="1072"/>
                  </a:cubicBezTo>
                  <a:lnTo>
                    <a:pt x="11311" y="2836"/>
                  </a:lnTo>
                  <a:lnTo>
                    <a:pt x="726" y="2836"/>
                  </a:lnTo>
                  <a:lnTo>
                    <a:pt x="726" y="1072"/>
                  </a:lnTo>
                  <a:cubicBezTo>
                    <a:pt x="694" y="851"/>
                    <a:pt x="852" y="694"/>
                    <a:pt x="1072" y="694"/>
                  </a:cubicBezTo>
                  <a:close/>
                  <a:moveTo>
                    <a:pt x="11311" y="3498"/>
                  </a:moveTo>
                  <a:lnTo>
                    <a:pt x="11311" y="9484"/>
                  </a:lnTo>
                  <a:cubicBezTo>
                    <a:pt x="11311" y="9673"/>
                    <a:pt x="11154" y="9830"/>
                    <a:pt x="10933" y="9830"/>
                  </a:cubicBezTo>
                  <a:lnTo>
                    <a:pt x="1072" y="9830"/>
                  </a:lnTo>
                  <a:cubicBezTo>
                    <a:pt x="852" y="9830"/>
                    <a:pt x="694" y="9673"/>
                    <a:pt x="694" y="9484"/>
                  </a:cubicBezTo>
                  <a:lnTo>
                    <a:pt x="694" y="3498"/>
                  </a:lnTo>
                  <a:close/>
                  <a:moveTo>
                    <a:pt x="1072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lnTo>
                    <a:pt x="10933" y="10555"/>
                  </a:lnTo>
                  <a:cubicBezTo>
                    <a:pt x="11532" y="10555"/>
                    <a:pt x="12004" y="10082"/>
                    <a:pt x="12004" y="9484"/>
                  </a:cubicBezTo>
                  <a:lnTo>
                    <a:pt x="12004" y="1040"/>
                  </a:lnTo>
                  <a:cubicBezTo>
                    <a:pt x="11973" y="473"/>
                    <a:pt x="11500" y="1"/>
                    <a:pt x="109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-45612625" y="2475100"/>
              <a:ext cx="55150" cy="88225"/>
            </a:xfrm>
            <a:custGeom>
              <a:rect b="b" l="l" r="r" t="t"/>
              <a:pathLst>
                <a:path extrusionOk="0" h="3529" w="2206">
                  <a:moveTo>
                    <a:pt x="1808" y="0"/>
                  </a:moveTo>
                  <a:cubicBezTo>
                    <a:pt x="1717" y="0"/>
                    <a:pt x="1623" y="32"/>
                    <a:pt x="1544" y="95"/>
                  </a:cubicBezTo>
                  <a:lnTo>
                    <a:pt x="126" y="1513"/>
                  </a:lnTo>
                  <a:cubicBezTo>
                    <a:pt x="0" y="1607"/>
                    <a:pt x="0" y="1859"/>
                    <a:pt x="126" y="2017"/>
                  </a:cubicBezTo>
                  <a:lnTo>
                    <a:pt x="1544" y="3434"/>
                  </a:lnTo>
                  <a:cubicBezTo>
                    <a:pt x="1607" y="3497"/>
                    <a:pt x="1694" y="3529"/>
                    <a:pt x="1784" y="3529"/>
                  </a:cubicBezTo>
                  <a:cubicBezTo>
                    <a:pt x="1875" y="3529"/>
                    <a:pt x="1969" y="3497"/>
                    <a:pt x="2048" y="3434"/>
                  </a:cubicBezTo>
                  <a:cubicBezTo>
                    <a:pt x="2174" y="3308"/>
                    <a:pt x="2174" y="3088"/>
                    <a:pt x="2048" y="2930"/>
                  </a:cubicBezTo>
                  <a:lnTo>
                    <a:pt x="914" y="1765"/>
                  </a:lnTo>
                  <a:lnTo>
                    <a:pt x="2048" y="631"/>
                  </a:lnTo>
                  <a:cubicBezTo>
                    <a:pt x="2206" y="473"/>
                    <a:pt x="2206" y="252"/>
                    <a:pt x="2048" y="95"/>
                  </a:cubicBezTo>
                  <a:cubicBezTo>
                    <a:pt x="1985" y="32"/>
                    <a:pt x="1898" y="0"/>
                    <a:pt x="1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-45471650" y="2475100"/>
              <a:ext cx="54375" cy="86850"/>
            </a:xfrm>
            <a:custGeom>
              <a:rect b="b" l="l" r="r" t="t"/>
              <a:pathLst>
                <a:path extrusionOk="0" h="3474" w="2175">
                  <a:moveTo>
                    <a:pt x="391" y="0"/>
                  </a:moveTo>
                  <a:cubicBezTo>
                    <a:pt x="300" y="0"/>
                    <a:pt x="205" y="32"/>
                    <a:pt x="127" y="95"/>
                  </a:cubicBezTo>
                  <a:cubicBezTo>
                    <a:pt x="1" y="189"/>
                    <a:pt x="1" y="441"/>
                    <a:pt x="127" y="599"/>
                  </a:cubicBezTo>
                  <a:lnTo>
                    <a:pt x="1261" y="1733"/>
                  </a:lnTo>
                  <a:lnTo>
                    <a:pt x="127" y="2867"/>
                  </a:lnTo>
                  <a:cubicBezTo>
                    <a:pt x="1" y="2993"/>
                    <a:pt x="1" y="3245"/>
                    <a:pt x="127" y="3403"/>
                  </a:cubicBezTo>
                  <a:cubicBezTo>
                    <a:pt x="174" y="3450"/>
                    <a:pt x="261" y="3474"/>
                    <a:pt x="355" y="3474"/>
                  </a:cubicBezTo>
                  <a:cubicBezTo>
                    <a:pt x="450" y="3474"/>
                    <a:pt x="552" y="3450"/>
                    <a:pt x="631" y="3403"/>
                  </a:cubicBezTo>
                  <a:lnTo>
                    <a:pt x="2048" y="1985"/>
                  </a:lnTo>
                  <a:cubicBezTo>
                    <a:pt x="2174" y="1859"/>
                    <a:pt x="2174" y="1607"/>
                    <a:pt x="2048" y="1450"/>
                  </a:cubicBezTo>
                  <a:lnTo>
                    <a:pt x="631" y="95"/>
                  </a:lnTo>
                  <a:cubicBezTo>
                    <a:pt x="568" y="32"/>
                    <a:pt x="481" y="0"/>
                    <a:pt x="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-45542525" y="2456975"/>
              <a:ext cx="55150" cy="123300"/>
            </a:xfrm>
            <a:custGeom>
              <a:rect b="b" l="l" r="r" t="t"/>
              <a:pathLst>
                <a:path extrusionOk="0" h="4932" w="2206">
                  <a:moveTo>
                    <a:pt x="1791" y="0"/>
                  </a:moveTo>
                  <a:cubicBezTo>
                    <a:pt x="1651" y="0"/>
                    <a:pt x="1529" y="108"/>
                    <a:pt x="1481" y="253"/>
                  </a:cubicBezTo>
                  <a:lnTo>
                    <a:pt x="63" y="4474"/>
                  </a:lnTo>
                  <a:cubicBezTo>
                    <a:pt x="0" y="4664"/>
                    <a:pt x="126" y="4853"/>
                    <a:pt x="315" y="4916"/>
                  </a:cubicBezTo>
                  <a:cubicBezTo>
                    <a:pt x="349" y="4927"/>
                    <a:pt x="382" y="4932"/>
                    <a:pt x="415" y="4932"/>
                  </a:cubicBezTo>
                  <a:cubicBezTo>
                    <a:pt x="567" y="4932"/>
                    <a:pt x="704" y="4819"/>
                    <a:pt x="756" y="4664"/>
                  </a:cubicBezTo>
                  <a:lnTo>
                    <a:pt x="2174" y="442"/>
                  </a:lnTo>
                  <a:cubicBezTo>
                    <a:pt x="2206" y="284"/>
                    <a:pt x="2111" y="95"/>
                    <a:pt x="1922" y="32"/>
                  </a:cubicBezTo>
                  <a:cubicBezTo>
                    <a:pt x="1878" y="10"/>
                    <a:pt x="1834" y="0"/>
                    <a:pt x="17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-45541750" y="2386100"/>
              <a:ext cx="35475" cy="18125"/>
            </a:xfrm>
            <a:custGeom>
              <a:rect b="b" l="l" r="r" t="t"/>
              <a:pathLst>
                <a:path extrusionOk="0" h="725" w="1419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32" y="567"/>
                    <a:pt x="221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-45488175" y="2386100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89"/>
                    <a:pt x="1260" y="0"/>
                    <a:pt x="10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-45436200" y="2386100"/>
              <a:ext cx="35450" cy="18125"/>
            </a:xfrm>
            <a:custGeom>
              <a:rect b="b" l="l" r="r" t="t"/>
              <a:pathLst>
                <a:path extrusionOk="0" h="725" w="1418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32" y="567"/>
                    <a:pt x="189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7"/>
                    <a:pt x="1418" y="378"/>
                  </a:cubicBezTo>
                  <a:cubicBezTo>
                    <a:pt x="1418" y="189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4"/>
          <p:cNvGrpSpPr/>
          <p:nvPr/>
        </p:nvGrpSpPr>
        <p:grpSpPr>
          <a:xfrm>
            <a:off x="763844" y="1332163"/>
            <a:ext cx="409531" cy="410617"/>
            <a:chOff x="6679825" y="2693700"/>
            <a:chExt cx="257875" cy="258575"/>
          </a:xfrm>
        </p:grpSpPr>
        <p:sp>
          <p:nvSpPr>
            <p:cNvPr id="313" name="Google Shape;313;p4"/>
            <p:cNvSpPr/>
            <p:nvPr/>
          </p:nvSpPr>
          <p:spPr>
            <a:xfrm>
              <a:off x="6679825" y="2693700"/>
              <a:ext cx="257875" cy="258575"/>
            </a:xfrm>
            <a:custGeom>
              <a:rect b="b" l="l" r="r" t="t"/>
              <a:pathLst>
                <a:path extrusionOk="0" h="10343" w="10315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"/>
            <p:cNvSpPr/>
            <p:nvPr/>
          </p:nvSpPr>
          <p:spPr>
            <a:xfrm flipH="1">
              <a:off x="6679825" y="2693700"/>
              <a:ext cx="257875" cy="258575"/>
            </a:xfrm>
            <a:custGeom>
              <a:rect b="b" l="l" r="r" t="t"/>
              <a:pathLst>
                <a:path extrusionOk="0" h="10343" w="10315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Motivation </a:t>
            </a:r>
            <a:r>
              <a:rPr lang="en" sz="2000"/>
              <a:t>(Contd…)</a:t>
            </a:r>
            <a:endParaRPr sz="2000"/>
          </a:p>
        </p:txBody>
      </p:sp>
      <p:sp>
        <p:nvSpPr>
          <p:cNvPr id="320" name="Google Shape;320;p5"/>
          <p:cNvSpPr txBox="1"/>
          <p:nvPr>
            <p:ph idx="4" type="subTitle"/>
          </p:nvPr>
        </p:nvSpPr>
        <p:spPr>
          <a:xfrm>
            <a:off x="865525" y="1920050"/>
            <a:ext cx="23280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A Teen Suicide Lawsuit Involving an AI Chatbot</a:t>
            </a:r>
            <a:endParaRPr sz="1500"/>
          </a:p>
        </p:txBody>
      </p:sp>
      <p:sp>
        <p:nvSpPr>
          <p:cNvPr id="321" name="Google Shape;321;p5"/>
          <p:cNvSpPr txBox="1"/>
          <p:nvPr>
            <p:ph idx="5" type="subTitle"/>
          </p:nvPr>
        </p:nvSpPr>
        <p:spPr>
          <a:xfrm>
            <a:off x="3433875" y="2174458"/>
            <a:ext cx="232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Chatbots Reinforcing Delusions or Psychosis</a:t>
            </a:r>
            <a:endParaRPr sz="1500"/>
          </a:p>
        </p:txBody>
      </p:sp>
      <p:sp>
        <p:nvSpPr>
          <p:cNvPr id="322" name="Google Shape;322;p5"/>
          <p:cNvSpPr txBox="1"/>
          <p:nvPr>
            <p:ph idx="1" type="subTitle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The parents of a 16-year-old boy sued OpenAI after his death.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The lawsuit claims the chatbot: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-provided information about suicide methods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-helped draft a suicide note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-failed to escalate the conversation to crisis support.</a:t>
            </a:r>
            <a:endParaRPr/>
          </a:p>
        </p:txBody>
      </p:sp>
      <p:sp>
        <p:nvSpPr>
          <p:cNvPr id="323" name="Google Shape;323;p5"/>
          <p:cNvSpPr txBox="1"/>
          <p:nvPr>
            <p:ph idx="2" type="subTitle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 study reported that AI chatbots sometimes responded in ways that affirmed users’ grandiose or paranoid ideas, which could worsen symptoms in vulnerable individuals.</a:t>
            </a:r>
            <a:endParaRPr/>
          </a:p>
        </p:txBody>
      </p:sp>
      <p:sp>
        <p:nvSpPr>
          <p:cNvPr id="324" name="Google Shape;324;p5"/>
          <p:cNvSpPr txBox="1"/>
          <p:nvPr>
            <p:ph idx="3" type="subTitle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In 2025, a tragic case involved a man suffering from delusions who spoke with an AI chatbot before killing his mother and himself.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According to investigators, the chatbot appeared to validate his paranoid suspicions that his mother was spying on him or poisoning him.</a:t>
            </a:r>
            <a:endParaRPr/>
          </a:p>
        </p:txBody>
      </p:sp>
      <p:sp>
        <p:nvSpPr>
          <p:cNvPr id="325" name="Google Shape;325;p5"/>
          <p:cNvSpPr txBox="1"/>
          <p:nvPr>
            <p:ph idx="6" type="subTitle"/>
          </p:nvPr>
        </p:nvSpPr>
        <p:spPr>
          <a:xfrm>
            <a:off x="6002224" y="2046500"/>
            <a:ext cx="24219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Murder Case Linked to Chatbot Conversations</a:t>
            </a:r>
            <a:endParaRPr sz="1500"/>
          </a:p>
        </p:txBody>
      </p:sp>
      <p:grpSp>
        <p:nvGrpSpPr>
          <p:cNvPr id="326" name="Google Shape;326;p5"/>
          <p:cNvGrpSpPr/>
          <p:nvPr/>
        </p:nvGrpSpPr>
        <p:grpSpPr>
          <a:xfrm>
            <a:off x="945606" y="1430990"/>
            <a:ext cx="375378" cy="367397"/>
            <a:chOff x="-63669700" y="2646600"/>
            <a:chExt cx="324525" cy="317625"/>
          </a:xfrm>
        </p:grpSpPr>
        <p:sp>
          <p:nvSpPr>
            <p:cNvPr id="327" name="Google Shape;327;p5"/>
            <p:cNvSpPr/>
            <p:nvPr/>
          </p:nvSpPr>
          <p:spPr>
            <a:xfrm>
              <a:off x="-63669700" y="2646600"/>
              <a:ext cx="324525" cy="317550"/>
            </a:xfrm>
            <a:custGeom>
              <a:rect b="b" l="l" r="r" t="t"/>
              <a:pathLst>
                <a:path extrusionOk="0" h="12702" w="12981">
                  <a:moveTo>
                    <a:pt x="6947" y="867"/>
                  </a:moveTo>
                  <a:cubicBezTo>
                    <a:pt x="7058" y="867"/>
                    <a:pt x="7168" y="906"/>
                    <a:pt x="7247" y="985"/>
                  </a:cubicBezTo>
                  <a:cubicBezTo>
                    <a:pt x="7404" y="1143"/>
                    <a:pt x="7404" y="1426"/>
                    <a:pt x="7247" y="1584"/>
                  </a:cubicBezTo>
                  <a:lnTo>
                    <a:pt x="5199" y="3632"/>
                  </a:lnTo>
                  <a:cubicBezTo>
                    <a:pt x="5120" y="3710"/>
                    <a:pt x="5010" y="3750"/>
                    <a:pt x="4900" y="3750"/>
                  </a:cubicBezTo>
                  <a:cubicBezTo>
                    <a:pt x="4789" y="3750"/>
                    <a:pt x="4679" y="3710"/>
                    <a:pt x="4600" y="3632"/>
                  </a:cubicBezTo>
                  <a:cubicBezTo>
                    <a:pt x="4443" y="3474"/>
                    <a:pt x="4443" y="3190"/>
                    <a:pt x="4600" y="3033"/>
                  </a:cubicBezTo>
                  <a:lnTo>
                    <a:pt x="6648" y="985"/>
                  </a:lnTo>
                  <a:cubicBezTo>
                    <a:pt x="6727" y="906"/>
                    <a:pt x="6837" y="867"/>
                    <a:pt x="6947" y="867"/>
                  </a:cubicBezTo>
                  <a:close/>
                  <a:moveTo>
                    <a:pt x="7530" y="2434"/>
                  </a:moveTo>
                  <a:lnTo>
                    <a:pt x="10429" y="5364"/>
                  </a:lnTo>
                  <a:lnTo>
                    <a:pt x="8979" y="6814"/>
                  </a:lnTo>
                  <a:lnTo>
                    <a:pt x="6050" y="3884"/>
                  </a:lnTo>
                  <a:lnTo>
                    <a:pt x="7530" y="2434"/>
                  </a:lnTo>
                  <a:close/>
                  <a:moveTo>
                    <a:pt x="6648" y="5679"/>
                  </a:moveTo>
                  <a:lnTo>
                    <a:pt x="7247" y="6246"/>
                  </a:lnTo>
                  <a:lnTo>
                    <a:pt x="5482" y="8042"/>
                  </a:lnTo>
                  <a:lnTo>
                    <a:pt x="4884" y="7444"/>
                  </a:lnTo>
                  <a:lnTo>
                    <a:pt x="6648" y="5679"/>
                  </a:lnTo>
                  <a:close/>
                  <a:moveTo>
                    <a:pt x="11642" y="5561"/>
                  </a:moveTo>
                  <a:cubicBezTo>
                    <a:pt x="11752" y="5561"/>
                    <a:pt x="11862" y="5601"/>
                    <a:pt x="11941" y="5679"/>
                  </a:cubicBezTo>
                  <a:cubicBezTo>
                    <a:pt x="12098" y="5837"/>
                    <a:pt x="12098" y="6089"/>
                    <a:pt x="11941" y="6246"/>
                  </a:cubicBezTo>
                  <a:lnTo>
                    <a:pt x="9893" y="8294"/>
                  </a:lnTo>
                  <a:cubicBezTo>
                    <a:pt x="9814" y="8373"/>
                    <a:pt x="9704" y="8412"/>
                    <a:pt x="9594" y="8412"/>
                  </a:cubicBezTo>
                  <a:cubicBezTo>
                    <a:pt x="9484" y="8412"/>
                    <a:pt x="9373" y="8373"/>
                    <a:pt x="9295" y="8294"/>
                  </a:cubicBezTo>
                  <a:cubicBezTo>
                    <a:pt x="9137" y="8137"/>
                    <a:pt x="9137" y="7885"/>
                    <a:pt x="9295" y="7727"/>
                  </a:cubicBezTo>
                  <a:lnTo>
                    <a:pt x="11342" y="5679"/>
                  </a:lnTo>
                  <a:cubicBezTo>
                    <a:pt x="11421" y="5601"/>
                    <a:pt x="11531" y="5561"/>
                    <a:pt x="11642" y="5561"/>
                  </a:cubicBezTo>
                  <a:close/>
                  <a:moveTo>
                    <a:pt x="4065" y="7664"/>
                  </a:moveTo>
                  <a:lnTo>
                    <a:pt x="5230" y="8861"/>
                  </a:lnTo>
                  <a:lnTo>
                    <a:pt x="2426" y="11665"/>
                  </a:lnTo>
                  <a:cubicBezTo>
                    <a:pt x="2269" y="11823"/>
                    <a:pt x="2064" y="11902"/>
                    <a:pt x="1855" y="11902"/>
                  </a:cubicBezTo>
                  <a:cubicBezTo>
                    <a:pt x="1647" y="11902"/>
                    <a:pt x="1434" y="11823"/>
                    <a:pt x="1261" y="11665"/>
                  </a:cubicBezTo>
                  <a:cubicBezTo>
                    <a:pt x="914" y="11350"/>
                    <a:pt x="914" y="10783"/>
                    <a:pt x="1261" y="10468"/>
                  </a:cubicBezTo>
                  <a:lnTo>
                    <a:pt x="4065" y="7664"/>
                  </a:lnTo>
                  <a:close/>
                  <a:moveTo>
                    <a:pt x="6971" y="1"/>
                  </a:moveTo>
                  <a:cubicBezTo>
                    <a:pt x="6648" y="1"/>
                    <a:pt x="6317" y="119"/>
                    <a:pt x="6050" y="355"/>
                  </a:cubicBezTo>
                  <a:lnTo>
                    <a:pt x="4002" y="2403"/>
                  </a:lnTo>
                  <a:cubicBezTo>
                    <a:pt x="3529" y="2875"/>
                    <a:pt x="3529" y="3663"/>
                    <a:pt x="4002" y="4167"/>
                  </a:cubicBezTo>
                  <a:cubicBezTo>
                    <a:pt x="4258" y="4424"/>
                    <a:pt x="4564" y="4544"/>
                    <a:pt x="4874" y="4544"/>
                  </a:cubicBezTo>
                  <a:cubicBezTo>
                    <a:pt x="5058" y="4544"/>
                    <a:pt x="5243" y="4501"/>
                    <a:pt x="5419" y="4419"/>
                  </a:cubicBezTo>
                  <a:lnTo>
                    <a:pt x="6081" y="5018"/>
                  </a:lnTo>
                  <a:lnTo>
                    <a:pt x="4285" y="6814"/>
                  </a:lnTo>
                  <a:cubicBezTo>
                    <a:pt x="4206" y="6735"/>
                    <a:pt x="4096" y="6695"/>
                    <a:pt x="3990" y="6695"/>
                  </a:cubicBezTo>
                  <a:cubicBezTo>
                    <a:pt x="3884" y="6695"/>
                    <a:pt x="3781" y="6735"/>
                    <a:pt x="3718" y="6814"/>
                  </a:cubicBezTo>
                  <a:lnTo>
                    <a:pt x="631" y="9869"/>
                  </a:lnTo>
                  <a:cubicBezTo>
                    <a:pt x="1" y="10500"/>
                    <a:pt x="1" y="11571"/>
                    <a:pt x="631" y="12201"/>
                  </a:cubicBezTo>
                  <a:cubicBezTo>
                    <a:pt x="965" y="12536"/>
                    <a:pt x="1405" y="12701"/>
                    <a:pt x="1840" y="12701"/>
                  </a:cubicBezTo>
                  <a:cubicBezTo>
                    <a:pt x="2264" y="12701"/>
                    <a:pt x="2682" y="12544"/>
                    <a:pt x="2994" y="12232"/>
                  </a:cubicBezTo>
                  <a:lnTo>
                    <a:pt x="6050" y="9176"/>
                  </a:lnTo>
                  <a:cubicBezTo>
                    <a:pt x="6207" y="9019"/>
                    <a:pt x="6207" y="8735"/>
                    <a:pt x="6050" y="8578"/>
                  </a:cubicBezTo>
                  <a:lnTo>
                    <a:pt x="7845" y="6814"/>
                  </a:lnTo>
                  <a:lnTo>
                    <a:pt x="8475" y="7444"/>
                  </a:lnTo>
                  <a:cubicBezTo>
                    <a:pt x="8255" y="7853"/>
                    <a:pt x="8318" y="8452"/>
                    <a:pt x="8696" y="8861"/>
                  </a:cubicBezTo>
                  <a:cubicBezTo>
                    <a:pt x="8932" y="9098"/>
                    <a:pt x="9247" y="9216"/>
                    <a:pt x="9566" y="9216"/>
                  </a:cubicBezTo>
                  <a:cubicBezTo>
                    <a:pt x="9885" y="9216"/>
                    <a:pt x="10208" y="9098"/>
                    <a:pt x="10460" y="8861"/>
                  </a:cubicBezTo>
                  <a:lnTo>
                    <a:pt x="12508" y="6814"/>
                  </a:lnTo>
                  <a:cubicBezTo>
                    <a:pt x="12981" y="6341"/>
                    <a:pt x="12981" y="5553"/>
                    <a:pt x="12508" y="5018"/>
                  </a:cubicBezTo>
                  <a:cubicBezTo>
                    <a:pt x="12274" y="4784"/>
                    <a:pt x="11979" y="4670"/>
                    <a:pt x="11669" y="4670"/>
                  </a:cubicBezTo>
                  <a:cubicBezTo>
                    <a:pt x="11479" y="4670"/>
                    <a:pt x="11282" y="4713"/>
                    <a:pt x="11090" y="4797"/>
                  </a:cubicBezTo>
                  <a:lnTo>
                    <a:pt x="8066" y="1773"/>
                  </a:lnTo>
                  <a:cubicBezTo>
                    <a:pt x="8255" y="1332"/>
                    <a:pt x="8223" y="733"/>
                    <a:pt x="7845" y="355"/>
                  </a:cubicBezTo>
                  <a:cubicBezTo>
                    <a:pt x="7609" y="119"/>
                    <a:pt x="7294" y="1"/>
                    <a:pt x="69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-63532650" y="2901200"/>
              <a:ext cx="185900" cy="63025"/>
            </a:xfrm>
            <a:custGeom>
              <a:rect b="b" l="l" r="r" t="t"/>
              <a:pathLst>
                <a:path extrusionOk="0" h="2521" w="7436">
                  <a:moveTo>
                    <a:pt x="5356" y="851"/>
                  </a:moveTo>
                  <a:cubicBezTo>
                    <a:pt x="5577" y="851"/>
                    <a:pt x="5734" y="1040"/>
                    <a:pt x="5734" y="1261"/>
                  </a:cubicBezTo>
                  <a:lnTo>
                    <a:pt x="5734" y="1702"/>
                  </a:lnTo>
                  <a:lnTo>
                    <a:pt x="1607" y="1702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1702"/>
                  </a:lnTo>
                  <a:lnTo>
                    <a:pt x="378" y="1702"/>
                  </a:lnTo>
                  <a:cubicBezTo>
                    <a:pt x="158" y="1702"/>
                    <a:pt x="0" y="1891"/>
                    <a:pt x="0" y="2111"/>
                  </a:cubicBezTo>
                  <a:cubicBezTo>
                    <a:pt x="0" y="2332"/>
                    <a:pt x="189" y="2521"/>
                    <a:pt x="378" y="2521"/>
                  </a:cubicBezTo>
                  <a:lnTo>
                    <a:pt x="6995" y="2521"/>
                  </a:lnTo>
                  <a:cubicBezTo>
                    <a:pt x="7247" y="2521"/>
                    <a:pt x="7436" y="2332"/>
                    <a:pt x="7436" y="2111"/>
                  </a:cubicBezTo>
                  <a:cubicBezTo>
                    <a:pt x="7404" y="1891"/>
                    <a:pt x="7184" y="1702"/>
                    <a:pt x="6963" y="1702"/>
                  </a:cubicBezTo>
                  <a:lnTo>
                    <a:pt x="6553" y="1702"/>
                  </a:lnTo>
                  <a:lnTo>
                    <a:pt x="6553" y="1261"/>
                  </a:lnTo>
                  <a:cubicBezTo>
                    <a:pt x="6553" y="599"/>
                    <a:pt x="6018" y="1"/>
                    <a:pt x="53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5"/>
          <p:cNvGrpSpPr/>
          <p:nvPr/>
        </p:nvGrpSpPr>
        <p:grpSpPr>
          <a:xfrm>
            <a:off x="3503169" y="1458859"/>
            <a:ext cx="355063" cy="351984"/>
            <a:chOff x="-22859750" y="2335900"/>
            <a:chExt cx="296950" cy="294375"/>
          </a:xfrm>
        </p:grpSpPr>
        <p:sp>
          <p:nvSpPr>
            <p:cNvPr id="330" name="Google Shape;330;p5"/>
            <p:cNvSpPr/>
            <p:nvPr/>
          </p:nvSpPr>
          <p:spPr>
            <a:xfrm>
              <a:off x="-22859750" y="2335900"/>
              <a:ext cx="296950" cy="294375"/>
            </a:xfrm>
            <a:custGeom>
              <a:rect b="b" l="l" r="r" t="t"/>
              <a:pathLst>
                <a:path extrusionOk="0" h="11775" w="11878">
                  <a:moveTo>
                    <a:pt x="7306" y="663"/>
                  </a:moveTo>
                  <a:cubicBezTo>
                    <a:pt x="7389" y="663"/>
                    <a:pt x="7475" y="671"/>
                    <a:pt x="7562" y="685"/>
                  </a:cubicBezTo>
                  <a:cubicBezTo>
                    <a:pt x="7814" y="780"/>
                    <a:pt x="8034" y="937"/>
                    <a:pt x="8192" y="1126"/>
                  </a:cubicBezTo>
                  <a:cubicBezTo>
                    <a:pt x="7908" y="1189"/>
                    <a:pt x="7656" y="1347"/>
                    <a:pt x="7467" y="1567"/>
                  </a:cubicBezTo>
                  <a:cubicBezTo>
                    <a:pt x="7341" y="1662"/>
                    <a:pt x="7341" y="1914"/>
                    <a:pt x="7467" y="2008"/>
                  </a:cubicBezTo>
                  <a:cubicBezTo>
                    <a:pt x="7530" y="2071"/>
                    <a:pt x="7617" y="2103"/>
                    <a:pt x="7703" y="2103"/>
                  </a:cubicBezTo>
                  <a:cubicBezTo>
                    <a:pt x="7790" y="2103"/>
                    <a:pt x="7877" y="2071"/>
                    <a:pt x="7940" y="2008"/>
                  </a:cubicBezTo>
                  <a:cubicBezTo>
                    <a:pt x="8129" y="1819"/>
                    <a:pt x="8412" y="1693"/>
                    <a:pt x="8696" y="1693"/>
                  </a:cubicBezTo>
                  <a:cubicBezTo>
                    <a:pt x="8979" y="1693"/>
                    <a:pt x="9231" y="1819"/>
                    <a:pt x="9452" y="2008"/>
                  </a:cubicBezTo>
                  <a:cubicBezTo>
                    <a:pt x="9767" y="2355"/>
                    <a:pt x="9830" y="2764"/>
                    <a:pt x="9673" y="3174"/>
                  </a:cubicBezTo>
                  <a:cubicBezTo>
                    <a:pt x="9389" y="3237"/>
                    <a:pt x="9137" y="3395"/>
                    <a:pt x="8885" y="3584"/>
                  </a:cubicBezTo>
                  <a:cubicBezTo>
                    <a:pt x="8759" y="3710"/>
                    <a:pt x="8759" y="3962"/>
                    <a:pt x="8885" y="4056"/>
                  </a:cubicBezTo>
                  <a:cubicBezTo>
                    <a:pt x="8948" y="4119"/>
                    <a:pt x="9035" y="4151"/>
                    <a:pt x="9121" y="4151"/>
                  </a:cubicBezTo>
                  <a:cubicBezTo>
                    <a:pt x="9208" y="4151"/>
                    <a:pt x="9294" y="4119"/>
                    <a:pt x="9358" y="4056"/>
                  </a:cubicBezTo>
                  <a:cubicBezTo>
                    <a:pt x="9547" y="3867"/>
                    <a:pt x="9830" y="3741"/>
                    <a:pt x="10114" y="3741"/>
                  </a:cubicBezTo>
                  <a:cubicBezTo>
                    <a:pt x="10397" y="3741"/>
                    <a:pt x="10649" y="3867"/>
                    <a:pt x="10870" y="4056"/>
                  </a:cubicBezTo>
                  <a:cubicBezTo>
                    <a:pt x="11059" y="4277"/>
                    <a:pt x="11185" y="4529"/>
                    <a:pt x="11185" y="4812"/>
                  </a:cubicBezTo>
                  <a:cubicBezTo>
                    <a:pt x="11185" y="5096"/>
                    <a:pt x="11059" y="5379"/>
                    <a:pt x="10870" y="5568"/>
                  </a:cubicBezTo>
                  <a:cubicBezTo>
                    <a:pt x="10649" y="5757"/>
                    <a:pt x="10397" y="5883"/>
                    <a:pt x="10114" y="5883"/>
                  </a:cubicBezTo>
                  <a:cubicBezTo>
                    <a:pt x="9925" y="5883"/>
                    <a:pt x="9767" y="6041"/>
                    <a:pt x="9767" y="6230"/>
                  </a:cubicBezTo>
                  <a:cubicBezTo>
                    <a:pt x="9767" y="6451"/>
                    <a:pt x="9925" y="6608"/>
                    <a:pt x="10114" y="6608"/>
                  </a:cubicBezTo>
                  <a:cubicBezTo>
                    <a:pt x="10429" y="6608"/>
                    <a:pt x="10712" y="6514"/>
                    <a:pt x="10964" y="6356"/>
                  </a:cubicBezTo>
                  <a:cubicBezTo>
                    <a:pt x="11090" y="6514"/>
                    <a:pt x="11122" y="6703"/>
                    <a:pt x="11122" y="6955"/>
                  </a:cubicBezTo>
                  <a:cubicBezTo>
                    <a:pt x="11122" y="7270"/>
                    <a:pt x="11027" y="7553"/>
                    <a:pt x="10807" y="7742"/>
                  </a:cubicBezTo>
                  <a:cubicBezTo>
                    <a:pt x="10618" y="7931"/>
                    <a:pt x="10366" y="8057"/>
                    <a:pt x="10082" y="8057"/>
                  </a:cubicBezTo>
                  <a:cubicBezTo>
                    <a:pt x="9799" y="8057"/>
                    <a:pt x="9515" y="7931"/>
                    <a:pt x="9326" y="7742"/>
                  </a:cubicBezTo>
                  <a:cubicBezTo>
                    <a:pt x="9137" y="7553"/>
                    <a:pt x="9011" y="7270"/>
                    <a:pt x="9011" y="6986"/>
                  </a:cubicBezTo>
                  <a:cubicBezTo>
                    <a:pt x="9011" y="6703"/>
                    <a:pt x="9137" y="6419"/>
                    <a:pt x="9326" y="6230"/>
                  </a:cubicBezTo>
                  <a:cubicBezTo>
                    <a:pt x="9452" y="6104"/>
                    <a:pt x="9452" y="5883"/>
                    <a:pt x="9326" y="5757"/>
                  </a:cubicBezTo>
                  <a:cubicBezTo>
                    <a:pt x="9263" y="5694"/>
                    <a:pt x="9176" y="5663"/>
                    <a:pt x="9090" y="5663"/>
                  </a:cubicBezTo>
                  <a:cubicBezTo>
                    <a:pt x="9003" y="5663"/>
                    <a:pt x="8916" y="5694"/>
                    <a:pt x="8853" y="5757"/>
                  </a:cubicBezTo>
                  <a:cubicBezTo>
                    <a:pt x="8538" y="6072"/>
                    <a:pt x="8349" y="6514"/>
                    <a:pt x="8349" y="6986"/>
                  </a:cubicBezTo>
                  <a:cubicBezTo>
                    <a:pt x="8349" y="7112"/>
                    <a:pt x="8349" y="7207"/>
                    <a:pt x="8381" y="7333"/>
                  </a:cubicBezTo>
                  <a:cubicBezTo>
                    <a:pt x="7562" y="7459"/>
                    <a:pt x="6932" y="8215"/>
                    <a:pt x="6932" y="9034"/>
                  </a:cubicBezTo>
                  <a:cubicBezTo>
                    <a:pt x="6932" y="9223"/>
                    <a:pt x="7089" y="9381"/>
                    <a:pt x="7278" y="9381"/>
                  </a:cubicBezTo>
                  <a:cubicBezTo>
                    <a:pt x="7467" y="9381"/>
                    <a:pt x="7625" y="9223"/>
                    <a:pt x="7625" y="9034"/>
                  </a:cubicBezTo>
                  <a:cubicBezTo>
                    <a:pt x="7625" y="8435"/>
                    <a:pt x="8097" y="8026"/>
                    <a:pt x="8664" y="8026"/>
                  </a:cubicBezTo>
                  <a:lnTo>
                    <a:pt x="8696" y="8026"/>
                  </a:lnTo>
                  <a:cubicBezTo>
                    <a:pt x="8727" y="8089"/>
                    <a:pt x="8822" y="8120"/>
                    <a:pt x="8853" y="8215"/>
                  </a:cubicBezTo>
                  <a:cubicBezTo>
                    <a:pt x="9074" y="8435"/>
                    <a:pt x="9326" y="8561"/>
                    <a:pt x="9641" y="8656"/>
                  </a:cubicBezTo>
                  <a:cubicBezTo>
                    <a:pt x="9673" y="8750"/>
                    <a:pt x="9704" y="8908"/>
                    <a:pt x="9704" y="9034"/>
                  </a:cubicBezTo>
                  <a:cubicBezTo>
                    <a:pt x="9704" y="9507"/>
                    <a:pt x="9452" y="9853"/>
                    <a:pt x="9011" y="10011"/>
                  </a:cubicBezTo>
                  <a:cubicBezTo>
                    <a:pt x="8979" y="9853"/>
                    <a:pt x="8853" y="9759"/>
                    <a:pt x="8664" y="9759"/>
                  </a:cubicBezTo>
                  <a:cubicBezTo>
                    <a:pt x="8444" y="9759"/>
                    <a:pt x="8286" y="9916"/>
                    <a:pt x="8286" y="10105"/>
                  </a:cubicBezTo>
                  <a:cubicBezTo>
                    <a:pt x="8286" y="10704"/>
                    <a:pt x="7814" y="11113"/>
                    <a:pt x="7278" y="11113"/>
                  </a:cubicBezTo>
                  <a:cubicBezTo>
                    <a:pt x="6711" y="11113"/>
                    <a:pt x="6239" y="10641"/>
                    <a:pt x="6239" y="10105"/>
                  </a:cubicBezTo>
                  <a:lnTo>
                    <a:pt x="6239" y="6640"/>
                  </a:lnTo>
                  <a:cubicBezTo>
                    <a:pt x="6522" y="6860"/>
                    <a:pt x="6932" y="6986"/>
                    <a:pt x="7278" y="6986"/>
                  </a:cubicBezTo>
                  <a:cubicBezTo>
                    <a:pt x="7467" y="6986"/>
                    <a:pt x="7625" y="6829"/>
                    <a:pt x="7625" y="6640"/>
                  </a:cubicBezTo>
                  <a:cubicBezTo>
                    <a:pt x="7625" y="6451"/>
                    <a:pt x="7467" y="6293"/>
                    <a:pt x="7278" y="6293"/>
                  </a:cubicBezTo>
                  <a:cubicBezTo>
                    <a:pt x="6680" y="6293"/>
                    <a:pt x="6239" y="5820"/>
                    <a:pt x="6239" y="5253"/>
                  </a:cubicBezTo>
                  <a:lnTo>
                    <a:pt x="6239" y="1788"/>
                  </a:lnTo>
                  <a:lnTo>
                    <a:pt x="6239" y="1756"/>
                  </a:lnTo>
                  <a:lnTo>
                    <a:pt x="6239" y="1725"/>
                  </a:lnTo>
                  <a:cubicBezTo>
                    <a:pt x="6239" y="1441"/>
                    <a:pt x="6365" y="1158"/>
                    <a:pt x="6554" y="969"/>
                  </a:cubicBezTo>
                  <a:cubicBezTo>
                    <a:pt x="6772" y="750"/>
                    <a:pt x="7027" y="663"/>
                    <a:pt x="7306" y="663"/>
                  </a:cubicBezTo>
                  <a:close/>
                  <a:moveTo>
                    <a:pt x="4492" y="726"/>
                  </a:moveTo>
                  <a:cubicBezTo>
                    <a:pt x="4756" y="726"/>
                    <a:pt x="5012" y="813"/>
                    <a:pt x="5230" y="1032"/>
                  </a:cubicBezTo>
                  <a:cubicBezTo>
                    <a:pt x="5419" y="1221"/>
                    <a:pt x="5545" y="1504"/>
                    <a:pt x="5545" y="1788"/>
                  </a:cubicBezTo>
                  <a:lnTo>
                    <a:pt x="5545" y="1819"/>
                  </a:lnTo>
                  <a:lnTo>
                    <a:pt x="5545" y="5285"/>
                  </a:lnTo>
                  <a:cubicBezTo>
                    <a:pt x="5545" y="5883"/>
                    <a:pt x="5073" y="6325"/>
                    <a:pt x="4506" y="6325"/>
                  </a:cubicBezTo>
                  <a:cubicBezTo>
                    <a:pt x="4317" y="6325"/>
                    <a:pt x="4159" y="6482"/>
                    <a:pt x="4159" y="6671"/>
                  </a:cubicBezTo>
                  <a:cubicBezTo>
                    <a:pt x="4159" y="6860"/>
                    <a:pt x="4317" y="7018"/>
                    <a:pt x="4506" y="7018"/>
                  </a:cubicBezTo>
                  <a:cubicBezTo>
                    <a:pt x="4915" y="7018"/>
                    <a:pt x="5262" y="6892"/>
                    <a:pt x="5545" y="6671"/>
                  </a:cubicBezTo>
                  <a:lnTo>
                    <a:pt x="5545" y="10105"/>
                  </a:lnTo>
                  <a:lnTo>
                    <a:pt x="5545" y="10137"/>
                  </a:lnTo>
                  <a:cubicBezTo>
                    <a:pt x="5545" y="10704"/>
                    <a:pt x="5073" y="11176"/>
                    <a:pt x="4506" y="11176"/>
                  </a:cubicBezTo>
                  <a:cubicBezTo>
                    <a:pt x="3939" y="11176"/>
                    <a:pt x="3498" y="10704"/>
                    <a:pt x="3498" y="10137"/>
                  </a:cubicBezTo>
                  <a:cubicBezTo>
                    <a:pt x="3498" y="9948"/>
                    <a:pt x="3340" y="9790"/>
                    <a:pt x="3151" y="9790"/>
                  </a:cubicBezTo>
                  <a:cubicBezTo>
                    <a:pt x="2994" y="9790"/>
                    <a:pt x="2836" y="9916"/>
                    <a:pt x="2773" y="10074"/>
                  </a:cubicBezTo>
                  <a:cubicBezTo>
                    <a:pt x="2395" y="9916"/>
                    <a:pt x="2080" y="9538"/>
                    <a:pt x="2080" y="9065"/>
                  </a:cubicBezTo>
                  <a:cubicBezTo>
                    <a:pt x="2080" y="8908"/>
                    <a:pt x="2111" y="8813"/>
                    <a:pt x="2143" y="8687"/>
                  </a:cubicBezTo>
                  <a:cubicBezTo>
                    <a:pt x="2426" y="8593"/>
                    <a:pt x="2710" y="8435"/>
                    <a:pt x="2930" y="8246"/>
                  </a:cubicBezTo>
                  <a:cubicBezTo>
                    <a:pt x="2994" y="8215"/>
                    <a:pt x="3057" y="8120"/>
                    <a:pt x="3088" y="8057"/>
                  </a:cubicBezTo>
                  <a:lnTo>
                    <a:pt x="3151" y="8057"/>
                  </a:lnTo>
                  <a:cubicBezTo>
                    <a:pt x="3718" y="8057"/>
                    <a:pt x="4159" y="8530"/>
                    <a:pt x="4159" y="9065"/>
                  </a:cubicBezTo>
                  <a:cubicBezTo>
                    <a:pt x="4159" y="9286"/>
                    <a:pt x="4317" y="9444"/>
                    <a:pt x="4506" y="9444"/>
                  </a:cubicBezTo>
                  <a:cubicBezTo>
                    <a:pt x="4726" y="9444"/>
                    <a:pt x="4884" y="9286"/>
                    <a:pt x="4884" y="9065"/>
                  </a:cubicBezTo>
                  <a:cubicBezTo>
                    <a:pt x="4884" y="8215"/>
                    <a:pt x="4254" y="7490"/>
                    <a:pt x="3403" y="7396"/>
                  </a:cubicBezTo>
                  <a:cubicBezTo>
                    <a:pt x="3466" y="7270"/>
                    <a:pt x="3466" y="7144"/>
                    <a:pt x="3466" y="7018"/>
                  </a:cubicBezTo>
                  <a:cubicBezTo>
                    <a:pt x="3466" y="6545"/>
                    <a:pt x="3246" y="6104"/>
                    <a:pt x="2930" y="5820"/>
                  </a:cubicBezTo>
                  <a:cubicBezTo>
                    <a:pt x="2883" y="5757"/>
                    <a:pt x="2797" y="5726"/>
                    <a:pt x="2706" y="5726"/>
                  </a:cubicBezTo>
                  <a:cubicBezTo>
                    <a:pt x="2615" y="5726"/>
                    <a:pt x="2521" y="5757"/>
                    <a:pt x="2458" y="5820"/>
                  </a:cubicBezTo>
                  <a:cubicBezTo>
                    <a:pt x="2363" y="5915"/>
                    <a:pt x="2363" y="6167"/>
                    <a:pt x="2458" y="6262"/>
                  </a:cubicBezTo>
                  <a:cubicBezTo>
                    <a:pt x="2678" y="6482"/>
                    <a:pt x="2773" y="6734"/>
                    <a:pt x="2773" y="7018"/>
                  </a:cubicBezTo>
                  <a:cubicBezTo>
                    <a:pt x="2773" y="7301"/>
                    <a:pt x="2678" y="7585"/>
                    <a:pt x="2458" y="7774"/>
                  </a:cubicBezTo>
                  <a:cubicBezTo>
                    <a:pt x="2269" y="7963"/>
                    <a:pt x="1985" y="8089"/>
                    <a:pt x="1733" y="8089"/>
                  </a:cubicBezTo>
                  <a:cubicBezTo>
                    <a:pt x="1450" y="8089"/>
                    <a:pt x="1166" y="7963"/>
                    <a:pt x="977" y="7774"/>
                  </a:cubicBezTo>
                  <a:cubicBezTo>
                    <a:pt x="788" y="7585"/>
                    <a:pt x="662" y="7301"/>
                    <a:pt x="662" y="7018"/>
                  </a:cubicBezTo>
                  <a:cubicBezTo>
                    <a:pt x="662" y="6829"/>
                    <a:pt x="725" y="6640"/>
                    <a:pt x="820" y="6419"/>
                  </a:cubicBezTo>
                  <a:cubicBezTo>
                    <a:pt x="1103" y="6608"/>
                    <a:pt x="1355" y="6671"/>
                    <a:pt x="1670" y="6671"/>
                  </a:cubicBezTo>
                  <a:cubicBezTo>
                    <a:pt x="1891" y="6671"/>
                    <a:pt x="2048" y="6514"/>
                    <a:pt x="2048" y="6325"/>
                  </a:cubicBezTo>
                  <a:cubicBezTo>
                    <a:pt x="2048" y="6104"/>
                    <a:pt x="1891" y="5946"/>
                    <a:pt x="1670" y="5946"/>
                  </a:cubicBezTo>
                  <a:cubicBezTo>
                    <a:pt x="1418" y="5946"/>
                    <a:pt x="1135" y="5852"/>
                    <a:pt x="946" y="5631"/>
                  </a:cubicBezTo>
                  <a:cubicBezTo>
                    <a:pt x="725" y="5442"/>
                    <a:pt x="631" y="5159"/>
                    <a:pt x="631" y="4907"/>
                  </a:cubicBezTo>
                  <a:cubicBezTo>
                    <a:pt x="631" y="4623"/>
                    <a:pt x="725" y="4340"/>
                    <a:pt x="946" y="4151"/>
                  </a:cubicBezTo>
                  <a:cubicBezTo>
                    <a:pt x="1135" y="3962"/>
                    <a:pt x="1418" y="3836"/>
                    <a:pt x="1670" y="3836"/>
                  </a:cubicBezTo>
                  <a:cubicBezTo>
                    <a:pt x="1954" y="3836"/>
                    <a:pt x="2237" y="3962"/>
                    <a:pt x="2426" y="4151"/>
                  </a:cubicBezTo>
                  <a:cubicBezTo>
                    <a:pt x="2489" y="4214"/>
                    <a:pt x="2576" y="4245"/>
                    <a:pt x="2663" y="4245"/>
                  </a:cubicBezTo>
                  <a:cubicBezTo>
                    <a:pt x="2749" y="4245"/>
                    <a:pt x="2836" y="4214"/>
                    <a:pt x="2899" y="4151"/>
                  </a:cubicBezTo>
                  <a:cubicBezTo>
                    <a:pt x="3025" y="4025"/>
                    <a:pt x="3025" y="3804"/>
                    <a:pt x="2899" y="3678"/>
                  </a:cubicBezTo>
                  <a:cubicBezTo>
                    <a:pt x="2678" y="3426"/>
                    <a:pt x="2426" y="3332"/>
                    <a:pt x="2111" y="3237"/>
                  </a:cubicBezTo>
                  <a:cubicBezTo>
                    <a:pt x="1954" y="2859"/>
                    <a:pt x="2048" y="2418"/>
                    <a:pt x="2363" y="2103"/>
                  </a:cubicBezTo>
                  <a:cubicBezTo>
                    <a:pt x="2552" y="1914"/>
                    <a:pt x="2836" y="1788"/>
                    <a:pt x="3088" y="1788"/>
                  </a:cubicBezTo>
                  <a:cubicBezTo>
                    <a:pt x="3372" y="1788"/>
                    <a:pt x="3655" y="1914"/>
                    <a:pt x="3844" y="2103"/>
                  </a:cubicBezTo>
                  <a:cubicBezTo>
                    <a:pt x="3907" y="2166"/>
                    <a:pt x="3994" y="2197"/>
                    <a:pt x="4080" y="2197"/>
                  </a:cubicBezTo>
                  <a:cubicBezTo>
                    <a:pt x="4167" y="2197"/>
                    <a:pt x="4254" y="2166"/>
                    <a:pt x="4317" y="2103"/>
                  </a:cubicBezTo>
                  <a:cubicBezTo>
                    <a:pt x="4443" y="1977"/>
                    <a:pt x="4443" y="1756"/>
                    <a:pt x="4317" y="1630"/>
                  </a:cubicBezTo>
                  <a:cubicBezTo>
                    <a:pt x="4128" y="1441"/>
                    <a:pt x="3876" y="1284"/>
                    <a:pt x="3624" y="1189"/>
                  </a:cubicBezTo>
                  <a:cubicBezTo>
                    <a:pt x="3781" y="969"/>
                    <a:pt x="3970" y="811"/>
                    <a:pt x="4254" y="748"/>
                  </a:cubicBezTo>
                  <a:cubicBezTo>
                    <a:pt x="4333" y="734"/>
                    <a:pt x="4413" y="726"/>
                    <a:pt x="4492" y="726"/>
                  </a:cubicBezTo>
                  <a:close/>
                  <a:moveTo>
                    <a:pt x="7254" y="0"/>
                  </a:moveTo>
                  <a:cubicBezTo>
                    <a:pt x="6817" y="0"/>
                    <a:pt x="6387" y="190"/>
                    <a:pt x="6049" y="528"/>
                  </a:cubicBezTo>
                  <a:cubicBezTo>
                    <a:pt x="6018" y="559"/>
                    <a:pt x="5923" y="654"/>
                    <a:pt x="5892" y="717"/>
                  </a:cubicBezTo>
                  <a:cubicBezTo>
                    <a:pt x="5860" y="654"/>
                    <a:pt x="5766" y="622"/>
                    <a:pt x="5734" y="528"/>
                  </a:cubicBezTo>
                  <a:cubicBezTo>
                    <a:pt x="5391" y="185"/>
                    <a:pt x="4972" y="13"/>
                    <a:pt x="4521" y="13"/>
                  </a:cubicBezTo>
                  <a:cubicBezTo>
                    <a:pt x="4392" y="13"/>
                    <a:pt x="4261" y="27"/>
                    <a:pt x="4128" y="55"/>
                  </a:cubicBezTo>
                  <a:cubicBezTo>
                    <a:pt x="3561" y="181"/>
                    <a:pt x="3151" y="559"/>
                    <a:pt x="2899" y="1126"/>
                  </a:cubicBezTo>
                  <a:cubicBezTo>
                    <a:pt x="2552" y="1158"/>
                    <a:pt x="2206" y="1347"/>
                    <a:pt x="1922" y="1599"/>
                  </a:cubicBezTo>
                  <a:cubicBezTo>
                    <a:pt x="1481" y="2040"/>
                    <a:pt x="1324" y="2607"/>
                    <a:pt x="1450" y="3206"/>
                  </a:cubicBezTo>
                  <a:cubicBezTo>
                    <a:pt x="1103" y="3237"/>
                    <a:pt x="788" y="3458"/>
                    <a:pt x="505" y="3678"/>
                  </a:cubicBezTo>
                  <a:cubicBezTo>
                    <a:pt x="190" y="3993"/>
                    <a:pt x="1" y="4434"/>
                    <a:pt x="1" y="4907"/>
                  </a:cubicBezTo>
                  <a:cubicBezTo>
                    <a:pt x="1" y="5285"/>
                    <a:pt x="127" y="5663"/>
                    <a:pt x="347" y="5915"/>
                  </a:cubicBezTo>
                  <a:cubicBezTo>
                    <a:pt x="127" y="6230"/>
                    <a:pt x="1" y="6608"/>
                    <a:pt x="1" y="6955"/>
                  </a:cubicBezTo>
                  <a:cubicBezTo>
                    <a:pt x="1" y="7427"/>
                    <a:pt x="190" y="7868"/>
                    <a:pt x="505" y="8183"/>
                  </a:cubicBezTo>
                  <a:cubicBezTo>
                    <a:pt x="788" y="8435"/>
                    <a:pt x="1103" y="8593"/>
                    <a:pt x="1450" y="8624"/>
                  </a:cubicBezTo>
                  <a:cubicBezTo>
                    <a:pt x="1418" y="8750"/>
                    <a:pt x="1418" y="8876"/>
                    <a:pt x="1418" y="9002"/>
                  </a:cubicBezTo>
                  <a:cubicBezTo>
                    <a:pt x="1418" y="9916"/>
                    <a:pt x="2080" y="10609"/>
                    <a:pt x="2962" y="10735"/>
                  </a:cubicBezTo>
                  <a:cubicBezTo>
                    <a:pt x="3214" y="11365"/>
                    <a:pt x="3813" y="11775"/>
                    <a:pt x="4569" y="11775"/>
                  </a:cubicBezTo>
                  <a:cubicBezTo>
                    <a:pt x="5104" y="11775"/>
                    <a:pt x="5640" y="11523"/>
                    <a:pt x="5955" y="11082"/>
                  </a:cubicBezTo>
                  <a:cubicBezTo>
                    <a:pt x="6270" y="11523"/>
                    <a:pt x="6774" y="11775"/>
                    <a:pt x="7310" y="11775"/>
                  </a:cubicBezTo>
                  <a:cubicBezTo>
                    <a:pt x="8034" y="11775"/>
                    <a:pt x="8664" y="11365"/>
                    <a:pt x="8948" y="10735"/>
                  </a:cubicBezTo>
                  <a:cubicBezTo>
                    <a:pt x="9799" y="10609"/>
                    <a:pt x="10460" y="9916"/>
                    <a:pt x="10460" y="9002"/>
                  </a:cubicBezTo>
                  <a:cubicBezTo>
                    <a:pt x="10460" y="8876"/>
                    <a:pt x="10460" y="8750"/>
                    <a:pt x="10429" y="8624"/>
                  </a:cubicBezTo>
                  <a:cubicBezTo>
                    <a:pt x="10775" y="8593"/>
                    <a:pt x="11090" y="8404"/>
                    <a:pt x="11374" y="8183"/>
                  </a:cubicBezTo>
                  <a:cubicBezTo>
                    <a:pt x="11689" y="7837"/>
                    <a:pt x="11878" y="7427"/>
                    <a:pt x="11878" y="6955"/>
                  </a:cubicBezTo>
                  <a:cubicBezTo>
                    <a:pt x="11878" y="6545"/>
                    <a:pt x="11783" y="6199"/>
                    <a:pt x="11531" y="5915"/>
                  </a:cubicBezTo>
                  <a:cubicBezTo>
                    <a:pt x="11689" y="5663"/>
                    <a:pt x="11815" y="5285"/>
                    <a:pt x="11815" y="4907"/>
                  </a:cubicBezTo>
                  <a:cubicBezTo>
                    <a:pt x="11815" y="4434"/>
                    <a:pt x="11594" y="3993"/>
                    <a:pt x="11279" y="3678"/>
                  </a:cubicBezTo>
                  <a:cubicBezTo>
                    <a:pt x="11027" y="3395"/>
                    <a:pt x="10712" y="3237"/>
                    <a:pt x="10334" y="3206"/>
                  </a:cubicBezTo>
                  <a:cubicBezTo>
                    <a:pt x="10460" y="2670"/>
                    <a:pt x="10303" y="2040"/>
                    <a:pt x="9862" y="1599"/>
                  </a:cubicBezTo>
                  <a:cubicBezTo>
                    <a:pt x="9610" y="1315"/>
                    <a:pt x="9231" y="1158"/>
                    <a:pt x="8885" y="1126"/>
                  </a:cubicBezTo>
                  <a:cubicBezTo>
                    <a:pt x="8664" y="559"/>
                    <a:pt x="8223" y="181"/>
                    <a:pt x="7656" y="55"/>
                  </a:cubicBezTo>
                  <a:cubicBezTo>
                    <a:pt x="7523" y="18"/>
                    <a:pt x="7388" y="0"/>
                    <a:pt x="72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-22685675" y="2408150"/>
              <a:ext cx="27575" cy="66175"/>
            </a:xfrm>
            <a:custGeom>
              <a:rect b="b" l="l" r="r" t="t"/>
              <a:pathLst>
                <a:path extrusionOk="0" h="2647" w="1103">
                  <a:moveTo>
                    <a:pt x="740" y="1"/>
                  </a:moveTo>
                  <a:cubicBezTo>
                    <a:pt x="654" y="1"/>
                    <a:pt x="567" y="32"/>
                    <a:pt x="504" y="95"/>
                  </a:cubicBezTo>
                  <a:cubicBezTo>
                    <a:pt x="189" y="410"/>
                    <a:pt x="0" y="820"/>
                    <a:pt x="0" y="1292"/>
                  </a:cubicBezTo>
                  <a:cubicBezTo>
                    <a:pt x="0" y="1765"/>
                    <a:pt x="189" y="2206"/>
                    <a:pt x="504" y="2521"/>
                  </a:cubicBezTo>
                  <a:cubicBezTo>
                    <a:pt x="599" y="2584"/>
                    <a:pt x="662" y="2647"/>
                    <a:pt x="756" y="2647"/>
                  </a:cubicBezTo>
                  <a:cubicBezTo>
                    <a:pt x="819" y="2647"/>
                    <a:pt x="945" y="2615"/>
                    <a:pt x="977" y="2521"/>
                  </a:cubicBezTo>
                  <a:cubicBezTo>
                    <a:pt x="1103" y="2395"/>
                    <a:pt x="1103" y="2174"/>
                    <a:pt x="977" y="2048"/>
                  </a:cubicBezTo>
                  <a:cubicBezTo>
                    <a:pt x="788" y="1859"/>
                    <a:pt x="662" y="1576"/>
                    <a:pt x="662" y="1292"/>
                  </a:cubicBezTo>
                  <a:cubicBezTo>
                    <a:pt x="662" y="1040"/>
                    <a:pt x="788" y="757"/>
                    <a:pt x="977" y="536"/>
                  </a:cubicBezTo>
                  <a:cubicBezTo>
                    <a:pt x="1103" y="442"/>
                    <a:pt x="1103" y="253"/>
                    <a:pt x="977" y="95"/>
                  </a:cubicBezTo>
                  <a:cubicBezTo>
                    <a:pt x="914" y="32"/>
                    <a:pt x="827" y="1"/>
                    <a:pt x="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-22766800" y="2408950"/>
              <a:ext cx="27575" cy="66175"/>
            </a:xfrm>
            <a:custGeom>
              <a:rect b="b" l="l" r="r" t="t"/>
              <a:pathLst>
                <a:path extrusionOk="0" h="2647" w="1103">
                  <a:moveTo>
                    <a:pt x="362" y="0"/>
                  </a:moveTo>
                  <a:cubicBezTo>
                    <a:pt x="276" y="0"/>
                    <a:pt x="189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cubicBezTo>
                    <a:pt x="315" y="756"/>
                    <a:pt x="441" y="1040"/>
                    <a:pt x="441" y="1323"/>
                  </a:cubicBezTo>
                  <a:cubicBezTo>
                    <a:pt x="441" y="1575"/>
                    <a:pt x="315" y="1859"/>
                    <a:pt x="126" y="2048"/>
                  </a:cubicBezTo>
                  <a:cubicBezTo>
                    <a:pt x="0" y="2174"/>
                    <a:pt x="0" y="2426"/>
                    <a:pt x="126" y="2520"/>
                  </a:cubicBezTo>
                  <a:cubicBezTo>
                    <a:pt x="221" y="2615"/>
                    <a:pt x="284" y="2646"/>
                    <a:pt x="378" y="2646"/>
                  </a:cubicBezTo>
                  <a:cubicBezTo>
                    <a:pt x="441" y="2646"/>
                    <a:pt x="567" y="2615"/>
                    <a:pt x="599" y="2520"/>
                  </a:cubicBezTo>
                  <a:cubicBezTo>
                    <a:pt x="977" y="2174"/>
                    <a:pt x="1103" y="1733"/>
                    <a:pt x="1103" y="1323"/>
                  </a:cubicBezTo>
                  <a:cubicBezTo>
                    <a:pt x="1103" y="851"/>
                    <a:pt x="914" y="410"/>
                    <a:pt x="599" y="95"/>
                  </a:cubicBezTo>
                  <a:cubicBezTo>
                    <a:pt x="536" y="32"/>
                    <a:pt x="449" y="0"/>
                    <a:pt x="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3" name="Google Shape;333;p5"/>
          <p:cNvGrpSpPr/>
          <p:nvPr/>
        </p:nvGrpSpPr>
        <p:grpSpPr>
          <a:xfrm>
            <a:off x="6131722" y="1456959"/>
            <a:ext cx="280923" cy="315449"/>
            <a:chOff x="6276025" y="3812400"/>
            <a:chExt cx="416800" cy="468025"/>
          </a:xfrm>
        </p:grpSpPr>
        <p:sp>
          <p:nvSpPr>
            <p:cNvPr id="334" name="Google Shape;334;p5"/>
            <p:cNvSpPr/>
            <p:nvPr/>
          </p:nvSpPr>
          <p:spPr>
            <a:xfrm>
              <a:off x="6276025" y="3812400"/>
              <a:ext cx="416800" cy="468025"/>
            </a:xfrm>
            <a:custGeom>
              <a:rect b="b" l="l" r="r" t="t"/>
              <a:pathLst>
                <a:path extrusionOk="0" h="18721" w="16672">
                  <a:moveTo>
                    <a:pt x="8334" y="1132"/>
                  </a:moveTo>
                  <a:cubicBezTo>
                    <a:pt x="12311" y="1132"/>
                    <a:pt x="15536" y="4354"/>
                    <a:pt x="15536" y="8334"/>
                  </a:cubicBezTo>
                  <a:lnTo>
                    <a:pt x="15536" y="8346"/>
                  </a:lnTo>
                  <a:lnTo>
                    <a:pt x="15536" y="11652"/>
                  </a:lnTo>
                  <a:cubicBezTo>
                    <a:pt x="15536" y="12332"/>
                    <a:pt x="15240" y="12981"/>
                    <a:pt x="14724" y="13425"/>
                  </a:cubicBezTo>
                  <a:lnTo>
                    <a:pt x="12849" y="15034"/>
                  </a:lnTo>
                  <a:cubicBezTo>
                    <a:pt x="12725" y="15143"/>
                    <a:pt x="12652" y="15300"/>
                    <a:pt x="12652" y="15466"/>
                  </a:cubicBezTo>
                  <a:lnTo>
                    <a:pt x="12652" y="17588"/>
                  </a:lnTo>
                  <a:lnTo>
                    <a:pt x="11197" y="17588"/>
                  </a:lnTo>
                  <a:lnTo>
                    <a:pt x="11197" y="16254"/>
                  </a:lnTo>
                  <a:cubicBezTo>
                    <a:pt x="11197" y="15943"/>
                    <a:pt x="10943" y="15689"/>
                    <a:pt x="10629" y="15689"/>
                  </a:cubicBezTo>
                  <a:cubicBezTo>
                    <a:pt x="10318" y="15689"/>
                    <a:pt x="10065" y="15943"/>
                    <a:pt x="10065" y="16254"/>
                  </a:cubicBezTo>
                  <a:lnTo>
                    <a:pt x="10065" y="17588"/>
                  </a:lnTo>
                  <a:lnTo>
                    <a:pt x="8902" y="17588"/>
                  </a:lnTo>
                  <a:lnTo>
                    <a:pt x="8902" y="16254"/>
                  </a:lnTo>
                  <a:cubicBezTo>
                    <a:pt x="8902" y="15943"/>
                    <a:pt x="8648" y="15689"/>
                    <a:pt x="8334" y="15689"/>
                  </a:cubicBezTo>
                  <a:cubicBezTo>
                    <a:pt x="8020" y="15689"/>
                    <a:pt x="7770" y="15943"/>
                    <a:pt x="7770" y="16254"/>
                  </a:cubicBezTo>
                  <a:lnTo>
                    <a:pt x="7770" y="17588"/>
                  </a:lnTo>
                  <a:lnTo>
                    <a:pt x="6604" y="17588"/>
                  </a:lnTo>
                  <a:lnTo>
                    <a:pt x="6604" y="16254"/>
                  </a:lnTo>
                  <a:cubicBezTo>
                    <a:pt x="6604" y="15943"/>
                    <a:pt x="6351" y="15689"/>
                    <a:pt x="6040" y="15689"/>
                  </a:cubicBezTo>
                  <a:cubicBezTo>
                    <a:pt x="5726" y="15689"/>
                    <a:pt x="5472" y="15943"/>
                    <a:pt x="5472" y="16254"/>
                  </a:cubicBezTo>
                  <a:lnTo>
                    <a:pt x="5472" y="17588"/>
                  </a:lnTo>
                  <a:lnTo>
                    <a:pt x="4017" y="17588"/>
                  </a:lnTo>
                  <a:lnTo>
                    <a:pt x="4017" y="15466"/>
                  </a:lnTo>
                  <a:cubicBezTo>
                    <a:pt x="4017" y="15300"/>
                    <a:pt x="3944" y="15143"/>
                    <a:pt x="3820" y="15037"/>
                  </a:cubicBezTo>
                  <a:lnTo>
                    <a:pt x="1945" y="13425"/>
                  </a:lnTo>
                  <a:cubicBezTo>
                    <a:pt x="1429" y="12981"/>
                    <a:pt x="1133" y="12335"/>
                    <a:pt x="1133" y="11652"/>
                  </a:cubicBezTo>
                  <a:lnTo>
                    <a:pt x="1133" y="8406"/>
                  </a:lnTo>
                  <a:cubicBezTo>
                    <a:pt x="1133" y="4396"/>
                    <a:pt x="4361" y="1132"/>
                    <a:pt x="8331" y="1132"/>
                  </a:cubicBezTo>
                  <a:close/>
                  <a:moveTo>
                    <a:pt x="8331" y="0"/>
                  </a:moveTo>
                  <a:cubicBezTo>
                    <a:pt x="3736" y="3"/>
                    <a:pt x="1" y="3774"/>
                    <a:pt x="1" y="8409"/>
                  </a:cubicBezTo>
                  <a:lnTo>
                    <a:pt x="1" y="11655"/>
                  </a:lnTo>
                  <a:cubicBezTo>
                    <a:pt x="1" y="12664"/>
                    <a:pt x="442" y="13627"/>
                    <a:pt x="1209" y="14285"/>
                  </a:cubicBezTo>
                  <a:lnTo>
                    <a:pt x="2884" y="15725"/>
                  </a:lnTo>
                  <a:lnTo>
                    <a:pt x="2884" y="18156"/>
                  </a:lnTo>
                  <a:cubicBezTo>
                    <a:pt x="2884" y="18467"/>
                    <a:pt x="3138" y="18721"/>
                    <a:pt x="3449" y="18721"/>
                  </a:cubicBezTo>
                  <a:lnTo>
                    <a:pt x="13220" y="18721"/>
                  </a:lnTo>
                  <a:cubicBezTo>
                    <a:pt x="13531" y="18721"/>
                    <a:pt x="13785" y="18467"/>
                    <a:pt x="13785" y="18156"/>
                  </a:cubicBezTo>
                  <a:lnTo>
                    <a:pt x="13785" y="15725"/>
                  </a:lnTo>
                  <a:lnTo>
                    <a:pt x="15463" y="14282"/>
                  </a:lnTo>
                  <a:cubicBezTo>
                    <a:pt x="16227" y="13624"/>
                    <a:pt x="16671" y="12664"/>
                    <a:pt x="16671" y="11652"/>
                  </a:cubicBezTo>
                  <a:lnTo>
                    <a:pt x="16671" y="8334"/>
                  </a:lnTo>
                  <a:lnTo>
                    <a:pt x="16671" y="8322"/>
                  </a:lnTo>
                  <a:cubicBezTo>
                    <a:pt x="16662" y="3723"/>
                    <a:pt x="12933" y="0"/>
                    <a:pt x="8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6436375" y="4078825"/>
              <a:ext cx="96025" cy="80400"/>
            </a:xfrm>
            <a:custGeom>
              <a:rect b="b" l="l" r="r" t="t"/>
              <a:pathLst>
                <a:path extrusionOk="0" h="3216" w="3841">
                  <a:moveTo>
                    <a:pt x="1922" y="1"/>
                  </a:moveTo>
                  <a:cubicBezTo>
                    <a:pt x="1736" y="1"/>
                    <a:pt x="1551" y="91"/>
                    <a:pt x="1440" y="270"/>
                  </a:cubicBezTo>
                  <a:lnTo>
                    <a:pt x="166" y="2354"/>
                  </a:lnTo>
                  <a:cubicBezTo>
                    <a:pt x="0" y="2623"/>
                    <a:pt x="85" y="2970"/>
                    <a:pt x="350" y="3133"/>
                  </a:cubicBezTo>
                  <a:cubicBezTo>
                    <a:pt x="443" y="3189"/>
                    <a:pt x="545" y="3216"/>
                    <a:pt x="646" y="3216"/>
                  </a:cubicBezTo>
                  <a:cubicBezTo>
                    <a:pt x="837" y="3216"/>
                    <a:pt x="1023" y="3120"/>
                    <a:pt x="1129" y="2946"/>
                  </a:cubicBezTo>
                  <a:lnTo>
                    <a:pt x="1923" y="1653"/>
                  </a:lnTo>
                  <a:lnTo>
                    <a:pt x="2712" y="2946"/>
                  </a:lnTo>
                  <a:cubicBezTo>
                    <a:pt x="2818" y="3120"/>
                    <a:pt x="3005" y="3216"/>
                    <a:pt x="3196" y="3216"/>
                  </a:cubicBezTo>
                  <a:cubicBezTo>
                    <a:pt x="3297" y="3216"/>
                    <a:pt x="3399" y="3189"/>
                    <a:pt x="3491" y="3133"/>
                  </a:cubicBezTo>
                  <a:cubicBezTo>
                    <a:pt x="3759" y="2970"/>
                    <a:pt x="3841" y="2623"/>
                    <a:pt x="3678" y="2354"/>
                  </a:cubicBezTo>
                  <a:lnTo>
                    <a:pt x="2407" y="270"/>
                  </a:lnTo>
                  <a:cubicBezTo>
                    <a:pt x="2295" y="91"/>
                    <a:pt x="2108" y="1"/>
                    <a:pt x="19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6327450" y="3974775"/>
              <a:ext cx="125550" cy="118300"/>
            </a:xfrm>
            <a:custGeom>
              <a:rect b="b" l="l" r="r" t="t"/>
              <a:pathLst>
                <a:path extrusionOk="0" h="4732" w="5022">
                  <a:moveTo>
                    <a:pt x="2505" y="1115"/>
                  </a:moveTo>
                  <a:cubicBezTo>
                    <a:pt x="2806" y="1115"/>
                    <a:pt x="3107" y="1230"/>
                    <a:pt x="3337" y="1461"/>
                  </a:cubicBezTo>
                  <a:cubicBezTo>
                    <a:pt x="3795" y="1920"/>
                    <a:pt x="3795" y="2663"/>
                    <a:pt x="3337" y="3125"/>
                  </a:cubicBezTo>
                  <a:cubicBezTo>
                    <a:pt x="3049" y="3413"/>
                    <a:pt x="2565" y="3600"/>
                    <a:pt x="2133" y="3600"/>
                  </a:cubicBezTo>
                  <a:cubicBezTo>
                    <a:pt x="1861" y="3600"/>
                    <a:pt x="1610" y="3526"/>
                    <a:pt x="1440" y="3358"/>
                  </a:cubicBezTo>
                  <a:cubicBezTo>
                    <a:pt x="1253" y="3167"/>
                    <a:pt x="1166" y="2844"/>
                    <a:pt x="1208" y="2473"/>
                  </a:cubicBezTo>
                  <a:cubicBezTo>
                    <a:pt x="1253" y="2089"/>
                    <a:pt x="1431" y="1703"/>
                    <a:pt x="1673" y="1461"/>
                  </a:cubicBezTo>
                  <a:cubicBezTo>
                    <a:pt x="1902" y="1230"/>
                    <a:pt x="2203" y="1115"/>
                    <a:pt x="2505" y="1115"/>
                  </a:cubicBezTo>
                  <a:close/>
                  <a:moveTo>
                    <a:pt x="2486" y="0"/>
                  </a:moveTo>
                  <a:cubicBezTo>
                    <a:pt x="1903" y="0"/>
                    <a:pt x="1321" y="219"/>
                    <a:pt x="873" y="658"/>
                  </a:cubicBezTo>
                  <a:cubicBezTo>
                    <a:pt x="444" y="1084"/>
                    <a:pt x="157" y="1697"/>
                    <a:pt x="85" y="2340"/>
                  </a:cubicBezTo>
                  <a:cubicBezTo>
                    <a:pt x="0" y="3059"/>
                    <a:pt x="202" y="3717"/>
                    <a:pt x="640" y="4155"/>
                  </a:cubicBezTo>
                  <a:cubicBezTo>
                    <a:pt x="1042" y="4556"/>
                    <a:pt x="1582" y="4731"/>
                    <a:pt x="2138" y="4731"/>
                  </a:cubicBezTo>
                  <a:cubicBezTo>
                    <a:pt x="2141" y="4731"/>
                    <a:pt x="2145" y="4731"/>
                    <a:pt x="2149" y="4731"/>
                  </a:cubicBezTo>
                  <a:cubicBezTo>
                    <a:pt x="2882" y="4731"/>
                    <a:pt x="3638" y="4424"/>
                    <a:pt x="4137" y="3922"/>
                  </a:cubicBezTo>
                  <a:cubicBezTo>
                    <a:pt x="5021" y="3016"/>
                    <a:pt x="5012" y="1570"/>
                    <a:pt x="4119" y="676"/>
                  </a:cubicBezTo>
                  <a:cubicBezTo>
                    <a:pt x="3668" y="226"/>
                    <a:pt x="3077" y="0"/>
                    <a:pt x="24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6515325" y="3974300"/>
              <a:ext cx="126000" cy="118775"/>
            </a:xfrm>
            <a:custGeom>
              <a:rect b="b" l="l" r="r" t="t"/>
              <a:pathLst>
                <a:path extrusionOk="0" h="4751" w="5040">
                  <a:moveTo>
                    <a:pt x="2535" y="1133"/>
                  </a:moveTo>
                  <a:cubicBezTo>
                    <a:pt x="2836" y="1133"/>
                    <a:pt x="3138" y="1248"/>
                    <a:pt x="3367" y="1477"/>
                  </a:cubicBezTo>
                  <a:cubicBezTo>
                    <a:pt x="3609" y="1722"/>
                    <a:pt x="3787" y="2108"/>
                    <a:pt x="3832" y="2492"/>
                  </a:cubicBezTo>
                  <a:cubicBezTo>
                    <a:pt x="3874" y="2860"/>
                    <a:pt x="3790" y="3183"/>
                    <a:pt x="3600" y="3374"/>
                  </a:cubicBezTo>
                  <a:cubicBezTo>
                    <a:pt x="3429" y="3544"/>
                    <a:pt x="3178" y="3618"/>
                    <a:pt x="2906" y="3618"/>
                  </a:cubicBezTo>
                  <a:cubicBezTo>
                    <a:pt x="2474" y="3618"/>
                    <a:pt x="1991" y="3430"/>
                    <a:pt x="1703" y="3141"/>
                  </a:cubicBezTo>
                  <a:cubicBezTo>
                    <a:pt x="1244" y="2682"/>
                    <a:pt x="1244" y="1936"/>
                    <a:pt x="1703" y="1477"/>
                  </a:cubicBezTo>
                  <a:cubicBezTo>
                    <a:pt x="1933" y="1248"/>
                    <a:pt x="2234" y="1133"/>
                    <a:pt x="2535" y="1133"/>
                  </a:cubicBezTo>
                  <a:close/>
                  <a:moveTo>
                    <a:pt x="2535" y="0"/>
                  </a:moveTo>
                  <a:cubicBezTo>
                    <a:pt x="1944" y="0"/>
                    <a:pt x="1353" y="226"/>
                    <a:pt x="903" y="677"/>
                  </a:cubicBezTo>
                  <a:cubicBezTo>
                    <a:pt x="0" y="1580"/>
                    <a:pt x="0" y="3041"/>
                    <a:pt x="903" y="3941"/>
                  </a:cubicBezTo>
                  <a:cubicBezTo>
                    <a:pt x="1329" y="4370"/>
                    <a:pt x="1945" y="4660"/>
                    <a:pt x="2588" y="4732"/>
                  </a:cubicBezTo>
                  <a:cubicBezTo>
                    <a:pt x="2691" y="4744"/>
                    <a:pt x="2793" y="4750"/>
                    <a:pt x="2899" y="4750"/>
                  </a:cubicBezTo>
                  <a:cubicBezTo>
                    <a:pt x="3491" y="4750"/>
                    <a:pt x="4028" y="4548"/>
                    <a:pt x="4400" y="4174"/>
                  </a:cubicBezTo>
                  <a:cubicBezTo>
                    <a:pt x="4838" y="3739"/>
                    <a:pt x="5040" y="3078"/>
                    <a:pt x="4958" y="2362"/>
                  </a:cubicBezTo>
                  <a:cubicBezTo>
                    <a:pt x="4883" y="1719"/>
                    <a:pt x="4596" y="1103"/>
                    <a:pt x="4167" y="677"/>
                  </a:cubicBezTo>
                  <a:cubicBezTo>
                    <a:pt x="3717" y="226"/>
                    <a:pt x="3126" y="0"/>
                    <a:pt x="25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"/>
          <p:cNvSpPr txBox="1"/>
          <p:nvPr>
            <p:ph idx="4" type="subTitle"/>
          </p:nvPr>
        </p:nvSpPr>
        <p:spPr>
          <a:xfrm>
            <a:off x="4911639" y="2093822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343" name="Google Shape;34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Research problem</a:t>
            </a:r>
            <a:endParaRPr/>
          </a:p>
        </p:txBody>
      </p:sp>
      <p:sp>
        <p:nvSpPr>
          <p:cNvPr id="344" name="Google Shape;344;p6"/>
          <p:cNvSpPr txBox="1"/>
          <p:nvPr>
            <p:ph idx="1" type="subTitle"/>
          </p:nvPr>
        </p:nvSpPr>
        <p:spPr>
          <a:xfrm>
            <a:off x="4911650" y="2514403"/>
            <a:ext cx="2424300" cy="19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Can alignment methods improve Qwen 3-4B responses across clinically relevant metrics (Guidance, Informativeness, Relevance, Safety, Empathy, Helpfulness, Understanding) since it has room for improvement as it shows the weakest baseline performance among other models?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45" name="Google Shape;345;p6"/>
          <p:cNvSpPr txBox="1"/>
          <p:nvPr>
            <p:ph idx="2" type="subTitle"/>
          </p:nvPr>
        </p:nvSpPr>
        <p:spPr>
          <a:xfrm>
            <a:off x="1808050" y="2499352"/>
            <a:ext cx="2424300" cy="19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• Traditional NLP metrics do not capture counseling quality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• Mental‑health responses require empathy, safety, guidance, and understanding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• Existing LLMs are not optimized across these behavioral dimensions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46" name="Google Shape;346;p6"/>
          <p:cNvSpPr txBox="1"/>
          <p:nvPr>
            <p:ph idx="3" type="subTitle"/>
          </p:nvPr>
        </p:nvSpPr>
        <p:spPr>
          <a:xfrm>
            <a:off x="1808050" y="2078783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Problems</a:t>
            </a:r>
            <a:endParaRPr/>
          </a:p>
        </p:txBody>
      </p:sp>
      <p:grpSp>
        <p:nvGrpSpPr>
          <p:cNvPr id="347" name="Google Shape;347;p6"/>
          <p:cNvGrpSpPr/>
          <p:nvPr/>
        </p:nvGrpSpPr>
        <p:grpSpPr>
          <a:xfrm>
            <a:off x="1892089" y="1481031"/>
            <a:ext cx="329193" cy="329186"/>
            <a:chOff x="-3852025" y="2764950"/>
            <a:chExt cx="291450" cy="293000"/>
          </a:xfrm>
        </p:grpSpPr>
        <p:sp>
          <p:nvSpPr>
            <p:cNvPr id="348" name="Google Shape;348;p6"/>
            <p:cNvSpPr/>
            <p:nvPr/>
          </p:nvSpPr>
          <p:spPr>
            <a:xfrm>
              <a:off x="-3852025" y="2764950"/>
              <a:ext cx="291450" cy="293000"/>
            </a:xfrm>
            <a:custGeom>
              <a:rect b="b" l="l" r="r" t="t"/>
              <a:pathLst>
                <a:path extrusionOk="0" h="11720" w="11658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"/>
            <p:cNvSpPr/>
            <p:nvPr/>
          </p:nvSpPr>
          <p:spPr>
            <a:xfrm>
              <a:off x="-3707100" y="2937425"/>
              <a:ext cx="103200" cy="67775"/>
            </a:xfrm>
            <a:custGeom>
              <a:rect b="b" l="l" r="r" t="t"/>
              <a:pathLst>
                <a:path extrusionOk="0" h="2711" w="4128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6"/>
          <p:cNvGrpSpPr/>
          <p:nvPr/>
        </p:nvGrpSpPr>
        <p:grpSpPr>
          <a:xfrm>
            <a:off x="4911639" y="1483874"/>
            <a:ext cx="353587" cy="353587"/>
            <a:chOff x="-34776500" y="2631825"/>
            <a:chExt cx="291450" cy="291450"/>
          </a:xfrm>
        </p:grpSpPr>
        <p:sp>
          <p:nvSpPr>
            <p:cNvPr id="351" name="Google Shape;351;p6"/>
            <p:cNvSpPr/>
            <p:nvPr/>
          </p:nvSpPr>
          <p:spPr>
            <a:xfrm>
              <a:off x="-34691425" y="2666500"/>
              <a:ext cx="120525" cy="154400"/>
            </a:xfrm>
            <a:custGeom>
              <a:rect b="b" l="l" r="r" t="t"/>
              <a:pathLst>
                <a:path extrusionOk="0" h="6176" w="4821">
                  <a:moveTo>
                    <a:pt x="2331" y="693"/>
                  </a:moveTo>
                  <a:cubicBezTo>
                    <a:pt x="3277" y="693"/>
                    <a:pt x="4033" y="1449"/>
                    <a:pt x="4033" y="2394"/>
                  </a:cubicBezTo>
                  <a:cubicBezTo>
                    <a:pt x="4096" y="2899"/>
                    <a:pt x="3844" y="3466"/>
                    <a:pt x="3403" y="3781"/>
                  </a:cubicBezTo>
                  <a:cubicBezTo>
                    <a:pt x="3151" y="3970"/>
                    <a:pt x="2741" y="4348"/>
                    <a:pt x="2741" y="4946"/>
                  </a:cubicBezTo>
                  <a:lnTo>
                    <a:pt x="2741" y="5135"/>
                  </a:lnTo>
                  <a:cubicBezTo>
                    <a:pt x="2741" y="5356"/>
                    <a:pt x="2583" y="5513"/>
                    <a:pt x="2363" y="5513"/>
                  </a:cubicBezTo>
                  <a:cubicBezTo>
                    <a:pt x="2174" y="5513"/>
                    <a:pt x="2016" y="5356"/>
                    <a:pt x="2016" y="5135"/>
                  </a:cubicBezTo>
                  <a:lnTo>
                    <a:pt x="2016" y="4946"/>
                  </a:lnTo>
                  <a:cubicBezTo>
                    <a:pt x="2016" y="4285"/>
                    <a:pt x="2363" y="3655"/>
                    <a:pt x="2962" y="3214"/>
                  </a:cubicBezTo>
                  <a:cubicBezTo>
                    <a:pt x="3245" y="3025"/>
                    <a:pt x="3403" y="2710"/>
                    <a:pt x="3403" y="2394"/>
                  </a:cubicBezTo>
                  <a:cubicBezTo>
                    <a:pt x="3403" y="1827"/>
                    <a:pt x="2930" y="1355"/>
                    <a:pt x="2363" y="1355"/>
                  </a:cubicBezTo>
                  <a:cubicBezTo>
                    <a:pt x="1827" y="1355"/>
                    <a:pt x="1355" y="1827"/>
                    <a:pt x="1355" y="2394"/>
                  </a:cubicBezTo>
                  <a:cubicBezTo>
                    <a:pt x="1355" y="2583"/>
                    <a:pt x="1197" y="2741"/>
                    <a:pt x="1008" y="2741"/>
                  </a:cubicBezTo>
                  <a:cubicBezTo>
                    <a:pt x="788" y="2741"/>
                    <a:pt x="630" y="2583"/>
                    <a:pt x="630" y="2394"/>
                  </a:cubicBezTo>
                  <a:cubicBezTo>
                    <a:pt x="630" y="1449"/>
                    <a:pt x="1386" y="693"/>
                    <a:pt x="2331" y="693"/>
                  </a:cubicBezTo>
                  <a:close/>
                  <a:moveTo>
                    <a:pt x="2426" y="0"/>
                  </a:moveTo>
                  <a:cubicBezTo>
                    <a:pt x="1071" y="0"/>
                    <a:pt x="0" y="1040"/>
                    <a:pt x="0" y="2394"/>
                  </a:cubicBezTo>
                  <a:cubicBezTo>
                    <a:pt x="0" y="2930"/>
                    <a:pt x="473" y="3403"/>
                    <a:pt x="1040" y="3403"/>
                  </a:cubicBezTo>
                  <a:cubicBezTo>
                    <a:pt x="1575" y="3403"/>
                    <a:pt x="2048" y="2930"/>
                    <a:pt x="2048" y="2394"/>
                  </a:cubicBezTo>
                  <a:cubicBezTo>
                    <a:pt x="2048" y="2205"/>
                    <a:pt x="2205" y="2048"/>
                    <a:pt x="2426" y="2048"/>
                  </a:cubicBezTo>
                  <a:cubicBezTo>
                    <a:pt x="2615" y="2048"/>
                    <a:pt x="2772" y="2205"/>
                    <a:pt x="2772" y="2394"/>
                  </a:cubicBezTo>
                  <a:cubicBezTo>
                    <a:pt x="2772" y="2520"/>
                    <a:pt x="2741" y="2583"/>
                    <a:pt x="2615" y="2646"/>
                  </a:cubicBezTo>
                  <a:cubicBezTo>
                    <a:pt x="1827" y="3245"/>
                    <a:pt x="1386" y="4064"/>
                    <a:pt x="1386" y="4946"/>
                  </a:cubicBezTo>
                  <a:lnTo>
                    <a:pt x="1386" y="5135"/>
                  </a:lnTo>
                  <a:cubicBezTo>
                    <a:pt x="1386" y="5702"/>
                    <a:pt x="1859" y="6175"/>
                    <a:pt x="2426" y="6175"/>
                  </a:cubicBezTo>
                  <a:cubicBezTo>
                    <a:pt x="2962" y="6175"/>
                    <a:pt x="3434" y="5702"/>
                    <a:pt x="3434" y="5135"/>
                  </a:cubicBezTo>
                  <a:lnTo>
                    <a:pt x="3434" y="4946"/>
                  </a:lnTo>
                  <a:cubicBezTo>
                    <a:pt x="3434" y="4663"/>
                    <a:pt x="3686" y="4442"/>
                    <a:pt x="3844" y="4316"/>
                  </a:cubicBezTo>
                  <a:cubicBezTo>
                    <a:pt x="4474" y="3875"/>
                    <a:pt x="4820" y="3151"/>
                    <a:pt x="4820" y="2394"/>
                  </a:cubicBezTo>
                  <a:cubicBezTo>
                    <a:pt x="4789" y="1040"/>
                    <a:pt x="3718" y="0"/>
                    <a:pt x="24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-34656775" y="2837400"/>
              <a:ext cx="51200" cy="51225"/>
            </a:xfrm>
            <a:custGeom>
              <a:rect b="b" l="l" r="r" t="t"/>
              <a:pathLst>
                <a:path extrusionOk="0" h="2049" w="2048">
                  <a:moveTo>
                    <a:pt x="1040" y="662"/>
                  </a:moveTo>
                  <a:cubicBezTo>
                    <a:pt x="1229" y="662"/>
                    <a:pt x="1386" y="820"/>
                    <a:pt x="1386" y="1040"/>
                  </a:cubicBezTo>
                  <a:cubicBezTo>
                    <a:pt x="1386" y="1229"/>
                    <a:pt x="1197" y="1387"/>
                    <a:pt x="1040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576" y="1"/>
                    <a:pt x="10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6"/>
            <p:cNvSpPr/>
            <p:nvPr/>
          </p:nvSpPr>
          <p:spPr>
            <a:xfrm>
              <a:off x="-34776500" y="2631825"/>
              <a:ext cx="291450" cy="291450"/>
            </a:xfrm>
            <a:custGeom>
              <a:rect b="b" l="l" r="r" t="t"/>
              <a:pathLst>
                <a:path extrusionOk="0" h="11658" w="11658">
                  <a:moveTo>
                    <a:pt x="5829" y="662"/>
                  </a:moveTo>
                  <a:cubicBezTo>
                    <a:pt x="8664" y="662"/>
                    <a:pt x="10964" y="2994"/>
                    <a:pt x="10964" y="5829"/>
                  </a:cubicBezTo>
                  <a:cubicBezTo>
                    <a:pt x="10933" y="8665"/>
                    <a:pt x="8664" y="10996"/>
                    <a:pt x="5829" y="10996"/>
                  </a:cubicBezTo>
                  <a:cubicBezTo>
                    <a:pt x="2993" y="10996"/>
                    <a:pt x="662" y="8665"/>
                    <a:pt x="662" y="5829"/>
                  </a:cubicBezTo>
                  <a:cubicBezTo>
                    <a:pt x="662" y="2994"/>
                    <a:pt x="2993" y="662"/>
                    <a:pt x="5829" y="662"/>
                  </a:cubicBezTo>
                  <a:close/>
                  <a:moveTo>
                    <a:pt x="5829" y="1"/>
                  </a:moveTo>
                  <a:cubicBezTo>
                    <a:pt x="2584" y="1"/>
                    <a:pt x="0" y="2647"/>
                    <a:pt x="0" y="5829"/>
                  </a:cubicBezTo>
                  <a:cubicBezTo>
                    <a:pt x="0" y="9043"/>
                    <a:pt x="2615" y="11658"/>
                    <a:pt x="5829" y="11658"/>
                  </a:cubicBezTo>
                  <a:cubicBezTo>
                    <a:pt x="9042" y="11658"/>
                    <a:pt x="11657" y="9011"/>
                    <a:pt x="11657" y="5829"/>
                  </a:cubicBezTo>
                  <a:cubicBezTo>
                    <a:pt x="11657" y="2584"/>
                    <a:pt x="9011" y="1"/>
                    <a:pt x="58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7"/>
          <p:cNvSpPr txBox="1"/>
          <p:nvPr>
            <p:ph type="title"/>
          </p:nvPr>
        </p:nvSpPr>
        <p:spPr>
          <a:xfrm>
            <a:off x="4047175" y="2388500"/>
            <a:ext cx="4861200" cy="8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Related Work</a:t>
            </a:r>
            <a:endParaRPr sz="2000"/>
          </a:p>
        </p:txBody>
      </p:sp>
      <p:sp>
        <p:nvSpPr>
          <p:cNvPr id="360" name="Google Shape;360;p7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361" name="Google Shape;361;p7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362" name="Google Shape;362;p7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Related work</a:t>
            </a:r>
            <a:endParaRPr/>
          </a:p>
        </p:txBody>
      </p:sp>
      <p:graphicFrame>
        <p:nvGraphicFramePr>
          <p:cNvPr id="369" name="Google Shape;369;p8"/>
          <p:cNvGraphicFramePr/>
          <p:nvPr/>
        </p:nvGraphicFramePr>
        <p:xfrm>
          <a:off x="798538" y="12505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{91FB9743-5CBF-4F99-AFBA-8D4838ED25C9}</a:tableStyleId>
              </a:tblPr>
              <a:tblGrid>
                <a:gridCol w="1933550"/>
                <a:gridCol w="2639900"/>
                <a:gridCol w="3052025"/>
              </a:tblGrid>
              <a:tr h="46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Study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Focus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Limitation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Devlin et al., 2019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BERT language understanding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Not designed for mental-health dialogue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Lewis et al., 2020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BART seq2seq modeling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No behavioral alignment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Raffel et al., 2020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T5 text-to-text framework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No clinical evaluation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Bedi et al., 2023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Mental-health chatbots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Safety and empathy challenges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Chen et al., 2024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LLM evaluator bias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Focus on evaluation reliability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MIT Tech Review, 2024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AI in healthcare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Lacks model alignment analysis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Related work </a:t>
            </a:r>
            <a:r>
              <a:rPr lang="en" sz="2000"/>
              <a:t>(Contd…)</a:t>
            </a:r>
            <a:endParaRPr/>
          </a:p>
        </p:txBody>
      </p:sp>
      <p:graphicFrame>
        <p:nvGraphicFramePr>
          <p:cNvPr id="375" name="Google Shape;375;p9"/>
          <p:cNvGraphicFramePr/>
          <p:nvPr/>
        </p:nvGraphicFramePr>
        <p:xfrm>
          <a:off x="798538" y="12505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{91FB9743-5CBF-4F99-AFBA-8D4838ED25C9}</a:tableStyleId>
              </a:tblPr>
              <a:tblGrid>
                <a:gridCol w="1933550"/>
                <a:gridCol w="2639900"/>
                <a:gridCol w="3052000"/>
              </a:tblGrid>
              <a:tr h="46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Study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Focus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Limitation</a:t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Badawi et al., 2025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MentalBench benchmark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Benchmark not model improvement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Zhang et al., 2025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Emotion strategy models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Limited safety metrics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Umucu et al., 2025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Empathy optimization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Focus only on empathy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Wang et al., 2024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Evaluation robustness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Does not optimize model behavior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0"/>
          <p:cNvSpPr txBox="1"/>
          <p:nvPr>
            <p:ph idx="4" type="subTitle"/>
          </p:nvPr>
        </p:nvSpPr>
        <p:spPr>
          <a:xfrm>
            <a:off x="5227468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Our work</a:t>
            </a:r>
            <a:endParaRPr/>
          </a:p>
        </p:txBody>
      </p:sp>
      <p:sp>
        <p:nvSpPr>
          <p:cNvPr id="381" name="Google Shape;381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Research gap</a:t>
            </a:r>
            <a:endParaRPr/>
          </a:p>
        </p:txBody>
      </p:sp>
      <p:sp>
        <p:nvSpPr>
          <p:cNvPr id="382" name="Google Shape;382;p10"/>
          <p:cNvSpPr txBox="1"/>
          <p:nvPr>
            <p:ph idx="1" type="subTitle"/>
          </p:nvPr>
        </p:nvSpPr>
        <p:spPr>
          <a:xfrm>
            <a:off x="5242499" y="2679825"/>
            <a:ext cx="27636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Develop a behavioral alignment pipeline combining prompt engineering, QLoRA fine‑tuning, and AI reinforcement learning.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 txBox="1"/>
          <p:nvPr>
            <p:ph idx="2" type="subTitle"/>
          </p:nvPr>
        </p:nvSpPr>
        <p:spPr>
          <a:xfrm>
            <a:off x="1657650" y="2679825"/>
            <a:ext cx="34158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• Most studies focus on evaluation benchmarks rather than model alignment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• Empathy often treated as a single metric rather than multi‑dimensional counseling behavior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• Lack of optimization pipelines targeting multiple clinical response metrics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 txBox="1"/>
          <p:nvPr>
            <p:ph idx="3" type="subTitle"/>
          </p:nvPr>
        </p:nvSpPr>
        <p:spPr>
          <a:xfrm>
            <a:off x="1657655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Gap</a:t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5362064" y="1665890"/>
            <a:ext cx="310898" cy="365762"/>
          </a:xfrm>
          <a:custGeom>
            <a:rect b="b" l="l" r="r" t="t"/>
            <a:pathLst>
              <a:path extrusionOk="0" h="12004" w="10555">
                <a:moveTo>
                  <a:pt x="5262" y="709"/>
                </a:moveTo>
                <a:lnTo>
                  <a:pt x="9420" y="2788"/>
                </a:lnTo>
                <a:lnTo>
                  <a:pt x="8066" y="3450"/>
                </a:lnTo>
                <a:lnTo>
                  <a:pt x="5451" y="2127"/>
                </a:lnTo>
                <a:cubicBezTo>
                  <a:pt x="5403" y="2111"/>
                  <a:pt x="5348" y="2103"/>
                  <a:pt x="5293" y="2103"/>
                </a:cubicBezTo>
                <a:cubicBezTo>
                  <a:pt x="5238" y="2103"/>
                  <a:pt x="5183" y="2111"/>
                  <a:pt x="5136" y="2127"/>
                </a:cubicBezTo>
                <a:lnTo>
                  <a:pt x="2489" y="3450"/>
                </a:lnTo>
                <a:lnTo>
                  <a:pt x="1197" y="2788"/>
                </a:lnTo>
                <a:lnTo>
                  <a:pt x="5262" y="709"/>
                </a:lnTo>
                <a:close/>
                <a:moveTo>
                  <a:pt x="4915" y="3040"/>
                </a:moveTo>
                <a:lnTo>
                  <a:pt x="4915" y="6222"/>
                </a:lnTo>
                <a:lnTo>
                  <a:pt x="2804" y="7294"/>
                </a:lnTo>
                <a:lnTo>
                  <a:pt x="2804" y="4080"/>
                </a:lnTo>
                <a:lnTo>
                  <a:pt x="4915" y="3040"/>
                </a:lnTo>
                <a:close/>
                <a:moveTo>
                  <a:pt x="5640" y="3040"/>
                </a:moveTo>
                <a:lnTo>
                  <a:pt x="7750" y="4080"/>
                </a:lnTo>
                <a:lnTo>
                  <a:pt x="7750" y="7294"/>
                </a:lnTo>
                <a:lnTo>
                  <a:pt x="5640" y="6222"/>
                </a:lnTo>
                <a:lnTo>
                  <a:pt x="5640" y="3040"/>
                </a:lnTo>
                <a:close/>
                <a:moveTo>
                  <a:pt x="5262" y="6758"/>
                </a:moveTo>
                <a:lnTo>
                  <a:pt x="7278" y="7798"/>
                </a:lnTo>
                <a:lnTo>
                  <a:pt x="5262" y="8806"/>
                </a:lnTo>
                <a:lnTo>
                  <a:pt x="3277" y="7798"/>
                </a:lnTo>
                <a:lnTo>
                  <a:pt x="5262" y="6758"/>
                </a:lnTo>
                <a:close/>
                <a:moveTo>
                  <a:pt x="725" y="3372"/>
                </a:moveTo>
                <a:lnTo>
                  <a:pt x="2111" y="4080"/>
                </a:lnTo>
                <a:lnTo>
                  <a:pt x="2111" y="7829"/>
                </a:lnTo>
                <a:cubicBezTo>
                  <a:pt x="2111" y="7955"/>
                  <a:pt x="2206" y="8081"/>
                  <a:pt x="2332" y="8113"/>
                </a:cubicBezTo>
                <a:lnTo>
                  <a:pt x="4915" y="9404"/>
                </a:lnTo>
                <a:lnTo>
                  <a:pt x="4915" y="10980"/>
                </a:lnTo>
                <a:lnTo>
                  <a:pt x="725" y="8869"/>
                </a:lnTo>
                <a:lnTo>
                  <a:pt x="725" y="3372"/>
                </a:lnTo>
                <a:close/>
                <a:moveTo>
                  <a:pt x="9861" y="3387"/>
                </a:moveTo>
                <a:lnTo>
                  <a:pt x="9861" y="8932"/>
                </a:lnTo>
                <a:lnTo>
                  <a:pt x="5640" y="11011"/>
                </a:lnTo>
                <a:lnTo>
                  <a:pt x="5640" y="9436"/>
                </a:lnTo>
                <a:lnTo>
                  <a:pt x="8223" y="8144"/>
                </a:lnTo>
                <a:cubicBezTo>
                  <a:pt x="8349" y="8113"/>
                  <a:pt x="8412" y="7987"/>
                  <a:pt x="8412" y="7829"/>
                </a:cubicBezTo>
                <a:lnTo>
                  <a:pt x="8412" y="4080"/>
                </a:lnTo>
                <a:lnTo>
                  <a:pt x="9861" y="3387"/>
                </a:lnTo>
                <a:close/>
                <a:moveTo>
                  <a:pt x="5262" y="0"/>
                </a:moveTo>
                <a:cubicBezTo>
                  <a:pt x="5206" y="0"/>
                  <a:pt x="5151" y="16"/>
                  <a:pt x="5104" y="47"/>
                </a:cubicBezTo>
                <a:lnTo>
                  <a:pt x="284" y="2473"/>
                </a:lnTo>
                <a:cubicBezTo>
                  <a:pt x="63" y="2536"/>
                  <a:pt x="0" y="2662"/>
                  <a:pt x="0" y="2820"/>
                </a:cubicBezTo>
                <a:lnTo>
                  <a:pt x="0" y="9152"/>
                </a:lnTo>
                <a:cubicBezTo>
                  <a:pt x="0" y="9278"/>
                  <a:pt x="63" y="9404"/>
                  <a:pt x="189" y="9499"/>
                </a:cubicBezTo>
                <a:lnTo>
                  <a:pt x="5104" y="11956"/>
                </a:lnTo>
                <a:cubicBezTo>
                  <a:pt x="5151" y="11988"/>
                  <a:pt x="5206" y="12003"/>
                  <a:pt x="5262" y="12003"/>
                </a:cubicBezTo>
                <a:cubicBezTo>
                  <a:pt x="5317" y="12003"/>
                  <a:pt x="5372" y="11988"/>
                  <a:pt x="5419" y="11956"/>
                </a:cubicBezTo>
                <a:lnTo>
                  <a:pt x="10365" y="9499"/>
                </a:lnTo>
                <a:cubicBezTo>
                  <a:pt x="10460" y="9404"/>
                  <a:pt x="10554" y="9278"/>
                  <a:pt x="10554" y="9152"/>
                </a:cubicBezTo>
                <a:lnTo>
                  <a:pt x="10554" y="2788"/>
                </a:lnTo>
                <a:cubicBezTo>
                  <a:pt x="10554" y="2662"/>
                  <a:pt x="10460" y="2568"/>
                  <a:pt x="10365" y="2505"/>
                </a:cubicBezTo>
                <a:lnTo>
                  <a:pt x="5419" y="47"/>
                </a:lnTo>
                <a:cubicBezTo>
                  <a:pt x="5372" y="16"/>
                  <a:pt x="5317" y="0"/>
                  <a:pt x="52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1729225" y="1674516"/>
            <a:ext cx="354117" cy="348513"/>
          </a:xfrm>
          <a:custGeom>
            <a:rect b="b" l="l" r="r" t="t"/>
            <a:pathLst>
              <a:path extrusionOk="0" h="11815" w="12005">
                <a:moveTo>
                  <a:pt x="6003" y="693"/>
                </a:moveTo>
                <a:cubicBezTo>
                  <a:pt x="6089" y="693"/>
                  <a:pt x="6176" y="725"/>
                  <a:pt x="6239" y="788"/>
                </a:cubicBezTo>
                <a:lnTo>
                  <a:pt x="8444" y="2993"/>
                </a:lnTo>
                <a:lnTo>
                  <a:pt x="7972" y="3466"/>
                </a:lnTo>
                <a:lnTo>
                  <a:pt x="7751" y="3214"/>
                </a:lnTo>
                <a:cubicBezTo>
                  <a:pt x="7562" y="3025"/>
                  <a:pt x="7279" y="2899"/>
                  <a:pt x="6995" y="2899"/>
                </a:cubicBezTo>
                <a:cubicBezTo>
                  <a:pt x="6711" y="2899"/>
                  <a:pt x="6459" y="3025"/>
                  <a:pt x="6239" y="3214"/>
                </a:cubicBezTo>
                <a:cubicBezTo>
                  <a:pt x="5861" y="3623"/>
                  <a:pt x="5861" y="4285"/>
                  <a:pt x="6239" y="4663"/>
                </a:cubicBezTo>
                <a:lnTo>
                  <a:pt x="6491" y="4915"/>
                </a:lnTo>
                <a:lnTo>
                  <a:pt x="6018" y="5388"/>
                </a:lnTo>
                <a:lnTo>
                  <a:pt x="5262" y="4631"/>
                </a:lnTo>
                <a:cubicBezTo>
                  <a:pt x="5199" y="4568"/>
                  <a:pt x="5113" y="4537"/>
                  <a:pt x="5026" y="4537"/>
                </a:cubicBezTo>
                <a:cubicBezTo>
                  <a:pt x="4939" y="4537"/>
                  <a:pt x="4853" y="4568"/>
                  <a:pt x="4790" y="4631"/>
                </a:cubicBezTo>
                <a:lnTo>
                  <a:pt x="4317" y="5104"/>
                </a:lnTo>
                <a:cubicBezTo>
                  <a:pt x="4254" y="5167"/>
                  <a:pt x="4167" y="5198"/>
                  <a:pt x="4081" y="5198"/>
                </a:cubicBezTo>
                <a:cubicBezTo>
                  <a:pt x="3994" y="5198"/>
                  <a:pt x="3907" y="5167"/>
                  <a:pt x="3844" y="5104"/>
                </a:cubicBezTo>
                <a:cubicBezTo>
                  <a:pt x="3718" y="4978"/>
                  <a:pt x="3718" y="4757"/>
                  <a:pt x="3844" y="4631"/>
                </a:cubicBezTo>
                <a:lnTo>
                  <a:pt x="4317" y="4159"/>
                </a:lnTo>
                <a:cubicBezTo>
                  <a:pt x="4443" y="4033"/>
                  <a:pt x="4443" y="3812"/>
                  <a:pt x="4317" y="3686"/>
                </a:cubicBezTo>
                <a:lnTo>
                  <a:pt x="3624" y="2993"/>
                </a:lnTo>
                <a:lnTo>
                  <a:pt x="5766" y="788"/>
                </a:lnTo>
                <a:cubicBezTo>
                  <a:pt x="5829" y="725"/>
                  <a:pt x="5916" y="693"/>
                  <a:pt x="6003" y="693"/>
                </a:cubicBezTo>
                <a:close/>
                <a:moveTo>
                  <a:pt x="3088" y="3466"/>
                </a:moveTo>
                <a:lnTo>
                  <a:pt x="3561" y="3938"/>
                </a:lnTo>
                <a:lnTo>
                  <a:pt x="3340" y="4159"/>
                </a:lnTo>
                <a:cubicBezTo>
                  <a:pt x="2931" y="4568"/>
                  <a:pt x="2931" y="5230"/>
                  <a:pt x="3340" y="5608"/>
                </a:cubicBezTo>
                <a:cubicBezTo>
                  <a:pt x="3529" y="5813"/>
                  <a:pt x="3797" y="5915"/>
                  <a:pt x="4065" y="5915"/>
                </a:cubicBezTo>
                <a:cubicBezTo>
                  <a:pt x="4333" y="5915"/>
                  <a:pt x="4601" y="5813"/>
                  <a:pt x="4790" y="5608"/>
                </a:cubicBezTo>
                <a:lnTo>
                  <a:pt x="5042" y="5388"/>
                </a:lnTo>
                <a:lnTo>
                  <a:pt x="5514" y="5860"/>
                </a:lnTo>
                <a:lnTo>
                  <a:pt x="4758" y="6616"/>
                </a:lnTo>
                <a:cubicBezTo>
                  <a:pt x="4632" y="6711"/>
                  <a:pt x="4632" y="6963"/>
                  <a:pt x="4758" y="7089"/>
                </a:cubicBezTo>
                <a:lnTo>
                  <a:pt x="5231" y="7561"/>
                </a:lnTo>
                <a:cubicBezTo>
                  <a:pt x="5357" y="7656"/>
                  <a:pt x="5357" y="7908"/>
                  <a:pt x="5231" y="8002"/>
                </a:cubicBezTo>
                <a:cubicBezTo>
                  <a:pt x="5168" y="8065"/>
                  <a:pt x="5081" y="8097"/>
                  <a:pt x="4994" y="8097"/>
                </a:cubicBezTo>
                <a:cubicBezTo>
                  <a:pt x="4908" y="8097"/>
                  <a:pt x="4821" y="8065"/>
                  <a:pt x="4758" y="8002"/>
                </a:cubicBezTo>
                <a:lnTo>
                  <a:pt x="4286" y="7561"/>
                </a:lnTo>
                <a:cubicBezTo>
                  <a:pt x="4223" y="7498"/>
                  <a:pt x="4136" y="7467"/>
                  <a:pt x="4049" y="7467"/>
                </a:cubicBezTo>
                <a:cubicBezTo>
                  <a:pt x="3963" y="7467"/>
                  <a:pt x="3876" y="7498"/>
                  <a:pt x="3813" y="7561"/>
                </a:cubicBezTo>
                <a:lnTo>
                  <a:pt x="3088" y="8254"/>
                </a:lnTo>
                <a:lnTo>
                  <a:pt x="883" y="6049"/>
                </a:lnTo>
                <a:cubicBezTo>
                  <a:pt x="789" y="6018"/>
                  <a:pt x="789" y="5829"/>
                  <a:pt x="883" y="5671"/>
                </a:cubicBezTo>
                <a:lnTo>
                  <a:pt x="3088" y="3466"/>
                </a:lnTo>
                <a:close/>
                <a:moveTo>
                  <a:pt x="8917" y="3529"/>
                </a:moveTo>
                <a:lnTo>
                  <a:pt x="11122" y="5671"/>
                </a:lnTo>
                <a:cubicBezTo>
                  <a:pt x="11248" y="5766"/>
                  <a:pt x="11248" y="6018"/>
                  <a:pt x="11122" y="6144"/>
                </a:cubicBezTo>
                <a:lnTo>
                  <a:pt x="8917" y="8349"/>
                </a:lnTo>
                <a:lnTo>
                  <a:pt x="8444" y="7876"/>
                </a:lnTo>
                <a:lnTo>
                  <a:pt x="8696" y="7624"/>
                </a:lnTo>
                <a:cubicBezTo>
                  <a:pt x="9074" y="7246"/>
                  <a:pt x="9074" y="6553"/>
                  <a:pt x="8696" y="6175"/>
                </a:cubicBezTo>
                <a:cubicBezTo>
                  <a:pt x="8491" y="5970"/>
                  <a:pt x="8224" y="5868"/>
                  <a:pt x="7956" y="5868"/>
                </a:cubicBezTo>
                <a:cubicBezTo>
                  <a:pt x="7688" y="5868"/>
                  <a:pt x="7420" y="5970"/>
                  <a:pt x="7216" y="6175"/>
                </a:cubicBezTo>
                <a:lnTo>
                  <a:pt x="6995" y="6396"/>
                </a:lnTo>
                <a:lnTo>
                  <a:pt x="6522" y="5923"/>
                </a:lnTo>
                <a:lnTo>
                  <a:pt x="7279" y="5198"/>
                </a:lnTo>
                <a:cubicBezTo>
                  <a:pt x="7373" y="5072"/>
                  <a:pt x="7373" y="4820"/>
                  <a:pt x="7279" y="4726"/>
                </a:cubicBezTo>
                <a:lnTo>
                  <a:pt x="6806" y="4222"/>
                </a:lnTo>
                <a:cubicBezTo>
                  <a:pt x="6680" y="4127"/>
                  <a:pt x="6680" y="3875"/>
                  <a:pt x="6806" y="3749"/>
                </a:cubicBezTo>
                <a:cubicBezTo>
                  <a:pt x="6869" y="3686"/>
                  <a:pt x="6963" y="3655"/>
                  <a:pt x="7026" y="3655"/>
                </a:cubicBezTo>
                <a:cubicBezTo>
                  <a:pt x="7121" y="3655"/>
                  <a:pt x="7216" y="3686"/>
                  <a:pt x="7279" y="3749"/>
                </a:cubicBezTo>
                <a:lnTo>
                  <a:pt x="7751" y="4222"/>
                </a:lnTo>
                <a:cubicBezTo>
                  <a:pt x="7798" y="4285"/>
                  <a:pt x="7885" y="4316"/>
                  <a:pt x="7976" y="4316"/>
                </a:cubicBezTo>
                <a:cubicBezTo>
                  <a:pt x="8066" y="4316"/>
                  <a:pt x="8161" y="4285"/>
                  <a:pt x="8224" y="4222"/>
                </a:cubicBezTo>
                <a:lnTo>
                  <a:pt x="8917" y="3529"/>
                </a:lnTo>
                <a:close/>
                <a:moveTo>
                  <a:pt x="5987" y="6396"/>
                </a:moveTo>
                <a:lnTo>
                  <a:pt x="6711" y="7152"/>
                </a:lnTo>
                <a:cubicBezTo>
                  <a:pt x="6774" y="7215"/>
                  <a:pt x="6869" y="7246"/>
                  <a:pt x="6960" y="7246"/>
                </a:cubicBezTo>
                <a:cubicBezTo>
                  <a:pt x="7050" y="7246"/>
                  <a:pt x="7137" y="7215"/>
                  <a:pt x="7184" y="7152"/>
                </a:cubicBezTo>
                <a:lnTo>
                  <a:pt x="7657" y="6679"/>
                </a:lnTo>
                <a:cubicBezTo>
                  <a:pt x="7720" y="6616"/>
                  <a:pt x="7814" y="6585"/>
                  <a:pt x="7905" y="6585"/>
                </a:cubicBezTo>
                <a:cubicBezTo>
                  <a:pt x="7995" y="6585"/>
                  <a:pt x="8082" y="6616"/>
                  <a:pt x="8129" y="6679"/>
                </a:cubicBezTo>
                <a:cubicBezTo>
                  <a:pt x="8255" y="6805"/>
                  <a:pt x="8255" y="7026"/>
                  <a:pt x="8129" y="7152"/>
                </a:cubicBezTo>
                <a:lnTo>
                  <a:pt x="7657" y="7624"/>
                </a:lnTo>
                <a:cubicBezTo>
                  <a:pt x="7562" y="7750"/>
                  <a:pt x="7562" y="7971"/>
                  <a:pt x="7657" y="8097"/>
                </a:cubicBezTo>
                <a:lnTo>
                  <a:pt x="8381" y="8822"/>
                </a:lnTo>
                <a:lnTo>
                  <a:pt x="6239" y="11027"/>
                </a:lnTo>
                <a:cubicBezTo>
                  <a:pt x="6192" y="11074"/>
                  <a:pt x="6105" y="11098"/>
                  <a:pt x="6014" y="11098"/>
                </a:cubicBezTo>
                <a:cubicBezTo>
                  <a:pt x="5924" y="11098"/>
                  <a:pt x="5829" y="11074"/>
                  <a:pt x="5766" y="11027"/>
                </a:cubicBezTo>
                <a:lnTo>
                  <a:pt x="3561" y="8822"/>
                </a:lnTo>
                <a:lnTo>
                  <a:pt x="4034" y="8349"/>
                </a:lnTo>
                <a:lnTo>
                  <a:pt x="4286" y="8570"/>
                </a:lnTo>
                <a:cubicBezTo>
                  <a:pt x="4475" y="8774"/>
                  <a:pt x="4742" y="8877"/>
                  <a:pt x="5010" y="8877"/>
                </a:cubicBezTo>
                <a:cubicBezTo>
                  <a:pt x="5278" y="8877"/>
                  <a:pt x="5546" y="8774"/>
                  <a:pt x="5735" y="8570"/>
                </a:cubicBezTo>
                <a:cubicBezTo>
                  <a:pt x="6144" y="8191"/>
                  <a:pt x="6144" y="7498"/>
                  <a:pt x="5735" y="7120"/>
                </a:cubicBezTo>
                <a:lnTo>
                  <a:pt x="5514" y="6868"/>
                </a:lnTo>
                <a:lnTo>
                  <a:pt x="5987" y="6396"/>
                </a:lnTo>
                <a:close/>
                <a:moveTo>
                  <a:pt x="5999" y="0"/>
                </a:moveTo>
                <a:cubicBezTo>
                  <a:pt x="5735" y="0"/>
                  <a:pt x="5467" y="95"/>
                  <a:pt x="5262" y="284"/>
                </a:cubicBezTo>
                <a:lnTo>
                  <a:pt x="379" y="5167"/>
                </a:lnTo>
                <a:cubicBezTo>
                  <a:pt x="1" y="5577"/>
                  <a:pt x="1" y="6238"/>
                  <a:pt x="379" y="6648"/>
                </a:cubicBezTo>
                <a:lnTo>
                  <a:pt x="5262" y="11531"/>
                </a:lnTo>
                <a:cubicBezTo>
                  <a:pt x="5467" y="11720"/>
                  <a:pt x="5735" y="11814"/>
                  <a:pt x="5999" y="11814"/>
                </a:cubicBezTo>
                <a:cubicBezTo>
                  <a:pt x="6262" y="11814"/>
                  <a:pt x="6522" y="11720"/>
                  <a:pt x="6711" y="11531"/>
                </a:cubicBezTo>
                <a:lnTo>
                  <a:pt x="11595" y="6648"/>
                </a:lnTo>
                <a:cubicBezTo>
                  <a:pt x="12004" y="6238"/>
                  <a:pt x="12004" y="5577"/>
                  <a:pt x="11595" y="5167"/>
                </a:cubicBezTo>
                <a:lnTo>
                  <a:pt x="6711" y="284"/>
                </a:lnTo>
                <a:cubicBezTo>
                  <a:pt x="6522" y="95"/>
                  <a:pt x="6262" y="0"/>
                  <a:pt x="59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1"/>
          <p:cNvSpPr txBox="1"/>
          <p:nvPr>
            <p:ph type="title"/>
          </p:nvPr>
        </p:nvSpPr>
        <p:spPr>
          <a:xfrm>
            <a:off x="4047175" y="2388500"/>
            <a:ext cx="41844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Methodology</a:t>
            </a:r>
            <a:endParaRPr sz="2000"/>
          </a:p>
        </p:txBody>
      </p:sp>
      <p:sp>
        <p:nvSpPr>
          <p:cNvPr id="393" name="Google Shape;393;p11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394" name="Google Shape;394;p11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395" name="Google Shape;395;p1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"/>
          <p:cNvSpPr/>
          <p:nvPr/>
        </p:nvSpPr>
        <p:spPr>
          <a:xfrm>
            <a:off x="1024475" y="2374525"/>
            <a:ext cx="3029700" cy="1289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1024475" y="1352350"/>
            <a:ext cx="6104700" cy="9033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4204350" y="2475750"/>
            <a:ext cx="1863300" cy="1289700"/>
          </a:xfrm>
          <a:prstGeom prst="rect">
            <a:avLst/>
          </a:prstGeom>
          <a:noFill/>
          <a:ln cap="flat" cmpd="sng" w="28575">
            <a:solidFill>
              <a:srgbClr val="99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04" name="Google Shape;404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System pipeline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1235825" y="2538438"/>
            <a:ext cx="628200" cy="28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70-K</a:t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2796350" y="2538375"/>
            <a:ext cx="1144200" cy="28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Training set</a:t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407" name="Google Shape;407;p12"/>
          <p:cNvCxnSpPr>
            <a:stCxn id="405" idx="3"/>
            <a:endCxn id="406" idx="1"/>
          </p:cNvCxnSpPr>
          <p:nvPr/>
        </p:nvCxnSpPr>
        <p:spPr>
          <a:xfrm>
            <a:off x="1864025" y="2682138"/>
            <a:ext cx="9324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8" name="Google Shape;408;p12"/>
          <p:cNvSpPr/>
          <p:nvPr/>
        </p:nvSpPr>
        <p:spPr>
          <a:xfrm>
            <a:off x="1348400" y="3195513"/>
            <a:ext cx="1109400" cy="287400"/>
          </a:xfrm>
          <a:prstGeom prst="rect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Qwen3-4B</a:t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4415025" y="3195513"/>
            <a:ext cx="1418100" cy="287400"/>
          </a:xfrm>
          <a:prstGeom prst="rect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Qwen3+Adapter</a:t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410" name="Google Shape;410;p12"/>
          <p:cNvCxnSpPr>
            <a:stCxn id="408" idx="3"/>
            <a:endCxn id="409" idx="1"/>
          </p:cNvCxnSpPr>
          <p:nvPr/>
        </p:nvCxnSpPr>
        <p:spPr>
          <a:xfrm>
            <a:off x="2457800" y="3339213"/>
            <a:ext cx="19572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1" name="Google Shape;411;p12"/>
          <p:cNvSpPr txBox="1"/>
          <p:nvPr/>
        </p:nvSpPr>
        <p:spPr>
          <a:xfrm>
            <a:off x="2900588" y="3051663"/>
            <a:ext cx="9357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QLoRA</a:t>
            </a:r>
            <a:endParaRPr b="0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1235813" y="1618625"/>
            <a:ext cx="1050900" cy="46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Evaluation Context</a:t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3534288" y="1633350"/>
            <a:ext cx="1050900" cy="46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Response {V0, …, V3}</a:t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414" name="Google Shape;414;p12"/>
          <p:cNvCxnSpPr>
            <a:stCxn id="412" idx="3"/>
            <a:endCxn id="413" idx="1"/>
          </p:cNvCxnSpPr>
          <p:nvPr/>
        </p:nvCxnSpPr>
        <p:spPr>
          <a:xfrm>
            <a:off x="2286713" y="1849925"/>
            <a:ext cx="1247700" cy="147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5" name="Google Shape;415;p12"/>
          <p:cNvSpPr txBox="1"/>
          <p:nvPr/>
        </p:nvSpPr>
        <p:spPr>
          <a:xfrm>
            <a:off x="2286725" y="1374088"/>
            <a:ext cx="11094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Prompt</a:t>
            </a:r>
            <a:endParaRPr b="0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Engineering</a:t>
            </a:r>
            <a:endParaRPr b="0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5749925" y="1618625"/>
            <a:ext cx="1160400" cy="46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Response</a:t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417" name="Google Shape;417;p12"/>
          <p:cNvCxnSpPr>
            <a:stCxn id="413" idx="3"/>
            <a:endCxn id="416" idx="1"/>
          </p:cNvCxnSpPr>
          <p:nvPr/>
        </p:nvCxnSpPr>
        <p:spPr>
          <a:xfrm flipH="1" rot="10800000">
            <a:off x="4585188" y="1849950"/>
            <a:ext cx="1164600" cy="147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8" name="Google Shape;418;p12"/>
          <p:cNvSpPr/>
          <p:nvPr/>
        </p:nvSpPr>
        <p:spPr>
          <a:xfrm>
            <a:off x="4491303" y="2711588"/>
            <a:ext cx="1258632" cy="317088"/>
          </a:xfrm>
          <a:prstGeom prst="flowChartTerminator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Best Prompt</a:t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19" name="Google Shape;419;p12"/>
          <p:cNvSpPr txBox="1"/>
          <p:nvPr/>
        </p:nvSpPr>
        <p:spPr>
          <a:xfrm>
            <a:off x="4669575" y="1565600"/>
            <a:ext cx="9021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Evaluator</a:t>
            </a:r>
            <a:endParaRPr b="0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420" name="Google Shape;420;p12"/>
          <p:cNvCxnSpPr>
            <a:stCxn id="419" idx="2"/>
            <a:endCxn id="418" idx="0"/>
          </p:cNvCxnSpPr>
          <p:nvPr/>
        </p:nvCxnSpPr>
        <p:spPr>
          <a:xfrm>
            <a:off x="5120625" y="1853000"/>
            <a:ext cx="0" cy="8586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1" name="Google Shape;421;p12"/>
          <p:cNvCxnSpPr>
            <a:stCxn id="406" idx="2"/>
            <a:endCxn id="411" idx="0"/>
          </p:cNvCxnSpPr>
          <p:nvPr/>
        </p:nvCxnSpPr>
        <p:spPr>
          <a:xfrm>
            <a:off x="3368450" y="2825775"/>
            <a:ext cx="0" cy="2259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2" name="Google Shape;422;p12"/>
          <p:cNvSpPr/>
          <p:nvPr/>
        </p:nvSpPr>
        <p:spPr>
          <a:xfrm>
            <a:off x="3122625" y="3986750"/>
            <a:ext cx="1050900" cy="46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Evaluation Context</a:t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423" name="Google Shape;423;p12"/>
          <p:cNvCxnSpPr>
            <a:stCxn id="422" idx="3"/>
            <a:endCxn id="424" idx="1"/>
          </p:cNvCxnSpPr>
          <p:nvPr/>
        </p:nvCxnSpPr>
        <p:spPr>
          <a:xfrm flipH="1" rot="10800000">
            <a:off x="4173525" y="4216850"/>
            <a:ext cx="2064300" cy="12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4" name="Google Shape;424;p12"/>
          <p:cNvSpPr/>
          <p:nvPr/>
        </p:nvSpPr>
        <p:spPr>
          <a:xfrm>
            <a:off x="6237750" y="3985550"/>
            <a:ext cx="1160400" cy="462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iro"/>
                <a:ea typeface="Cairo"/>
                <a:cs typeface="Cairo"/>
                <a:sym typeface="Cairo"/>
              </a:rPr>
              <a:t>Response</a:t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425" name="Google Shape;425;p12"/>
          <p:cNvCxnSpPr>
            <a:stCxn id="403" idx="3"/>
            <a:endCxn id="426" idx="1"/>
          </p:cNvCxnSpPr>
          <p:nvPr/>
        </p:nvCxnSpPr>
        <p:spPr>
          <a:xfrm>
            <a:off x="6067650" y="3120600"/>
            <a:ext cx="1500600" cy="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6" name="Google Shape;426;p12"/>
          <p:cNvSpPr txBox="1"/>
          <p:nvPr/>
        </p:nvSpPr>
        <p:spPr>
          <a:xfrm>
            <a:off x="7568125" y="2976900"/>
            <a:ext cx="742500" cy="2874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GRPO</a:t>
            </a:r>
            <a:endParaRPr b="0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6366900" y="3664225"/>
            <a:ext cx="9021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Evaluator</a:t>
            </a:r>
            <a:endParaRPr b="0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28" name="Google Shape;428;p12"/>
          <p:cNvSpPr txBox="1"/>
          <p:nvPr/>
        </p:nvSpPr>
        <p:spPr>
          <a:xfrm>
            <a:off x="1830025" y="2475751"/>
            <a:ext cx="9357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TOP 3 SCORE</a:t>
            </a:r>
            <a:endParaRPr b="0" i="0" sz="10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Evaluation: Affective-Cognitive Rubric</a:t>
            </a:r>
            <a:endParaRPr/>
          </a:p>
        </p:txBody>
      </p:sp>
      <p:sp>
        <p:nvSpPr>
          <p:cNvPr id="434" name="Google Shape;434;p13"/>
          <p:cNvSpPr txBox="1"/>
          <p:nvPr>
            <p:ph idx="4294967295" type="subTitle"/>
          </p:nvPr>
        </p:nvSpPr>
        <p:spPr>
          <a:xfrm>
            <a:off x="5106543" y="2175454"/>
            <a:ext cx="3814800" cy="26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3875" lIns="143875" spcFirstLastPara="1" rIns="143875" wrap="square" tIns="143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1" i="0" lang="en" sz="1887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Empathy:</a:t>
            </a:r>
            <a:endParaRPr b="1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0" i="0" lang="en" sz="1288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Validating the user's feelings and emotional state.</a:t>
            </a:r>
            <a:endParaRPr b="0" i="0" sz="1288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1" i="0" lang="en" sz="1887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Helpfulness:</a:t>
            </a:r>
            <a:endParaRPr b="1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Demonstrating a genuine intent to support and comfort.</a:t>
            </a: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7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1" i="0" lang="en" sz="1887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Understanding:</a:t>
            </a:r>
            <a:endParaRPr b="1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0" i="0" lang="en" sz="1388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Grasping the underlying context of the user's situation.</a:t>
            </a:r>
            <a:endParaRPr b="0" i="0" sz="1388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35" name="Google Shape;435;p13"/>
          <p:cNvSpPr txBox="1"/>
          <p:nvPr>
            <p:ph idx="4294967295" type="subTitle"/>
          </p:nvPr>
        </p:nvSpPr>
        <p:spPr>
          <a:xfrm>
            <a:off x="703925" y="2175454"/>
            <a:ext cx="3814800" cy="26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3875" lIns="143875" spcFirstLastPara="1" rIns="143875" wrap="square" tIns="143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1" i="0" lang="en" sz="1887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Guidance: </a:t>
            </a:r>
            <a:endParaRPr b="1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0" i="0" lang="en" sz="1488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Offering actionable and constructive advice.</a:t>
            </a:r>
            <a:endParaRPr b="0" i="0" sz="1488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1" i="0" lang="en" sz="1887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Informativeness:</a:t>
            </a:r>
            <a:endParaRPr b="1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0" i="0" lang="en" sz="1488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Delivering detailed and useful information.</a:t>
            </a:r>
            <a:endParaRPr b="0" i="0" sz="1488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1" i="0" lang="en" sz="1887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Relevance:</a:t>
            </a:r>
            <a:endParaRPr b="1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0" i="0" lang="en" sz="1188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Staying directly on-topic to the user's specific query.</a:t>
            </a:r>
            <a:endParaRPr b="0" i="0" sz="1188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1" i="0" lang="en" sz="1887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Safety:</a:t>
            </a:r>
            <a:endParaRPr b="1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0" i="0" lang="en" sz="1288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Avoiding harmful or clinically inappropriate content.</a:t>
            </a:r>
            <a:endParaRPr b="0" i="0" sz="1188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36" name="Google Shape;436;p13"/>
          <p:cNvSpPr txBox="1"/>
          <p:nvPr>
            <p:ph idx="4294967295" type="subTitle"/>
          </p:nvPr>
        </p:nvSpPr>
        <p:spPr>
          <a:xfrm>
            <a:off x="703913" y="1427099"/>
            <a:ext cx="38148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3875" lIns="143875" spcFirstLastPara="1" rIns="143875" wrap="square" tIns="143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1" i="0" lang="en" sz="2088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Cognitive Support Score (CSS)</a:t>
            </a:r>
            <a:endParaRPr b="1" i="0" sz="2088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37" name="Google Shape;437;p13"/>
          <p:cNvSpPr txBox="1"/>
          <p:nvPr>
            <p:ph idx="4294967295" type="subTitle"/>
          </p:nvPr>
        </p:nvSpPr>
        <p:spPr>
          <a:xfrm>
            <a:off x="5106550" y="1427100"/>
            <a:ext cx="40374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3875" lIns="143875" spcFirstLastPara="1" rIns="143875" wrap="square" tIns="143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1" i="0" lang="en" sz="2088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Affective Resonance Score (ARS)</a:t>
            </a:r>
            <a:endParaRPr b="1" i="0" sz="2088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38" name="Google Shape;438;p13"/>
          <p:cNvSpPr txBox="1"/>
          <p:nvPr>
            <p:ph idx="4294967295" type="subTitle"/>
          </p:nvPr>
        </p:nvSpPr>
        <p:spPr>
          <a:xfrm>
            <a:off x="748650" y="4426550"/>
            <a:ext cx="76467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3875" lIns="143875" spcFirstLastPara="1" rIns="143875" wrap="square" tIns="143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1" i="0" lang="en" sz="1288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Measurement: 5-point Likert scale | Equal weighting across all 7 dimensions for the Overall Score</a:t>
            </a:r>
            <a:endParaRPr b="0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Evaluation: LLM as a judge</a:t>
            </a:r>
            <a:endParaRPr/>
          </a:p>
        </p:txBody>
      </p:sp>
      <p:sp>
        <p:nvSpPr>
          <p:cNvPr id="444" name="Google Shape;444;p14"/>
          <p:cNvSpPr txBox="1"/>
          <p:nvPr>
            <p:ph idx="4294967295" type="subTitle"/>
          </p:nvPr>
        </p:nvSpPr>
        <p:spPr>
          <a:xfrm>
            <a:off x="1861950" y="1360850"/>
            <a:ext cx="542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3875" lIns="143875" spcFirstLastPara="1" rIns="143875" wrap="square" tIns="143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1" i="0" lang="en" sz="2088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LLM Jury: </a:t>
            </a:r>
            <a:r>
              <a:rPr b="0" i="0" lang="en" sz="1787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GPT 5.4, Gemini 3 Flash, Claude 4.5 Haiku</a:t>
            </a:r>
            <a:endParaRPr b="0" i="0" sz="17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t/>
            </a:r>
            <a:endParaRPr b="0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t/>
            </a:r>
            <a:endParaRPr b="0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45" name="Google Shape;445;p14"/>
          <p:cNvSpPr txBox="1"/>
          <p:nvPr>
            <p:ph idx="4294967295" type="subTitle"/>
          </p:nvPr>
        </p:nvSpPr>
        <p:spPr>
          <a:xfrm>
            <a:off x="1578600" y="2331500"/>
            <a:ext cx="59868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3875" lIns="143875" spcFirstLastPara="1" rIns="143875" wrap="square" tIns="143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0" i="0" lang="en" sz="1887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Each judge evaluates responses independently under a temperature of 0.0, ensuring deterministic outputs.</a:t>
            </a:r>
            <a:endParaRPr b="0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446" name="Google Shape;446;p14"/>
          <p:cNvCxnSpPr/>
          <p:nvPr/>
        </p:nvCxnSpPr>
        <p:spPr>
          <a:xfrm>
            <a:off x="4572000" y="1908425"/>
            <a:ext cx="0" cy="5391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7" name="Google Shape;447;p14"/>
          <p:cNvCxnSpPr/>
          <p:nvPr/>
        </p:nvCxnSpPr>
        <p:spPr>
          <a:xfrm>
            <a:off x="4572000" y="3181100"/>
            <a:ext cx="0" cy="539100"/>
          </a:xfrm>
          <a:prstGeom prst="straightConnector1">
            <a:avLst/>
          </a:prstGeom>
          <a:noFill/>
          <a:ln cap="flat" cmpd="sng" w="19050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8" name="Google Shape;448;p14"/>
          <p:cNvSpPr txBox="1"/>
          <p:nvPr>
            <p:ph idx="4294967295" type="subTitle"/>
          </p:nvPr>
        </p:nvSpPr>
        <p:spPr>
          <a:xfrm>
            <a:off x="1578600" y="3720200"/>
            <a:ext cx="59868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3875" lIns="143875" spcFirstLastPara="1" rIns="143875" wrap="square" tIns="143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</a:pPr>
            <a:r>
              <a:rPr b="0" i="0" lang="en" sz="1887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We aggregate scores from the three judges by taking their mean.</a:t>
            </a:r>
            <a:endParaRPr b="0" i="0" sz="1887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3000"/>
              <a:t>Evaluation: Measurement</a:t>
            </a:r>
            <a:endParaRPr sz="3000"/>
          </a:p>
        </p:txBody>
      </p:sp>
      <p:graphicFrame>
        <p:nvGraphicFramePr>
          <p:cNvPr id="454" name="Google Shape;454;p15"/>
          <p:cNvGraphicFramePr/>
          <p:nvPr/>
        </p:nvGraphicFramePr>
        <p:xfrm>
          <a:off x="618063" y="114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{88470163-4DC5-4E25-A939-496A2A0D2DFC}</a:tableStyleId>
              </a:tblPr>
              <a:tblGrid>
                <a:gridCol w="1356225"/>
                <a:gridCol w="3548250"/>
                <a:gridCol w="3297700"/>
              </a:tblGrid>
              <a:tr h="624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Metrics</a:t>
                      </a:r>
                      <a:endParaRPr b="1"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What is it used for?</a:t>
                      </a:r>
                      <a:endParaRPr b="1"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Formula</a:t>
                      </a:r>
                      <a:endParaRPr b="1"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11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Win Rate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Measures how often the new model wins across cases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7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RCG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700" u="none" cap="none" strike="noStrike"/>
                        <a:t>Relative clinical gain</a:t>
                      </a:r>
                      <a:endParaRPr sz="7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Measures how much total clinical capability grows.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4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Cliff’s Delta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Measures how far the distributions shift.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12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Wilcoxon Test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Tests whether the change is statistically real. It confirms the improvement is real, not random noise.</a:t>
                      </a:r>
                      <a:endParaRPr sz="14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AD1F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55" name="Google Shape;4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0700" y="1902636"/>
            <a:ext cx="3159399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0712" y="2618637"/>
            <a:ext cx="2899275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0671" y="3334629"/>
            <a:ext cx="2619350" cy="52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7364" y="4005312"/>
            <a:ext cx="2045952" cy="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6"/>
          <p:cNvSpPr txBox="1"/>
          <p:nvPr>
            <p:ph type="title"/>
          </p:nvPr>
        </p:nvSpPr>
        <p:spPr>
          <a:xfrm>
            <a:off x="4047175" y="2388500"/>
            <a:ext cx="4861200" cy="1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Results &amp;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</a:t>
            </a:r>
            <a:r>
              <a:rPr lang="en" sz="2000"/>
              <a:t>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000"/>
              <a:t>(Progress and Preliminary Findings)</a:t>
            </a:r>
            <a:endParaRPr sz="2000"/>
          </a:p>
        </p:txBody>
      </p:sp>
      <p:sp>
        <p:nvSpPr>
          <p:cNvPr id="465" name="Google Shape;465;p16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466" name="Google Shape;466;p16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467" name="Google Shape;467;p1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Re-established Qwen3-4B baseline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474" name="Google Shape;4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9050" y="3171675"/>
            <a:ext cx="3082650" cy="181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7"/>
          <p:cNvSpPr txBox="1"/>
          <p:nvPr/>
        </p:nvSpPr>
        <p:spPr>
          <a:xfrm>
            <a:off x="276075" y="1278300"/>
            <a:ext cx="82422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MentalBench-100k, some Qwen3-4B outputs are truncated, missing, or contaminated with thinking content.</a:t>
            </a:r>
            <a:b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MentalAlign-70k, output length strongly correlates with rubric scores, so truncation can systematically deflate Qwen3 results.</a:t>
            </a:r>
            <a:b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Fix: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re-generated Qwen3-4B with thinking disabled (to protect the token budget) and re-scored with a multi-judge setup, creating a clean baseline for subsequent comparisons.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636325"/>
            <a:ext cx="3188000" cy="117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Prompt engineering - Baseline prompt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82" name="Google Shape;482;p18"/>
          <p:cNvSpPr txBox="1"/>
          <p:nvPr/>
        </p:nvSpPr>
        <p:spPr>
          <a:xfrm>
            <a:off x="276075" y="1278300"/>
            <a:ext cx="82422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Setup: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Tested 4 prompts (v0 from Badawi et al., 2025 + v1–v3 refinements) using Qwen3-4B, scored with a multi-judge anchored rubric.</a:t>
            </a:r>
            <a:b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v2 achieved the best overall score (4.347), with the strongest gains in Guidance (4.110) and Informativeness (4.033), while remaining competitive on Relevance/Safety (Table 1).</a:t>
            </a:r>
            <a:b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Cross-check &amp; decision: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v2 also had the highest win rate vs v0 (60%, 56 wins / 8 ties) (Table 2), so we select v2 as the fixed baseline prompt for all subsequent SFT/GRPO runs.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37" y="3633975"/>
            <a:ext cx="6002442" cy="93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9663" y="3736931"/>
            <a:ext cx="2610551" cy="726107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8"/>
          <p:cNvSpPr txBox="1"/>
          <p:nvPr/>
        </p:nvSpPr>
        <p:spPr>
          <a:xfrm>
            <a:off x="6179650" y="4415425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2: Win-rate against the baseline prompt (v0)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8"/>
          <p:cNvSpPr txBox="1"/>
          <p:nvPr/>
        </p:nvSpPr>
        <p:spPr>
          <a:xfrm>
            <a:off x="58237" y="4508150"/>
            <a:ext cx="591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1: Prompt variant comparison; scores are averaged across multi-judge evaluations.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Model optimization - In progress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 txBox="1"/>
          <p:nvPr/>
        </p:nvSpPr>
        <p:spPr>
          <a:xfrm>
            <a:off x="276075" y="1278300"/>
            <a:ext cx="8242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underway: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Integrating and tuning 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QLoRA + RLAIF (GRPO)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still in progress: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Training and scoring rely on 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LLM APIs</a:t>
            </a:r>
            <a:r>
              <a:rPr b="0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so we are optimizing cautiously due to token costs.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0"/>
          <p:cNvSpPr txBox="1"/>
          <p:nvPr>
            <p:ph type="title"/>
          </p:nvPr>
        </p:nvSpPr>
        <p:spPr>
          <a:xfrm>
            <a:off x="4047175" y="2388500"/>
            <a:ext cx="4184400" cy="16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499" name="Google Shape;499;p20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500" name="Google Shape;500;p20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501" name="Google Shape;501;p2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508" name="Google Shape;508;p21"/>
          <p:cNvSpPr txBox="1"/>
          <p:nvPr/>
        </p:nvSpPr>
        <p:spPr>
          <a:xfrm>
            <a:off x="915475" y="1132300"/>
            <a:ext cx="73719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Dataset Constraints</a:t>
            </a:r>
            <a:endParaRPr b="1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AI-generated (No human therapists)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MentalBench Subset (Limited diversity)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Single-turn only — no multi-turn counseling dynamics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Evaluation Constraints</a:t>
            </a:r>
            <a:endParaRPr b="1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Intra-judge inconsistency (temp=0 helps, doesn't eliminate)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Equal Weighting (Reliability varies by dimension)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Model &amp; Ethical Constraints</a:t>
            </a:r>
            <a:endParaRPr b="1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4B Capacity Limits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LLM output ≠ professional clinical advice 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2"/>
          <p:cNvSpPr txBox="1"/>
          <p:nvPr>
            <p:ph type="title"/>
          </p:nvPr>
        </p:nvSpPr>
        <p:spPr>
          <a:xfrm>
            <a:off x="4047175" y="2388500"/>
            <a:ext cx="4184400" cy="16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Conclusion &amp; Next Steps</a:t>
            </a:r>
            <a:endParaRPr/>
          </a:p>
        </p:txBody>
      </p:sp>
      <p:sp>
        <p:nvSpPr>
          <p:cNvPr id="515" name="Google Shape;515;p22"/>
          <p:cNvSpPr txBox="1"/>
          <p:nvPr>
            <p:ph idx="2" type="title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516" name="Google Shape;516;p22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517" name="Google Shape;517;p22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2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24" name="Google Shape;524;p23"/>
          <p:cNvSpPr txBox="1"/>
          <p:nvPr/>
        </p:nvSpPr>
        <p:spPr>
          <a:xfrm>
            <a:off x="915475" y="1132300"/>
            <a:ext cx="73719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Controlled Baseline Re-established</a:t>
            </a:r>
            <a:endParaRPr b="1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Disabled Qwen3 "Thinking Mode" (Fixed truncation)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Response length ↔ score: Pearson r = 0.960, p &lt; 0.001 → original baseline unreliable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LLM Jury</a:t>
            </a:r>
            <a:endParaRPr b="1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3 independent judges, temp=0, mean aggregation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Balanced across: model family diversity, API cost, RPD constraints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Pipeline reproducible, ready for SFT + GRPO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AutoNum type="arabicPeriod"/>
            </a:pPr>
            <a:r>
              <a:rPr b="1" i="0" lang="en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Pipeline Validated</a:t>
            </a:r>
            <a:endParaRPr b="1" i="0" sz="14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Tested 100 instances / 4 prompts.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v2 selected: Overall 4.347, 60% Win Rate vs. Baseline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iro"/>
              <a:buChar char="-"/>
            </a:pPr>
            <a:r>
              <a:rPr b="0" i="0" lang="en" sz="13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Pipeline runs reproducibly</a:t>
            </a:r>
            <a:endParaRPr b="0" i="0" sz="13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530" name="Google Shape;530;p24"/>
          <p:cNvSpPr txBox="1"/>
          <p:nvPr/>
        </p:nvSpPr>
        <p:spPr>
          <a:xfrm>
            <a:off x="1120250" y="1469579"/>
            <a:ext cx="6866100" cy="3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iro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Weighted scoring (motivated by ICC findings) → rebuild SFT data if weights change</a:t>
            </a:r>
            <a:endParaRPr b="0" i="0" sz="17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iro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Small-scale QLoRA pilot → Full RLAIF (GRPO)</a:t>
            </a:r>
            <a:endParaRPr b="0" i="0" sz="18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iro"/>
              <a:buAutoNum type="arabicPeriod"/>
            </a:pPr>
            <a:r>
              <a:rPr b="0" i="0" lang="en" sz="18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3-way: Baseline vs. SFT vs. GRPO</a:t>
            </a:r>
            <a:endParaRPr b="0" i="0" sz="18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Goal</a:t>
            </a:r>
            <a:r>
              <a:rPr b="0" i="0" lang="en" sz="18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: Does alignment improve Qwen3-4B for mental health dialogue?</a:t>
            </a:r>
            <a:endParaRPr b="0" i="0" sz="17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25"/>
          <p:cNvGrpSpPr/>
          <p:nvPr/>
        </p:nvGrpSpPr>
        <p:grpSpPr>
          <a:xfrm flipH="1" rot="4659980">
            <a:off x="3840892" y="3123036"/>
            <a:ext cx="4573980" cy="3479278"/>
            <a:chOff x="1522650" y="1117750"/>
            <a:chExt cx="4574075" cy="3479350"/>
          </a:xfrm>
        </p:grpSpPr>
        <p:sp>
          <p:nvSpPr>
            <p:cNvPr id="536" name="Google Shape;536;p2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8" name="Google Shape;5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25"/>
          <p:cNvSpPr txBox="1"/>
          <p:nvPr>
            <p:ph type="title"/>
          </p:nvPr>
        </p:nvSpPr>
        <p:spPr>
          <a:xfrm>
            <a:off x="2630776" y="1975488"/>
            <a:ext cx="32817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540" name="Google Shape;540;p25"/>
          <p:cNvSpPr/>
          <p:nvPr/>
        </p:nvSpPr>
        <p:spPr>
          <a:xfrm>
            <a:off x="570275" y="3246025"/>
            <a:ext cx="3567600" cy="95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