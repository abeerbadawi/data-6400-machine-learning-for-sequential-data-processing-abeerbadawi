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8288000" cy="10287000"/>
  <p:notesSz cx="6858000" cy="9144000"/>
  <p:embeddedFontLst>
    <p:embeddedFont>
      <p:font typeface="Playfair Display"/>
      <p:regular r:id="rId27"/>
    </p:embeddedFont>
    <p:embeddedFont>
      <p:font typeface="Open Sans" panose="020B0606030504020204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8130F5-0F8F-4709-BA66-A9F0742352B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2.fntdata"/><Relationship Id="rId27" Type="http://schemas.openxmlformats.org/officeDocument/2006/relationships/font" Target="fonts/font1.fntdata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4" name="Google Shape;114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7" name="Google Shape;127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0" name="Google Shape;140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7" name="Google Shape;157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4" name="Google Shape;174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3" name="Google Shape;193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6" name="Google Shape;226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3" name="Google Shape;243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8" name="Google Shape;248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4" name="Google Shape;264;p1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76" name="Google Shape;276;p1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95" name="Google Shape;295;p1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4" name="Google Shape;304;p1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0" name="Google Shape;310;p1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6" name="Google Shape;316;p1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5" name="Google Shape;325;p1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38" name="Google Shape;338;p1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58" name="Google Shape;358;p2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2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2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90204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 rot="-5400000">
            <a:off x="-9952520" y="3902228"/>
            <a:ext cx="19691459" cy="3930959"/>
            <a:chOff x="0" y="-38100"/>
            <a:chExt cx="5186228" cy="1035314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5186228" cy="997214"/>
            </a:xfrm>
            <a:custGeom>
              <a:avLst/>
              <a:gdLst/>
              <a:ahLst/>
              <a:cxnLst/>
              <a:rect l="l" t="t" r="r" b="b"/>
              <a:pathLst>
                <a:path w="5186228" h="997214" extrusionOk="0">
                  <a:moveTo>
                    <a:pt x="0" y="0"/>
                  </a:moveTo>
                  <a:lnTo>
                    <a:pt x="5186228" y="0"/>
                  </a:lnTo>
                  <a:lnTo>
                    <a:pt x="5186228" y="997214"/>
                  </a:lnTo>
                  <a:lnTo>
                    <a:pt x="0" y="9972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6" name="Google Shape;86;p1"/>
            <p:cNvSpPr txBox="1"/>
            <p:nvPr/>
          </p:nvSpPr>
          <p:spPr>
            <a:xfrm>
              <a:off x="0" y="-38100"/>
              <a:ext cx="5186228" cy="10353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 rot="5400000">
            <a:off x="-3882315" y="4665083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 extrusionOk="0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grpSp>
        <p:nvGrpSpPr>
          <p:cNvPr id="88" name="Google Shape;88;p1"/>
          <p:cNvGrpSpPr/>
          <p:nvPr/>
        </p:nvGrpSpPr>
        <p:grpSpPr>
          <a:xfrm>
            <a:off x="2371660" y="3057242"/>
            <a:ext cx="15501452" cy="3813399"/>
            <a:chOff x="0" y="-38100"/>
            <a:chExt cx="2419380" cy="595174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2419380" cy="557074"/>
            </a:xfrm>
            <a:custGeom>
              <a:avLst/>
              <a:gdLst/>
              <a:ahLst/>
              <a:cxnLst/>
              <a:rect l="l" t="t" r="r" b="b"/>
              <a:pathLst>
                <a:path w="2419380" h="557074" extrusionOk="0">
                  <a:moveTo>
                    <a:pt x="23473" y="0"/>
                  </a:moveTo>
                  <a:lnTo>
                    <a:pt x="2395907" y="0"/>
                  </a:lnTo>
                  <a:cubicBezTo>
                    <a:pt x="2408871" y="0"/>
                    <a:pt x="2419380" y="10509"/>
                    <a:pt x="2419380" y="23473"/>
                  </a:cubicBezTo>
                  <a:lnTo>
                    <a:pt x="2419380" y="533601"/>
                  </a:lnTo>
                  <a:cubicBezTo>
                    <a:pt x="2419380" y="546565"/>
                    <a:pt x="2408871" y="557074"/>
                    <a:pt x="2395907" y="557074"/>
                  </a:cubicBezTo>
                  <a:lnTo>
                    <a:pt x="23473" y="557074"/>
                  </a:lnTo>
                  <a:cubicBezTo>
                    <a:pt x="17248" y="557074"/>
                    <a:pt x="11277" y="554601"/>
                    <a:pt x="6875" y="550199"/>
                  </a:cubicBezTo>
                  <a:cubicBezTo>
                    <a:pt x="2473" y="545797"/>
                    <a:pt x="0" y="539827"/>
                    <a:pt x="0" y="533601"/>
                  </a:cubicBezTo>
                  <a:lnTo>
                    <a:pt x="0" y="23473"/>
                  </a:lnTo>
                  <a:cubicBezTo>
                    <a:pt x="0" y="10509"/>
                    <a:pt x="10509" y="0"/>
                    <a:pt x="234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38100"/>
              <a:ext cx="2419380" cy="5951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"/>
          <p:cNvSpPr txBox="1"/>
          <p:nvPr/>
        </p:nvSpPr>
        <p:spPr>
          <a:xfrm>
            <a:off x="7073468" y="8360815"/>
            <a:ext cx="10769797" cy="1736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55" b="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By Barath Sanjeevan, Sanika Rozario, Aadesh Vijayaraghavan</a:t>
            </a:r>
            <a:endParaRPr lang="en-US" sz="4855" b="0" i="0" u="none" strike="noStrike" cap="none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r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855" b="0" i="0" u="none" strike="noStrike" cap="none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2582983" y="784109"/>
            <a:ext cx="7813039" cy="613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95" b="0" i="1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Group 4 - </a:t>
            </a:r>
            <a:endParaRPr lang="en-US" sz="4895" b="0" i="1" u="none" strike="noStrike" cap="none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5307002" y="92871"/>
            <a:ext cx="9630832" cy="1474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575" b="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Business Reasoning</a:t>
            </a:r>
            <a:endParaRPr lang="en-US" sz="8575" b="0" i="0" u="none" strike="noStrike" cap="none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2371660" y="3578883"/>
            <a:ext cx="15329107" cy="21441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85" b="0" i="0" u="none" strike="noStrike" cap="none">
                <a:solidFill>
                  <a:srgbClr val="225A8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From Accuracy to Reliability: Risk-Aware Evaluation of Large Language Models for Decision-Support under Sampling Variability</a:t>
            </a:r>
            <a:endParaRPr lang="en-US" sz="4085" b="0" i="0" u="none" strike="noStrike" cap="none">
              <a:solidFill>
                <a:srgbClr val="225A8D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 rot="5400000">
            <a:off x="-4712303" y="4784169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 extrusionOk="0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grpSp>
        <p:nvGrpSpPr>
          <p:cNvPr id="100" name="Google Shape;100;p2"/>
          <p:cNvGrpSpPr/>
          <p:nvPr/>
        </p:nvGrpSpPr>
        <p:grpSpPr>
          <a:xfrm>
            <a:off x="1028700" y="-144661"/>
            <a:ext cx="17720127" cy="10908006"/>
            <a:chOff x="0" y="-38100"/>
            <a:chExt cx="4667029" cy="2872890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4667029" cy="2834790"/>
            </a:xfrm>
            <a:custGeom>
              <a:avLst/>
              <a:gdLst/>
              <a:ahLst/>
              <a:cxnLst/>
              <a:rect l="l" t="t" r="r" b="b"/>
              <a:pathLst>
                <a:path w="4667029" h="2834790" extrusionOk="0">
                  <a:moveTo>
                    <a:pt x="0" y="0"/>
                  </a:moveTo>
                  <a:lnTo>
                    <a:pt x="4667029" y="0"/>
                  </a:lnTo>
                  <a:lnTo>
                    <a:pt x="4667029" y="2834790"/>
                  </a:lnTo>
                  <a:lnTo>
                    <a:pt x="0" y="28347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2" name="Google Shape;102;p2"/>
            <p:cNvSpPr txBox="1"/>
            <p:nvPr/>
          </p:nvSpPr>
          <p:spPr>
            <a:xfrm>
              <a:off x="0" y="-38100"/>
              <a:ext cx="4667029" cy="2872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" name="Google Shape;103;p2"/>
          <p:cNvSpPr txBox="1"/>
          <p:nvPr/>
        </p:nvSpPr>
        <p:spPr>
          <a:xfrm>
            <a:off x="1028700" y="473944"/>
            <a:ext cx="12280371" cy="1517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44880" marR="0" lvl="1" indent="-47244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161"/>
              </a:buClr>
              <a:buSzPts val="4375"/>
              <a:buFont typeface="Playfair Display"/>
              <a:buAutoNum type="arabicPeriod"/>
            </a:pPr>
            <a:r>
              <a:rPr lang="en-US" sz="4375" b="0" i="0" u="none" strike="noStrike" cap="none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MOTIVATION &amp; PROBLEM STATEMENT</a:t>
            </a:r>
            <a:endParaRPr lang="en-US" sz="4375" b="0" i="0" u="none" strike="noStrike" cap="none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4375" b="0" i="0" u="none" strike="noStrike" cap="none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104" name="Google Shape;104;p2"/>
          <p:cNvGrpSpPr/>
          <p:nvPr/>
        </p:nvGrpSpPr>
        <p:grpSpPr>
          <a:xfrm>
            <a:off x="2441303" y="1454233"/>
            <a:ext cx="13912552" cy="5622118"/>
            <a:chOff x="0" y="-57150"/>
            <a:chExt cx="4254222" cy="1719148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4254222" cy="1661998"/>
            </a:xfrm>
            <a:custGeom>
              <a:avLst/>
              <a:gdLst/>
              <a:ahLst/>
              <a:cxnLst/>
              <a:rect l="l" t="t" r="r" b="b"/>
              <a:pathLst>
                <a:path w="4254222" h="1661998" extrusionOk="0">
                  <a:moveTo>
                    <a:pt x="28380" y="0"/>
                  </a:moveTo>
                  <a:lnTo>
                    <a:pt x="4225842" y="0"/>
                  </a:lnTo>
                  <a:cubicBezTo>
                    <a:pt x="4233369" y="0"/>
                    <a:pt x="4240587" y="2990"/>
                    <a:pt x="4245909" y="8312"/>
                  </a:cubicBezTo>
                  <a:cubicBezTo>
                    <a:pt x="4251232" y="13635"/>
                    <a:pt x="4254222" y="20853"/>
                    <a:pt x="4254222" y="28380"/>
                  </a:cubicBezTo>
                  <a:lnTo>
                    <a:pt x="4254222" y="1633618"/>
                  </a:lnTo>
                  <a:cubicBezTo>
                    <a:pt x="4254222" y="1649292"/>
                    <a:pt x="4241516" y="1661998"/>
                    <a:pt x="4225842" y="1661998"/>
                  </a:cubicBezTo>
                  <a:lnTo>
                    <a:pt x="28380" y="1661998"/>
                  </a:lnTo>
                  <a:cubicBezTo>
                    <a:pt x="20853" y="1661998"/>
                    <a:pt x="13635" y="1659008"/>
                    <a:pt x="8312" y="1653686"/>
                  </a:cubicBezTo>
                  <a:cubicBezTo>
                    <a:pt x="2990" y="1648364"/>
                    <a:pt x="0" y="1641145"/>
                    <a:pt x="0" y="1633618"/>
                  </a:cubicBezTo>
                  <a:lnTo>
                    <a:pt x="0" y="28380"/>
                  </a:lnTo>
                  <a:cubicBezTo>
                    <a:pt x="0" y="20853"/>
                    <a:pt x="2990" y="13635"/>
                    <a:pt x="8312" y="8312"/>
                  </a:cubicBezTo>
                  <a:cubicBezTo>
                    <a:pt x="13635" y="2990"/>
                    <a:pt x="20853" y="0"/>
                    <a:pt x="28380" y="0"/>
                  </a:cubicBez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06" name="Google Shape;106;p2"/>
            <p:cNvSpPr txBox="1"/>
            <p:nvPr/>
          </p:nvSpPr>
          <p:spPr>
            <a:xfrm>
              <a:off x="0" y="-57150"/>
              <a:ext cx="4254222" cy="1719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20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202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2"/>
          <p:cNvSpPr txBox="1"/>
          <p:nvPr/>
        </p:nvSpPr>
        <p:spPr>
          <a:xfrm>
            <a:off x="2801311" y="1943948"/>
            <a:ext cx="13207541" cy="4478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1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 </a:t>
            </a:r>
            <a:endParaRPr lang="en-US" sz="2550" b="1" i="1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Motivation:</a:t>
            </a:r>
            <a:endParaRPr lang="en-US" sz="2550" b="1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50545" marR="0" lvl="1" indent="-27559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 panose="020B0604020202090204"/>
              <a:buChar char="•"/>
            </a:pPr>
            <a:r>
              <a:rPr lang="en-US" sz="255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Large Language Models (LLMs) generate thousands of reasoning paths for a single problem.</a:t>
            </a:r>
            <a:endParaRPr lang="en-US" sz="2550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50545" marR="0" lvl="1" indent="-27559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 panose="020B0604020202090204"/>
              <a:buChar char="•"/>
            </a:pPr>
            <a:r>
              <a:rPr lang="en-US" sz="255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On complex tasks like MATH, models often repeat the same logical fallacies.</a:t>
            </a:r>
            <a:endParaRPr lang="en-US" sz="2550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50545" marR="0" lvl="1" indent="-27559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 panose="020B0604020202090204"/>
              <a:buChar char="•"/>
            </a:pPr>
            <a:r>
              <a:rPr lang="en-US" sz="255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Standard selection methods (e.g., Majority Voting / Self-Consistency) assume:</a:t>
            </a:r>
            <a:endParaRPr lang="en-US" sz="2550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50545" marR="0" lvl="1" indent="-27559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 panose="020B0604020202090204"/>
              <a:buChar char="•"/>
            </a:pPr>
            <a:r>
              <a:rPr lang="en-US" sz="255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The most frequent answer is the most likely correct.</a:t>
            </a:r>
            <a:endParaRPr lang="en-US" sz="2550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72135" marR="0" lvl="1" indent="-28575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49"/>
              <a:buFont typeface="Arial" panose="020B0604020202090204"/>
              <a:buChar char="•"/>
            </a:pPr>
            <a:r>
              <a:rPr lang="en-US" sz="265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 high-error scenarios, this leads to a “Consensus of Error.”</a:t>
            </a:r>
            <a:endParaRPr lang="en-US" sz="2650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50545" marR="0" lvl="1" indent="-27559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50"/>
              <a:buFont typeface="Arial" panose="020B0604020202090204"/>
              <a:buChar char="•"/>
            </a:pPr>
            <a:r>
              <a:rPr lang="en-US" sz="255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We need methods that improve reliability without increasing model size</a:t>
            </a:r>
            <a:r>
              <a:rPr lang="en-US" sz="2550" b="1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.</a:t>
            </a:r>
            <a:endParaRPr lang="en-US" sz="2550" b="1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50" b="1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grpSp>
        <p:nvGrpSpPr>
          <p:cNvPr id="108" name="Google Shape;108;p2"/>
          <p:cNvGrpSpPr/>
          <p:nvPr/>
        </p:nvGrpSpPr>
        <p:grpSpPr>
          <a:xfrm>
            <a:off x="2448805" y="7058026"/>
            <a:ext cx="13912552" cy="2535436"/>
            <a:chOff x="0" y="-47625"/>
            <a:chExt cx="4081551" cy="743825"/>
          </a:xfrm>
        </p:grpSpPr>
        <p:sp>
          <p:nvSpPr>
            <p:cNvPr id="109" name="Google Shape;109;p2"/>
            <p:cNvSpPr/>
            <p:nvPr/>
          </p:nvSpPr>
          <p:spPr>
            <a:xfrm>
              <a:off x="0" y="0"/>
              <a:ext cx="4081551" cy="696200"/>
            </a:xfrm>
            <a:custGeom>
              <a:avLst/>
              <a:gdLst/>
              <a:ahLst/>
              <a:cxnLst/>
              <a:rect l="l" t="t" r="r" b="b"/>
              <a:pathLst>
                <a:path w="4081551" h="696200" extrusionOk="0">
                  <a:moveTo>
                    <a:pt x="28380" y="0"/>
                  </a:moveTo>
                  <a:lnTo>
                    <a:pt x="4053171" y="0"/>
                  </a:lnTo>
                  <a:cubicBezTo>
                    <a:pt x="4060698" y="0"/>
                    <a:pt x="4067917" y="2990"/>
                    <a:pt x="4073239" y="8312"/>
                  </a:cubicBezTo>
                  <a:cubicBezTo>
                    <a:pt x="4078561" y="13635"/>
                    <a:pt x="4081551" y="20853"/>
                    <a:pt x="4081551" y="28380"/>
                  </a:cubicBezTo>
                  <a:lnTo>
                    <a:pt x="4081551" y="667820"/>
                  </a:lnTo>
                  <a:cubicBezTo>
                    <a:pt x="4081551" y="675347"/>
                    <a:pt x="4078561" y="682566"/>
                    <a:pt x="4073239" y="687888"/>
                  </a:cubicBezTo>
                  <a:cubicBezTo>
                    <a:pt x="4067917" y="693210"/>
                    <a:pt x="4060698" y="696200"/>
                    <a:pt x="4053171" y="696200"/>
                  </a:cubicBezTo>
                  <a:lnTo>
                    <a:pt x="28380" y="696200"/>
                  </a:lnTo>
                  <a:cubicBezTo>
                    <a:pt x="20853" y="696200"/>
                    <a:pt x="13635" y="693210"/>
                    <a:pt x="8312" y="687888"/>
                  </a:cubicBezTo>
                  <a:cubicBezTo>
                    <a:pt x="2990" y="682566"/>
                    <a:pt x="0" y="675347"/>
                    <a:pt x="0" y="667820"/>
                  </a:cubicBezTo>
                  <a:lnTo>
                    <a:pt x="0" y="28380"/>
                  </a:lnTo>
                  <a:cubicBezTo>
                    <a:pt x="0" y="20853"/>
                    <a:pt x="2990" y="13635"/>
                    <a:pt x="8312" y="8312"/>
                  </a:cubicBezTo>
                  <a:cubicBezTo>
                    <a:pt x="13635" y="2990"/>
                    <a:pt x="20853" y="0"/>
                    <a:pt x="28380" y="0"/>
                  </a:cubicBez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10" name="Google Shape;110;p2"/>
            <p:cNvSpPr txBox="1"/>
            <p:nvPr/>
          </p:nvSpPr>
          <p:spPr>
            <a:xfrm>
              <a:off x="0" y="-47625"/>
              <a:ext cx="4081551" cy="7438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l" rtl="0">
                <a:lnSpc>
                  <a:spcPct val="19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l" rtl="0">
                <a:lnSpc>
                  <a:spcPct val="194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" name="Google Shape;111;p2"/>
          <p:cNvSpPr txBox="1"/>
          <p:nvPr/>
        </p:nvSpPr>
        <p:spPr>
          <a:xfrm>
            <a:off x="3069643" y="7658161"/>
            <a:ext cx="12148714" cy="1352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0" b="1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Problem Statement: </a:t>
            </a:r>
            <a:endParaRPr lang="en-US" sz="2620" b="1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2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Can LLMs be trusted for decision-support when considering stability, hallucination risk, and reliability under sampling variability?</a:t>
            </a:r>
            <a:endParaRPr lang="en-US" sz="2620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 rot="5400000">
            <a:off x="-4712303" y="4665083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 extrusionOk="0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grpSp>
        <p:nvGrpSpPr>
          <p:cNvPr id="117" name="Google Shape;117;p3"/>
          <p:cNvGrpSpPr/>
          <p:nvPr/>
        </p:nvGrpSpPr>
        <p:grpSpPr>
          <a:xfrm>
            <a:off x="890557" y="-501919"/>
            <a:ext cx="17720127" cy="10908006"/>
            <a:chOff x="0" y="-38100"/>
            <a:chExt cx="4667029" cy="2872890"/>
          </a:xfrm>
        </p:grpSpPr>
        <p:sp>
          <p:nvSpPr>
            <p:cNvPr id="118" name="Google Shape;118;p3"/>
            <p:cNvSpPr/>
            <p:nvPr/>
          </p:nvSpPr>
          <p:spPr>
            <a:xfrm>
              <a:off x="0" y="0"/>
              <a:ext cx="4667029" cy="2834790"/>
            </a:xfrm>
            <a:custGeom>
              <a:avLst/>
              <a:gdLst/>
              <a:ahLst/>
              <a:cxnLst/>
              <a:rect l="l" t="t" r="r" b="b"/>
              <a:pathLst>
                <a:path w="4667029" h="2834790" extrusionOk="0">
                  <a:moveTo>
                    <a:pt x="0" y="0"/>
                  </a:moveTo>
                  <a:lnTo>
                    <a:pt x="4667029" y="0"/>
                  </a:lnTo>
                  <a:lnTo>
                    <a:pt x="4667029" y="2834790"/>
                  </a:lnTo>
                  <a:lnTo>
                    <a:pt x="0" y="28347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9" name="Google Shape;119;p3"/>
            <p:cNvSpPr txBox="1"/>
            <p:nvPr/>
          </p:nvSpPr>
          <p:spPr>
            <a:xfrm>
              <a:off x="0" y="-38100"/>
              <a:ext cx="4667029" cy="2872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0" name="Google Shape;120;p3"/>
          <p:cNvGrpSpPr/>
          <p:nvPr/>
        </p:nvGrpSpPr>
        <p:grpSpPr>
          <a:xfrm>
            <a:off x="1635321" y="499180"/>
            <a:ext cx="16230600" cy="9602561"/>
            <a:chOff x="0" y="-47625"/>
            <a:chExt cx="4795213" cy="2837007"/>
          </a:xfrm>
        </p:grpSpPr>
        <p:sp>
          <p:nvSpPr>
            <p:cNvPr id="121" name="Google Shape;121;p3"/>
            <p:cNvSpPr/>
            <p:nvPr/>
          </p:nvSpPr>
          <p:spPr>
            <a:xfrm>
              <a:off x="0" y="0"/>
              <a:ext cx="4795213" cy="2789382"/>
            </a:xfrm>
            <a:custGeom>
              <a:avLst/>
              <a:gdLst/>
              <a:ahLst/>
              <a:cxnLst/>
              <a:rect l="l" t="t" r="r" b="b"/>
              <a:pathLst>
                <a:path w="4795213" h="2789382" extrusionOk="0">
                  <a:moveTo>
                    <a:pt x="24327" y="0"/>
                  </a:moveTo>
                  <a:lnTo>
                    <a:pt x="4770886" y="0"/>
                  </a:lnTo>
                  <a:cubicBezTo>
                    <a:pt x="4784321" y="0"/>
                    <a:pt x="4795213" y="10891"/>
                    <a:pt x="4795213" y="24327"/>
                  </a:cubicBezTo>
                  <a:lnTo>
                    <a:pt x="4795213" y="2765055"/>
                  </a:lnTo>
                  <a:cubicBezTo>
                    <a:pt x="4795213" y="2778490"/>
                    <a:pt x="4784321" y="2789382"/>
                    <a:pt x="4770886" y="2789382"/>
                  </a:cubicBezTo>
                  <a:lnTo>
                    <a:pt x="24327" y="2789382"/>
                  </a:lnTo>
                  <a:cubicBezTo>
                    <a:pt x="10891" y="2789382"/>
                    <a:pt x="0" y="2778490"/>
                    <a:pt x="0" y="2765055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22" name="Google Shape;122;p3"/>
            <p:cNvSpPr txBox="1"/>
            <p:nvPr/>
          </p:nvSpPr>
          <p:spPr>
            <a:xfrm>
              <a:off x="0" y="-47625"/>
              <a:ext cx="4795213" cy="28370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3" name="Google Shape;123;p3"/>
          <p:cNvSpPr/>
          <p:nvPr/>
        </p:nvSpPr>
        <p:spPr>
          <a:xfrm>
            <a:off x="2415802" y="908487"/>
            <a:ext cx="14369713" cy="8945146"/>
          </a:xfrm>
          <a:custGeom>
            <a:avLst/>
            <a:gdLst/>
            <a:ahLst/>
            <a:cxnLst/>
            <a:rect l="l" t="t" r="r" b="b"/>
            <a:pathLst>
              <a:path w="14369713" h="8945146" extrusionOk="0">
                <a:moveTo>
                  <a:pt x="0" y="0"/>
                </a:moveTo>
                <a:lnTo>
                  <a:pt x="14369713" y="0"/>
                </a:lnTo>
                <a:lnTo>
                  <a:pt x="14369713" y="8945146"/>
                </a:lnTo>
                <a:lnTo>
                  <a:pt x="0" y="89451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124" name="Google Shape;124;p3"/>
          <p:cNvSpPr txBox="1"/>
          <p:nvPr/>
        </p:nvSpPr>
        <p:spPr>
          <a:xfrm>
            <a:off x="642820" y="-85725"/>
            <a:ext cx="122805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 </a:t>
            </a:r>
            <a:r>
              <a:rPr lang="en-US" sz="4375" b="0" i="0" u="none" strike="noStrike" cap="none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RELATED WORK &amp; RESEARCH GAP</a:t>
            </a:r>
            <a:endParaRPr lang="en-US" sz="4375" b="0" i="0" u="none" strike="noStrike" cap="none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"/>
          <p:cNvSpPr/>
          <p:nvPr/>
        </p:nvSpPr>
        <p:spPr>
          <a:xfrm rot="5400000">
            <a:off x="-4712303" y="4665083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 extrusionOk="0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grpSp>
        <p:nvGrpSpPr>
          <p:cNvPr id="130" name="Google Shape;130;p4"/>
          <p:cNvGrpSpPr/>
          <p:nvPr/>
        </p:nvGrpSpPr>
        <p:grpSpPr>
          <a:xfrm>
            <a:off x="890557" y="-501919"/>
            <a:ext cx="17720127" cy="10908006"/>
            <a:chOff x="0" y="-38100"/>
            <a:chExt cx="4667029" cy="2872890"/>
          </a:xfrm>
        </p:grpSpPr>
        <p:sp>
          <p:nvSpPr>
            <p:cNvPr id="131" name="Google Shape;131;p4"/>
            <p:cNvSpPr/>
            <p:nvPr/>
          </p:nvSpPr>
          <p:spPr>
            <a:xfrm>
              <a:off x="0" y="0"/>
              <a:ext cx="4667029" cy="2834790"/>
            </a:xfrm>
            <a:custGeom>
              <a:avLst/>
              <a:gdLst/>
              <a:ahLst/>
              <a:cxnLst/>
              <a:rect l="l" t="t" r="r" b="b"/>
              <a:pathLst>
                <a:path w="4667029" h="2834790" extrusionOk="0">
                  <a:moveTo>
                    <a:pt x="0" y="0"/>
                  </a:moveTo>
                  <a:lnTo>
                    <a:pt x="4667029" y="0"/>
                  </a:lnTo>
                  <a:lnTo>
                    <a:pt x="4667029" y="2834790"/>
                  </a:lnTo>
                  <a:lnTo>
                    <a:pt x="0" y="28347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32" name="Google Shape;132;p4"/>
            <p:cNvSpPr txBox="1"/>
            <p:nvPr/>
          </p:nvSpPr>
          <p:spPr>
            <a:xfrm>
              <a:off x="0" y="-38100"/>
              <a:ext cx="4667029" cy="2872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4"/>
          <p:cNvGrpSpPr/>
          <p:nvPr/>
        </p:nvGrpSpPr>
        <p:grpSpPr>
          <a:xfrm>
            <a:off x="1028700" y="867501"/>
            <a:ext cx="17078858" cy="8390799"/>
            <a:chOff x="0" y="-47625"/>
            <a:chExt cx="5045825" cy="2479001"/>
          </a:xfrm>
        </p:grpSpPr>
        <p:sp>
          <p:nvSpPr>
            <p:cNvPr id="134" name="Google Shape;134;p4"/>
            <p:cNvSpPr/>
            <p:nvPr/>
          </p:nvSpPr>
          <p:spPr>
            <a:xfrm>
              <a:off x="0" y="0"/>
              <a:ext cx="5045825" cy="2431375"/>
            </a:xfrm>
            <a:custGeom>
              <a:avLst/>
              <a:gdLst/>
              <a:ahLst/>
              <a:cxnLst/>
              <a:rect l="l" t="t" r="r" b="b"/>
              <a:pathLst>
                <a:path w="5045825" h="2431375" extrusionOk="0">
                  <a:moveTo>
                    <a:pt x="23119" y="0"/>
                  </a:moveTo>
                  <a:lnTo>
                    <a:pt x="5022706" y="0"/>
                  </a:lnTo>
                  <a:cubicBezTo>
                    <a:pt x="5028838" y="0"/>
                    <a:pt x="5034718" y="2436"/>
                    <a:pt x="5039053" y="6771"/>
                  </a:cubicBezTo>
                  <a:cubicBezTo>
                    <a:pt x="5043389" y="11107"/>
                    <a:pt x="5045825" y="16987"/>
                    <a:pt x="5045825" y="23119"/>
                  </a:cubicBezTo>
                  <a:lnTo>
                    <a:pt x="5045825" y="2408257"/>
                  </a:lnTo>
                  <a:cubicBezTo>
                    <a:pt x="5045825" y="2414388"/>
                    <a:pt x="5043389" y="2420269"/>
                    <a:pt x="5039053" y="2424604"/>
                  </a:cubicBezTo>
                  <a:cubicBezTo>
                    <a:pt x="5034718" y="2428940"/>
                    <a:pt x="5028838" y="2431375"/>
                    <a:pt x="5022706" y="2431375"/>
                  </a:cubicBezTo>
                  <a:lnTo>
                    <a:pt x="23119" y="2431375"/>
                  </a:lnTo>
                  <a:cubicBezTo>
                    <a:pt x="16987" y="2431375"/>
                    <a:pt x="11107" y="2428940"/>
                    <a:pt x="6771" y="2424604"/>
                  </a:cubicBezTo>
                  <a:cubicBezTo>
                    <a:pt x="2436" y="2420269"/>
                    <a:pt x="0" y="2414388"/>
                    <a:pt x="0" y="2408257"/>
                  </a:cubicBezTo>
                  <a:lnTo>
                    <a:pt x="0" y="23119"/>
                  </a:lnTo>
                  <a:cubicBezTo>
                    <a:pt x="0" y="16987"/>
                    <a:pt x="2436" y="11107"/>
                    <a:pt x="6771" y="6771"/>
                  </a:cubicBezTo>
                  <a:cubicBezTo>
                    <a:pt x="11107" y="2436"/>
                    <a:pt x="16987" y="0"/>
                    <a:pt x="23119" y="0"/>
                  </a:cubicBez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0" y="-47625"/>
              <a:ext cx="5045825" cy="24790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79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6" name="Google Shape;136;p4"/>
          <p:cNvSpPr/>
          <p:nvPr/>
        </p:nvSpPr>
        <p:spPr>
          <a:xfrm>
            <a:off x="1405080" y="1551758"/>
            <a:ext cx="16326099" cy="7183484"/>
          </a:xfrm>
          <a:custGeom>
            <a:avLst/>
            <a:gdLst/>
            <a:ahLst/>
            <a:cxnLst/>
            <a:rect l="l" t="t" r="r" b="b"/>
            <a:pathLst>
              <a:path w="16326099" h="7183484" extrusionOk="0">
                <a:moveTo>
                  <a:pt x="0" y="0"/>
                </a:moveTo>
                <a:lnTo>
                  <a:pt x="16326099" y="0"/>
                </a:lnTo>
                <a:lnTo>
                  <a:pt x="16326099" y="7183484"/>
                </a:lnTo>
                <a:lnTo>
                  <a:pt x="0" y="71834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137" name="Google Shape;137;p4"/>
          <p:cNvSpPr txBox="1"/>
          <p:nvPr/>
        </p:nvSpPr>
        <p:spPr>
          <a:xfrm>
            <a:off x="642820" y="37658"/>
            <a:ext cx="122805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2. </a:t>
            </a:r>
            <a:r>
              <a:rPr lang="en-US" sz="4375" b="0" i="0" u="none" strike="noStrike" cap="none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RELATED WORK &amp; RESEARCH GAP</a:t>
            </a:r>
            <a:endParaRPr lang="en-US" sz="4375" b="0" i="0" u="none" strike="noStrike" cap="none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 rot="5400000">
            <a:off x="-4233886" y="5179531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 extrusionOk="0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grpSp>
        <p:nvGrpSpPr>
          <p:cNvPr id="143" name="Google Shape;143;p5"/>
          <p:cNvGrpSpPr/>
          <p:nvPr/>
        </p:nvGrpSpPr>
        <p:grpSpPr>
          <a:xfrm>
            <a:off x="1249279" y="-382833"/>
            <a:ext cx="17720127" cy="10908006"/>
            <a:chOff x="0" y="-38100"/>
            <a:chExt cx="4667029" cy="2872890"/>
          </a:xfrm>
        </p:grpSpPr>
        <p:sp>
          <p:nvSpPr>
            <p:cNvPr id="144" name="Google Shape;144;p5"/>
            <p:cNvSpPr/>
            <p:nvPr/>
          </p:nvSpPr>
          <p:spPr>
            <a:xfrm>
              <a:off x="0" y="0"/>
              <a:ext cx="4667029" cy="2834790"/>
            </a:xfrm>
            <a:custGeom>
              <a:avLst/>
              <a:gdLst/>
              <a:ahLst/>
              <a:cxnLst/>
              <a:rect l="l" t="t" r="r" b="b"/>
              <a:pathLst>
                <a:path w="4667029" h="2834790" extrusionOk="0">
                  <a:moveTo>
                    <a:pt x="0" y="0"/>
                  </a:moveTo>
                  <a:lnTo>
                    <a:pt x="4667029" y="0"/>
                  </a:lnTo>
                  <a:lnTo>
                    <a:pt x="4667029" y="2834790"/>
                  </a:lnTo>
                  <a:lnTo>
                    <a:pt x="0" y="28347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45" name="Google Shape;145;p5"/>
            <p:cNvSpPr txBox="1"/>
            <p:nvPr/>
          </p:nvSpPr>
          <p:spPr>
            <a:xfrm>
              <a:off x="0" y="-38100"/>
              <a:ext cx="4667029" cy="2872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6" name="Google Shape;146;p5"/>
          <p:cNvGrpSpPr/>
          <p:nvPr/>
        </p:nvGrpSpPr>
        <p:grpSpPr>
          <a:xfrm>
            <a:off x="1811285" y="4899385"/>
            <a:ext cx="15262708" cy="4358915"/>
            <a:chOff x="0" y="-38100"/>
            <a:chExt cx="2382108" cy="680312"/>
          </a:xfrm>
        </p:grpSpPr>
        <p:sp>
          <p:nvSpPr>
            <p:cNvPr id="147" name="Google Shape;147;p5"/>
            <p:cNvSpPr/>
            <p:nvPr/>
          </p:nvSpPr>
          <p:spPr>
            <a:xfrm>
              <a:off x="0" y="0"/>
              <a:ext cx="2382108" cy="642212"/>
            </a:xfrm>
            <a:custGeom>
              <a:avLst/>
              <a:gdLst/>
              <a:ahLst/>
              <a:cxnLst/>
              <a:rect l="l" t="t" r="r" b="b"/>
              <a:pathLst>
                <a:path w="2382108" h="642212" extrusionOk="0">
                  <a:moveTo>
                    <a:pt x="23840" y="0"/>
                  </a:moveTo>
                  <a:lnTo>
                    <a:pt x="2358267" y="0"/>
                  </a:lnTo>
                  <a:cubicBezTo>
                    <a:pt x="2371434" y="0"/>
                    <a:pt x="2382108" y="10674"/>
                    <a:pt x="2382108" y="23840"/>
                  </a:cubicBezTo>
                  <a:lnTo>
                    <a:pt x="2382108" y="618372"/>
                  </a:lnTo>
                  <a:cubicBezTo>
                    <a:pt x="2382108" y="624695"/>
                    <a:pt x="2379596" y="630759"/>
                    <a:pt x="2375125" y="635230"/>
                  </a:cubicBezTo>
                  <a:cubicBezTo>
                    <a:pt x="2370654" y="639701"/>
                    <a:pt x="2364590" y="642212"/>
                    <a:pt x="2358267" y="642212"/>
                  </a:cubicBezTo>
                  <a:lnTo>
                    <a:pt x="23840" y="642212"/>
                  </a:lnTo>
                  <a:cubicBezTo>
                    <a:pt x="17518" y="642212"/>
                    <a:pt x="11454" y="639701"/>
                    <a:pt x="6983" y="635230"/>
                  </a:cubicBezTo>
                  <a:cubicBezTo>
                    <a:pt x="2512" y="630759"/>
                    <a:pt x="0" y="624695"/>
                    <a:pt x="0" y="618372"/>
                  </a:cubicBezTo>
                  <a:lnTo>
                    <a:pt x="0" y="23840"/>
                  </a:lnTo>
                  <a:cubicBezTo>
                    <a:pt x="0" y="17518"/>
                    <a:pt x="2512" y="11454"/>
                    <a:pt x="6983" y="6983"/>
                  </a:cubicBezTo>
                  <a:cubicBezTo>
                    <a:pt x="11454" y="2512"/>
                    <a:pt x="17518" y="0"/>
                    <a:pt x="23840" y="0"/>
                  </a:cubicBez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48" name="Google Shape;148;p5"/>
            <p:cNvSpPr txBox="1"/>
            <p:nvPr/>
          </p:nvSpPr>
          <p:spPr>
            <a:xfrm>
              <a:off x="0" y="-38100"/>
              <a:ext cx="2382107" cy="6803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9" name="Google Shape;149;p5"/>
          <p:cNvSpPr txBox="1"/>
          <p:nvPr/>
        </p:nvSpPr>
        <p:spPr>
          <a:xfrm>
            <a:off x="1811285" y="4249803"/>
            <a:ext cx="12280371" cy="746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75" b="0" i="0" u="none" strike="noStrike" cap="none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CONTRIBUTION</a:t>
            </a:r>
            <a:endParaRPr lang="en-US" sz="4375" b="0" i="0" u="none" strike="noStrike" cap="none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2405380" y="5610225"/>
            <a:ext cx="13917930" cy="3114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45160" marR="0" lvl="1" indent="-32258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87"/>
              <a:buFont typeface="Arial" panose="020B0604020202090204"/>
              <a:buAutoNum type="arabicPeriod"/>
            </a:pPr>
            <a:r>
              <a:rPr lang="en-US" sz="2985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Risk-aware evaluation framework</a:t>
            </a:r>
            <a:endParaRPr lang="en-US" sz="2985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645160" marR="0" lvl="1" indent="-32258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87"/>
              <a:buFont typeface="Arial" panose="020B0604020202090204"/>
              <a:buAutoNum type="arabicPeriod"/>
            </a:pPr>
            <a:r>
              <a:rPr lang="en-US" sz="2985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Structured hallucination detection</a:t>
            </a:r>
            <a:endParaRPr lang="en-US" sz="2985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645160" marR="0" lvl="1" indent="-32258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87"/>
              <a:buFont typeface="Arial" panose="020B0604020202090204"/>
              <a:buAutoNum type="arabicPeriod"/>
            </a:pPr>
            <a:r>
              <a:rPr lang="en-US" sz="2985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Stability-based reliability analysis</a:t>
            </a:r>
            <a:endParaRPr lang="en-US" sz="2985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645160" marR="0" lvl="1" indent="-32258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87"/>
              <a:buFont typeface="Arial" panose="020B0604020202090204"/>
              <a:buAutoNum type="arabicPeriod"/>
            </a:pPr>
            <a:r>
              <a:rPr lang="en-US" sz="2985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Comparative study: Raw vs Majority vs Verifier</a:t>
            </a:r>
            <a:endParaRPr sz="2985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85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Our approach emphasizes trust and safety in decision-support systems.</a:t>
            </a:r>
            <a:endParaRPr lang="en-US" sz="2985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985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51" name="Google Shape;151;p5"/>
          <p:cNvGrpSpPr/>
          <p:nvPr/>
        </p:nvGrpSpPr>
        <p:grpSpPr>
          <a:xfrm>
            <a:off x="1811285" y="1722722"/>
            <a:ext cx="15262708" cy="2469930"/>
            <a:chOff x="0" y="-57150"/>
            <a:chExt cx="2382108" cy="385491"/>
          </a:xfrm>
        </p:grpSpPr>
        <p:sp>
          <p:nvSpPr>
            <p:cNvPr id="152" name="Google Shape;152;p5"/>
            <p:cNvSpPr/>
            <p:nvPr/>
          </p:nvSpPr>
          <p:spPr>
            <a:xfrm>
              <a:off x="0" y="0"/>
              <a:ext cx="2382108" cy="328341"/>
            </a:xfrm>
            <a:custGeom>
              <a:avLst/>
              <a:gdLst/>
              <a:ahLst/>
              <a:cxnLst/>
              <a:rect l="l" t="t" r="r" b="b"/>
              <a:pathLst>
                <a:path w="2382108" h="328341" extrusionOk="0">
                  <a:moveTo>
                    <a:pt x="23840" y="0"/>
                  </a:moveTo>
                  <a:lnTo>
                    <a:pt x="2358267" y="0"/>
                  </a:lnTo>
                  <a:cubicBezTo>
                    <a:pt x="2371434" y="0"/>
                    <a:pt x="2382108" y="10674"/>
                    <a:pt x="2382108" y="23840"/>
                  </a:cubicBezTo>
                  <a:lnTo>
                    <a:pt x="2382108" y="304501"/>
                  </a:lnTo>
                  <a:cubicBezTo>
                    <a:pt x="2382108" y="310824"/>
                    <a:pt x="2379596" y="316888"/>
                    <a:pt x="2375125" y="321359"/>
                  </a:cubicBezTo>
                  <a:cubicBezTo>
                    <a:pt x="2370654" y="325830"/>
                    <a:pt x="2364590" y="328341"/>
                    <a:pt x="2358267" y="328341"/>
                  </a:cubicBezTo>
                  <a:lnTo>
                    <a:pt x="23840" y="328341"/>
                  </a:lnTo>
                  <a:cubicBezTo>
                    <a:pt x="17518" y="328341"/>
                    <a:pt x="11454" y="325830"/>
                    <a:pt x="6983" y="321359"/>
                  </a:cubicBezTo>
                  <a:cubicBezTo>
                    <a:pt x="2512" y="316888"/>
                    <a:pt x="0" y="310824"/>
                    <a:pt x="0" y="304501"/>
                  </a:cubicBezTo>
                  <a:lnTo>
                    <a:pt x="0" y="23840"/>
                  </a:lnTo>
                  <a:cubicBezTo>
                    <a:pt x="0" y="17518"/>
                    <a:pt x="2512" y="11454"/>
                    <a:pt x="6983" y="6983"/>
                  </a:cubicBezTo>
                  <a:cubicBezTo>
                    <a:pt x="11454" y="2512"/>
                    <a:pt x="17518" y="0"/>
                    <a:pt x="23840" y="0"/>
                  </a:cubicBez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53" name="Google Shape;153;p5"/>
            <p:cNvSpPr txBox="1"/>
            <p:nvPr/>
          </p:nvSpPr>
          <p:spPr>
            <a:xfrm>
              <a:off x="0" y="-57150"/>
              <a:ext cx="2382107" cy="3854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900" b="0" i="0" u="none" strike="noStrike" cap="none">
                  <a:solidFill>
                    <a:srgbClr val="FFFFFF"/>
                  </a:solidFill>
                  <a:latin typeface="Open Sans" panose="020B0606030504020204"/>
                  <a:ea typeface="Open Sans" panose="020B0606030504020204"/>
                  <a:cs typeface="Open Sans" panose="020B0606030504020204"/>
                  <a:sym typeface="Open Sans" panose="020B0606030504020204"/>
                </a:rPr>
                <a:t>There is no systematic framework for comparing reasoning selection methods under sampling variability using reliability-focused evaluation metric</a:t>
              </a:r>
              <a:endParaRPr lang="en-US" sz="290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endParaRPr>
            </a:p>
          </p:txBody>
        </p:sp>
      </p:grpSp>
      <p:sp>
        <p:nvSpPr>
          <p:cNvPr id="154" name="Google Shape;154;p5"/>
          <p:cNvSpPr txBox="1"/>
          <p:nvPr/>
        </p:nvSpPr>
        <p:spPr>
          <a:xfrm>
            <a:off x="1951654" y="1199916"/>
            <a:ext cx="12280371" cy="746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75" b="0" i="0" u="none" strike="noStrike" cap="none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RESEARCH GAP</a:t>
            </a:r>
            <a:endParaRPr lang="en-US" sz="4375" b="0" i="0" u="none" strike="noStrike" cap="none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/>
          <p:nvPr/>
        </p:nvSpPr>
        <p:spPr>
          <a:xfrm rot="5400000">
            <a:off x="-4712303" y="4665083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 extrusionOk="0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grpSp>
        <p:nvGrpSpPr>
          <p:cNvPr id="160" name="Google Shape;160;p6"/>
          <p:cNvGrpSpPr/>
          <p:nvPr/>
        </p:nvGrpSpPr>
        <p:grpSpPr>
          <a:xfrm>
            <a:off x="1028700" y="-382833"/>
            <a:ext cx="17720127" cy="10908006"/>
            <a:chOff x="0" y="-38100"/>
            <a:chExt cx="4667029" cy="2872890"/>
          </a:xfrm>
        </p:grpSpPr>
        <p:sp>
          <p:nvSpPr>
            <p:cNvPr id="161" name="Google Shape;161;p6"/>
            <p:cNvSpPr/>
            <p:nvPr/>
          </p:nvSpPr>
          <p:spPr>
            <a:xfrm>
              <a:off x="0" y="0"/>
              <a:ext cx="4667029" cy="2834790"/>
            </a:xfrm>
            <a:custGeom>
              <a:avLst/>
              <a:gdLst/>
              <a:ahLst/>
              <a:cxnLst/>
              <a:rect l="l" t="t" r="r" b="b"/>
              <a:pathLst>
                <a:path w="4667029" h="2834790" extrusionOk="0">
                  <a:moveTo>
                    <a:pt x="0" y="0"/>
                  </a:moveTo>
                  <a:lnTo>
                    <a:pt x="4667029" y="0"/>
                  </a:lnTo>
                  <a:lnTo>
                    <a:pt x="4667029" y="2834790"/>
                  </a:lnTo>
                  <a:lnTo>
                    <a:pt x="0" y="28347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62" name="Google Shape;162;p6"/>
            <p:cNvSpPr txBox="1"/>
            <p:nvPr/>
          </p:nvSpPr>
          <p:spPr>
            <a:xfrm>
              <a:off x="0" y="-38100"/>
              <a:ext cx="4667029" cy="2872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6"/>
          <p:cNvGrpSpPr/>
          <p:nvPr/>
        </p:nvGrpSpPr>
        <p:grpSpPr>
          <a:xfrm>
            <a:off x="1216816" y="1235229"/>
            <a:ext cx="16677624" cy="4372369"/>
            <a:chOff x="0" y="-38100"/>
            <a:chExt cx="4392461" cy="1151570"/>
          </a:xfrm>
        </p:grpSpPr>
        <p:sp>
          <p:nvSpPr>
            <p:cNvPr id="164" name="Google Shape;164;p6"/>
            <p:cNvSpPr/>
            <p:nvPr/>
          </p:nvSpPr>
          <p:spPr>
            <a:xfrm>
              <a:off x="0" y="0"/>
              <a:ext cx="4392461" cy="1113470"/>
            </a:xfrm>
            <a:custGeom>
              <a:avLst/>
              <a:gdLst/>
              <a:ahLst/>
              <a:cxnLst/>
              <a:rect l="l" t="t" r="r" b="b"/>
              <a:pathLst>
                <a:path w="4392461" h="1113470" extrusionOk="0">
                  <a:moveTo>
                    <a:pt x="0" y="0"/>
                  </a:moveTo>
                  <a:lnTo>
                    <a:pt x="4392461" y="0"/>
                  </a:lnTo>
                  <a:lnTo>
                    <a:pt x="4392461" y="1113470"/>
                  </a:lnTo>
                  <a:lnTo>
                    <a:pt x="0" y="1113470"/>
                  </a:ln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</p:sp>
        <p:sp>
          <p:nvSpPr>
            <p:cNvPr id="165" name="Google Shape;165;p6"/>
            <p:cNvSpPr txBox="1"/>
            <p:nvPr/>
          </p:nvSpPr>
          <p:spPr>
            <a:xfrm>
              <a:off x="0" y="-38100"/>
              <a:ext cx="4392461" cy="1151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6" name="Google Shape;166;p6"/>
          <p:cNvSpPr txBox="1"/>
          <p:nvPr/>
        </p:nvSpPr>
        <p:spPr>
          <a:xfrm>
            <a:off x="1797583" y="3171273"/>
            <a:ext cx="15393352" cy="448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75" b="1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Ground Truth: </a:t>
            </a:r>
            <a:r>
              <a:rPr lang="en-US" sz="25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The is_corrects labels derived from symbolic math matching.</a:t>
            </a:r>
            <a:endParaRPr lang="en-US" sz="25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167" name="Google Shape;167;p6"/>
          <p:cNvSpPr txBox="1"/>
          <p:nvPr/>
        </p:nvSpPr>
        <p:spPr>
          <a:xfrm>
            <a:off x="1797583" y="2585722"/>
            <a:ext cx="15841414" cy="448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75" b="1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Input: </a:t>
            </a:r>
            <a:r>
              <a:rPr lang="en-US" sz="25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We provide the prompt and the "Chain of Thought" (CoT) reasoning leading to 10000 Samples.</a:t>
            </a:r>
            <a:endParaRPr lang="en-US" sz="25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168" name="Google Shape;168;p6"/>
          <p:cNvSpPr txBox="1"/>
          <p:nvPr/>
        </p:nvSpPr>
        <p:spPr>
          <a:xfrm>
            <a:off x="1797583" y="3986615"/>
            <a:ext cx="15393352" cy="448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75" b="1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Task:  </a:t>
            </a:r>
            <a:r>
              <a:rPr lang="en-US" sz="25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Binary Classification (Correct vs. Incorrect) of reasoning chains providing correctness labels</a:t>
            </a:r>
            <a:endParaRPr lang="en-US" sz="25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1797583" y="1542970"/>
            <a:ext cx="15393352" cy="9061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75" b="1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Dataset: </a:t>
            </a:r>
            <a:r>
              <a:rPr lang="en-US" sz="25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ScalingIntelligence/monkey_business (Llama-3-8B-Instruct on MATH,Llama-3-8B-Instruct on GSM8K).</a:t>
            </a:r>
            <a:endParaRPr lang="en-US" sz="25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170" name="Google Shape;170;p6"/>
          <p:cNvSpPr txBox="1"/>
          <p:nvPr/>
        </p:nvSpPr>
        <p:spPr>
          <a:xfrm>
            <a:off x="1626800" y="147334"/>
            <a:ext cx="122805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3. </a:t>
            </a:r>
            <a:r>
              <a:rPr lang="en-US" sz="4375" b="0" i="0" u="none" strike="noStrike" cap="none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DATASET &amp; TASK DEFINITION</a:t>
            </a:r>
            <a:endParaRPr lang="en-US" sz="4375" b="0" i="0" u="none" strike="noStrike" cap="none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1365075" y="5813318"/>
            <a:ext cx="16529364" cy="4327328"/>
          </a:xfrm>
          <a:custGeom>
            <a:avLst/>
            <a:gdLst/>
            <a:ahLst/>
            <a:cxnLst/>
            <a:rect l="l" t="t" r="r" b="b"/>
            <a:pathLst>
              <a:path w="16529364" h="4327328" extrusionOk="0">
                <a:moveTo>
                  <a:pt x="0" y="0"/>
                </a:moveTo>
                <a:lnTo>
                  <a:pt x="16529365" y="0"/>
                </a:lnTo>
                <a:lnTo>
                  <a:pt x="16529365" y="4327328"/>
                </a:lnTo>
                <a:lnTo>
                  <a:pt x="0" y="432732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 t="-737" r="-2669" b="-737"/>
            </a:stretch>
          </a:blipFill>
          <a:ln w="1905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7"/>
          <p:cNvGrpSpPr/>
          <p:nvPr/>
        </p:nvGrpSpPr>
        <p:grpSpPr>
          <a:xfrm>
            <a:off x="9360371" y="1575757"/>
            <a:ext cx="8457262" cy="8116400"/>
            <a:chOff x="0" y="-38100"/>
            <a:chExt cx="1319957" cy="1266757"/>
          </a:xfrm>
        </p:grpSpPr>
        <p:sp>
          <p:nvSpPr>
            <p:cNvPr id="177" name="Google Shape;177;p7"/>
            <p:cNvSpPr/>
            <p:nvPr/>
          </p:nvSpPr>
          <p:spPr>
            <a:xfrm>
              <a:off x="0" y="0"/>
              <a:ext cx="1319957" cy="1228657"/>
            </a:xfrm>
            <a:custGeom>
              <a:avLst/>
              <a:gdLst/>
              <a:ahLst/>
              <a:cxnLst/>
              <a:rect l="l" t="t" r="r" b="b"/>
              <a:pathLst>
                <a:path w="1319957" h="1228657" extrusionOk="0">
                  <a:moveTo>
                    <a:pt x="43025" y="0"/>
                  </a:moveTo>
                  <a:lnTo>
                    <a:pt x="1276932" y="0"/>
                  </a:lnTo>
                  <a:cubicBezTo>
                    <a:pt x="1300694" y="0"/>
                    <a:pt x="1319957" y="19263"/>
                    <a:pt x="1319957" y="43025"/>
                  </a:cubicBezTo>
                  <a:lnTo>
                    <a:pt x="1319957" y="1185633"/>
                  </a:lnTo>
                  <a:cubicBezTo>
                    <a:pt x="1319957" y="1209394"/>
                    <a:pt x="1300694" y="1228657"/>
                    <a:pt x="1276932" y="1228657"/>
                  </a:cubicBezTo>
                  <a:lnTo>
                    <a:pt x="43025" y="1228657"/>
                  </a:lnTo>
                  <a:cubicBezTo>
                    <a:pt x="19263" y="1228657"/>
                    <a:pt x="0" y="1209394"/>
                    <a:pt x="0" y="1185633"/>
                  </a:cubicBezTo>
                  <a:lnTo>
                    <a:pt x="0" y="43025"/>
                  </a:lnTo>
                  <a:cubicBezTo>
                    <a:pt x="0" y="19263"/>
                    <a:pt x="19263" y="0"/>
                    <a:pt x="43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78" name="Google Shape;178;p7"/>
            <p:cNvSpPr txBox="1"/>
            <p:nvPr/>
          </p:nvSpPr>
          <p:spPr>
            <a:xfrm>
              <a:off x="0" y="-38100"/>
              <a:ext cx="1319957" cy="12667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7"/>
          <p:cNvGrpSpPr/>
          <p:nvPr/>
        </p:nvGrpSpPr>
        <p:grpSpPr>
          <a:xfrm>
            <a:off x="395675" y="1575750"/>
            <a:ext cx="8305169" cy="8116365"/>
            <a:chOff x="0" y="-38100"/>
            <a:chExt cx="1319957" cy="1266757"/>
          </a:xfrm>
        </p:grpSpPr>
        <p:sp>
          <p:nvSpPr>
            <p:cNvPr id="180" name="Google Shape;180;p7"/>
            <p:cNvSpPr/>
            <p:nvPr/>
          </p:nvSpPr>
          <p:spPr>
            <a:xfrm>
              <a:off x="0" y="0"/>
              <a:ext cx="1319957" cy="1228657"/>
            </a:xfrm>
            <a:custGeom>
              <a:avLst/>
              <a:gdLst/>
              <a:ahLst/>
              <a:cxnLst/>
              <a:rect l="l" t="t" r="r" b="b"/>
              <a:pathLst>
                <a:path w="1319957" h="1228657" extrusionOk="0">
                  <a:moveTo>
                    <a:pt x="43025" y="0"/>
                  </a:moveTo>
                  <a:lnTo>
                    <a:pt x="1276932" y="0"/>
                  </a:lnTo>
                  <a:cubicBezTo>
                    <a:pt x="1300694" y="0"/>
                    <a:pt x="1319957" y="19263"/>
                    <a:pt x="1319957" y="43025"/>
                  </a:cubicBezTo>
                  <a:lnTo>
                    <a:pt x="1319957" y="1185633"/>
                  </a:lnTo>
                  <a:cubicBezTo>
                    <a:pt x="1319957" y="1209394"/>
                    <a:pt x="1300694" y="1228657"/>
                    <a:pt x="1276932" y="1228657"/>
                  </a:cubicBezTo>
                  <a:lnTo>
                    <a:pt x="43025" y="1228657"/>
                  </a:lnTo>
                  <a:cubicBezTo>
                    <a:pt x="19263" y="1228657"/>
                    <a:pt x="0" y="1209394"/>
                    <a:pt x="0" y="1185633"/>
                  </a:cubicBezTo>
                  <a:lnTo>
                    <a:pt x="0" y="43025"/>
                  </a:lnTo>
                  <a:cubicBezTo>
                    <a:pt x="0" y="19263"/>
                    <a:pt x="19263" y="0"/>
                    <a:pt x="43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81" name="Google Shape;181;p7"/>
            <p:cNvSpPr txBox="1"/>
            <p:nvPr/>
          </p:nvSpPr>
          <p:spPr>
            <a:xfrm>
              <a:off x="0" y="-38100"/>
              <a:ext cx="1319957" cy="12667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7"/>
          <p:cNvGrpSpPr/>
          <p:nvPr/>
        </p:nvGrpSpPr>
        <p:grpSpPr>
          <a:xfrm>
            <a:off x="395675" y="161349"/>
            <a:ext cx="17150400" cy="1194664"/>
            <a:chOff x="0" y="-38100"/>
            <a:chExt cx="5037272" cy="850900"/>
          </a:xfrm>
        </p:grpSpPr>
        <p:sp>
          <p:nvSpPr>
            <p:cNvPr id="183" name="Google Shape;183;p7"/>
            <p:cNvSpPr/>
            <p:nvPr/>
          </p:nvSpPr>
          <p:spPr>
            <a:xfrm>
              <a:off x="0" y="0"/>
              <a:ext cx="5037272" cy="812800"/>
            </a:xfrm>
            <a:custGeom>
              <a:avLst/>
              <a:gdLst/>
              <a:ahLst/>
              <a:cxnLst/>
              <a:rect l="l" t="t" r="r" b="b"/>
              <a:pathLst>
                <a:path w="5037272" h="812800" extrusionOk="0">
                  <a:moveTo>
                    <a:pt x="0" y="0"/>
                  </a:moveTo>
                  <a:lnTo>
                    <a:pt x="5037272" y="0"/>
                  </a:lnTo>
                  <a:lnTo>
                    <a:pt x="503727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84" name="Google Shape;184;p7"/>
            <p:cNvSpPr txBox="1"/>
            <p:nvPr/>
          </p:nvSpPr>
          <p:spPr>
            <a:xfrm>
              <a:off x="0" y="-38100"/>
              <a:ext cx="5037272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7"/>
          <p:cNvSpPr txBox="1"/>
          <p:nvPr/>
        </p:nvSpPr>
        <p:spPr>
          <a:xfrm>
            <a:off x="9139238" y="4796155"/>
            <a:ext cx="9525" cy="323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 txBox="1"/>
          <p:nvPr/>
        </p:nvSpPr>
        <p:spPr>
          <a:xfrm>
            <a:off x="17883319" y="4619674"/>
            <a:ext cx="9525" cy="323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 txBox="1"/>
          <p:nvPr/>
        </p:nvSpPr>
        <p:spPr>
          <a:xfrm>
            <a:off x="9148762" y="2095005"/>
            <a:ext cx="8305200" cy="81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47725" marR="0" lvl="1" indent="-39814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25"/>
              <a:buFont typeface="Arial" panose="020B0604020202090204"/>
              <a:buChar char="•"/>
            </a:pPr>
            <a:r>
              <a:rPr lang="en-US" sz="3525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Contains grade-school math word problems focusing on arithmetic and logical reasoning steps.</a:t>
            </a:r>
            <a:endParaRPr sz="10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25" b="1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847725" marR="0" lvl="1" indent="-39814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25"/>
              <a:buFont typeface="Arial" panose="020B0604020202090204"/>
              <a:buChar char="•"/>
            </a:pPr>
            <a:r>
              <a:rPr lang="en-US" sz="3525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Loaded from HuggingFace (GSM8K_Llama-3-8B-Instruct) in code; used to test generalization on simpler, structured reasoning tasks.</a:t>
            </a:r>
            <a:endParaRPr sz="10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25" b="1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525" b="1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88" name="Google Shape;188;p7"/>
          <p:cNvSpPr txBox="1"/>
          <p:nvPr/>
        </p:nvSpPr>
        <p:spPr>
          <a:xfrm>
            <a:off x="243625" y="2060000"/>
            <a:ext cx="7993500" cy="75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813435" marR="0" lvl="1" indent="-37528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6"/>
              <a:buFont typeface="Arial" panose="020B0604020202090204"/>
              <a:buChar char="•"/>
            </a:pPr>
            <a:r>
              <a:rPr lang="en-US" sz="3265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Consists of competition-level mathematical problems with complex, multi-step reasoning and detailed solutions.</a:t>
            </a:r>
            <a:endParaRPr sz="9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65" b="1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813435" marR="0" lvl="1" indent="-37528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66"/>
              <a:buFont typeface="Arial" panose="020B0604020202090204"/>
              <a:buChar char="•"/>
            </a:pPr>
            <a:r>
              <a:rPr lang="en-US" sz="3265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Used via HuggingFace (MATH_Llama-3-8B-Instruct) to evaluate deep reasoning; chosen to test verifier performance on hard problems.</a:t>
            </a:r>
            <a:endParaRPr sz="900"/>
          </a:p>
          <a:p>
            <a:pPr marL="0" marR="0" lvl="0" indent="0" algn="l" rtl="0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65" b="1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2009899" y="387448"/>
            <a:ext cx="4460972" cy="746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75" b="0" i="0" u="none" strike="noStrike" cap="none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MATH DATASET</a:t>
            </a:r>
            <a:endParaRPr lang="en-US" sz="4375" b="0" i="0" u="none" strike="noStrike" cap="none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11070856" y="387448"/>
            <a:ext cx="4460972" cy="746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75" b="0" i="0" u="none" strike="noStrike" cap="none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GSM8K DATASET</a:t>
            </a:r>
            <a:endParaRPr lang="en-US" sz="4375" b="0" i="0" u="none" strike="noStrike" cap="none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" name="Google Shape;195;p8"/>
          <p:cNvGrpSpPr/>
          <p:nvPr/>
        </p:nvGrpSpPr>
        <p:grpSpPr>
          <a:xfrm>
            <a:off x="3313390" y="1772944"/>
            <a:ext cx="11306494" cy="1237796"/>
            <a:chOff x="0" y="-38100"/>
            <a:chExt cx="1764647" cy="193188"/>
          </a:xfrm>
        </p:grpSpPr>
        <p:sp>
          <p:nvSpPr>
            <p:cNvPr id="196" name="Google Shape;196;p8"/>
            <p:cNvSpPr/>
            <p:nvPr/>
          </p:nvSpPr>
          <p:spPr>
            <a:xfrm>
              <a:off x="0" y="0"/>
              <a:ext cx="1764647" cy="155088"/>
            </a:xfrm>
            <a:custGeom>
              <a:avLst/>
              <a:gdLst/>
              <a:ahLst/>
              <a:cxnLst/>
              <a:rect l="l" t="t" r="r" b="b"/>
              <a:pathLst>
                <a:path w="1764647" h="155088" extrusionOk="0">
                  <a:moveTo>
                    <a:pt x="32182" y="0"/>
                  </a:moveTo>
                  <a:lnTo>
                    <a:pt x="1732465" y="0"/>
                  </a:lnTo>
                  <a:cubicBezTo>
                    <a:pt x="1741000" y="0"/>
                    <a:pt x="1749186" y="3391"/>
                    <a:pt x="1755221" y="9426"/>
                  </a:cubicBezTo>
                  <a:cubicBezTo>
                    <a:pt x="1761256" y="15461"/>
                    <a:pt x="1764647" y="23647"/>
                    <a:pt x="1764647" y="32182"/>
                  </a:cubicBezTo>
                  <a:lnTo>
                    <a:pt x="1764647" y="122905"/>
                  </a:lnTo>
                  <a:cubicBezTo>
                    <a:pt x="1764647" y="131440"/>
                    <a:pt x="1761256" y="139626"/>
                    <a:pt x="1755221" y="145662"/>
                  </a:cubicBezTo>
                  <a:cubicBezTo>
                    <a:pt x="1749186" y="151697"/>
                    <a:pt x="1741000" y="155088"/>
                    <a:pt x="1732465" y="155088"/>
                  </a:cubicBezTo>
                  <a:lnTo>
                    <a:pt x="32182" y="155088"/>
                  </a:lnTo>
                  <a:cubicBezTo>
                    <a:pt x="14409" y="155088"/>
                    <a:pt x="0" y="140679"/>
                    <a:pt x="0" y="122905"/>
                  </a:cubicBezTo>
                  <a:lnTo>
                    <a:pt x="0" y="32182"/>
                  </a:lnTo>
                  <a:cubicBezTo>
                    <a:pt x="0" y="23647"/>
                    <a:pt x="3391" y="15461"/>
                    <a:pt x="9426" y="9426"/>
                  </a:cubicBezTo>
                  <a:cubicBezTo>
                    <a:pt x="15461" y="3391"/>
                    <a:pt x="23647" y="0"/>
                    <a:pt x="32182" y="0"/>
                  </a:cubicBez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97" name="Google Shape;197;p8"/>
            <p:cNvSpPr txBox="1"/>
            <p:nvPr/>
          </p:nvSpPr>
          <p:spPr>
            <a:xfrm>
              <a:off x="0" y="-38100"/>
              <a:ext cx="1764647" cy="193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8"/>
          <p:cNvGrpSpPr/>
          <p:nvPr/>
        </p:nvGrpSpPr>
        <p:grpSpPr>
          <a:xfrm>
            <a:off x="3313390" y="2958676"/>
            <a:ext cx="11306494" cy="1237796"/>
            <a:chOff x="0" y="-38100"/>
            <a:chExt cx="1764647" cy="193188"/>
          </a:xfrm>
        </p:grpSpPr>
        <p:sp>
          <p:nvSpPr>
            <p:cNvPr id="199" name="Google Shape;199;p8"/>
            <p:cNvSpPr/>
            <p:nvPr/>
          </p:nvSpPr>
          <p:spPr>
            <a:xfrm>
              <a:off x="0" y="0"/>
              <a:ext cx="1764647" cy="155088"/>
            </a:xfrm>
            <a:custGeom>
              <a:avLst/>
              <a:gdLst/>
              <a:ahLst/>
              <a:cxnLst/>
              <a:rect l="l" t="t" r="r" b="b"/>
              <a:pathLst>
                <a:path w="1764647" h="155088" extrusionOk="0">
                  <a:moveTo>
                    <a:pt x="32182" y="0"/>
                  </a:moveTo>
                  <a:lnTo>
                    <a:pt x="1732465" y="0"/>
                  </a:lnTo>
                  <a:cubicBezTo>
                    <a:pt x="1741000" y="0"/>
                    <a:pt x="1749186" y="3391"/>
                    <a:pt x="1755221" y="9426"/>
                  </a:cubicBezTo>
                  <a:cubicBezTo>
                    <a:pt x="1761256" y="15461"/>
                    <a:pt x="1764647" y="23647"/>
                    <a:pt x="1764647" y="32182"/>
                  </a:cubicBezTo>
                  <a:lnTo>
                    <a:pt x="1764647" y="122905"/>
                  </a:lnTo>
                  <a:cubicBezTo>
                    <a:pt x="1764647" y="131440"/>
                    <a:pt x="1761256" y="139626"/>
                    <a:pt x="1755221" y="145662"/>
                  </a:cubicBezTo>
                  <a:cubicBezTo>
                    <a:pt x="1749186" y="151697"/>
                    <a:pt x="1741000" y="155088"/>
                    <a:pt x="1732465" y="155088"/>
                  </a:cubicBezTo>
                  <a:lnTo>
                    <a:pt x="32182" y="155088"/>
                  </a:lnTo>
                  <a:cubicBezTo>
                    <a:pt x="14409" y="155088"/>
                    <a:pt x="0" y="140679"/>
                    <a:pt x="0" y="122905"/>
                  </a:cubicBezTo>
                  <a:lnTo>
                    <a:pt x="0" y="32182"/>
                  </a:lnTo>
                  <a:cubicBezTo>
                    <a:pt x="0" y="23647"/>
                    <a:pt x="3391" y="15461"/>
                    <a:pt x="9426" y="9426"/>
                  </a:cubicBezTo>
                  <a:cubicBezTo>
                    <a:pt x="15461" y="3391"/>
                    <a:pt x="23647" y="0"/>
                    <a:pt x="32182" y="0"/>
                  </a:cubicBez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0" name="Google Shape;200;p8"/>
            <p:cNvSpPr txBox="1"/>
            <p:nvPr/>
          </p:nvSpPr>
          <p:spPr>
            <a:xfrm>
              <a:off x="0" y="-38100"/>
              <a:ext cx="1764647" cy="193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1" name="Google Shape;201;p8"/>
          <p:cNvGrpSpPr/>
          <p:nvPr/>
        </p:nvGrpSpPr>
        <p:grpSpPr>
          <a:xfrm>
            <a:off x="3313390" y="4144409"/>
            <a:ext cx="11306494" cy="1237796"/>
            <a:chOff x="0" y="-38100"/>
            <a:chExt cx="1764647" cy="193188"/>
          </a:xfrm>
        </p:grpSpPr>
        <p:sp>
          <p:nvSpPr>
            <p:cNvPr id="202" name="Google Shape;202;p8"/>
            <p:cNvSpPr/>
            <p:nvPr/>
          </p:nvSpPr>
          <p:spPr>
            <a:xfrm>
              <a:off x="0" y="0"/>
              <a:ext cx="1764647" cy="155088"/>
            </a:xfrm>
            <a:custGeom>
              <a:avLst/>
              <a:gdLst/>
              <a:ahLst/>
              <a:cxnLst/>
              <a:rect l="l" t="t" r="r" b="b"/>
              <a:pathLst>
                <a:path w="1764647" h="155088" extrusionOk="0">
                  <a:moveTo>
                    <a:pt x="32182" y="0"/>
                  </a:moveTo>
                  <a:lnTo>
                    <a:pt x="1732465" y="0"/>
                  </a:lnTo>
                  <a:cubicBezTo>
                    <a:pt x="1741000" y="0"/>
                    <a:pt x="1749186" y="3391"/>
                    <a:pt x="1755221" y="9426"/>
                  </a:cubicBezTo>
                  <a:cubicBezTo>
                    <a:pt x="1761256" y="15461"/>
                    <a:pt x="1764647" y="23647"/>
                    <a:pt x="1764647" y="32182"/>
                  </a:cubicBezTo>
                  <a:lnTo>
                    <a:pt x="1764647" y="122905"/>
                  </a:lnTo>
                  <a:cubicBezTo>
                    <a:pt x="1764647" y="131440"/>
                    <a:pt x="1761256" y="139626"/>
                    <a:pt x="1755221" y="145662"/>
                  </a:cubicBezTo>
                  <a:cubicBezTo>
                    <a:pt x="1749186" y="151697"/>
                    <a:pt x="1741000" y="155088"/>
                    <a:pt x="1732465" y="155088"/>
                  </a:cubicBezTo>
                  <a:lnTo>
                    <a:pt x="32182" y="155088"/>
                  </a:lnTo>
                  <a:cubicBezTo>
                    <a:pt x="14409" y="155088"/>
                    <a:pt x="0" y="140679"/>
                    <a:pt x="0" y="122905"/>
                  </a:cubicBezTo>
                  <a:lnTo>
                    <a:pt x="0" y="32182"/>
                  </a:lnTo>
                  <a:cubicBezTo>
                    <a:pt x="0" y="23647"/>
                    <a:pt x="3391" y="15461"/>
                    <a:pt x="9426" y="9426"/>
                  </a:cubicBezTo>
                  <a:cubicBezTo>
                    <a:pt x="15461" y="3391"/>
                    <a:pt x="23647" y="0"/>
                    <a:pt x="32182" y="0"/>
                  </a:cubicBez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3" name="Google Shape;203;p8"/>
            <p:cNvSpPr txBox="1"/>
            <p:nvPr/>
          </p:nvSpPr>
          <p:spPr>
            <a:xfrm>
              <a:off x="0" y="-38100"/>
              <a:ext cx="1764647" cy="193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8"/>
          <p:cNvGrpSpPr/>
          <p:nvPr/>
        </p:nvGrpSpPr>
        <p:grpSpPr>
          <a:xfrm>
            <a:off x="3313390" y="5330142"/>
            <a:ext cx="11306494" cy="1237796"/>
            <a:chOff x="0" y="-38100"/>
            <a:chExt cx="1764647" cy="193188"/>
          </a:xfrm>
        </p:grpSpPr>
        <p:sp>
          <p:nvSpPr>
            <p:cNvPr id="205" name="Google Shape;205;p8"/>
            <p:cNvSpPr/>
            <p:nvPr/>
          </p:nvSpPr>
          <p:spPr>
            <a:xfrm>
              <a:off x="0" y="0"/>
              <a:ext cx="1764647" cy="155088"/>
            </a:xfrm>
            <a:custGeom>
              <a:avLst/>
              <a:gdLst/>
              <a:ahLst/>
              <a:cxnLst/>
              <a:rect l="l" t="t" r="r" b="b"/>
              <a:pathLst>
                <a:path w="1764647" h="155088" extrusionOk="0">
                  <a:moveTo>
                    <a:pt x="32182" y="0"/>
                  </a:moveTo>
                  <a:lnTo>
                    <a:pt x="1732465" y="0"/>
                  </a:lnTo>
                  <a:cubicBezTo>
                    <a:pt x="1741000" y="0"/>
                    <a:pt x="1749186" y="3391"/>
                    <a:pt x="1755221" y="9426"/>
                  </a:cubicBezTo>
                  <a:cubicBezTo>
                    <a:pt x="1761256" y="15461"/>
                    <a:pt x="1764647" y="23647"/>
                    <a:pt x="1764647" y="32182"/>
                  </a:cubicBezTo>
                  <a:lnTo>
                    <a:pt x="1764647" y="122905"/>
                  </a:lnTo>
                  <a:cubicBezTo>
                    <a:pt x="1764647" y="131440"/>
                    <a:pt x="1761256" y="139626"/>
                    <a:pt x="1755221" y="145662"/>
                  </a:cubicBezTo>
                  <a:cubicBezTo>
                    <a:pt x="1749186" y="151697"/>
                    <a:pt x="1741000" y="155088"/>
                    <a:pt x="1732465" y="155088"/>
                  </a:cubicBezTo>
                  <a:lnTo>
                    <a:pt x="32182" y="155088"/>
                  </a:lnTo>
                  <a:cubicBezTo>
                    <a:pt x="14409" y="155088"/>
                    <a:pt x="0" y="140679"/>
                    <a:pt x="0" y="122905"/>
                  </a:cubicBezTo>
                  <a:lnTo>
                    <a:pt x="0" y="32182"/>
                  </a:lnTo>
                  <a:cubicBezTo>
                    <a:pt x="0" y="23647"/>
                    <a:pt x="3391" y="15461"/>
                    <a:pt x="9426" y="9426"/>
                  </a:cubicBezTo>
                  <a:cubicBezTo>
                    <a:pt x="15461" y="3391"/>
                    <a:pt x="23647" y="0"/>
                    <a:pt x="32182" y="0"/>
                  </a:cubicBez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6" name="Google Shape;206;p8"/>
            <p:cNvSpPr txBox="1"/>
            <p:nvPr/>
          </p:nvSpPr>
          <p:spPr>
            <a:xfrm>
              <a:off x="0" y="-38100"/>
              <a:ext cx="1764647" cy="193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7" name="Google Shape;207;p8"/>
          <p:cNvGrpSpPr/>
          <p:nvPr/>
        </p:nvGrpSpPr>
        <p:grpSpPr>
          <a:xfrm>
            <a:off x="3313390" y="6515875"/>
            <a:ext cx="11306494" cy="1237796"/>
            <a:chOff x="0" y="-38100"/>
            <a:chExt cx="1764647" cy="193188"/>
          </a:xfrm>
        </p:grpSpPr>
        <p:sp>
          <p:nvSpPr>
            <p:cNvPr id="208" name="Google Shape;208;p8"/>
            <p:cNvSpPr/>
            <p:nvPr/>
          </p:nvSpPr>
          <p:spPr>
            <a:xfrm>
              <a:off x="0" y="0"/>
              <a:ext cx="1764647" cy="155088"/>
            </a:xfrm>
            <a:custGeom>
              <a:avLst/>
              <a:gdLst/>
              <a:ahLst/>
              <a:cxnLst/>
              <a:rect l="l" t="t" r="r" b="b"/>
              <a:pathLst>
                <a:path w="1764647" h="155088" extrusionOk="0">
                  <a:moveTo>
                    <a:pt x="32182" y="0"/>
                  </a:moveTo>
                  <a:lnTo>
                    <a:pt x="1732465" y="0"/>
                  </a:lnTo>
                  <a:cubicBezTo>
                    <a:pt x="1741000" y="0"/>
                    <a:pt x="1749186" y="3391"/>
                    <a:pt x="1755221" y="9426"/>
                  </a:cubicBezTo>
                  <a:cubicBezTo>
                    <a:pt x="1761256" y="15461"/>
                    <a:pt x="1764647" y="23647"/>
                    <a:pt x="1764647" y="32182"/>
                  </a:cubicBezTo>
                  <a:lnTo>
                    <a:pt x="1764647" y="122905"/>
                  </a:lnTo>
                  <a:cubicBezTo>
                    <a:pt x="1764647" y="131440"/>
                    <a:pt x="1761256" y="139626"/>
                    <a:pt x="1755221" y="145662"/>
                  </a:cubicBezTo>
                  <a:cubicBezTo>
                    <a:pt x="1749186" y="151697"/>
                    <a:pt x="1741000" y="155088"/>
                    <a:pt x="1732465" y="155088"/>
                  </a:cubicBezTo>
                  <a:lnTo>
                    <a:pt x="32182" y="155088"/>
                  </a:lnTo>
                  <a:cubicBezTo>
                    <a:pt x="14409" y="155088"/>
                    <a:pt x="0" y="140679"/>
                    <a:pt x="0" y="122905"/>
                  </a:cubicBezTo>
                  <a:lnTo>
                    <a:pt x="0" y="32182"/>
                  </a:lnTo>
                  <a:cubicBezTo>
                    <a:pt x="0" y="23647"/>
                    <a:pt x="3391" y="15461"/>
                    <a:pt x="9426" y="9426"/>
                  </a:cubicBezTo>
                  <a:cubicBezTo>
                    <a:pt x="15461" y="3391"/>
                    <a:pt x="23647" y="0"/>
                    <a:pt x="32182" y="0"/>
                  </a:cubicBez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9" name="Google Shape;209;p8"/>
            <p:cNvSpPr txBox="1"/>
            <p:nvPr/>
          </p:nvSpPr>
          <p:spPr>
            <a:xfrm>
              <a:off x="0" y="-38100"/>
              <a:ext cx="1764647" cy="193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0" name="Google Shape;210;p8"/>
          <p:cNvGrpSpPr/>
          <p:nvPr/>
        </p:nvGrpSpPr>
        <p:grpSpPr>
          <a:xfrm>
            <a:off x="3313390" y="7701608"/>
            <a:ext cx="11306494" cy="1237796"/>
            <a:chOff x="0" y="-38100"/>
            <a:chExt cx="1764647" cy="193188"/>
          </a:xfrm>
        </p:grpSpPr>
        <p:sp>
          <p:nvSpPr>
            <p:cNvPr id="211" name="Google Shape;211;p8"/>
            <p:cNvSpPr/>
            <p:nvPr/>
          </p:nvSpPr>
          <p:spPr>
            <a:xfrm>
              <a:off x="0" y="0"/>
              <a:ext cx="1764647" cy="155088"/>
            </a:xfrm>
            <a:custGeom>
              <a:avLst/>
              <a:gdLst/>
              <a:ahLst/>
              <a:cxnLst/>
              <a:rect l="l" t="t" r="r" b="b"/>
              <a:pathLst>
                <a:path w="1764647" h="155088" extrusionOk="0">
                  <a:moveTo>
                    <a:pt x="32182" y="0"/>
                  </a:moveTo>
                  <a:lnTo>
                    <a:pt x="1732465" y="0"/>
                  </a:lnTo>
                  <a:cubicBezTo>
                    <a:pt x="1741000" y="0"/>
                    <a:pt x="1749186" y="3391"/>
                    <a:pt x="1755221" y="9426"/>
                  </a:cubicBezTo>
                  <a:cubicBezTo>
                    <a:pt x="1761256" y="15461"/>
                    <a:pt x="1764647" y="23647"/>
                    <a:pt x="1764647" y="32182"/>
                  </a:cubicBezTo>
                  <a:lnTo>
                    <a:pt x="1764647" y="122905"/>
                  </a:lnTo>
                  <a:cubicBezTo>
                    <a:pt x="1764647" y="131440"/>
                    <a:pt x="1761256" y="139626"/>
                    <a:pt x="1755221" y="145662"/>
                  </a:cubicBezTo>
                  <a:cubicBezTo>
                    <a:pt x="1749186" y="151697"/>
                    <a:pt x="1741000" y="155088"/>
                    <a:pt x="1732465" y="155088"/>
                  </a:cubicBezTo>
                  <a:lnTo>
                    <a:pt x="32182" y="155088"/>
                  </a:lnTo>
                  <a:cubicBezTo>
                    <a:pt x="14409" y="155088"/>
                    <a:pt x="0" y="140679"/>
                    <a:pt x="0" y="122905"/>
                  </a:cubicBezTo>
                  <a:lnTo>
                    <a:pt x="0" y="32182"/>
                  </a:lnTo>
                  <a:cubicBezTo>
                    <a:pt x="0" y="23647"/>
                    <a:pt x="3391" y="15461"/>
                    <a:pt x="9426" y="9426"/>
                  </a:cubicBezTo>
                  <a:cubicBezTo>
                    <a:pt x="15461" y="3391"/>
                    <a:pt x="23647" y="0"/>
                    <a:pt x="32182" y="0"/>
                  </a:cubicBez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12" name="Google Shape;212;p8"/>
            <p:cNvSpPr txBox="1"/>
            <p:nvPr/>
          </p:nvSpPr>
          <p:spPr>
            <a:xfrm>
              <a:off x="0" y="-38100"/>
              <a:ext cx="1764647" cy="1931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p8"/>
          <p:cNvSpPr txBox="1"/>
          <p:nvPr/>
        </p:nvSpPr>
        <p:spPr>
          <a:xfrm>
            <a:off x="1245284" y="159213"/>
            <a:ext cx="12280371" cy="746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75" b="0" i="0" u="none" strike="noStrike" cap="none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4.EVALUATION METRICS</a:t>
            </a:r>
            <a:endParaRPr lang="en-US" sz="4375" b="0" i="0" u="none" strike="noStrike" cap="none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14" name="Google Shape;214;p8"/>
          <p:cNvSpPr/>
          <p:nvPr/>
        </p:nvSpPr>
        <p:spPr>
          <a:xfrm rot="5400000">
            <a:off x="-4712303" y="4665083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 extrusionOk="0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grpSp>
        <p:nvGrpSpPr>
          <p:cNvPr id="215" name="Google Shape;215;p8"/>
          <p:cNvGrpSpPr/>
          <p:nvPr/>
        </p:nvGrpSpPr>
        <p:grpSpPr>
          <a:xfrm>
            <a:off x="71886" y="0"/>
            <a:ext cx="956828" cy="10287009"/>
            <a:chOff x="0" y="-38100"/>
            <a:chExt cx="812800" cy="3001228"/>
          </a:xfrm>
        </p:grpSpPr>
        <p:sp>
          <p:nvSpPr>
            <p:cNvPr id="216" name="Google Shape;216;p8"/>
            <p:cNvSpPr/>
            <p:nvPr/>
          </p:nvSpPr>
          <p:spPr>
            <a:xfrm>
              <a:off x="0" y="0"/>
              <a:ext cx="812800" cy="2963128"/>
            </a:xfrm>
            <a:custGeom>
              <a:avLst/>
              <a:gdLst/>
              <a:ahLst/>
              <a:cxnLst/>
              <a:rect l="l" t="t" r="r" b="b"/>
              <a:pathLst>
                <a:path w="812800" h="2963128" extrusionOk="0">
                  <a:moveTo>
                    <a:pt x="0" y="0"/>
                  </a:moveTo>
                  <a:lnTo>
                    <a:pt x="812800" y="0"/>
                  </a:lnTo>
                  <a:lnTo>
                    <a:pt x="812800" y="2963128"/>
                  </a:lnTo>
                  <a:lnTo>
                    <a:pt x="0" y="2963128"/>
                  </a:ln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</p:sp>
        <p:sp>
          <p:nvSpPr>
            <p:cNvPr id="217" name="Google Shape;217;p8"/>
            <p:cNvSpPr txBox="1"/>
            <p:nvPr/>
          </p:nvSpPr>
          <p:spPr>
            <a:xfrm>
              <a:off x="0" y="-38100"/>
              <a:ext cx="812800" cy="300122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8" name="Google Shape;218;p8"/>
          <p:cNvSpPr txBox="1"/>
          <p:nvPr/>
        </p:nvSpPr>
        <p:spPr>
          <a:xfrm>
            <a:off x="4481501" y="2124629"/>
            <a:ext cx="8053893" cy="702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1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DRS (Decision Reliability Score)</a:t>
            </a:r>
            <a:endParaRPr lang="en-US" sz="4110" b="1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19" name="Google Shape;219;p8"/>
          <p:cNvSpPr txBox="1"/>
          <p:nvPr/>
        </p:nvSpPr>
        <p:spPr>
          <a:xfrm>
            <a:off x="4865645" y="3305183"/>
            <a:ext cx="7408466" cy="69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1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DSI (Decision Stability Index)</a:t>
            </a:r>
            <a:endParaRPr lang="en-US" sz="4110" b="1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20" name="Google Shape;220;p8"/>
          <p:cNvSpPr txBox="1"/>
          <p:nvPr/>
        </p:nvSpPr>
        <p:spPr>
          <a:xfrm>
            <a:off x="5576903" y="4491748"/>
            <a:ext cx="5985951" cy="702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1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HR (Hallucination Rate)</a:t>
            </a:r>
            <a:endParaRPr lang="en-US" sz="4110" b="1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21" name="Google Shape;221;p8"/>
          <p:cNvSpPr txBox="1"/>
          <p:nvPr/>
        </p:nvSpPr>
        <p:spPr>
          <a:xfrm>
            <a:off x="4481501" y="5681827"/>
            <a:ext cx="8176755" cy="702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1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SHR (Severe Hallucination Rate)</a:t>
            </a:r>
            <a:endParaRPr lang="en-US" sz="4110" b="1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5365324" y="6863225"/>
            <a:ext cx="7866900" cy="63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1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REM (Risk Exposure Metric)</a:t>
            </a:r>
            <a:endParaRPr lang="en-US" sz="4110" b="1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7526207" y="8001321"/>
            <a:ext cx="2371879" cy="7023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1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Accuracy</a:t>
            </a:r>
            <a:endParaRPr lang="en-US" sz="4110" b="1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/>
          <p:nvPr/>
        </p:nvSpPr>
        <p:spPr>
          <a:xfrm rot="5400000">
            <a:off x="-4712303" y="4665083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 extrusionOk="0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grpSp>
        <p:nvGrpSpPr>
          <p:cNvPr id="229" name="Google Shape;229;p9"/>
          <p:cNvGrpSpPr/>
          <p:nvPr/>
        </p:nvGrpSpPr>
        <p:grpSpPr>
          <a:xfrm>
            <a:off x="1028700" y="151"/>
            <a:ext cx="17048232" cy="10286919"/>
            <a:chOff x="0" y="-38100"/>
            <a:chExt cx="4647321" cy="3084996"/>
          </a:xfrm>
        </p:grpSpPr>
        <p:sp>
          <p:nvSpPr>
            <p:cNvPr id="230" name="Google Shape;230;p9"/>
            <p:cNvSpPr/>
            <p:nvPr/>
          </p:nvSpPr>
          <p:spPr>
            <a:xfrm>
              <a:off x="0" y="0"/>
              <a:ext cx="4647321" cy="3046896"/>
            </a:xfrm>
            <a:custGeom>
              <a:avLst/>
              <a:gdLst/>
              <a:ahLst/>
              <a:cxnLst/>
              <a:rect l="l" t="t" r="r" b="b"/>
              <a:pathLst>
                <a:path w="4647321" h="3046896" extrusionOk="0">
                  <a:moveTo>
                    <a:pt x="0" y="0"/>
                  </a:moveTo>
                  <a:lnTo>
                    <a:pt x="4647321" y="0"/>
                  </a:lnTo>
                  <a:lnTo>
                    <a:pt x="4647321" y="3046896"/>
                  </a:lnTo>
                  <a:lnTo>
                    <a:pt x="0" y="30468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31" name="Google Shape;231;p9"/>
            <p:cNvSpPr txBox="1"/>
            <p:nvPr/>
          </p:nvSpPr>
          <p:spPr>
            <a:xfrm>
              <a:off x="0" y="-38100"/>
              <a:ext cx="4647321" cy="308499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2" name="Google Shape;232;p9"/>
          <p:cNvSpPr txBox="1"/>
          <p:nvPr/>
        </p:nvSpPr>
        <p:spPr>
          <a:xfrm>
            <a:off x="1535239" y="1792268"/>
            <a:ext cx="15217522" cy="783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75" b="1" i="1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Sampling: </a:t>
            </a:r>
            <a:r>
              <a:rPr lang="en-US" sz="29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Utilize the existing 10,000 saSampling</a:t>
            </a:r>
            <a:endParaRPr lang="en-US" sz="29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641985" marR="0" lvl="1" indent="-32131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74"/>
              <a:buFont typeface="Arial" panose="020B0604020202090204"/>
              <a:buChar char="•"/>
            </a:pPr>
            <a:r>
              <a:rPr lang="en-US" sz="29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Generate multiple reasoning paths per problem (e.g., 10–100 samples)</a:t>
            </a:r>
            <a:endParaRPr lang="en-US" sz="29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Feature Extraction</a:t>
            </a:r>
            <a:endParaRPr lang="en-US" sz="29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641985" marR="0" lvl="1" indent="-32131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74"/>
              <a:buFont typeface="Arial" panose="020B0604020202090204"/>
              <a:buChar char="•"/>
            </a:pPr>
            <a:r>
              <a:rPr lang="en-US" sz="29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Extract structural &amp; reasoning signals:</a:t>
            </a:r>
            <a:endParaRPr lang="en-US" sz="29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1284605" marR="0" lvl="2" indent="-42799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74"/>
              <a:buFont typeface="Arial" panose="020B0604020202090204"/>
              <a:buChar char="⚬"/>
            </a:pPr>
            <a:r>
              <a:rPr lang="en-US" sz="29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Length / token usage</a:t>
            </a:r>
            <a:endParaRPr lang="en-US" sz="29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1284605" marR="0" lvl="2" indent="-42799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74"/>
              <a:buFont typeface="Arial" panose="020B0604020202090204"/>
              <a:buChar char="⚬"/>
            </a:pPr>
            <a:r>
              <a:rPr lang="en-US" sz="29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Keyword / step density</a:t>
            </a:r>
            <a:endParaRPr lang="en-US" sz="29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1284605" marR="0" lvl="2" indent="-42799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74"/>
              <a:buFont typeface="Arial" panose="020B0604020202090204"/>
              <a:buChar char="⚬"/>
            </a:pPr>
            <a:r>
              <a:rPr lang="en-US" sz="29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DRS (Reasoning Score)</a:t>
            </a:r>
            <a:endParaRPr lang="en-US" sz="29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1284605" marR="0" lvl="2" indent="-42799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74"/>
              <a:buFont typeface="Arial" panose="020B0604020202090204"/>
              <a:buChar char="⚬"/>
            </a:pPr>
            <a:r>
              <a:rPr lang="en-US" sz="29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DSI (Consistency Score)</a:t>
            </a:r>
            <a:endParaRPr lang="en-US" sz="29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Candidate Pool</a:t>
            </a:r>
            <a:endParaRPr lang="en-US" sz="29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641985" marR="0" lvl="1" indent="-32131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74"/>
              <a:buFont typeface="Arial" panose="020B0604020202090204"/>
              <a:buChar char="•"/>
            </a:pPr>
            <a:r>
              <a:rPr lang="en-US" sz="29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All generated responses form a diverse reasoning set</a:t>
            </a:r>
            <a:endParaRPr lang="en-US" sz="29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Selection Strategies</a:t>
            </a:r>
            <a:endParaRPr lang="en-US" sz="29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641985" marR="0" lvl="1" indent="-32131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74"/>
              <a:buFont typeface="Arial" panose="020B0604020202090204"/>
              <a:buChar char="•"/>
            </a:pPr>
            <a:r>
              <a:rPr lang="en-US" sz="29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Raw: Use single output (baseline)</a:t>
            </a:r>
            <a:endParaRPr lang="en-US" sz="29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641985" marR="0" lvl="1" indent="-32131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74"/>
              <a:buFont typeface="Arial" panose="020B0604020202090204"/>
              <a:buChar char="•"/>
            </a:pPr>
            <a:r>
              <a:rPr lang="en-US" sz="29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Majority Voting: Select most frequent answer</a:t>
            </a:r>
            <a:endParaRPr lang="en-US" sz="29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641985" marR="0" lvl="1" indent="-32131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74"/>
              <a:buFont typeface="Arial" panose="020B0604020202090204"/>
              <a:buChar char="•"/>
            </a:pPr>
            <a:r>
              <a:rPr lang="en-US" sz="29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Verifier-Based: Rank and select best reasoning path</a:t>
            </a:r>
            <a:endParaRPr lang="en-US" sz="29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75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mples per problem.</a:t>
            </a:r>
            <a:endParaRPr lang="en-US" sz="2975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766568" y="112944"/>
            <a:ext cx="134454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5.</a:t>
            </a:r>
            <a:r>
              <a:rPr lang="en-US" sz="4375" b="0" i="0" u="none" strike="noStrike" cap="none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SYSTEM ARCHITECTURE &amp; METHODOLOGY</a:t>
            </a:r>
            <a:endParaRPr lang="en-US" sz="4375" b="0" i="0" u="none" strike="noStrike" cap="none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234" name="Google Shape;234;p9"/>
          <p:cNvGrpSpPr/>
          <p:nvPr/>
        </p:nvGrpSpPr>
        <p:grpSpPr>
          <a:xfrm>
            <a:off x="1152083" y="1002475"/>
            <a:ext cx="16214937" cy="8940925"/>
            <a:chOff x="0" y="-38100"/>
            <a:chExt cx="4270601" cy="2354812"/>
          </a:xfrm>
        </p:grpSpPr>
        <p:sp>
          <p:nvSpPr>
            <p:cNvPr id="235" name="Google Shape;235;p9"/>
            <p:cNvSpPr/>
            <p:nvPr/>
          </p:nvSpPr>
          <p:spPr>
            <a:xfrm>
              <a:off x="0" y="0"/>
              <a:ext cx="4270601" cy="2316711"/>
            </a:xfrm>
            <a:custGeom>
              <a:avLst/>
              <a:gdLst/>
              <a:ahLst/>
              <a:cxnLst/>
              <a:rect l="l" t="t" r="r" b="b"/>
              <a:pathLst>
                <a:path w="4270601" h="2316711" extrusionOk="0">
                  <a:moveTo>
                    <a:pt x="27692" y="0"/>
                  </a:moveTo>
                  <a:lnTo>
                    <a:pt x="4242908" y="0"/>
                  </a:lnTo>
                  <a:cubicBezTo>
                    <a:pt x="4250253" y="0"/>
                    <a:pt x="4257297" y="2918"/>
                    <a:pt x="4262490" y="8111"/>
                  </a:cubicBezTo>
                  <a:cubicBezTo>
                    <a:pt x="4267683" y="13304"/>
                    <a:pt x="4270601" y="20348"/>
                    <a:pt x="4270601" y="27692"/>
                  </a:cubicBezTo>
                  <a:lnTo>
                    <a:pt x="4270601" y="2289019"/>
                  </a:lnTo>
                  <a:cubicBezTo>
                    <a:pt x="4270601" y="2304313"/>
                    <a:pt x="4258202" y="2316711"/>
                    <a:pt x="4242908" y="2316711"/>
                  </a:cubicBezTo>
                  <a:lnTo>
                    <a:pt x="27692" y="2316711"/>
                  </a:lnTo>
                  <a:cubicBezTo>
                    <a:pt x="12398" y="2316711"/>
                    <a:pt x="0" y="2304313"/>
                    <a:pt x="0" y="2289019"/>
                  </a:cubicBezTo>
                  <a:lnTo>
                    <a:pt x="0" y="27692"/>
                  </a:lnTo>
                  <a:cubicBezTo>
                    <a:pt x="0" y="12398"/>
                    <a:pt x="12398" y="0"/>
                    <a:pt x="27692" y="0"/>
                  </a:cubicBez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6" name="Google Shape;236;p9"/>
            <p:cNvSpPr txBox="1"/>
            <p:nvPr/>
          </p:nvSpPr>
          <p:spPr>
            <a:xfrm>
              <a:off x="0" y="-38100"/>
              <a:ext cx="4270601" cy="23548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9"/>
          <p:cNvGrpSpPr/>
          <p:nvPr/>
        </p:nvGrpSpPr>
        <p:grpSpPr>
          <a:xfrm>
            <a:off x="1333494" y="7407572"/>
            <a:ext cx="15647651" cy="2224408"/>
            <a:chOff x="0" y="-38100"/>
            <a:chExt cx="2442188" cy="347172"/>
          </a:xfrm>
        </p:grpSpPr>
        <p:sp>
          <p:nvSpPr>
            <p:cNvPr id="238" name="Google Shape;238;p9"/>
            <p:cNvSpPr/>
            <p:nvPr/>
          </p:nvSpPr>
          <p:spPr>
            <a:xfrm>
              <a:off x="0" y="0"/>
              <a:ext cx="2442188" cy="309072"/>
            </a:xfrm>
            <a:custGeom>
              <a:avLst/>
              <a:gdLst/>
              <a:ahLst/>
              <a:cxnLst/>
              <a:rect l="l" t="t" r="r" b="b"/>
              <a:pathLst>
                <a:path w="2442188" h="309072" extrusionOk="0">
                  <a:moveTo>
                    <a:pt x="23254" y="0"/>
                  </a:moveTo>
                  <a:lnTo>
                    <a:pt x="2418934" y="0"/>
                  </a:lnTo>
                  <a:cubicBezTo>
                    <a:pt x="2431777" y="0"/>
                    <a:pt x="2442188" y="10411"/>
                    <a:pt x="2442188" y="23254"/>
                  </a:cubicBezTo>
                  <a:lnTo>
                    <a:pt x="2442188" y="285818"/>
                  </a:lnTo>
                  <a:cubicBezTo>
                    <a:pt x="2442188" y="298661"/>
                    <a:pt x="2431777" y="309072"/>
                    <a:pt x="2418934" y="309072"/>
                  </a:cubicBezTo>
                  <a:lnTo>
                    <a:pt x="23254" y="309072"/>
                  </a:lnTo>
                  <a:cubicBezTo>
                    <a:pt x="10411" y="309072"/>
                    <a:pt x="0" y="298661"/>
                    <a:pt x="0" y="285818"/>
                  </a:cubicBezTo>
                  <a:lnTo>
                    <a:pt x="0" y="23254"/>
                  </a:lnTo>
                  <a:cubicBezTo>
                    <a:pt x="0" y="10411"/>
                    <a:pt x="10411" y="0"/>
                    <a:pt x="232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39" name="Google Shape;239;p9"/>
            <p:cNvSpPr txBox="1"/>
            <p:nvPr/>
          </p:nvSpPr>
          <p:spPr>
            <a:xfrm>
              <a:off x="0" y="-38100"/>
              <a:ext cx="2442188" cy="3471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0" name="Google Shape;240;p9"/>
          <p:cNvSpPr txBox="1"/>
          <p:nvPr/>
        </p:nvSpPr>
        <p:spPr>
          <a:xfrm>
            <a:off x="1535250" y="1346925"/>
            <a:ext cx="16541700" cy="862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0" b="1" i="1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Sampling: </a:t>
            </a:r>
            <a:r>
              <a:rPr lang="en-US" sz="269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Utilize the existing 200,000 Sampling</a:t>
            </a:r>
            <a:endParaRPr sz="800"/>
          </a:p>
          <a:p>
            <a:pPr marL="710565" marR="0" lvl="1" indent="-31686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90"/>
              <a:buFont typeface="Arial" panose="020B0604020202090204"/>
              <a:buChar char="•"/>
            </a:pPr>
            <a:r>
              <a:rPr lang="en-US" sz="269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Generate multiple reasoning paths per problem (e.g., 50–100 questions)</a:t>
            </a:r>
            <a:endParaRPr sz="8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0" b="1" i="1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Feature Extraction:</a:t>
            </a:r>
            <a:endParaRPr sz="800"/>
          </a:p>
          <a:p>
            <a:pPr marL="710565" marR="0" lvl="1" indent="-31686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90"/>
              <a:buFont typeface="Arial" panose="020B0604020202090204"/>
              <a:buChar char="•"/>
            </a:pPr>
            <a:r>
              <a:rPr lang="en-US" sz="269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Extract structural &amp; reasoning signals:</a:t>
            </a:r>
            <a:endParaRPr sz="800"/>
          </a:p>
          <a:p>
            <a:pPr marL="1420495" marR="0" lvl="2" indent="-43561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90"/>
              <a:buFont typeface="Arial" panose="020B0604020202090204"/>
              <a:buChar char="⚬"/>
            </a:pPr>
            <a:r>
              <a:rPr lang="en-US" sz="269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Length / token usage</a:t>
            </a:r>
            <a:endParaRPr sz="800"/>
          </a:p>
          <a:p>
            <a:pPr marL="1420495" marR="0" lvl="2" indent="-43561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90"/>
              <a:buFont typeface="Arial" panose="020B0604020202090204"/>
              <a:buChar char="⚬"/>
            </a:pPr>
            <a:r>
              <a:rPr lang="en-US" sz="269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Keyword / step density</a:t>
            </a:r>
            <a:endParaRPr sz="800"/>
          </a:p>
          <a:p>
            <a:pPr marL="1420495" marR="0" lvl="2" indent="-43561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90"/>
              <a:buFont typeface="Arial" panose="020B0604020202090204"/>
              <a:buChar char="⚬"/>
            </a:pPr>
            <a:r>
              <a:rPr lang="en-US" sz="269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DRS (Reasoning Score)</a:t>
            </a:r>
            <a:endParaRPr sz="800"/>
          </a:p>
          <a:p>
            <a:pPr marL="1420495" marR="0" lvl="2" indent="-43561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90"/>
              <a:buFont typeface="Arial" panose="020B0604020202090204"/>
              <a:buChar char="⚬"/>
            </a:pPr>
            <a:r>
              <a:rPr lang="en-US" sz="269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DSI (Consistency Score)</a:t>
            </a:r>
            <a:endParaRPr sz="8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Candidate Pool</a:t>
            </a:r>
            <a:endParaRPr sz="800"/>
          </a:p>
          <a:p>
            <a:pPr marL="710565" marR="0" lvl="1" indent="-31686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90"/>
              <a:buFont typeface="Arial" panose="020B0604020202090204"/>
              <a:buChar char="•"/>
            </a:pPr>
            <a:r>
              <a:rPr lang="en-US" sz="269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All generated responses form a diverse reasoning set</a:t>
            </a:r>
            <a:endParaRPr sz="8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0" b="1" i="1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Selection Strategies:</a:t>
            </a:r>
            <a:endParaRPr sz="8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0" b="1" i="0" u="none" strike="noStrike" cap="none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Raw: Use single output (baseline)</a:t>
            </a:r>
            <a:endParaRPr sz="8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0" b="1" i="0" u="none" strike="noStrike" cap="none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Majority Voting: Select most frequent answer</a:t>
            </a:r>
            <a:endParaRPr sz="8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90" b="1" i="0" u="none" strike="noStrike" cap="none">
                <a:solidFill>
                  <a:srgbClr val="000000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Verifier-Based: Rank and select best reasoning path samples per problem.</a:t>
            </a:r>
            <a:endParaRPr sz="8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90" b="1" i="0" u="none" strike="noStrike" cap="none">
              <a:solidFill>
                <a:srgbClr val="000000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"/>
          <p:cNvSpPr/>
          <p:nvPr/>
        </p:nvSpPr>
        <p:spPr>
          <a:xfrm>
            <a:off x="1180929" y="154229"/>
            <a:ext cx="15695882" cy="10024811"/>
          </a:xfrm>
          <a:custGeom>
            <a:avLst/>
            <a:gdLst/>
            <a:ahLst/>
            <a:cxnLst/>
            <a:rect l="l" t="t" r="r" b="b"/>
            <a:pathLst>
              <a:path w="15695882" h="10024811" extrusionOk="0">
                <a:moveTo>
                  <a:pt x="0" y="0"/>
                </a:moveTo>
                <a:lnTo>
                  <a:pt x="15695883" y="0"/>
                </a:lnTo>
                <a:lnTo>
                  <a:pt x="15695883" y="10024811"/>
                </a:lnTo>
                <a:lnTo>
                  <a:pt x="0" y="100248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 l="-26818" t="-4913" r="-26759" b="-30345"/>
            </a:stretch>
          </a:blipFill>
          <a:ln w="19050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1"/>
          <p:cNvSpPr/>
          <p:nvPr/>
        </p:nvSpPr>
        <p:spPr>
          <a:xfrm rot="5400000">
            <a:off x="-4233886" y="5179531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 extrusionOk="0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grpSp>
        <p:nvGrpSpPr>
          <p:cNvPr id="251" name="Google Shape;251;p11"/>
          <p:cNvGrpSpPr/>
          <p:nvPr/>
        </p:nvGrpSpPr>
        <p:grpSpPr>
          <a:xfrm>
            <a:off x="1028700" y="-60101"/>
            <a:ext cx="17259140" cy="10202494"/>
            <a:chOff x="0" y="-38100"/>
            <a:chExt cx="4667029" cy="2872890"/>
          </a:xfrm>
        </p:grpSpPr>
        <p:sp>
          <p:nvSpPr>
            <p:cNvPr id="252" name="Google Shape;252;p11"/>
            <p:cNvSpPr/>
            <p:nvPr/>
          </p:nvSpPr>
          <p:spPr>
            <a:xfrm>
              <a:off x="0" y="0"/>
              <a:ext cx="4667029" cy="2834790"/>
            </a:xfrm>
            <a:custGeom>
              <a:avLst/>
              <a:gdLst/>
              <a:ahLst/>
              <a:cxnLst/>
              <a:rect l="l" t="t" r="r" b="b"/>
              <a:pathLst>
                <a:path w="4667029" h="2834790" extrusionOk="0">
                  <a:moveTo>
                    <a:pt x="0" y="0"/>
                  </a:moveTo>
                  <a:lnTo>
                    <a:pt x="4667029" y="0"/>
                  </a:lnTo>
                  <a:lnTo>
                    <a:pt x="4667029" y="2834790"/>
                  </a:lnTo>
                  <a:lnTo>
                    <a:pt x="0" y="28347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53" name="Google Shape;253;p11"/>
            <p:cNvSpPr txBox="1"/>
            <p:nvPr/>
          </p:nvSpPr>
          <p:spPr>
            <a:xfrm>
              <a:off x="0" y="-38100"/>
              <a:ext cx="4667029" cy="2872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11"/>
          <p:cNvGrpSpPr/>
          <p:nvPr/>
        </p:nvGrpSpPr>
        <p:grpSpPr>
          <a:xfrm>
            <a:off x="1337465" y="439757"/>
            <a:ext cx="15501517" cy="9689534"/>
            <a:chOff x="0" y="-38100"/>
            <a:chExt cx="2419380" cy="1512282"/>
          </a:xfrm>
        </p:grpSpPr>
        <p:sp>
          <p:nvSpPr>
            <p:cNvPr id="255" name="Google Shape;255;p11"/>
            <p:cNvSpPr/>
            <p:nvPr/>
          </p:nvSpPr>
          <p:spPr>
            <a:xfrm>
              <a:off x="0" y="0"/>
              <a:ext cx="2419380" cy="1474182"/>
            </a:xfrm>
            <a:custGeom>
              <a:avLst/>
              <a:gdLst/>
              <a:ahLst/>
              <a:cxnLst/>
              <a:rect l="l" t="t" r="r" b="b"/>
              <a:pathLst>
                <a:path w="2419380" h="1474182" extrusionOk="0">
                  <a:moveTo>
                    <a:pt x="23473" y="0"/>
                  </a:moveTo>
                  <a:lnTo>
                    <a:pt x="2395907" y="0"/>
                  </a:lnTo>
                  <a:cubicBezTo>
                    <a:pt x="2408871" y="0"/>
                    <a:pt x="2419380" y="10509"/>
                    <a:pt x="2419380" y="23473"/>
                  </a:cubicBezTo>
                  <a:lnTo>
                    <a:pt x="2419380" y="1450709"/>
                  </a:lnTo>
                  <a:cubicBezTo>
                    <a:pt x="2419380" y="1463673"/>
                    <a:pt x="2408871" y="1474182"/>
                    <a:pt x="2395907" y="1474182"/>
                  </a:cubicBezTo>
                  <a:lnTo>
                    <a:pt x="23473" y="1474182"/>
                  </a:lnTo>
                  <a:cubicBezTo>
                    <a:pt x="17248" y="1474182"/>
                    <a:pt x="11277" y="1471709"/>
                    <a:pt x="6875" y="1467307"/>
                  </a:cubicBezTo>
                  <a:cubicBezTo>
                    <a:pt x="2473" y="1462905"/>
                    <a:pt x="0" y="1456934"/>
                    <a:pt x="0" y="1450709"/>
                  </a:cubicBezTo>
                  <a:lnTo>
                    <a:pt x="0" y="23473"/>
                  </a:lnTo>
                  <a:cubicBezTo>
                    <a:pt x="0" y="10509"/>
                    <a:pt x="10509" y="0"/>
                    <a:pt x="23473" y="0"/>
                  </a:cubicBez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56" name="Google Shape;256;p11"/>
            <p:cNvSpPr txBox="1"/>
            <p:nvPr/>
          </p:nvSpPr>
          <p:spPr>
            <a:xfrm>
              <a:off x="0" y="-38100"/>
              <a:ext cx="2419380" cy="151228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7" name="Google Shape;257;p11"/>
          <p:cNvSpPr txBox="1"/>
          <p:nvPr/>
        </p:nvSpPr>
        <p:spPr>
          <a:xfrm>
            <a:off x="1337465" y="132405"/>
            <a:ext cx="9192285" cy="551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75" b="0" i="0" u="none" strike="noStrike" cap="none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VERIFIER-BASED SELECTION</a:t>
            </a:r>
            <a:endParaRPr lang="en-US" sz="3275" b="0" i="0" u="none" strike="noStrike" cap="none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258" name="Google Shape;258;p11"/>
          <p:cNvGrpSpPr/>
          <p:nvPr/>
        </p:nvGrpSpPr>
        <p:grpSpPr>
          <a:xfrm>
            <a:off x="1734159" y="7495812"/>
            <a:ext cx="8398898" cy="2535829"/>
            <a:chOff x="0" y="-38100"/>
            <a:chExt cx="1310848" cy="395776"/>
          </a:xfrm>
        </p:grpSpPr>
        <p:sp>
          <p:nvSpPr>
            <p:cNvPr id="259" name="Google Shape;259;p11"/>
            <p:cNvSpPr/>
            <p:nvPr/>
          </p:nvSpPr>
          <p:spPr>
            <a:xfrm>
              <a:off x="0" y="0"/>
              <a:ext cx="1310848" cy="357676"/>
            </a:xfrm>
            <a:custGeom>
              <a:avLst/>
              <a:gdLst/>
              <a:ahLst/>
              <a:cxnLst/>
              <a:rect l="l" t="t" r="r" b="b"/>
              <a:pathLst>
                <a:path w="1310848" h="357676" extrusionOk="0">
                  <a:moveTo>
                    <a:pt x="43324" y="0"/>
                  </a:moveTo>
                  <a:lnTo>
                    <a:pt x="1267524" y="0"/>
                  </a:lnTo>
                  <a:cubicBezTo>
                    <a:pt x="1279014" y="0"/>
                    <a:pt x="1290034" y="4564"/>
                    <a:pt x="1298159" y="12689"/>
                  </a:cubicBezTo>
                  <a:cubicBezTo>
                    <a:pt x="1306283" y="20814"/>
                    <a:pt x="1310848" y="31833"/>
                    <a:pt x="1310848" y="43324"/>
                  </a:cubicBezTo>
                  <a:lnTo>
                    <a:pt x="1310848" y="314353"/>
                  </a:lnTo>
                  <a:cubicBezTo>
                    <a:pt x="1310848" y="325843"/>
                    <a:pt x="1306283" y="336862"/>
                    <a:pt x="1298159" y="344987"/>
                  </a:cubicBezTo>
                  <a:cubicBezTo>
                    <a:pt x="1290034" y="353112"/>
                    <a:pt x="1279014" y="357676"/>
                    <a:pt x="1267524" y="357676"/>
                  </a:cubicBezTo>
                  <a:lnTo>
                    <a:pt x="43324" y="357676"/>
                  </a:lnTo>
                  <a:cubicBezTo>
                    <a:pt x="19397" y="357676"/>
                    <a:pt x="0" y="338280"/>
                    <a:pt x="0" y="314353"/>
                  </a:cubicBezTo>
                  <a:lnTo>
                    <a:pt x="0" y="43324"/>
                  </a:lnTo>
                  <a:cubicBezTo>
                    <a:pt x="0" y="31833"/>
                    <a:pt x="4564" y="20814"/>
                    <a:pt x="12689" y="12689"/>
                  </a:cubicBezTo>
                  <a:cubicBezTo>
                    <a:pt x="20814" y="4564"/>
                    <a:pt x="31833" y="0"/>
                    <a:pt x="433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60" name="Google Shape;260;p11"/>
            <p:cNvSpPr txBox="1"/>
            <p:nvPr/>
          </p:nvSpPr>
          <p:spPr>
            <a:xfrm>
              <a:off x="0" y="-38100"/>
              <a:ext cx="1310848" cy="3957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1" name="Google Shape;261;p11"/>
          <p:cNvSpPr txBox="1"/>
          <p:nvPr/>
        </p:nvSpPr>
        <p:spPr>
          <a:xfrm>
            <a:off x="1892700" y="723850"/>
            <a:ext cx="13791600" cy="102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Core Idea</a:t>
            </a:r>
            <a:endParaRPr sz="800"/>
          </a:p>
          <a:p>
            <a:pPr marL="716915" marR="0" lvl="1" indent="-32067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21"/>
              <a:buFont typeface="Arial" panose="020B0604020202090204"/>
              <a:buChar char="•"/>
            </a:pPr>
            <a:r>
              <a:rPr lang="en-US" sz="272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Train a lightweight model as a Verifier</a:t>
            </a:r>
            <a:endParaRPr sz="800"/>
          </a:p>
          <a:p>
            <a:pPr marL="716915" marR="0" lvl="1" indent="-32067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21"/>
              <a:buFont typeface="Arial" panose="020B0604020202090204"/>
              <a:buChar char="•"/>
            </a:pPr>
            <a:r>
              <a:rPr lang="en-US" sz="272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Input: reasoning trace</a:t>
            </a:r>
            <a:endParaRPr sz="800"/>
          </a:p>
          <a:p>
            <a:pPr marL="716915" marR="0" lvl="1" indent="-32067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21"/>
              <a:buFont typeface="Arial" panose="020B0604020202090204"/>
              <a:buChar char="•"/>
            </a:pPr>
            <a:r>
              <a:rPr lang="en-US" sz="272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Output: Correctness / reliability score</a:t>
            </a:r>
            <a:endParaRPr sz="8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How It Works</a:t>
            </a:r>
            <a:endParaRPr sz="800"/>
          </a:p>
          <a:p>
            <a:pPr marL="716915" marR="0" lvl="1" indent="-32067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21"/>
              <a:buFont typeface="Arial" panose="020B0604020202090204"/>
              <a:buAutoNum type="arabicPeriod"/>
            </a:pPr>
            <a:r>
              <a:rPr lang="en-US" sz="272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Score all candidate reasoning paths</a:t>
            </a:r>
            <a:endParaRPr sz="800"/>
          </a:p>
          <a:p>
            <a:pPr marL="716915" marR="0" lvl="1" indent="-32067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21"/>
              <a:buFont typeface="Arial" panose="020B0604020202090204"/>
              <a:buAutoNum type="arabicPeriod"/>
            </a:pPr>
            <a:r>
              <a:rPr lang="en-US" sz="272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Rank based on verifier confidence</a:t>
            </a:r>
            <a:endParaRPr sz="800"/>
          </a:p>
          <a:p>
            <a:pPr marL="716915" marR="0" lvl="1" indent="-32067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21"/>
              <a:buFont typeface="Arial" panose="020B0604020202090204"/>
              <a:buAutoNum type="arabicPeriod"/>
            </a:pPr>
            <a:r>
              <a:rPr lang="en-US" sz="272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Select Top-1 highest scored output</a:t>
            </a:r>
            <a:endParaRPr sz="8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Why It Matters</a:t>
            </a:r>
            <a:endParaRPr sz="800"/>
          </a:p>
          <a:p>
            <a:pPr marL="716915" marR="0" lvl="1" indent="-32067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21"/>
              <a:buFont typeface="Arial" panose="020B0604020202090204"/>
              <a:buChar char="•"/>
            </a:pPr>
            <a:r>
              <a:rPr lang="en-US" sz="272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Filters out incorrect but confident reasoning</a:t>
            </a:r>
            <a:endParaRPr sz="800"/>
          </a:p>
          <a:p>
            <a:pPr marL="716915" marR="0" lvl="1" indent="-32067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21"/>
              <a:buFont typeface="Arial" panose="020B0604020202090204"/>
              <a:buChar char="•"/>
            </a:pPr>
            <a:r>
              <a:rPr lang="en-US" sz="272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Moves beyond answer frequency → focuses on reasoning quality</a:t>
            </a:r>
            <a:endParaRPr sz="8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0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Key Advantages</a:t>
            </a:r>
            <a:endParaRPr sz="8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0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↓ Hallucination Rate (HR)</a:t>
            </a:r>
            <a:endParaRPr sz="8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0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↓ Severe Hallucination Rate (SHR)</a:t>
            </a:r>
            <a:endParaRPr sz="8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0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↓ Risk Exposure (REM)</a:t>
            </a:r>
            <a:endParaRPr sz="800"/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20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↑ Reliability of final predictions</a:t>
            </a:r>
            <a:endParaRPr sz="800"/>
          </a:p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20" b="1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720" b="1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"/>
          <p:cNvSpPr/>
          <p:nvPr/>
        </p:nvSpPr>
        <p:spPr>
          <a:xfrm rot="5400000">
            <a:off x="-4712303" y="4665083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 extrusionOk="0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grpSp>
        <p:nvGrpSpPr>
          <p:cNvPr id="267" name="Google Shape;267;p12"/>
          <p:cNvGrpSpPr/>
          <p:nvPr/>
        </p:nvGrpSpPr>
        <p:grpSpPr>
          <a:xfrm>
            <a:off x="550283" y="-144661"/>
            <a:ext cx="17720127" cy="10908006"/>
            <a:chOff x="0" y="-38100"/>
            <a:chExt cx="4667029" cy="2872890"/>
          </a:xfrm>
        </p:grpSpPr>
        <p:sp>
          <p:nvSpPr>
            <p:cNvPr id="268" name="Google Shape;268;p12"/>
            <p:cNvSpPr/>
            <p:nvPr/>
          </p:nvSpPr>
          <p:spPr>
            <a:xfrm>
              <a:off x="0" y="0"/>
              <a:ext cx="4667029" cy="2834790"/>
            </a:xfrm>
            <a:custGeom>
              <a:avLst/>
              <a:gdLst/>
              <a:ahLst/>
              <a:cxnLst/>
              <a:rect l="l" t="t" r="r" b="b"/>
              <a:pathLst>
                <a:path w="4667029" h="2834790" extrusionOk="0">
                  <a:moveTo>
                    <a:pt x="0" y="0"/>
                  </a:moveTo>
                  <a:lnTo>
                    <a:pt x="4667029" y="0"/>
                  </a:lnTo>
                  <a:lnTo>
                    <a:pt x="4667029" y="2834790"/>
                  </a:lnTo>
                  <a:lnTo>
                    <a:pt x="0" y="28347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269" name="Google Shape;269;p12"/>
            <p:cNvSpPr txBox="1"/>
            <p:nvPr/>
          </p:nvSpPr>
          <p:spPr>
            <a:xfrm>
              <a:off x="0" y="-38100"/>
              <a:ext cx="4667029" cy="2872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0" name="Google Shape;270;p12"/>
          <p:cNvSpPr/>
          <p:nvPr/>
        </p:nvSpPr>
        <p:spPr>
          <a:xfrm>
            <a:off x="1199015" y="2395751"/>
            <a:ext cx="15415979" cy="2278635"/>
          </a:xfrm>
          <a:custGeom>
            <a:avLst/>
            <a:gdLst/>
            <a:ahLst/>
            <a:cxnLst/>
            <a:rect l="l" t="t" r="r" b="b"/>
            <a:pathLst>
              <a:path w="15415979" h="2278635" extrusionOk="0">
                <a:moveTo>
                  <a:pt x="0" y="0"/>
                </a:moveTo>
                <a:lnTo>
                  <a:pt x="15415979" y="0"/>
                </a:lnTo>
                <a:lnTo>
                  <a:pt x="15415979" y="2278635"/>
                </a:lnTo>
                <a:lnTo>
                  <a:pt x="0" y="22786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 r="-5343" b="-19376"/>
            </a:stretch>
          </a:blipFill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71" name="Google Shape;271;p12"/>
          <p:cNvSpPr txBox="1"/>
          <p:nvPr/>
        </p:nvSpPr>
        <p:spPr>
          <a:xfrm>
            <a:off x="782597" y="612785"/>
            <a:ext cx="134454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6. </a:t>
            </a:r>
            <a:r>
              <a:rPr lang="en-US" sz="4375" b="0" i="0" u="none" strike="noStrike" cap="none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EXPECTED OUTCOMES</a:t>
            </a:r>
            <a:endParaRPr lang="en-US" sz="4375" b="0" i="0" u="none" strike="noStrike" cap="none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3136641" y="4923403"/>
            <a:ext cx="10757516" cy="5122965"/>
          </a:xfrm>
          <a:custGeom>
            <a:avLst/>
            <a:gdLst/>
            <a:ahLst/>
            <a:cxnLst/>
            <a:rect l="l" t="t" r="r" b="b"/>
            <a:pathLst>
              <a:path w="10757516" h="5122965" extrusionOk="0">
                <a:moveTo>
                  <a:pt x="0" y="0"/>
                </a:moveTo>
                <a:lnTo>
                  <a:pt x="10757517" y="0"/>
                </a:lnTo>
                <a:lnTo>
                  <a:pt x="10757517" y="5122965"/>
                </a:lnTo>
                <a:lnTo>
                  <a:pt x="0" y="51229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 b="-4205"/>
            </a:stretch>
          </a:blipFill>
          <a:ln w="38100" cap="sq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73" name="Google Shape;273;p12"/>
          <p:cNvSpPr txBox="1"/>
          <p:nvPr/>
        </p:nvSpPr>
        <p:spPr>
          <a:xfrm>
            <a:off x="1199015" y="1759594"/>
            <a:ext cx="9091903" cy="494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60" b="0" i="0" u="none" strike="noStrike" cap="none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PREVIOUS OUTCOMES:</a:t>
            </a:r>
            <a:endParaRPr lang="en-US" sz="2960" b="0" i="0" u="none" strike="noStrike" cap="none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3"/>
          <p:cNvSpPr/>
          <p:nvPr/>
        </p:nvSpPr>
        <p:spPr>
          <a:xfrm>
            <a:off x="3836168" y="1152930"/>
            <a:ext cx="10615664" cy="2640646"/>
          </a:xfrm>
          <a:custGeom>
            <a:avLst/>
            <a:gdLst/>
            <a:ahLst/>
            <a:cxnLst/>
            <a:rect l="l" t="t" r="r" b="b"/>
            <a:pathLst>
              <a:path w="10615664" h="2640646" extrusionOk="0">
                <a:moveTo>
                  <a:pt x="0" y="0"/>
                </a:moveTo>
                <a:lnTo>
                  <a:pt x="10615664" y="0"/>
                </a:lnTo>
                <a:lnTo>
                  <a:pt x="10615664" y="2640646"/>
                </a:lnTo>
                <a:lnTo>
                  <a:pt x="0" y="26406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279" name="Google Shape;279;p13"/>
          <p:cNvSpPr/>
          <p:nvPr/>
        </p:nvSpPr>
        <p:spPr>
          <a:xfrm>
            <a:off x="239673" y="3937706"/>
            <a:ext cx="8505765" cy="4210354"/>
          </a:xfrm>
          <a:custGeom>
            <a:avLst/>
            <a:gdLst/>
            <a:ahLst/>
            <a:cxnLst/>
            <a:rect l="l" t="t" r="r" b="b"/>
            <a:pathLst>
              <a:path w="8505765" h="4210354" extrusionOk="0">
                <a:moveTo>
                  <a:pt x="0" y="0"/>
                </a:moveTo>
                <a:lnTo>
                  <a:pt x="8505764" y="0"/>
                </a:lnTo>
                <a:lnTo>
                  <a:pt x="8505764" y="4210353"/>
                </a:lnTo>
                <a:lnTo>
                  <a:pt x="0" y="4210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/>
            <a:stretch>
              <a:fillRect/>
            </a:stretch>
          </a:blipFill>
          <a:ln>
            <a:noFill/>
          </a:ln>
        </p:spPr>
      </p:sp>
      <p:sp>
        <p:nvSpPr>
          <p:cNvPr id="280" name="Google Shape;280;p13"/>
          <p:cNvSpPr/>
          <p:nvPr/>
        </p:nvSpPr>
        <p:spPr>
          <a:xfrm>
            <a:off x="9542563" y="3937706"/>
            <a:ext cx="8505765" cy="4210354"/>
          </a:xfrm>
          <a:custGeom>
            <a:avLst/>
            <a:gdLst/>
            <a:ahLst/>
            <a:cxnLst/>
            <a:rect l="l" t="t" r="r" b="b"/>
            <a:pathLst>
              <a:path w="8505765" h="4210354" extrusionOk="0">
                <a:moveTo>
                  <a:pt x="0" y="0"/>
                </a:moveTo>
                <a:lnTo>
                  <a:pt x="8505764" y="0"/>
                </a:lnTo>
                <a:lnTo>
                  <a:pt x="8505764" y="4210353"/>
                </a:lnTo>
                <a:lnTo>
                  <a:pt x="0" y="42103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/>
            <a:stretch>
              <a:fillRect/>
            </a:stretch>
          </a:blipFill>
          <a:ln>
            <a:noFill/>
          </a:ln>
        </p:spPr>
      </p:sp>
      <p:grpSp>
        <p:nvGrpSpPr>
          <p:cNvPr id="281" name="Google Shape;281;p13"/>
          <p:cNvGrpSpPr/>
          <p:nvPr/>
        </p:nvGrpSpPr>
        <p:grpSpPr>
          <a:xfrm>
            <a:off x="1235721" y="8094443"/>
            <a:ext cx="6448287" cy="1469141"/>
            <a:chOff x="0" y="-38100"/>
            <a:chExt cx="1006409" cy="229294"/>
          </a:xfrm>
        </p:grpSpPr>
        <p:sp>
          <p:nvSpPr>
            <p:cNvPr id="282" name="Google Shape;282;p13"/>
            <p:cNvSpPr/>
            <p:nvPr/>
          </p:nvSpPr>
          <p:spPr>
            <a:xfrm>
              <a:off x="0" y="0"/>
              <a:ext cx="1006409" cy="191194"/>
            </a:xfrm>
            <a:custGeom>
              <a:avLst/>
              <a:gdLst/>
              <a:ahLst/>
              <a:cxnLst/>
              <a:rect l="l" t="t" r="r" b="b"/>
              <a:pathLst>
                <a:path w="1006409" h="191194" extrusionOk="0">
                  <a:moveTo>
                    <a:pt x="56429" y="0"/>
                  </a:moveTo>
                  <a:lnTo>
                    <a:pt x="949980" y="0"/>
                  </a:lnTo>
                  <a:cubicBezTo>
                    <a:pt x="964945" y="0"/>
                    <a:pt x="979298" y="5945"/>
                    <a:pt x="989881" y="16528"/>
                  </a:cubicBezTo>
                  <a:cubicBezTo>
                    <a:pt x="1000463" y="27110"/>
                    <a:pt x="1006409" y="41463"/>
                    <a:pt x="1006409" y="56429"/>
                  </a:cubicBezTo>
                  <a:lnTo>
                    <a:pt x="1006409" y="134765"/>
                  </a:lnTo>
                  <a:cubicBezTo>
                    <a:pt x="1006409" y="149731"/>
                    <a:pt x="1000463" y="164084"/>
                    <a:pt x="989881" y="174667"/>
                  </a:cubicBezTo>
                  <a:cubicBezTo>
                    <a:pt x="979298" y="185249"/>
                    <a:pt x="964945" y="191194"/>
                    <a:pt x="949980" y="191194"/>
                  </a:cubicBezTo>
                  <a:lnTo>
                    <a:pt x="56429" y="191194"/>
                  </a:lnTo>
                  <a:cubicBezTo>
                    <a:pt x="41463" y="191194"/>
                    <a:pt x="27110" y="185249"/>
                    <a:pt x="16528" y="174667"/>
                  </a:cubicBezTo>
                  <a:cubicBezTo>
                    <a:pt x="5945" y="164084"/>
                    <a:pt x="0" y="149731"/>
                    <a:pt x="0" y="134765"/>
                  </a:cubicBezTo>
                  <a:lnTo>
                    <a:pt x="0" y="56429"/>
                  </a:lnTo>
                  <a:cubicBezTo>
                    <a:pt x="0" y="41463"/>
                    <a:pt x="5945" y="27110"/>
                    <a:pt x="16528" y="16528"/>
                  </a:cubicBezTo>
                  <a:cubicBezTo>
                    <a:pt x="27110" y="5945"/>
                    <a:pt x="41463" y="0"/>
                    <a:pt x="564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3" name="Google Shape;283;p13"/>
            <p:cNvSpPr txBox="1"/>
            <p:nvPr/>
          </p:nvSpPr>
          <p:spPr>
            <a:xfrm>
              <a:off x="0" y="-38100"/>
              <a:ext cx="1006409" cy="2292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4" name="Google Shape;284;p13"/>
          <p:cNvGrpSpPr/>
          <p:nvPr/>
        </p:nvGrpSpPr>
        <p:grpSpPr>
          <a:xfrm>
            <a:off x="10571301" y="8094443"/>
            <a:ext cx="6448287" cy="1469141"/>
            <a:chOff x="0" y="-38100"/>
            <a:chExt cx="1006409" cy="229294"/>
          </a:xfrm>
        </p:grpSpPr>
        <p:sp>
          <p:nvSpPr>
            <p:cNvPr id="285" name="Google Shape;285;p13"/>
            <p:cNvSpPr/>
            <p:nvPr/>
          </p:nvSpPr>
          <p:spPr>
            <a:xfrm>
              <a:off x="0" y="0"/>
              <a:ext cx="1006409" cy="191194"/>
            </a:xfrm>
            <a:custGeom>
              <a:avLst/>
              <a:gdLst/>
              <a:ahLst/>
              <a:cxnLst/>
              <a:rect l="l" t="t" r="r" b="b"/>
              <a:pathLst>
                <a:path w="1006409" h="191194" extrusionOk="0">
                  <a:moveTo>
                    <a:pt x="56429" y="0"/>
                  </a:moveTo>
                  <a:lnTo>
                    <a:pt x="949980" y="0"/>
                  </a:lnTo>
                  <a:cubicBezTo>
                    <a:pt x="964945" y="0"/>
                    <a:pt x="979298" y="5945"/>
                    <a:pt x="989881" y="16528"/>
                  </a:cubicBezTo>
                  <a:cubicBezTo>
                    <a:pt x="1000463" y="27110"/>
                    <a:pt x="1006409" y="41463"/>
                    <a:pt x="1006409" y="56429"/>
                  </a:cubicBezTo>
                  <a:lnTo>
                    <a:pt x="1006409" y="134765"/>
                  </a:lnTo>
                  <a:cubicBezTo>
                    <a:pt x="1006409" y="149731"/>
                    <a:pt x="1000463" y="164084"/>
                    <a:pt x="989881" y="174667"/>
                  </a:cubicBezTo>
                  <a:cubicBezTo>
                    <a:pt x="979298" y="185249"/>
                    <a:pt x="964945" y="191194"/>
                    <a:pt x="949980" y="191194"/>
                  </a:cubicBezTo>
                  <a:lnTo>
                    <a:pt x="56429" y="191194"/>
                  </a:lnTo>
                  <a:cubicBezTo>
                    <a:pt x="41463" y="191194"/>
                    <a:pt x="27110" y="185249"/>
                    <a:pt x="16528" y="174667"/>
                  </a:cubicBezTo>
                  <a:cubicBezTo>
                    <a:pt x="5945" y="164084"/>
                    <a:pt x="0" y="149731"/>
                    <a:pt x="0" y="134765"/>
                  </a:cubicBezTo>
                  <a:lnTo>
                    <a:pt x="0" y="56429"/>
                  </a:lnTo>
                  <a:cubicBezTo>
                    <a:pt x="0" y="41463"/>
                    <a:pt x="5945" y="27110"/>
                    <a:pt x="16528" y="16528"/>
                  </a:cubicBezTo>
                  <a:cubicBezTo>
                    <a:pt x="27110" y="5945"/>
                    <a:pt x="41463" y="0"/>
                    <a:pt x="564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86" name="Google Shape;286;p13"/>
            <p:cNvSpPr txBox="1"/>
            <p:nvPr/>
          </p:nvSpPr>
          <p:spPr>
            <a:xfrm>
              <a:off x="0" y="-38100"/>
              <a:ext cx="1006409" cy="2292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7" name="Google Shape;287;p13"/>
          <p:cNvSpPr txBox="1"/>
          <p:nvPr/>
        </p:nvSpPr>
        <p:spPr>
          <a:xfrm>
            <a:off x="3447102" y="8459899"/>
            <a:ext cx="1936849" cy="887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MATH</a:t>
            </a:r>
            <a:endParaRPr lang="en-US" sz="5200" b="1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288" name="Google Shape;288;p13"/>
          <p:cNvSpPr txBox="1"/>
          <p:nvPr/>
        </p:nvSpPr>
        <p:spPr>
          <a:xfrm>
            <a:off x="12622925" y="8459900"/>
            <a:ext cx="2644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GSM8K</a:t>
            </a:r>
            <a:endParaRPr lang="en-US" sz="5200" b="1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289" name="Google Shape;289;p13"/>
          <p:cNvGrpSpPr/>
          <p:nvPr/>
        </p:nvGrpSpPr>
        <p:grpSpPr>
          <a:xfrm>
            <a:off x="-310635" y="-269841"/>
            <a:ext cx="19217728" cy="1278641"/>
            <a:chOff x="0" y="-38100"/>
            <a:chExt cx="2999383" cy="199562"/>
          </a:xfrm>
        </p:grpSpPr>
        <p:sp>
          <p:nvSpPr>
            <p:cNvPr id="290" name="Google Shape;290;p13"/>
            <p:cNvSpPr/>
            <p:nvPr/>
          </p:nvSpPr>
          <p:spPr>
            <a:xfrm>
              <a:off x="0" y="0"/>
              <a:ext cx="2999383" cy="161462"/>
            </a:xfrm>
            <a:custGeom>
              <a:avLst/>
              <a:gdLst/>
              <a:ahLst/>
              <a:cxnLst/>
              <a:rect l="l" t="t" r="r" b="b"/>
              <a:pathLst>
                <a:path w="2999383" h="161462" extrusionOk="0">
                  <a:moveTo>
                    <a:pt x="18934" y="0"/>
                  </a:moveTo>
                  <a:lnTo>
                    <a:pt x="2980449" y="0"/>
                  </a:lnTo>
                  <a:cubicBezTo>
                    <a:pt x="2990906" y="0"/>
                    <a:pt x="2999383" y="8477"/>
                    <a:pt x="2999383" y="18934"/>
                  </a:cubicBezTo>
                  <a:lnTo>
                    <a:pt x="2999383" y="142528"/>
                  </a:lnTo>
                  <a:cubicBezTo>
                    <a:pt x="2999383" y="152985"/>
                    <a:pt x="2990906" y="161462"/>
                    <a:pt x="2980449" y="161462"/>
                  </a:cubicBezTo>
                  <a:lnTo>
                    <a:pt x="18934" y="161462"/>
                  </a:lnTo>
                  <a:cubicBezTo>
                    <a:pt x="8477" y="161462"/>
                    <a:pt x="0" y="152985"/>
                    <a:pt x="0" y="142528"/>
                  </a:cubicBezTo>
                  <a:lnTo>
                    <a:pt x="0" y="18934"/>
                  </a:lnTo>
                  <a:cubicBezTo>
                    <a:pt x="0" y="8477"/>
                    <a:pt x="8477" y="0"/>
                    <a:pt x="1893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91" name="Google Shape;291;p13"/>
            <p:cNvSpPr txBox="1"/>
            <p:nvPr/>
          </p:nvSpPr>
          <p:spPr>
            <a:xfrm>
              <a:off x="0" y="-38100"/>
              <a:ext cx="2999383" cy="19956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2" name="Google Shape;292;p13"/>
          <p:cNvSpPr txBox="1"/>
          <p:nvPr/>
        </p:nvSpPr>
        <p:spPr>
          <a:xfrm>
            <a:off x="348928" y="220633"/>
            <a:ext cx="9091903" cy="494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60" b="0" i="0" u="none" strike="noStrike" cap="none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UPDATED OUTCOMES:</a:t>
            </a:r>
            <a:endParaRPr lang="en-US" sz="2960" b="0" i="0" u="none" strike="noStrike" cap="none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4"/>
          <p:cNvSpPr txBox="1"/>
          <p:nvPr/>
        </p:nvSpPr>
        <p:spPr>
          <a:xfrm>
            <a:off x="0" y="1106811"/>
            <a:ext cx="17499808" cy="8516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88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798830" marR="0" lvl="1" indent="-39941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99"/>
              <a:buFont typeface="Arial" panose="020B0604020202090204"/>
              <a:buChar char="•"/>
            </a:pPr>
            <a:r>
              <a:rPr lang="en-US" sz="370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Observed Patterns: Majority voting shows strong consistency, while the verifier consistently enhances risk-sensitive metrics (HR, SHR, REM) and maintains competitive accuracy.</a:t>
            </a:r>
            <a:endParaRPr lang="en-US" sz="3700" b="1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798830" marR="0" lvl="1" indent="-39941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99"/>
              <a:buFont typeface="Arial" panose="020B0604020202090204"/>
              <a:buChar char="•"/>
            </a:pPr>
            <a:r>
              <a:rPr lang="en-US" sz="370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Strengths: Verifier-based selection prioritizes reasoning quality over frequency, leading to more reliable and safer predictions across datasets.</a:t>
            </a:r>
            <a:endParaRPr lang="en-US" sz="3700" b="1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798830" marR="0" lvl="1" indent="-39941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99"/>
              <a:buFont typeface="Arial" panose="020B0604020202090204"/>
              <a:buChar char="•"/>
            </a:pPr>
            <a:r>
              <a:rPr lang="en-US" sz="370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Adaptability: Performance trends across both MATH and GSM8K highlight the verifier’s ability to generalize across varying difficulty levels.</a:t>
            </a:r>
            <a:endParaRPr lang="en-US" sz="3700" b="1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798830" marR="0" lvl="1" indent="-39941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99"/>
              <a:buFont typeface="Arial" panose="020B0604020202090204"/>
              <a:buChar char="•"/>
            </a:pPr>
            <a:r>
              <a:rPr lang="en-US" sz="3700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Refinements: Model upgrades (DeBERTa), multi-dataset evaluation, and improved selection strategy contributed to overall system improvement.</a:t>
            </a:r>
            <a:endParaRPr lang="en-US" sz="3700" b="1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700" b="1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298" name="Google Shape;298;p14"/>
          <p:cNvGrpSpPr/>
          <p:nvPr/>
        </p:nvGrpSpPr>
        <p:grpSpPr>
          <a:xfrm>
            <a:off x="0" y="0"/>
            <a:ext cx="18099105" cy="935576"/>
            <a:chOff x="0" y="-38100"/>
            <a:chExt cx="3054856" cy="301507"/>
          </a:xfrm>
        </p:grpSpPr>
        <p:sp>
          <p:nvSpPr>
            <p:cNvPr id="299" name="Google Shape;299;p14"/>
            <p:cNvSpPr/>
            <p:nvPr/>
          </p:nvSpPr>
          <p:spPr>
            <a:xfrm>
              <a:off x="0" y="0"/>
              <a:ext cx="3054856" cy="263407"/>
            </a:xfrm>
            <a:custGeom>
              <a:avLst/>
              <a:gdLst/>
              <a:ahLst/>
              <a:cxnLst/>
              <a:rect l="l" t="t" r="r" b="b"/>
              <a:pathLst>
                <a:path w="3054856" h="263407" extrusionOk="0">
                  <a:moveTo>
                    <a:pt x="18590" y="0"/>
                  </a:moveTo>
                  <a:lnTo>
                    <a:pt x="3036266" y="0"/>
                  </a:lnTo>
                  <a:cubicBezTo>
                    <a:pt x="3041197" y="0"/>
                    <a:pt x="3045925" y="1959"/>
                    <a:pt x="3049411" y="5445"/>
                  </a:cubicBezTo>
                  <a:cubicBezTo>
                    <a:pt x="3052898" y="8931"/>
                    <a:pt x="3054856" y="13660"/>
                    <a:pt x="3054856" y="18590"/>
                  </a:cubicBezTo>
                  <a:lnTo>
                    <a:pt x="3054856" y="244817"/>
                  </a:lnTo>
                  <a:cubicBezTo>
                    <a:pt x="3054856" y="249748"/>
                    <a:pt x="3052898" y="254476"/>
                    <a:pt x="3049411" y="257962"/>
                  </a:cubicBezTo>
                  <a:cubicBezTo>
                    <a:pt x="3045925" y="261449"/>
                    <a:pt x="3041197" y="263407"/>
                    <a:pt x="3036266" y="263407"/>
                  </a:cubicBezTo>
                  <a:lnTo>
                    <a:pt x="18590" y="263407"/>
                  </a:lnTo>
                  <a:cubicBezTo>
                    <a:pt x="13660" y="263407"/>
                    <a:pt x="8931" y="261449"/>
                    <a:pt x="5445" y="257962"/>
                  </a:cubicBezTo>
                  <a:cubicBezTo>
                    <a:pt x="1959" y="254476"/>
                    <a:pt x="0" y="249748"/>
                    <a:pt x="0" y="244817"/>
                  </a:cubicBezTo>
                  <a:lnTo>
                    <a:pt x="0" y="18590"/>
                  </a:lnTo>
                  <a:cubicBezTo>
                    <a:pt x="0" y="13660"/>
                    <a:pt x="1959" y="8931"/>
                    <a:pt x="5445" y="5445"/>
                  </a:cubicBezTo>
                  <a:cubicBezTo>
                    <a:pt x="8931" y="1959"/>
                    <a:pt x="13660" y="0"/>
                    <a:pt x="185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00" name="Google Shape;300;p14"/>
            <p:cNvSpPr txBox="1"/>
            <p:nvPr/>
          </p:nvSpPr>
          <p:spPr>
            <a:xfrm>
              <a:off x="0" y="-38100"/>
              <a:ext cx="3054856" cy="3015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1" name="Google Shape;301;p14"/>
          <p:cNvSpPr txBox="1"/>
          <p:nvPr/>
        </p:nvSpPr>
        <p:spPr>
          <a:xfrm>
            <a:off x="0" y="100060"/>
            <a:ext cx="13773600" cy="67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60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7. </a:t>
            </a:r>
            <a:r>
              <a:rPr lang="en-US" sz="4360" b="0" i="0" u="none" strike="noStrike" cap="none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DISCUSSION</a:t>
            </a:r>
            <a:endParaRPr lang="en-US" sz="4360" b="0" i="0" u="none" strike="noStrike" cap="none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"/>
          <p:cNvSpPr/>
          <p:nvPr/>
        </p:nvSpPr>
        <p:spPr>
          <a:xfrm>
            <a:off x="1324023" y="1977757"/>
            <a:ext cx="14950606" cy="7811691"/>
          </a:xfrm>
          <a:custGeom>
            <a:avLst/>
            <a:gdLst/>
            <a:ahLst/>
            <a:cxnLst/>
            <a:rect l="l" t="t" r="r" b="b"/>
            <a:pathLst>
              <a:path w="14950606" h="7811691" extrusionOk="0">
                <a:moveTo>
                  <a:pt x="0" y="0"/>
                </a:moveTo>
                <a:lnTo>
                  <a:pt x="14950606" y="0"/>
                </a:lnTo>
                <a:lnTo>
                  <a:pt x="14950606" y="7811691"/>
                </a:lnTo>
                <a:lnTo>
                  <a:pt x="0" y="7811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307" name="Google Shape;307;p15"/>
          <p:cNvSpPr txBox="1"/>
          <p:nvPr/>
        </p:nvSpPr>
        <p:spPr>
          <a:xfrm>
            <a:off x="1324023" y="804169"/>
            <a:ext cx="13445258" cy="746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75" b="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MODEL SELECTION &amp; WHY?</a:t>
            </a:r>
            <a:endParaRPr lang="en-US" sz="4375" b="0" i="0" u="none" strike="noStrike" cap="none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6"/>
          <p:cNvSpPr/>
          <p:nvPr/>
        </p:nvSpPr>
        <p:spPr>
          <a:xfrm>
            <a:off x="3056450" y="911296"/>
            <a:ext cx="11387853" cy="9138752"/>
          </a:xfrm>
          <a:custGeom>
            <a:avLst/>
            <a:gdLst/>
            <a:ahLst/>
            <a:cxnLst/>
            <a:rect l="l" t="t" r="r" b="b"/>
            <a:pathLst>
              <a:path w="11387853" h="9138752" extrusionOk="0">
                <a:moveTo>
                  <a:pt x="0" y="0"/>
                </a:moveTo>
                <a:lnTo>
                  <a:pt x="11387853" y="0"/>
                </a:lnTo>
                <a:lnTo>
                  <a:pt x="11387853" y="9138751"/>
                </a:lnTo>
                <a:lnTo>
                  <a:pt x="0" y="91387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313" name="Google Shape;313;p16"/>
          <p:cNvSpPr txBox="1"/>
          <p:nvPr/>
        </p:nvSpPr>
        <p:spPr>
          <a:xfrm>
            <a:off x="242593" y="82192"/>
            <a:ext cx="12816981" cy="7057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70" b="0" i="0" u="none" strike="noStrike" cap="none">
                <a:solidFill>
                  <a:srgbClr val="FFFF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OVERALL IMPROVEMENT’S:</a:t>
            </a:r>
            <a:endParaRPr lang="en-US" sz="4170" b="0" i="0" u="none" strike="noStrike" cap="none">
              <a:solidFill>
                <a:srgbClr val="FFFFF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8" name="Google Shape;318;p17"/>
          <p:cNvGrpSpPr/>
          <p:nvPr/>
        </p:nvGrpSpPr>
        <p:grpSpPr>
          <a:xfrm>
            <a:off x="0" y="-104251"/>
            <a:ext cx="18398749" cy="1417599"/>
            <a:chOff x="0" y="-38100"/>
            <a:chExt cx="5122574" cy="850900"/>
          </a:xfrm>
        </p:grpSpPr>
        <p:sp>
          <p:nvSpPr>
            <p:cNvPr id="319" name="Google Shape;319;p17"/>
            <p:cNvSpPr/>
            <p:nvPr/>
          </p:nvSpPr>
          <p:spPr>
            <a:xfrm>
              <a:off x="0" y="0"/>
              <a:ext cx="5122574" cy="812800"/>
            </a:xfrm>
            <a:custGeom>
              <a:avLst/>
              <a:gdLst/>
              <a:ahLst/>
              <a:cxnLst/>
              <a:rect l="l" t="t" r="r" b="b"/>
              <a:pathLst>
                <a:path w="5122574" h="812800" extrusionOk="0">
                  <a:moveTo>
                    <a:pt x="0" y="0"/>
                  </a:moveTo>
                  <a:lnTo>
                    <a:pt x="5122574" y="0"/>
                  </a:lnTo>
                  <a:lnTo>
                    <a:pt x="5122574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20" name="Google Shape;320;p17"/>
            <p:cNvSpPr txBox="1"/>
            <p:nvPr/>
          </p:nvSpPr>
          <p:spPr>
            <a:xfrm>
              <a:off x="0" y="-38100"/>
              <a:ext cx="5122574" cy="850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1" name="Google Shape;321;p17"/>
          <p:cNvSpPr txBox="1"/>
          <p:nvPr/>
        </p:nvSpPr>
        <p:spPr>
          <a:xfrm>
            <a:off x="397846" y="282596"/>
            <a:ext cx="134454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1440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75">
                <a:solidFill>
                  <a:srgbClr val="225A8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8. </a:t>
            </a:r>
            <a:r>
              <a:rPr lang="en-US" sz="4375" b="0" i="0" u="none" strike="noStrike" cap="none">
                <a:solidFill>
                  <a:srgbClr val="225A8D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PROGRESS TO DATE &amp; TIMELINE</a:t>
            </a:r>
            <a:endParaRPr lang="en-US" sz="4375" b="0" i="0" u="none" strike="noStrike" cap="none">
              <a:solidFill>
                <a:srgbClr val="225A8D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aphicFrame>
        <p:nvGraphicFramePr>
          <p:cNvPr id="322" name="Google Shape;322;p17"/>
          <p:cNvGraphicFramePr/>
          <p:nvPr/>
        </p:nvGraphicFramePr>
        <p:xfrm>
          <a:off x="1193500" y="1542875"/>
          <a:ext cx="16316325" cy="7800975"/>
        </p:xfrm>
        <a:graphic>
          <a:graphicData uri="http://schemas.openxmlformats.org/drawingml/2006/table">
            <a:tbl>
              <a:tblPr>
                <a:noFill/>
                <a:tableStyleId>{D18130F5-0F8F-4709-BA66-A9F0742352BF}</a:tableStyleId>
              </a:tblPr>
              <a:tblGrid>
                <a:gridCol w="5438775"/>
                <a:gridCol w="5438775"/>
                <a:gridCol w="5438775"/>
              </a:tblGrid>
              <a:tr h="1114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</a:rPr>
                        <a:t>Phase / Component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</a:rPr>
                        <a:t>Status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</a:rPr>
                        <a:t>Details &amp; Accomplishments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</a:tr>
              <a:tr h="1114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</a:rPr>
                        <a:t>Dataset Integration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</a:rPr>
                        <a:t>Completed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</a:rPr>
                        <a:t>Integrated </a:t>
                      </a:r>
                      <a:r>
                        <a:rPr lang="en-US" sz="1600" b="1">
                          <a:solidFill>
                            <a:srgbClr val="1F1F1F"/>
                          </a:solidFill>
                        </a:rPr>
                        <a:t>GSM8K</a:t>
                      </a:r>
                      <a:r>
                        <a:rPr lang="en-US" sz="1600">
                          <a:solidFill>
                            <a:srgbClr val="1F1F1F"/>
                          </a:solidFill>
                        </a:rPr>
                        <a:t> and </a:t>
                      </a:r>
                      <a:r>
                        <a:rPr lang="en-US" sz="1600" b="1">
                          <a:solidFill>
                            <a:srgbClr val="1F1F1F"/>
                          </a:solidFill>
                        </a:rPr>
                        <a:t>MATH</a:t>
                      </a:r>
                      <a:r>
                        <a:rPr lang="en-US" sz="1600">
                          <a:solidFill>
                            <a:srgbClr val="1F1F1F"/>
                          </a:solidFill>
                        </a:rPr>
                        <a:t>datasets; loaded reasoning samples, ground truth, and correctness labels.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114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</a:rPr>
                        <a:t>Data Processing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</a:rPr>
                        <a:t>Completed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</a:rPr>
                        <a:t>Implemented balanced flattening and equal sampling per question to eliminate bias.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114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</a:rPr>
                        <a:t>Decision Strategies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</a:rPr>
                        <a:t>Completed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</a:rPr>
                        <a:t>Implemented and compared Raw, Majority, and Verifier selection mechanisms.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114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</a:rPr>
                        <a:t>Metrics &amp; Risk Framework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</a:rPr>
                        <a:t>Completed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</a:rPr>
                        <a:t>Computed reliability and hallucination-aware metrics (Accuracy, DRS, DSI, HR, SHR, and REM).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114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</a:rPr>
                        <a:t>Comparative Analysis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</a:rPr>
                        <a:t>Completed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</a:rPr>
                        <a:t>Conducted cross-dataset evaluation; generated graphs for reliability, stability, and risk analysis.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11144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</a:rPr>
                        <a:t>Final Paper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>
                          <a:solidFill>
                            <a:srgbClr val="1F1F1F"/>
                          </a:solidFill>
                        </a:rPr>
                        <a:t>In Progress</a:t>
                      </a:r>
                      <a:endParaRPr sz="1500" b="1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60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600">
                          <a:solidFill>
                            <a:srgbClr val="1F1F1F"/>
                          </a:solidFill>
                        </a:rPr>
                        <a:t>Synthesis of results and discussion; drafting final </a:t>
                      </a:r>
                      <a:r>
                        <a:rPr lang="en-US" sz="1600" b="1">
                          <a:solidFill>
                            <a:srgbClr val="1F1F1F"/>
                          </a:solidFill>
                        </a:rPr>
                        <a:t>ACL-style</a:t>
                      </a:r>
                      <a:r>
                        <a:rPr lang="en-US" sz="1600">
                          <a:solidFill>
                            <a:srgbClr val="1F1F1F"/>
                          </a:solidFill>
                        </a:rPr>
                        <a:t> research paper for submission.</a:t>
                      </a:r>
                      <a:endParaRPr sz="1600">
                        <a:solidFill>
                          <a:srgbClr val="1F1F1F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8"/>
          <p:cNvSpPr/>
          <p:nvPr/>
        </p:nvSpPr>
        <p:spPr>
          <a:xfrm rot="5400000">
            <a:off x="-4233886" y="5179531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 extrusionOk="0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grpSp>
        <p:nvGrpSpPr>
          <p:cNvPr id="328" name="Google Shape;328;p18"/>
          <p:cNvGrpSpPr/>
          <p:nvPr/>
        </p:nvGrpSpPr>
        <p:grpSpPr>
          <a:xfrm>
            <a:off x="1028700" y="-382833"/>
            <a:ext cx="17720127" cy="10908006"/>
            <a:chOff x="0" y="-38100"/>
            <a:chExt cx="4667029" cy="2872890"/>
          </a:xfrm>
        </p:grpSpPr>
        <p:sp>
          <p:nvSpPr>
            <p:cNvPr id="329" name="Google Shape;329;p18"/>
            <p:cNvSpPr/>
            <p:nvPr/>
          </p:nvSpPr>
          <p:spPr>
            <a:xfrm>
              <a:off x="0" y="0"/>
              <a:ext cx="4667029" cy="2834790"/>
            </a:xfrm>
            <a:custGeom>
              <a:avLst/>
              <a:gdLst/>
              <a:ahLst/>
              <a:cxnLst/>
              <a:rect l="l" t="t" r="r" b="b"/>
              <a:pathLst>
                <a:path w="4667029" h="2834790" extrusionOk="0">
                  <a:moveTo>
                    <a:pt x="0" y="0"/>
                  </a:moveTo>
                  <a:lnTo>
                    <a:pt x="4667029" y="0"/>
                  </a:lnTo>
                  <a:lnTo>
                    <a:pt x="4667029" y="2834790"/>
                  </a:lnTo>
                  <a:lnTo>
                    <a:pt x="0" y="28347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30" name="Google Shape;330;p18"/>
            <p:cNvSpPr txBox="1"/>
            <p:nvPr/>
          </p:nvSpPr>
          <p:spPr>
            <a:xfrm>
              <a:off x="0" y="-38100"/>
              <a:ext cx="4667029" cy="2872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31" name="Google Shape;331;p18"/>
          <p:cNvGrpSpPr/>
          <p:nvPr/>
        </p:nvGrpSpPr>
        <p:grpSpPr>
          <a:xfrm>
            <a:off x="1507125" y="1592124"/>
            <a:ext cx="16088319" cy="8381645"/>
            <a:chOff x="0" y="-38100"/>
            <a:chExt cx="2510975" cy="1231038"/>
          </a:xfrm>
        </p:grpSpPr>
        <p:sp>
          <p:nvSpPr>
            <p:cNvPr id="332" name="Google Shape;332;p18"/>
            <p:cNvSpPr/>
            <p:nvPr/>
          </p:nvSpPr>
          <p:spPr>
            <a:xfrm>
              <a:off x="0" y="0"/>
              <a:ext cx="2510975" cy="1192938"/>
            </a:xfrm>
            <a:custGeom>
              <a:avLst/>
              <a:gdLst/>
              <a:ahLst/>
              <a:cxnLst/>
              <a:rect l="l" t="t" r="r" b="b"/>
              <a:pathLst>
                <a:path w="2510975" h="1192938" extrusionOk="0">
                  <a:moveTo>
                    <a:pt x="22617" y="0"/>
                  </a:moveTo>
                  <a:lnTo>
                    <a:pt x="2488358" y="0"/>
                  </a:lnTo>
                  <a:cubicBezTo>
                    <a:pt x="2500849" y="0"/>
                    <a:pt x="2510975" y="10126"/>
                    <a:pt x="2510975" y="22617"/>
                  </a:cubicBezTo>
                  <a:lnTo>
                    <a:pt x="2510975" y="1170321"/>
                  </a:lnTo>
                  <a:cubicBezTo>
                    <a:pt x="2510975" y="1182812"/>
                    <a:pt x="2500849" y="1192938"/>
                    <a:pt x="2488358" y="1192938"/>
                  </a:cubicBezTo>
                  <a:lnTo>
                    <a:pt x="22617" y="1192938"/>
                  </a:lnTo>
                  <a:cubicBezTo>
                    <a:pt x="10126" y="1192938"/>
                    <a:pt x="0" y="1182812"/>
                    <a:pt x="0" y="1170321"/>
                  </a:cubicBezTo>
                  <a:lnTo>
                    <a:pt x="0" y="22617"/>
                  </a:lnTo>
                  <a:cubicBezTo>
                    <a:pt x="0" y="10126"/>
                    <a:pt x="10126" y="0"/>
                    <a:pt x="22617" y="0"/>
                  </a:cubicBez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33" name="Google Shape;333;p18"/>
            <p:cNvSpPr txBox="1"/>
            <p:nvPr/>
          </p:nvSpPr>
          <p:spPr>
            <a:xfrm>
              <a:off x="0" y="-38100"/>
              <a:ext cx="2510975" cy="123103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4" name="Google Shape;334;p18"/>
          <p:cNvSpPr txBox="1"/>
          <p:nvPr/>
        </p:nvSpPr>
        <p:spPr>
          <a:xfrm>
            <a:off x="1136968" y="612785"/>
            <a:ext cx="12650400" cy="6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75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  9. </a:t>
            </a:r>
            <a:r>
              <a:rPr lang="en-US" sz="4375" b="0" i="0" u="none" strike="noStrike" cap="none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LIMITATIONS</a:t>
            </a:r>
            <a:endParaRPr lang="en-US" sz="4375" b="0" i="0" u="none" strike="noStrike" cap="none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335" name="Google Shape;335;p18"/>
          <p:cNvSpPr txBox="1"/>
          <p:nvPr/>
        </p:nvSpPr>
        <p:spPr>
          <a:xfrm>
            <a:off x="2683410" y="2484538"/>
            <a:ext cx="13245600" cy="634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0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558800" marR="0" lvl="1" indent="-2794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89"/>
              <a:buFont typeface="Arial" panose="020B0604020202090204"/>
              <a:buChar char="•"/>
            </a:pPr>
            <a:r>
              <a:rPr lang="en-US" sz="259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Training the verifier introduces additional computational and memory overhead, requires labeled data, and adds complexity due to dependence on training quality.</a:t>
            </a:r>
            <a:endParaRPr lang="en-US" sz="2590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90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58800" marR="0" lvl="1" indent="-2794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89"/>
              <a:buFont typeface="Arial" panose="020B0604020202090204"/>
              <a:buChar char="•"/>
            </a:pPr>
            <a:r>
              <a:rPr lang="en-US" sz="259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Verifier-based ranking increases inference latency because each reasoning candidate must be individually scored, making it less suitable for real-time applications.</a:t>
            </a:r>
            <a:endParaRPr lang="en-US" sz="2590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90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58800" marR="0" lvl="1" indent="-2794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89"/>
              <a:buFont typeface="Arial" panose="020B0604020202090204"/>
              <a:buChar char="•"/>
            </a:pPr>
            <a:r>
              <a:rPr lang="en-US" sz="259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The approach faces scalability challenges as computational cost grows with the number of samples and dataset size, limiting large-scale deployment.</a:t>
            </a:r>
            <a:endParaRPr lang="en-US" sz="2590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90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558800" marR="0" lvl="1" indent="-2794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89"/>
              <a:buFont typeface="Arial" panose="020B0604020202090204"/>
              <a:buChar char="•"/>
            </a:pPr>
            <a:r>
              <a:rPr lang="en-US" sz="2590" b="0" i="0" u="none" strike="noStrike" cap="none">
                <a:solidFill>
                  <a:srgbClr val="FFFFF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rPr>
              <a:t>Experimental setup is constrained by limited resources such as GPU availability, memory, and runtime limits, necessitating the use of smaller dataset subsets.</a:t>
            </a:r>
            <a:endParaRPr lang="en-US" sz="2590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90" b="0" i="0" u="none" strike="noStrike" cap="none">
              <a:solidFill>
                <a:srgbClr val="FFFFFF"/>
              </a:solidFill>
              <a:latin typeface="Open Sans" panose="020B0606030504020204"/>
              <a:ea typeface="Open Sans" panose="020B0606030504020204"/>
              <a:cs typeface="Open Sans" panose="020B0606030504020204"/>
              <a:sym typeface="Open Sans" panose="020B0606030504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A8D"/>
        </a:solidFill>
        <a:effectLst/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9"/>
          <p:cNvSpPr/>
          <p:nvPr/>
        </p:nvSpPr>
        <p:spPr>
          <a:xfrm rot="5400000">
            <a:off x="-4233886" y="5179531"/>
            <a:ext cx="10525172" cy="956834"/>
          </a:xfrm>
          <a:custGeom>
            <a:avLst/>
            <a:gdLst/>
            <a:ahLst/>
            <a:cxnLst/>
            <a:rect l="l" t="t" r="r" b="b"/>
            <a:pathLst>
              <a:path w="10525172" h="956834" extrusionOk="0">
                <a:moveTo>
                  <a:pt x="0" y="0"/>
                </a:moveTo>
                <a:lnTo>
                  <a:pt x="10525172" y="0"/>
                </a:lnTo>
                <a:lnTo>
                  <a:pt x="10525172" y="956834"/>
                </a:lnTo>
                <a:lnTo>
                  <a:pt x="0" y="95683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grpSp>
        <p:nvGrpSpPr>
          <p:cNvPr id="341" name="Google Shape;341;p19"/>
          <p:cNvGrpSpPr/>
          <p:nvPr/>
        </p:nvGrpSpPr>
        <p:grpSpPr>
          <a:xfrm>
            <a:off x="1028700" y="0"/>
            <a:ext cx="17160199" cy="10129810"/>
            <a:chOff x="0" y="-38100"/>
            <a:chExt cx="4667029" cy="2872890"/>
          </a:xfrm>
        </p:grpSpPr>
        <p:sp>
          <p:nvSpPr>
            <p:cNvPr id="342" name="Google Shape;342;p19"/>
            <p:cNvSpPr/>
            <p:nvPr/>
          </p:nvSpPr>
          <p:spPr>
            <a:xfrm>
              <a:off x="0" y="0"/>
              <a:ext cx="4667029" cy="2834790"/>
            </a:xfrm>
            <a:custGeom>
              <a:avLst/>
              <a:gdLst/>
              <a:ahLst/>
              <a:cxnLst/>
              <a:rect l="l" t="t" r="r" b="b"/>
              <a:pathLst>
                <a:path w="4667029" h="2834790" extrusionOk="0">
                  <a:moveTo>
                    <a:pt x="0" y="0"/>
                  </a:moveTo>
                  <a:lnTo>
                    <a:pt x="4667029" y="0"/>
                  </a:lnTo>
                  <a:lnTo>
                    <a:pt x="4667029" y="2834790"/>
                  </a:lnTo>
                  <a:lnTo>
                    <a:pt x="0" y="28347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43" name="Google Shape;343;p19"/>
            <p:cNvSpPr txBox="1"/>
            <p:nvPr/>
          </p:nvSpPr>
          <p:spPr>
            <a:xfrm>
              <a:off x="0" y="-38100"/>
              <a:ext cx="4667029" cy="2872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4" name="Google Shape;344;p19"/>
          <p:cNvGrpSpPr/>
          <p:nvPr/>
        </p:nvGrpSpPr>
        <p:grpSpPr>
          <a:xfrm>
            <a:off x="1507117" y="1448458"/>
            <a:ext cx="16088319" cy="8257651"/>
            <a:chOff x="0" y="-38100"/>
            <a:chExt cx="2510975" cy="1288808"/>
          </a:xfrm>
        </p:grpSpPr>
        <p:sp>
          <p:nvSpPr>
            <p:cNvPr id="345" name="Google Shape;345;p19"/>
            <p:cNvSpPr/>
            <p:nvPr/>
          </p:nvSpPr>
          <p:spPr>
            <a:xfrm>
              <a:off x="0" y="0"/>
              <a:ext cx="2510975" cy="1250708"/>
            </a:xfrm>
            <a:custGeom>
              <a:avLst/>
              <a:gdLst/>
              <a:ahLst/>
              <a:cxnLst/>
              <a:rect l="l" t="t" r="r" b="b"/>
              <a:pathLst>
                <a:path w="2510975" h="1250708" extrusionOk="0">
                  <a:moveTo>
                    <a:pt x="22617" y="0"/>
                  </a:moveTo>
                  <a:lnTo>
                    <a:pt x="2488358" y="0"/>
                  </a:lnTo>
                  <a:cubicBezTo>
                    <a:pt x="2500849" y="0"/>
                    <a:pt x="2510975" y="10126"/>
                    <a:pt x="2510975" y="22617"/>
                  </a:cubicBezTo>
                  <a:lnTo>
                    <a:pt x="2510975" y="1228091"/>
                  </a:lnTo>
                  <a:cubicBezTo>
                    <a:pt x="2510975" y="1240582"/>
                    <a:pt x="2500849" y="1250708"/>
                    <a:pt x="2488358" y="1250708"/>
                  </a:cubicBezTo>
                  <a:lnTo>
                    <a:pt x="22617" y="1250708"/>
                  </a:lnTo>
                  <a:cubicBezTo>
                    <a:pt x="10126" y="1250708"/>
                    <a:pt x="0" y="1240582"/>
                    <a:pt x="0" y="1228091"/>
                  </a:cubicBezTo>
                  <a:lnTo>
                    <a:pt x="0" y="22617"/>
                  </a:lnTo>
                  <a:cubicBezTo>
                    <a:pt x="0" y="10126"/>
                    <a:pt x="10126" y="0"/>
                    <a:pt x="22617" y="0"/>
                  </a:cubicBez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46" name="Google Shape;346;p19"/>
            <p:cNvSpPr txBox="1"/>
            <p:nvPr/>
          </p:nvSpPr>
          <p:spPr>
            <a:xfrm>
              <a:off x="0" y="-38100"/>
              <a:ext cx="2510975" cy="12888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7" name="Google Shape;347;p19"/>
          <p:cNvSpPr txBox="1"/>
          <p:nvPr/>
        </p:nvSpPr>
        <p:spPr>
          <a:xfrm>
            <a:off x="1657222" y="2252673"/>
            <a:ext cx="14009700" cy="77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631825" marR="0" lvl="1" indent="-30988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27"/>
              <a:buFont typeface="Arial" panose="020B0604020202090204"/>
              <a:buChar char="•"/>
            </a:pPr>
            <a:r>
              <a:rPr lang="en-US" sz="2825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Accuracy alone is insufficient for evaluating LLMs in decision support systems</a:t>
            </a:r>
            <a:endParaRPr sz="1300"/>
          </a:p>
          <a:p>
            <a:pPr marL="631825" marR="0" lvl="1" indent="-30988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27"/>
              <a:buFont typeface="Arial" panose="020B0604020202090204"/>
              <a:buChar char="•"/>
            </a:pPr>
            <a:r>
              <a:rPr lang="en-US" sz="2825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We incorporate risk-aware metrics (HR, SHR, REM) alongside correctness</a:t>
            </a:r>
            <a:endParaRPr sz="1300"/>
          </a:p>
          <a:p>
            <a:pPr marL="631825" marR="0" lvl="1" indent="-30988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27"/>
              <a:buFont typeface="Arial" panose="020B0604020202090204"/>
              <a:buChar char="•"/>
            </a:pPr>
            <a:r>
              <a:rPr lang="en-US" sz="2825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Compared: Raw vs Majority Voting vs Verifier-based selection across multiple datasets</a:t>
            </a:r>
            <a:endParaRPr sz="1300"/>
          </a:p>
          <a:p>
            <a:pPr marL="631825" marR="0" lvl="1" indent="-30988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27"/>
              <a:buFont typeface="Arial" panose="020B0604020202090204"/>
              <a:buChar char="•"/>
            </a:pPr>
            <a:r>
              <a:rPr lang="en-US" sz="2825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Developed an improved pipeline: multi-dataset evaluation + enhanced verifier (DeBERTa) + refined metrics</a:t>
            </a:r>
            <a:endParaRPr sz="1100"/>
          </a:p>
          <a:p>
            <a:pPr marL="631825" marR="0" lvl="1" indent="-30988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27"/>
              <a:buFont typeface="Arial" panose="020B0604020202090204"/>
              <a:buChar char="•"/>
            </a:pPr>
            <a:r>
              <a:rPr lang="en-US" sz="2825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Results show the verifier as the overall best performer, balancing accuracy and risk</a:t>
            </a:r>
            <a:endParaRPr sz="1300"/>
          </a:p>
          <a:p>
            <a:pPr marL="631825" marR="0" lvl="1" indent="-30988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27"/>
              <a:buFont typeface="Arial" panose="020B0604020202090204"/>
              <a:buChar char="•"/>
            </a:pPr>
            <a:r>
              <a:rPr lang="en-US" sz="2825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Future Work:</a:t>
            </a:r>
            <a:endParaRPr sz="1300"/>
          </a:p>
          <a:p>
            <a:pPr marL="631825" marR="0" lvl="1" indent="-30988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27"/>
              <a:buFont typeface="Arial" panose="020B0604020202090204"/>
              <a:buChar char="•"/>
            </a:pPr>
            <a:r>
              <a:rPr lang="en-US" sz="2825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Larger and more diverse dataset evaluation</a:t>
            </a:r>
            <a:endParaRPr sz="1300"/>
          </a:p>
          <a:p>
            <a:pPr marL="631825" marR="0" lvl="1" indent="-30988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27"/>
              <a:buFont typeface="Arial" panose="020B0604020202090204"/>
              <a:buChar char="•"/>
            </a:pPr>
            <a:r>
              <a:rPr lang="en-US" sz="2825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Improved verifier training and calibration</a:t>
            </a:r>
            <a:endParaRPr sz="1300"/>
          </a:p>
          <a:p>
            <a:pPr marL="631825" marR="0" lvl="1" indent="-30988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27"/>
              <a:buFont typeface="Arial" panose="020B0604020202090204"/>
              <a:buChar char="•"/>
            </a:pPr>
            <a:r>
              <a:rPr lang="en-US" sz="2825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Efficiency optimization for faster inference</a:t>
            </a:r>
            <a:endParaRPr sz="1300"/>
          </a:p>
          <a:p>
            <a:pPr marL="631825" marR="0" lvl="1" indent="-30988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27"/>
              <a:buFont typeface="Arial" panose="020B0604020202090204"/>
              <a:buChar char="•"/>
            </a:pPr>
            <a:r>
              <a:rPr lang="en-US" sz="2825" b="1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Goal: </a:t>
            </a:r>
            <a:r>
              <a:rPr lang="en-US" sz="2825" b="0" i="0" u="none" strike="noStrike" cap="none">
                <a:solidFill>
                  <a:srgbClr val="FFFFF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Reliable and risk-aware LLM deployment in real-world applications.</a:t>
            </a:r>
            <a:endParaRPr sz="1300"/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25" b="0" i="0" u="none" strike="noStrike" cap="none">
              <a:solidFill>
                <a:srgbClr val="FFFFFF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sp>
        <p:nvSpPr>
          <p:cNvPr id="348" name="Google Shape;348;p19"/>
          <p:cNvSpPr txBox="1"/>
          <p:nvPr/>
        </p:nvSpPr>
        <p:spPr>
          <a:xfrm>
            <a:off x="1383734" y="612785"/>
            <a:ext cx="12403754" cy="7461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944880" marR="0" lvl="1" indent="-47244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161"/>
              </a:buClr>
              <a:buSzPts val="4375"/>
              <a:buFont typeface="Playfair Display"/>
              <a:buAutoNum type="arabicPeriod"/>
            </a:pPr>
            <a:r>
              <a:rPr lang="en-US" sz="4375" b="0" i="0" u="none" strike="noStrike" cap="none">
                <a:solidFill>
                  <a:srgbClr val="1A2161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CONCLUSION &amp; NEXT STEPS</a:t>
            </a:r>
            <a:endParaRPr lang="en-US" sz="4375" b="0" i="0" u="none" strike="noStrike" cap="none">
              <a:solidFill>
                <a:srgbClr val="1A2161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349" name="Google Shape;349;p19"/>
          <p:cNvGrpSpPr/>
          <p:nvPr/>
        </p:nvGrpSpPr>
        <p:grpSpPr>
          <a:xfrm>
            <a:off x="1905971" y="6850163"/>
            <a:ext cx="8469037" cy="1931816"/>
            <a:chOff x="0" y="-38100"/>
            <a:chExt cx="1321800" cy="301507"/>
          </a:xfrm>
        </p:grpSpPr>
        <p:sp>
          <p:nvSpPr>
            <p:cNvPr id="350" name="Google Shape;350;p19"/>
            <p:cNvSpPr/>
            <p:nvPr/>
          </p:nvSpPr>
          <p:spPr>
            <a:xfrm>
              <a:off x="0" y="0"/>
              <a:ext cx="1321739" cy="263407"/>
            </a:xfrm>
            <a:custGeom>
              <a:avLst/>
              <a:gdLst/>
              <a:ahLst/>
              <a:cxnLst/>
              <a:rect l="l" t="t" r="r" b="b"/>
              <a:pathLst>
                <a:path w="1321739" h="263407" extrusionOk="0">
                  <a:moveTo>
                    <a:pt x="42967" y="0"/>
                  </a:moveTo>
                  <a:lnTo>
                    <a:pt x="1278773" y="0"/>
                  </a:lnTo>
                  <a:cubicBezTo>
                    <a:pt x="1290168" y="0"/>
                    <a:pt x="1301097" y="4527"/>
                    <a:pt x="1309155" y="12585"/>
                  </a:cubicBezTo>
                  <a:cubicBezTo>
                    <a:pt x="1317213" y="20642"/>
                    <a:pt x="1321739" y="31571"/>
                    <a:pt x="1321739" y="42967"/>
                  </a:cubicBezTo>
                  <a:lnTo>
                    <a:pt x="1321739" y="220441"/>
                  </a:lnTo>
                  <a:cubicBezTo>
                    <a:pt x="1321739" y="244171"/>
                    <a:pt x="1302503" y="263407"/>
                    <a:pt x="1278773" y="263407"/>
                  </a:cubicBezTo>
                  <a:lnTo>
                    <a:pt x="42967" y="263407"/>
                  </a:lnTo>
                  <a:cubicBezTo>
                    <a:pt x="19237" y="263407"/>
                    <a:pt x="0" y="244171"/>
                    <a:pt x="0" y="220441"/>
                  </a:cubicBezTo>
                  <a:lnTo>
                    <a:pt x="0" y="42967"/>
                  </a:lnTo>
                  <a:cubicBezTo>
                    <a:pt x="0" y="19237"/>
                    <a:pt x="19237" y="0"/>
                    <a:pt x="42967" y="0"/>
                  </a:cubicBez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1" name="Google Shape;351;p19"/>
            <p:cNvSpPr txBox="1"/>
            <p:nvPr/>
          </p:nvSpPr>
          <p:spPr>
            <a:xfrm>
              <a:off x="0" y="-38100"/>
              <a:ext cx="1321800" cy="30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2" name="Google Shape;352;p19"/>
          <p:cNvGrpSpPr/>
          <p:nvPr/>
        </p:nvGrpSpPr>
        <p:grpSpPr>
          <a:xfrm>
            <a:off x="2211093" y="6850163"/>
            <a:ext cx="8653725" cy="1931816"/>
            <a:chOff x="0" y="-38100"/>
            <a:chExt cx="1350625" cy="301507"/>
          </a:xfrm>
        </p:grpSpPr>
        <p:sp>
          <p:nvSpPr>
            <p:cNvPr id="353" name="Google Shape;353;p19"/>
            <p:cNvSpPr/>
            <p:nvPr/>
          </p:nvSpPr>
          <p:spPr>
            <a:xfrm>
              <a:off x="0" y="0"/>
              <a:ext cx="1350625" cy="263407"/>
            </a:xfrm>
            <a:custGeom>
              <a:avLst/>
              <a:gdLst/>
              <a:ahLst/>
              <a:cxnLst/>
              <a:rect l="l" t="t" r="r" b="b"/>
              <a:pathLst>
                <a:path w="1350625" h="263407" extrusionOk="0">
                  <a:moveTo>
                    <a:pt x="42048" y="0"/>
                  </a:moveTo>
                  <a:lnTo>
                    <a:pt x="1308577" y="0"/>
                  </a:lnTo>
                  <a:cubicBezTo>
                    <a:pt x="1331799" y="0"/>
                    <a:pt x="1350625" y="18825"/>
                    <a:pt x="1350625" y="42048"/>
                  </a:cubicBezTo>
                  <a:lnTo>
                    <a:pt x="1350625" y="221360"/>
                  </a:lnTo>
                  <a:cubicBezTo>
                    <a:pt x="1350625" y="244582"/>
                    <a:pt x="1331799" y="263407"/>
                    <a:pt x="1308577" y="263407"/>
                  </a:cubicBezTo>
                  <a:lnTo>
                    <a:pt x="42048" y="263407"/>
                  </a:lnTo>
                  <a:cubicBezTo>
                    <a:pt x="18825" y="263407"/>
                    <a:pt x="0" y="244582"/>
                    <a:pt x="0" y="221360"/>
                  </a:cubicBezTo>
                  <a:lnTo>
                    <a:pt x="0" y="42048"/>
                  </a:lnTo>
                  <a:cubicBezTo>
                    <a:pt x="0" y="18825"/>
                    <a:pt x="18825" y="0"/>
                    <a:pt x="420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4" name="Google Shape;354;p19"/>
            <p:cNvSpPr txBox="1"/>
            <p:nvPr/>
          </p:nvSpPr>
          <p:spPr>
            <a:xfrm>
              <a:off x="0" y="-38100"/>
              <a:ext cx="1350625" cy="30150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5" name="Google Shape;355;p19"/>
          <p:cNvSpPr txBox="1"/>
          <p:nvPr/>
        </p:nvSpPr>
        <p:spPr>
          <a:xfrm>
            <a:off x="2265045" y="7093585"/>
            <a:ext cx="8653145" cy="1480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36270" marR="0" lvl="1" indent="-29908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47"/>
              <a:buFont typeface="Arial" panose="020B0604020202090204"/>
              <a:buChar char="•"/>
            </a:pPr>
            <a:r>
              <a:rPr lang="en-US" sz="2645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Larger and more diverse dataset evaluation</a:t>
            </a:r>
            <a:endParaRPr sz="1100"/>
          </a:p>
          <a:p>
            <a:pPr marL="636270" marR="0" lvl="1" indent="-29908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47"/>
              <a:buFont typeface="Arial" panose="020B0604020202090204"/>
              <a:buChar char="•"/>
            </a:pPr>
            <a:r>
              <a:rPr lang="en-US" sz="2645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Improved verifier training and calibration</a:t>
            </a:r>
            <a:endParaRPr sz="1100"/>
          </a:p>
          <a:p>
            <a:pPr marL="636270" marR="0" lvl="1" indent="-299085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47"/>
              <a:buFont typeface="Arial" panose="020B0604020202090204"/>
              <a:buChar char="•"/>
            </a:pPr>
            <a:r>
              <a:rPr lang="en-US" sz="2645" b="1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Efficiency optimization for faster inference</a:t>
            </a:r>
            <a:endParaRPr sz="110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45" b="1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0"/>
          <p:cNvSpPr/>
          <p:nvPr/>
        </p:nvSpPr>
        <p:spPr>
          <a:xfrm rot="10800000">
            <a:off x="0" y="1420722"/>
            <a:ext cx="18288000" cy="1662545"/>
          </a:xfrm>
          <a:custGeom>
            <a:avLst/>
            <a:gdLst/>
            <a:ahLst/>
            <a:cxnLst/>
            <a:rect l="l" t="t" r="r" b="b"/>
            <a:pathLst>
              <a:path w="18288000" h="1662545" extrusionOk="0">
                <a:moveTo>
                  <a:pt x="0" y="0"/>
                </a:moveTo>
                <a:lnTo>
                  <a:pt x="18288000" y="0"/>
                </a:lnTo>
                <a:lnTo>
                  <a:pt x="18288000" y="1662545"/>
                </a:lnTo>
                <a:lnTo>
                  <a:pt x="0" y="166254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sp>
        <p:nvSpPr>
          <p:cNvPr id="361" name="Google Shape;361;p20"/>
          <p:cNvSpPr/>
          <p:nvPr/>
        </p:nvSpPr>
        <p:spPr>
          <a:xfrm>
            <a:off x="-63422" y="7801886"/>
            <a:ext cx="18288000" cy="1662545"/>
          </a:xfrm>
          <a:custGeom>
            <a:avLst/>
            <a:gdLst/>
            <a:ahLst/>
            <a:cxnLst/>
            <a:rect l="l" t="t" r="r" b="b"/>
            <a:pathLst>
              <a:path w="18288000" h="1662545" extrusionOk="0">
                <a:moveTo>
                  <a:pt x="0" y="0"/>
                </a:moveTo>
                <a:lnTo>
                  <a:pt x="18288000" y="0"/>
                </a:lnTo>
                <a:lnTo>
                  <a:pt x="18288000" y="1662546"/>
                </a:lnTo>
                <a:lnTo>
                  <a:pt x="0" y="166254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/>
            <a:stretch>
              <a:fillRect/>
            </a:stretch>
          </a:blipFill>
          <a:ln>
            <a:noFill/>
          </a:ln>
        </p:spPr>
      </p:sp>
      <p:grpSp>
        <p:nvGrpSpPr>
          <p:cNvPr id="362" name="Google Shape;362;p20"/>
          <p:cNvGrpSpPr/>
          <p:nvPr/>
        </p:nvGrpSpPr>
        <p:grpSpPr>
          <a:xfrm>
            <a:off x="-701729" y="2416368"/>
            <a:ext cx="19691459" cy="5829178"/>
            <a:chOff x="0" y="-38100"/>
            <a:chExt cx="5186228" cy="1535257"/>
          </a:xfrm>
        </p:grpSpPr>
        <p:sp>
          <p:nvSpPr>
            <p:cNvPr id="363" name="Google Shape;363;p20"/>
            <p:cNvSpPr/>
            <p:nvPr/>
          </p:nvSpPr>
          <p:spPr>
            <a:xfrm>
              <a:off x="0" y="0"/>
              <a:ext cx="5186228" cy="1497157"/>
            </a:xfrm>
            <a:custGeom>
              <a:avLst/>
              <a:gdLst/>
              <a:ahLst/>
              <a:cxnLst/>
              <a:rect l="l" t="t" r="r" b="b"/>
              <a:pathLst>
                <a:path w="5186228" h="1497157" extrusionOk="0">
                  <a:moveTo>
                    <a:pt x="0" y="0"/>
                  </a:moveTo>
                  <a:lnTo>
                    <a:pt x="5186228" y="0"/>
                  </a:lnTo>
                  <a:lnTo>
                    <a:pt x="5186228" y="1497157"/>
                  </a:lnTo>
                  <a:lnTo>
                    <a:pt x="0" y="1497157"/>
                  </a:lnTo>
                  <a:close/>
                </a:path>
              </a:pathLst>
            </a:custGeom>
            <a:solidFill>
              <a:srgbClr val="225A8D"/>
            </a:solidFill>
            <a:ln>
              <a:noFill/>
            </a:ln>
          </p:spPr>
        </p:sp>
        <p:sp>
          <p:nvSpPr>
            <p:cNvPr id="364" name="Google Shape;364;p20"/>
            <p:cNvSpPr txBox="1"/>
            <p:nvPr/>
          </p:nvSpPr>
          <p:spPr>
            <a:xfrm>
              <a:off x="0" y="-38100"/>
              <a:ext cx="5186228" cy="15352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5" name="Google Shape;365;p20"/>
          <p:cNvGrpSpPr/>
          <p:nvPr/>
        </p:nvGrpSpPr>
        <p:grpSpPr>
          <a:xfrm>
            <a:off x="3914882" y="3471460"/>
            <a:ext cx="10072664" cy="3227349"/>
            <a:chOff x="0" y="-38100"/>
            <a:chExt cx="1572079" cy="503704"/>
          </a:xfrm>
        </p:grpSpPr>
        <p:sp>
          <p:nvSpPr>
            <p:cNvPr id="366" name="Google Shape;366;p20"/>
            <p:cNvSpPr/>
            <p:nvPr/>
          </p:nvSpPr>
          <p:spPr>
            <a:xfrm>
              <a:off x="0" y="0"/>
              <a:ext cx="1572079" cy="465604"/>
            </a:xfrm>
            <a:custGeom>
              <a:avLst/>
              <a:gdLst/>
              <a:ahLst/>
              <a:cxnLst/>
              <a:rect l="l" t="t" r="r" b="b"/>
              <a:pathLst>
                <a:path w="1572079" h="465604" extrusionOk="0">
                  <a:moveTo>
                    <a:pt x="36125" y="0"/>
                  </a:moveTo>
                  <a:lnTo>
                    <a:pt x="1535954" y="0"/>
                  </a:lnTo>
                  <a:cubicBezTo>
                    <a:pt x="1545535" y="0"/>
                    <a:pt x="1554723" y="3806"/>
                    <a:pt x="1561498" y="10581"/>
                  </a:cubicBezTo>
                  <a:cubicBezTo>
                    <a:pt x="1568273" y="17355"/>
                    <a:pt x="1572079" y="26544"/>
                    <a:pt x="1572079" y="36125"/>
                  </a:cubicBezTo>
                  <a:lnTo>
                    <a:pt x="1572079" y="429480"/>
                  </a:lnTo>
                  <a:cubicBezTo>
                    <a:pt x="1572079" y="439061"/>
                    <a:pt x="1568273" y="448249"/>
                    <a:pt x="1561498" y="455024"/>
                  </a:cubicBezTo>
                  <a:cubicBezTo>
                    <a:pt x="1554723" y="461798"/>
                    <a:pt x="1545535" y="465604"/>
                    <a:pt x="1535954" y="465604"/>
                  </a:cubicBezTo>
                  <a:lnTo>
                    <a:pt x="36125" y="465604"/>
                  </a:lnTo>
                  <a:cubicBezTo>
                    <a:pt x="26544" y="465604"/>
                    <a:pt x="17355" y="461798"/>
                    <a:pt x="10581" y="455024"/>
                  </a:cubicBezTo>
                  <a:cubicBezTo>
                    <a:pt x="3806" y="448249"/>
                    <a:pt x="0" y="439061"/>
                    <a:pt x="0" y="429480"/>
                  </a:cubicBezTo>
                  <a:lnTo>
                    <a:pt x="0" y="36125"/>
                  </a:lnTo>
                  <a:cubicBezTo>
                    <a:pt x="0" y="26544"/>
                    <a:pt x="3806" y="17355"/>
                    <a:pt x="10581" y="10581"/>
                  </a:cubicBezTo>
                  <a:cubicBezTo>
                    <a:pt x="17355" y="3806"/>
                    <a:pt x="26544" y="0"/>
                    <a:pt x="361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67" name="Google Shape;367;p20"/>
            <p:cNvSpPr txBox="1"/>
            <p:nvPr/>
          </p:nvSpPr>
          <p:spPr>
            <a:xfrm>
              <a:off x="0" y="-38100"/>
              <a:ext cx="1572079" cy="5037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8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8" name="Google Shape;368;p20"/>
          <p:cNvSpPr txBox="1"/>
          <p:nvPr/>
        </p:nvSpPr>
        <p:spPr>
          <a:xfrm>
            <a:off x="1510677" y="4082206"/>
            <a:ext cx="15266646" cy="1899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90" b="1" i="0" u="none" strike="noStrike" cap="none">
                <a:solidFill>
                  <a:srgbClr val="1F1F1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</a:t>
            </a:r>
            <a:endParaRPr lang="en-US" sz="11090" b="1" i="0" u="none" strike="noStrike" cap="none">
              <a:solidFill>
                <a:srgbClr val="1F1F1F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6792</Words>
  <Application>WPS Presentation</Application>
  <PresentationFormat/>
  <Paragraphs>238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SimSun</vt:lpstr>
      <vt:lpstr>Wingdings</vt:lpstr>
      <vt:lpstr>Arial</vt:lpstr>
      <vt:lpstr>Calibri</vt:lpstr>
      <vt:lpstr>Helvetica Neue</vt:lpstr>
      <vt:lpstr>Playfair Display</vt:lpstr>
      <vt:lpstr>Open Sans</vt:lpstr>
      <vt:lpstr>Microsoft YaHei</vt:lpstr>
      <vt:lpstr>汉仪旗黑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CONVERT TO AUDIO</cp:lastModifiedBy>
  <cp:revision>1</cp:revision>
  <dcterms:created xsi:type="dcterms:W3CDTF">2026-03-19T20:23:02Z</dcterms:created>
  <dcterms:modified xsi:type="dcterms:W3CDTF">2026-03-19T20:23:02Z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1D33C728348BD4BE265BBC69F5C8816B_42</vt:lpwstr>
  </property>
  <property fmtid="{D5CDD505-2E9C-101B-9397-08002B2CF9AE}" pid="3" name="KSOProductBuildVer">
    <vt:lpwstr>1033-12.1.23155.23155</vt:lpwstr>
  </property>
</Properties>
</file>