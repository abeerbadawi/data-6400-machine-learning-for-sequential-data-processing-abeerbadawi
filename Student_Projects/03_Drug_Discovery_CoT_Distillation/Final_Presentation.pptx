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Helios Extended Bold" charset="1" panose="02000805050000020004"/>
      <p:regular r:id="rId27"/>
    </p:embeddedFont>
    <p:embeddedFont>
      <p:font typeface="Helios Extended" charset="1" panose="02000505040000020004"/>
      <p:regular r:id="rId28"/>
    </p:embeddedFont>
    <p:embeddedFont>
      <p:font typeface="Canva Sans" charset="1" panose="020B0503030501040103"/>
      <p:regular r:id="rId29"/>
    </p:embeddedFont>
    <p:embeddedFont>
      <p:font typeface="Canva Sans Bold" charset="1" panose="020B0803030501040103"/>
      <p:regular r:id="rId34"/>
    </p:embeddedFont>
    <p:embeddedFont>
      <p:font typeface="Consolas Bold" charset="1" panose="020B0709020204030204"/>
      <p:regular r:id="rId40"/>
    </p:embeddedFont>
    <p:embeddedFont>
      <p:font typeface="Helios Extended Italics" charset="1" panose="02000505000000090004"/>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notesMasters/notesMaster1.xml" Type="http://schemas.openxmlformats.org/officeDocument/2006/relationships/notesMaster"/><Relationship Id="rId25" Target="theme/theme2.xml" Type="http://schemas.openxmlformats.org/officeDocument/2006/relationships/theme"/><Relationship Id="rId26" Target="notesSlides/notesSlide1.xml" Type="http://schemas.openxmlformats.org/officeDocument/2006/relationships/note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fonts/font34.fntdata" Type="http://schemas.openxmlformats.org/officeDocument/2006/relationships/font"/><Relationship Id="rId35" Target="notesSlides/notesSlide6.xml" Type="http://schemas.openxmlformats.org/officeDocument/2006/relationships/notesSlide"/><Relationship Id="rId36" Target="notesSlides/notesSlide7.xml" Type="http://schemas.openxmlformats.org/officeDocument/2006/relationships/notesSlide"/><Relationship Id="rId37" Target="notesSlides/notesSlide8.xml" Type="http://schemas.openxmlformats.org/officeDocument/2006/relationships/notesSlide"/><Relationship Id="rId38" Target="notesSlides/notesSlide9.xml" Type="http://schemas.openxmlformats.org/officeDocument/2006/relationships/notesSlide"/><Relationship Id="rId39" Target="notesSlides/notesSlide10.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41" Target="notesSlides/notesSlide11.xml" Type="http://schemas.openxmlformats.org/officeDocument/2006/relationships/notesSlide"/><Relationship Id="rId42" Target="notesSlides/notesSlide12.xml" Type="http://schemas.openxmlformats.org/officeDocument/2006/relationships/notesSlide"/><Relationship Id="rId43" Target="fonts/font43.fntdata" Type="http://schemas.openxmlformats.org/officeDocument/2006/relationships/font"/><Relationship Id="rId44" Target="notesSlides/notesSlide13.xml" Type="http://schemas.openxmlformats.org/officeDocument/2006/relationships/notesSlide"/><Relationship Id="rId45" Target="notesSlides/notesSlide14.xml" Type="http://schemas.openxmlformats.org/officeDocument/2006/relationships/notesSlide"/><Relationship Id="rId46" Target="notesSlides/notesSlide15.xml" Type="http://schemas.openxmlformats.org/officeDocument/2006/relationships/notesSlide"/><Relationship Id="rId47" Target="notesSlides/notesSlide16.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hi guys (read title, introduce yourself)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don't read the individual points, just say something like "here is a brief overview of what we'll be covering today"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first a brief review on what DDIs actually are :</a:t>
            </a:r>
          </a:p>
          <a:p>
            <a:r>
              <a:rPr lang="en-US"/>
              <a:t/>
            </a:r>
          </a:p>
          <a:p>
            <a:r>
              <a:rPr lang="en-US"/>
              <a:t>when one drug alters the safety, efficacy, or activity of another drug</a:t>
            </a:r>
          </a:p>
          <a:p>
            <a:r>
              <a:rPr lang="en-US"/>
              <a:t/>
            </a:r>
          </a:p>
          <a:p>
            <a:r>
              <a:rPr lang="en-US"/>
              <a:t>cause adverse effects, reduce or increase treatment efficacy, or cause toxicity</a:t>
            </a:r>
          </a:p>
          <a:p>
            <a:r>
              <a:rPr lang="en-US"/>
              <a:t/>
            </a:r>
          </a:p>
          <a:p>
            <a:r>
              <a:rPr lang="en-US"/>
              <a:t>patients are often co-prescribed medications, so its important for clinicians to know both if the meds will interact with each other, and why. </a:t>
            </a:r>
          </a:p>
          <a:p>
            <a:r>
              <a:rPr lang="en-US"/>
              <a:t/>
            </a:r>
          </a:p>
          <a:p>
            <a:r>
              <a:rPr lang="en-US"/>
              <a:t>the first part of that task is classification, and the second part is reasoning </a:t>
            </a:r>
          </a:p>
          <a:p>
            <a:r>
              <a:rPr lang="en-US"/>
              <a:t/>
            </a:r>
          </a:p>
          <a:p>
            <a:r>
              <a:rPr lang="en-US"/>
              <a:t>this information is accessible through LLMs, but these models aren't feasible for deployment in clinical settings, but small language models 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with all of that in mind, we decided to explore whether its possible to distill the reasoning from a large model to get comparable classification and reasoning from a small model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determine if this was possible, we looked and other streams of research, for ideas </a:t>
            </a:r>
          </a:p>
          <a:p>
            <a:r>
              <a:rPr lang="en-US"/>
              <a:t/>
            </a:r>
          </a:p>
          <a:p>
            <a:r>
              <a:rPr lang="en-US"/>
              <a:t>we found wei and colleagues came up with CoT prompting </a:t>
            </a:r>
          </a:p>
          <a:p>
            <a:r>
              <a:rPr lang="en-US"/>
              <a:t/>
            </a:r>
          </a:p>
          <a:p>
            <a:r>
              <a:rPr lang="en-US"/>
              <a:t>gets large models to generate their reasoning steps, which increases accuracy dramatically</a:t>
            </a:r>
          </a:p>
          <a:p>
            <a:r>
              <a:rPr lang="en-US"/>
              <a:t/>
            </a:r>
          </a:p>
          <a:p>
            <a:r>
              <a:rPr lang="en-US"/>
              <a:t>they found small models produce fluent but factually incorrect information which actually hurts performance</a:t>
            </a:r>
          </a:p>
          <a:p>
            <a:r>
              <a:rPr lang="en-US"/>
              <a:t/>
            </a:r>
          </a:p>
          <a:p>
            <a:r>
              <a:rPr lang="en-US"/>
              <a:t>hinton et al found that it was possible to train a small model on the probability distributions of a large model, but this was for probabilities, not reasoning.</a:t>
            </a:r>
          </a:p>
          <a:p>
            <a:r>
              <a:rPr lang="en-US"/>
              <a:t/>
            </a:r>
          </a:p>
          <a:p>
            <a:r>
              <a:rPr lang="en-US"/>
              <a:t>Magister et al combined these ideas to show that reasoning can be distilled into small models via supervised fine tuning </a:t>
            </a:r>
          </a:p>
          <a:p>
            <a:r>
              <a:rPr lang="en-US"/>
              <a:t/>
            </a:r>
          </a:p>
          <a:p>
            <a:r>
              <a:rPr lang="en-US"/>
              <a:t>this was done on arithmetic, commonsense, and symbolic reasoning problems</a:t>
            </a:r>
          </a:p>
          <a:p>
            <a:r>
              <a:rPr lang="en-US"/>
              <a:t/>
            </a:r>
          </a:p>
          <a:p>
            <a:r>
              <a:rPr lang="en-US"/>
              <a:t>our work follows this pipeline directly, and applies it to biomedical data. </a:t>
            </a:r>
          </a:p>
          <a:p>
            <a:r>
              <a:rPr lang="en-US"/>
              <a:t/>
            </a:r>
          </a:p>
          <a:p>
            <a:r>
              <a:rPr lang="en-US"/>
              <a:t>lastly on the ddi side, devito et al found that fine tuned LLMs can achieve 91.9% classification for DDI interactions on balanced datsets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Used the dataset from TDC need to apply for it with a license biomedical database</a:t>
            </a:r>
          </a:p>
          <a:p>
            <a:r>
              <a:rPr lang="en-US"/>
              <a:t>From DrugBank and contains information from scientific literature and regulatory sources</a:t>
            </a:r>
          </a:p>
          <a:p>
            <a:r>
              <a:rPr lang="en-US"/>
              <a:t>Contains 191808 drug pairs across 86 interaction types</a:t>
            </a:r>
          </a:p>
          <a:p>
            <a:r>
              <a:rPr lang="en-US"/>
              <a:t>Each row includes 2 drug bank IDS, the SMILES strings, and an integer label corresponding to the interaction type</a:t>
            </a:r>
          </a:p>
          <a:p>
            <a:r>
              <a:rPr lang="en-US"/>
              <a:t>The input is a prompt with drug names and SMILES sequences → outputs predicted interaction type and reasoning</a:t>
            </a:r>
          </a:p>
          <a:p>
            <a:r>
              <a:rPr lang="en-US"/>
              <a:t>Limitation is severe class imbalance → largest class is 44184 examples while smallest contains only 5. This will be addressed later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Used the dataset from TDC need to apply for it with a license biomedical database</a:t>
            </a:r>
          </a:p>
          <a:p>
            <a:r>
              <a:rPr lang="en-US"/>
              <a:t>From DrugBank and contains information from scientific literature and regulatory sources</a:t>
            </a:r>
          </a:p>
          <a:p>
            <a:r>
              <a:rPr lang="en-US"/>
              <a:t>Contains 191808 drug pairs across 86 interaction types</a:t>
            </a:r>
          </a:p>
          <a:p>
            <a:r>
              <a:rPr lang="en-US"/>
              <a:t>Each row includes 2 drug bank IDS, the SMILES strings, and an integer label corresponding to the interaction type</a:t>
            </a:r>
          </a:p>
          <a:p>
            <a:r>
              <a:rPr lang="en-US"/>
              <a:t>The input is a prompt with drug names and SMILES sequences → outputs predicted interaction type and reasoning</a:t>
            </a:r>
          </a:p>
          <a:p>
            <a:r>
              <a:rPr lang="en-US"/>
              <a:t>Limitation is severe class imbalance → largest class is 44184 examples while smallest contains only 5. This will be addressed later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Stage 1: is the preprocessing that we previously explained</a:t>
            </a:r>
          </a:p>
          <a:p>
            <a:r>
              <a:rPr lang="en-US"/>
              <a:t/>
            </a:r>
          </a:p>
          <a:p>
            <a:r>
              <a:rPr lang="en-US"/>
              <a:t>Stage 2: is the teacher which contains the ground truth.</a:t>
            </a:r>
          </a:p>
          <a:p>
            <a:r>
              <a:rPr lang="en-US"/>
              <a:t>Each prompt includes pharmacologist system instruction, drug pair information, and 9 curated few shot examples and outputs the generates reasoning for all training pairs + interaction type </a:t>
            </a:r>
          </a:p>
          <a:p>
            <a:r>
              <a:rPr lang="en-US"/>
              <a:t>Stage 3: all 153,446 teacher traces are evaluated by 3 judges</a:t>
            </a:r>
          </a:p>
          <a:p>
            <a:r>
              <a:rPr lang="en-US"/>
              <a:t>Each judge evaluates trace on 5 dimensions and come to a consensus</a:t>
            </a:r>
          </a:p>
          <a:p>
            <a:r>
              <a:rPr lang="en-US"/>
              <a:t>If 2/3 judges pass the consensus, the traces retained are used for the student training</a:t>
            </a:r>
          </a:p>
          <a:p>
            <a:r>
              <a:rPr lang="en-US"/>
              <a:t/>
            </a:r>
          </a:p>
          <a:p>
            <a:r>
              <a:rPr lang="en-US"/>
              <a:t>Stage 4:  training is done in 2 phases</a:t>
            </a:r>
          </a:p>
          <a:p>
            <a:r>
              <a:rPr lang="en-US"/>
              <a:t>Phase 1: trains on classification labels only = classification baseline (which is just the classification on the integer label Y, no CoT)</a:t>
            </a:r>
          </a:p>
          <a:p>
            <a:r>
              <a:rPr lang="en-US"/>
              <a:t>Phase 2: Trains on CoT data, teaching the model to produce reasoning only</a:t>
            </a:r>
          </a:p>
          <a:p>
            <a:r>
              <a:rPr lang="en-US"/>
              <a:t/>
            </a:r>
          </a:p>
          <a:p>
            <a:r>
              <a:rPr lang="en-US"/>
              <a:t>Stage 5: Since model produces 2 outputs (interaction class and CoT) need different evaluation outputs</a:t>
            </a:r>
          </a:p>
          <a:p>
            <a:r>
              <a:rPr lang="en-US"/>
              <a:t>classification correctness → macro f1 (primary metric since it treats all classes equally)</a:t>
            </a:r>
          </a:p>
          <a:p>
            <a:r>
              <a:rPr lang="en-US"/>
              <a:t/>
            </a:r>
          </a:p>
          <a:p>
            <a:r>
              <a:rPr lang="en-US"/>
              <a:t>Layer 2: LLM as a judge </a:t>
            </a:r>
          </a:p>
          <a:p>
            <a:r>
              <a:rPr lang="en-US"/>
              <a:t>Reasoning transfer measures how well the student model can learn from the teacher using delta score between Cseq and teacher → positive delta indicates successful transfer on dimension 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reason why we choose Teacher — Llama-3.3-70B-Instruct:</a:t>
            </a:r>
          </a:p>
          <a:p>
            <a:r>
              <a:rPr lang="en-US"/>
              <a:t> Is because 70B parameters gives it strong reasoning capability</a:t>
            </a:r>
          </a:p>
          <a:p>
            <a:r>
              <a:rPr lang="en-US"/>
              <a:t>Can generate detailed step-by-step pharmacological explanations</a:t>
            </a:r>
          </a:p>
          <a:p>
            <a:r>
              <a:rPr lang="en-US"/>
              <a:t>Open-weight model — can be run locally on your infrastructure</a:t>
            </a:r>
          </a:p>
          <a:p>
            <a:r>
              <a:rPr lang="en-US"/>
              <a:t/>
            </a:r>
          </a:p>
          <a:p>
            <a:r>
              <a:rPr lang="en-US"/>
              <a:t>Student — Qwen2.5-7B-Instruct:</a:t>
            </a:r>
          </a:p>
          <a:p>
            <a:r>
              <a:rPr lang="en-US"/>
              <a:t>7B parameters — small enough to run on a single GPU in clinical settings</a:t>
            </a:r>
          </a:p>
          <a:p>
            <a:r>
              <a:rPr lang="en-US"/>
              <a:t>This is the whole point — deployment efficiency</a:t>
            </a:r>
          </a:p>
          <a:p>
            <a:r>
              <a:rPr lang="en-US"/>
              <a:t/>
            </a:r>
          </a:p>
          <a:p>
            <a:r>
              <a:rPr lang="en-US"/>
              <a:t>Qwen2.5-72B-Instruct: Strong general-purpose model with broad scientific knowledge.</a:t>
            </a:r>
          </a:p>
          <a:p>
            <a:r>
              <a:rPr lang="en-US"/>
              <a:t>DeepSeek-R1-Distill-Qwen-32BReasoning-specialized, good at evaluating logical chain coherence.</a:t>
            </a:r>
          </a:p>
          <a:p>
            <a:r>
              <a:rPr lang="en-US"/>
              <a:t/>
            </a:r>
          </a:p>
          <a:p>
            <a:r>
              <a:rPr lang="en-US"/>
              <a:t>Mistral-Large-123BIndependent third perspective from different architecture.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Vian - Here we see 4 different conditions. Each designed with the purpose of isolating the factors behind the classification-reasoning trade-off in CoT distillation.</a:t>
            </a:r>
          </a:p>
          <a:p>
            <a:r>
              <a:rPr lang="en-US"/>
              <a:t/>
            </a:r>
          </a:p>
          <a:p>
            <a:r>
              <a:rPr lang="en-US"/>
              <a:t>Condition B  its the simplest model and our baseline you give it the drug pair, it outputs the classification statement which averages 15.8 words. This serves as the accuracy UPPER bound. </a:t>
            </a:r>
          </a:p>
          <a:p>
            <a:r>
              <a:rPr lang="en-US"/>
              <a:t/>
            </a:r>
          </a:p>
          <a:p>
            <a:r>
              <a:rPr lang="en-US"/>
              <a:t>Condition C_naive jumps straight into training on full CoT traces (averaging ~ 300 words). The 95/5 token split means the gradient is almost entirely teaching reasoning, and classification gets almost nothing.</a:t>
            </a:r>
          </a:p>
          <a:p>
            <a:r>
              <a:rPr lang="en-US"/>
              <a:t/>
            </a:r>
          </a:p>
          <a:p>
            <a:r>
              <a:rPr lang="en-US"/>
              <a:t>C-seq uses a sequential two-phase curriculum:Phase 1 first trains on labels only, then Phase 2 continues from that checkpoint. By the time reasoning is introduced, the LoRA weights already encode strong classification knowledge. The reasoning training builds on top of an already-capable classifier. Think of it like learning a new skill without forgetting the one you already have.</a:t>
            </a:r>
          </a:p>
          <a:p>
            <a:r>
              <a:rPr lang="en-US"/>
              <a:t/>
            </a:r>
          </a:p>
          <a:p>
            <a:r>
              <a:rPr lang="en-US"/>
              <a:t>C_mix: "Interleaving labels and CoT 50/50 in a single run. The model sees a label-only example and learns to output a short classification. Then it sees a CoT example and learns to output a long reasoning trace.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Vian - </a:t>
            </a:r>
          </a:p>
          <a:p>
            <a:r>
              <a:rPr lang="en-US"/>
              <a:t>So Let's look at the numbers</a:t>
            </a:r>
          </a:p>
          <a:p>
            <a:r>
              <a:rPr lang="en-US"/>
              <a:t/>
            </a:r>
          </a:p>
          <a:p>
            <a:r>
              <a:rPr lang="en-US"/>
              <a:t>For condition B: Our baseline student model has a Macro F1 of 0.92, so 85 of 86 classes were predicted correctly and it only outputs the classification statement. It beats any other baseline.</a:t>
            </a:r>
          </a:p>
          <a:p>
            <a:r>
              <a:rPr lang="en-US"/>
              <a:t/>
            </a:r>
          </a:p>
          <a:p>
            <a:r>
              <a:rPr lang="en-US"/>
              <a:t>now for naive: remember its only chain-of-thought added directly. Macro F1 collapses to 0.55 — nearly a 40-point percentage drop. The model generates coherent reasoning, BUT it does not know how to classify.</a:t>
            </a:r>
          </a:p>
          <a:p>
            <a:r>
              <a:rPr lang="en-US"/>
              <a:t/>
            </a:r>
          </a:p>
          <a:p>
            <a:r>
              <a:rPr lang="en-US"/>
              <a:t>for seq: remember it has two phases.. the classfication first and reasoning second. This brings it back to 0.85 so we recover most of the gap — but a 7.2-point shortfall to B remains. This is the our primary contribution. </a:t>
            </a:r>
          </a:p>
          <a:p>
            <a:r>
              <a:rPr lang="en-US"/>
              <a:t/>
            </a:r>
          </a:p>
          <a:p>
            <a:r>
              <a:rPr lang="en-US"/>
              <a:t>for mix: Interleaving labels and CoT 50/50 in a single run...this scores 0.67...its worse than C_seq. so Mixing formats creates conflicting output expectations &amp; degrades both objectives. </a:t>
            </a:r>
          </a:p>
          <a:p>
            <a:r>
              <a:rPr lang="en-US"/>
              <a:t/>
            </a:r>
          </a:p>
          <a:p>
            <a:r>
              <a:rPr lang="en-US"/>
              <a:t>This confirms that order does matter and Sequential is clearly the right structure and for that reason let's investigate that 7.2 points gap further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Vian - </a:t>
            </a:r>
          </a:p>
          <a:p>
            <a:r>
              <a:rPr lang="en-US"/>
              <a:t>So we do a pairwise comparison — we take every prediction B and C_seq made on the same 38,000 test pairs and ask: where do they disagree?</a:t>
            </a:r>
          </a:p>
          <a:p>
            <a:r>
              <a:rPr lang="en-US"/>
              <a:t/>
            </a:r>
          </a:p>
          <a:p>
            <a:r>
              <a:rPr lang="en-US"/>
              <a:t>And it shows us this. B gets 3,704 right that C_seq gets wrong. C_seq only recovers 831 back. Net loss of 2,873 — and these aren't random errors.</a:t>
            </a:r>
          </a:p>
          <a:p>
            <a:r>
              <a:rPr lang="en-US"/>
              <a:t/>
            </a:r>
          </a:p>
          <a:p>
            <a:r>
              <a:rPr lang="en-US"/>
              <a:t>Here it shows us exactly where they go. Almost all of them cluster in the same three classes — 47, 73, and 49. All 3 are consequences of the same enzyme inhibition event. </a:t>
            </a:r>
          </a:p>
          <a:p>
            <a:r>
              <a:rPr lang="en-US"/>
              <a:t/>
            </a:r>
          </a:p>
          <a:p>
            <a:r>
              <a:rPr lang="en-US"/>
              <a:t>That's why 47 to 73 alone gives us 551 confusions. basically  The model is generating 300 words of reasoning about the two faces of the same mechanism. It has so much opportunity to talk itself into the adjacent class </a:t>
            </a:r>
          </a:p>
          <a:p>
            <a:r>
              <a:rPr lang="en-US"/>
              <a:t/>
            </a:r>
          </a:p>
          <a:p>
            <a:r>
              <a:rPr lang="en-US"/>
              <a:t>soooo More reasoning means more opportunity to reason wrong. We've identified the disease. Now let's talk about the cure.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error analysis points to 3 structural problems — and each one has a direct fix. Let's go row by row</a:t>
            </a:r>
          </a:p>
          <a:p>
            <a:r>
              <a:rPr lang="en-US"/>
              <a:t/>
            </a:r>
          </a:p>
          <a:p>
            <a:r>
              <a:rPr lang="en-US"/>
              <a:t/>
            </a:r>
          </a:p>
          <a:p>
            <a:r>
              <a:rPr lang="en-US"/>
              <a:t>VIAN</a:t>
            </a:r>
          </a:p>
          <a:p>
            <a:r>
              <a:rPr lang="en-US"/>
              <a:t>Token-level loss imbalance. </a:t>
            </a:r>
          </a:p>
          <a:p>
            <a:r>
              <a:rPr lang="en-US"/>
              <a:t/>
            </a:r>
          </a:p>
          <a:p>
            <a:r>
              <a:rPr lang="en-US"/>
              <a:t>In the Teacher CoT currently,  Standard cross-entropy spreads gradient proportionally, so 95% of training teaches reasoning and only 5% teaches classification.</a:t>
            </a:r>
          </a:p>
          <a:p>
            <a:r>
              <a:rPr lang="en-US"/>
              <a:t/>
            </a:r>
          </a:p>
          <a:p>
            <a:r>
              <a:rPr lang="en-US"/>
              <a:t>RAMEEN</a:t>
            </a:r>
          </a:p>
          <a:p>
            <a:r>
              <a:rPr lang="en-US"/>
              <a:t>To resolve this issue, we implemented a weighted loss function, which gives classification tokens 10x the weight. This doesnt solve the issue, but it makes the split closer to a 60-40 split instead of 95 5 </a:t>
            </a:r>
          </a:p>
          <a:p>
            <a:r>
              <a:rPr lang="en-US"/>
              <a:t/>
            </a:r>
          </a:p>
          <a:p>
            <a:r>
              <a:rPr lang="en-US"/>
              <a:t/>
            </a:r>
          </a:p>
          <a:p>
            <a:r>
              <a:rPr lang="en-US"/>
              <a:t>VIAN </a:t>
            </a:r>
          </a:p>
          <a:p>
            <a:r>
              <a:rPr lang="en-US"/>
              <a:t>Excessive CoT length. We audited the traces — 80% of the key mechanism keywords appear within the first 100 words. Everything after is elaboration the student can't really use.</a:t>
            </a:r>
          </a:p>
          <a:p>
            <a:r>
              <a:rPr lang="en-US"/>
              <a:t/>
            </a:r>
          </a:p>
          <a:p>
            <a:r>
              <a:rPr lang="en-US"/>
              <a:t>RAMEEN</a:t>
            </a:r>
          </a:p>
          <a:p>
            <a:r>
              <a:rPr lang="en-US"/>
              <a:t>So intuitively, we fix this by capping the maximum length for both the reasoning and classification to 100 words. </a:t>
            </a:r>
          </a:p>
          <a:p>
            <a:r>
              <a:rPr lang="en-US"/>
              <a:t/>
            </a:r>
          </a:p>
          <a:p>
            <a:r>
              <a:rPr lang="en-US"/>
              <a:t>VIAN</a:t>
            </a:r>
          </a:p>
          <a:p>
            <a:r>
              <a:rPr lang="en-US"/>
              <a:t>finally,</a:t>
            </a:r>
          </a:p>
          <a:p>
            <a:r>
              <a:rPr lang="en-US"/>
              <a:t>Extreme class imbalance that even resampling at T=0.5 only gets it to 94:1 — the rarest, classes still barely register in training.</a:t>
            </a:r>
          </a:p>
          <a:p>
            <a:r>
              <a:rPr lang="en-US"/>
              <a:t/>
            </a:r>
          </a:p>
          <a:p>
            <a:r>
              <a:rPr lang="en-US"/>
              <a:t>RAMEEEN</a:t>
            </a:r>
          </a:p>
          <a:p>
            <a:r>
              <a:rPr lang="en-US"/>
              <a:t>final fix we’re planning is aggressive resampling, which is where we raise the temperature to the probability of each class occurring. Which flattens the difference so the model gets shown rare classes much more frequently than they naturally occur, bringing that ratio closer to 10 to 1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proposed solution are C_wt which tests the weighted loss fix in isolation and  C_compact that stacks all three. Both are currently in training — we expect these to close, or eliminate, the remaining 7.2-point gap</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Vian-</a:t>
            </a:r>
          </a:p>
          <a:p>
            <a:r>
              <a:rPr lang="en-US"/>
              <a:t/>
            </a:r>
          </a:p>
          <a:p>
            <a:r>
              <a:rPr lang="en-US"/>
              <a:t>Three limitations — and importantly, each one has a known fix.</a:t>
            </a:r>
          </a:p>
          <a:p>
            <a:r>
              <a:rPr lang="en-US"/>
              <a:t/>
            </a:r>
          </a:p>
          <a:p>
            <a:r>
              <a:rPr lang="en-US"/>
              <a:t>01 — Unverified Teacher Outputs</a:t>
            </a:r>
          </a:p>
          <a:p>
            <a:r>
              <a:rPr lang="en-US"/>
              <a:t>"We never confirmed whether the teacher was hallucinating. Our LLM judges are general-purpose — they weren't trained on medical text, so they can't reliably catch a fabricated enzyme interaction. The fix is either medical-domain models like BioMedLM, or human expert review of the traces."</a:t>
            </a:r>
          </a:p>
          <a:p>
            <a:r>
              <a:rPr lang="en-US"/>
              <a:t>02 — Sparse Drug Context</a:t>
            </a:r>
          </a:p>
          <a:p>
            <a:r>
              <a:rPr lang="en-US"/>
              <a:t>"The teacher only saw drug names and SMILES strings. But a real drug profile includes enzyme affinities, protein binding, metabolite pathways. Without that, the teacher fills in the gaps itself — and the student learns the hallucination. DrugBank and PubChem already have full profiles. This is just a retrieval problem."</a:t>
            </a:r>
          </a:p>
          <a:p>
            <a:r>
              <a:rPr lang="en-US"/>
              <a:t>03 — No Domain Expert in the Loop</a:t>
            </a:r>
          </a:p>
          <a:p>
            <a:r>
              <a:rPr lang="en-US"/>
              <a:t>"This is the honest one. Like Abeer's mental health paper — the medical doctors caught details the AI researchers missed entirely. Pharmacological subtleties require that background knowledge. We didn't have it, and that's visible in our errors. The fix is clinical collaboration from the start, not just at the end."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Mohammad's</a:t>
            </a:r>
          </a:p>
          <a:p>
            <a:r>
              <a:rPr lang="en-US"/>
              <a:t/>
            </a:r>
          </a:p>
          <a:p>
            <a:r>
              <a:rPr lang="en-US"/>
              <a:t>As we mentioned earlier</a:t>
            </a:r>
          </a:p>
          <a:p>
            <a:r>
              <a:rPr lang="en-US"/>
              <a:t/>
            </a:r>
          </a:p>
          <a:p>
            <a:r>
              <a:rPr lang="en-US"/>
              <a:t>next steps are running the final two experimental conditions </a:t>
            </a:r>
          </a:p>
          <a:p>
            <a:r>
              <a:rPr lang="en-US"/>
              <a:t/>
            </a:r>
          </a:p>
          <a:p>
            <a:r>
              <a:rPr lang="en-US"/>
              <a:t>to see if we are able to get higher classification accuracy. </a:t>
            </a:r>
          </a:p>
          <a:p>
            <a:r>
              <a:rPr lang="en-US"/>
              <a:t/>
            </a:r>
          </a:p>
          <a:p>
            <a:r>
              <a:rPr lang="en-US"/>
              <a:t>Once we have these results, we will judge the student outputs using krippendorfs alpha on the same threshold (?)</a:t>
            </a:r>
          </a:p>
          <a:p>
            <a:r>
              <a:rPr lang="en-US"/>
              <a:t/>
            </a:r>
          </a:p>
          <a:p>
            <a:r>
              <a:rPr lang="en-US"/>
              <a:t>Shouldn’t we test something with the confusion pairs?</a:t>
            </a:r>
          </a:p>
          <a:p>
            <a:r>
              <a:rPr lang="en-US"/>
              <a:t/>
            </a:r>
          </a:p>
          <a:p>
            <a:r>
              <a:rPr lang="en-US"/>
              <a:t>And finally, we need to complete our final report.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H="true">
            <a:off x="1028700" y="0"/>
            <a:ext cx="4763" cy="5880162"/>
          </a:xfrm>
          <a:prstGeom prst="line">
            <a:avLst/>
          </a:prstGeom>
          <a:ln cap="flat" w="57150">
            <a:solidFill>
              <a:srgbClr val="3D4D55"/>
            </a:solidFill>
            <a:prstDash val="sysDash"/>
            <a:headEnd type="none" len="sm" w="sm"/>
            <a:tailEnd type="none" len="sm" w="sm"/>
          </a:ln>
        </p:spPr>
      </p:sp>
      <p:grpSp>
        <p:nvGrpSpPr>
          <p:cNvPr name="Group 3" id="3"/>
          <p:cNvGrpSpPr/>
          <p:nvPr/>
        </p:nvGrpSpPr>
        <p:grpSpPr>
          <a:xfrm rot="0">
            <a:off x="0" y="5880162"/>
            <a:ext cx="18288000" cy="4406838"/>
            <a:chOff x="0" y="0"/>
            <a:chExt cx="4816593" cy="1160649"/>
          </a:xfrm>
        </p:grpSpPr>
        <p:sp>
          <p:nvSpPr>
            <p:cNvPr name="Freeform 4" id="4"/>
            <p:cNvSpPr/>
            <p:nvPr/>
          </p:nvSpPr>
          <p:spPr>
            <a:xfrm flipH="false" flipV="false" rot="0">
              <a:off x="0" y="0"/>
              <a:ext cx="4816592" cy="1160649"/>
            </a:xfrm>
            <a:custGeom>
              <a:avLst/>
              <a:gdLst/>
              <a:ahLst/>
              <a:cxnLst/>
              <a:rect r="r" b="b" t="t" l="l"/>
              <a:pathLst>
                <a:path h="1160649" w="4816592">
                  <a:moveTo>
                    <a:pt x="0" y="0"/>
                  </a:moveTo>
                  <a:lnTo>
                    <a:pt x="4816592" y="0"/>
                  </a:lnTo>
                  <a:lnTo>
                    <a:pt x="4816592" y="1160649"/>
                  </a:lnTo>
                  <a:lnTo>
                    <a:pt x="0" y="1160649"/>
                  </a:lnTo>
                  <a:close/>
                </a:path>
              </a:pathLst>
            </a:custGeom>
            <a:solidFill>
              <a:srgbClr val="F2F1F1">
                <a:alpha val="80000"/>
              </a:srgbClr>
            </a:solidFill>
          </p:spPr>
        </p:sp>
        <p:sp>
          <p:nvSpPr>
            <p:cNvPr name="TextBox 5" id="5"/>
            <p:cNvSpPr txBox="true"/>
            <p:nvPr/>
          </p:nvSpPr>
          <p:spPr>
            <a:xfrm>
              <a:off x="0" y="-66675"/>
              <a:ext cx="4816593" cy="1227324"/>
            </a:xfrm>
            <a:prstGeom prst="rect">
              <a:avLst/>
            </a:prstGeom>
          </p:spPr>
          <p:txBody>
            <a:bodyPr anchor="ctr" rtlCol="false" tIns="50800" lIns="50800" bIns="50800" rIns="50800"/>
            <a:lstStyle/>
            <a:p>
              <a:pPr algn="ctr">
                <a:lnSpc>
                  <a:spcPts val="3359"/>
                </a:lnSpc>
              </a:pPr>
            </a:p>
          </p:txBody>
        </p:sp>
      </p:grpSp>
      <p:sp>
        <p:nvSpPr>
          <p:cNvPr name="TextBox 6" id="6"/>
          <p:cNvSpPr txBox="true"/>
          <p:nvPr/>
        </p:nvSpPr>
        <p:spPr>
          <a:xfrm rot="0">
            <a:off x="1691514" y="866775"/>
            <a:ext cx="15123756" cy="32099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CHAIN-OF-THOUGHT DISTILLATION FOR DRUG-DRUG INTERACTION </a:t>
            </a:r>
          </a:p>
        </p:txBody>
      </p:sp>
      <p:grpSp>
        <p:nvGrpSpPr>
          <p:cNvPr name="Group 7" id="7"/>
          <p:cNvGrpSpPr/>
          <p:nvPr/>
        </p:nvGrpSpPr>
        <p:grpSpPr>
          <a:xfrm rot="0">
            <a:off x="17010810" y="1028700"/>
            <a:ext cx="248490" cy="24849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9" id="9"/>
            <p:cNvSpPr txBox="true"/>
            <p:nvPr/>
          </p:nvSpPr>
          <p:spPr>
            <a:xfrm>
              <a:off x="0" y="-66675"/>
              <a:ext cx="812800" cy="879475"/>
            </a:xfrm>
            <a:prstGeom prst="rect">
              <a:avLst/>
            </a:prstGeom>
          </p:spPr>
          <p:txBody>
            <a:bodyPr anchor="ctr" rtlCol="false" tIns="50800" lIns="50800" bIns="50800" rIns="50800"/>
            <a:lstStyle/>
            <a:p>
              <a:pPr algn="ctr">
                <a:lnSpc>
                  <a:spcPts val="3359"/>
                </a:lnSpc>
              </a:pPr>
            </a:p>
          </p:txBody>
        </p:sp>
      </p:grpSp>
      <p:sp>
        <p:nvSpPr>
          <p:cNvPr name="TextBox 10" id="10"/>
          <p:cNvSpPr txBox="true"/>
          <p:nvPr/>
        </p:nvSpPr>
        <p:spPr>
          <a:xfrm rot="0">
            <a:off x="1386582" y="4744228"/>
            <a:ext cx="15514837" cy="950595"/>
          </a:xfrm>
          <a:prstGeom prst="rect">
            <a:avLst/>
          </a:prstGeom>
        </p:spPr>
        <p:txBody>
          <a:bodyPr anchor="t" rtlCol="false" tIns="0" lIns="0" bIns="0" rIns="0">
            <a:spAutoFit/>
          </a:bodyPr>
          <a:lstStyle/>
          <a:p>
            <a:pPr algn="ctr">
              <a:lnSpc>
                <a:spcPts val="3779"/>
              </a:lnSpc>
              <a:spcBef>
                <a:spcPct val="0"/>
              </a:spcBef>
            </a:pPr>
            <a:r>
              <a:rPr lang="en-US" sz="2699" spc="269">
                <a:solidFill>
                  <a:srgbClr val="000000"/>
                </a:solidFill>
                <a:latin typeface="Helios Extended"/>
                <a:ea typeface="Helios Extended"/>
                <a:cs typeface="Helios Extended"/>
                <a:sym typeface="Helios Extended"/>
              </a:rPr>
              <a:t>Transferring Pharmacological Reasoning from Large to Small Language</a:t>
            </a:r>
          </a:p>
          <a:p>
            <a:pPr algn="ctr">
              <a:lnSpc>
                <a:spcPts val="3779"/>
              </a:lnSpc>
              <a:spcBef>
                <a:spcPct val="0"/>
              </a:spcBef>
            </a:pPr>
            <a:r>
              <a:rPr lang="en-US" sz="2699" spc="269">
                <a:solidFill>
                  <a:srgbClr val="000000"/>
                </a:solidFill>
                <a:latin typeface="Helios Extended"/>
                <a:ea typeface="Helios Extended"/>
                <a:cs typeface="Helios Extended"/>
                <a:sym typeface="Helios Extended"/>
              </a:rPr>
              <a:t>Models</a:t>
            </a:r>
          </a:p>
        </p:txBody>
      </p:sp>
      <p:sp>
        <p:nvSpPr>
          <p:cNvPr name="TextBox 11" id="11"/>
          <p:cNvSpPr txBox="true"/>
          <p:nvPr/>
        </p:nvSpPr>
        <p:spPr>
          <a:xfrm rot="0">
            <a:off x="824015" y="7493666"/>
            <a:ext cx="16858755" cy="556895"/>
          </a:xfrm>
          <a:prstGeom prst="rect">
            <a:avLst/>
          </a:prstGeom>
        </p:spPr>
        <p:txBody>
          <a:bodyPr anchor="t" rtlCol="false" tIns="0" lIns="0" bIns="0" rIns="0">
            <a:spAutoFit/>
          </a:bodyPr>
          <a:lstStyle/>
          <a:p>
            <a:pPr algn="ctr">
              <a:lnSpc>
                <a:spcPts val="4480"/>
              </a:lnSpc>
            </a:pPr>
            <a:r>
              <a:rPr lang="en-US" sz="3200">
                <a:solidFill>
                  <a:srgbClr val="000000"/>
                </a:solidFill>
                <a:latin typeface="Helios Extended"/>
                <a:ea typeface="Helios Extended"/>
                <a:cs typeface="Helios Extended"/>
                <a:sym typeface="Helios Extended"/>
              </a:rPr>
              <a:t>Yumna</a:t>
            </a:r>
            <a:r>
              <a:rPr lang="en-US" sz="3200">
                <a:solidFill>
                  <a:srgbClr val="000000"/>
                </a:solidFill>
                <a:latin typeface="Helios Extended"/>
                <a:ea typeface="Helios Extended"/>
                <a:cs typeface="Helios Extended"/>
                <a:sym typeface="Helios Extended"/>
              </a:rPr>
              <a:t> Khan · Rameen Jafri · Vian Lelo · Mohammadreza Riyazat · Yuyao Wu</a:t>
            </a:r>
          </a:p>
        </p:txBody>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82226" y="945354"/>
            <a:ext cx="14523548" cy="1076251"/>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AGENDA OVERVIEW</a:t>
            </a:r>
          </a:p>
        </p:txBody>
      </p:sp>
      <p:sp>
        <p:nvSpPr>
          <p:cNvPr name="TextBox 3" id="3"/>
          <p:cNvSpPr txBox="true"/>
          <p:nvPr/>
        </p:nvSpPr>
        <p:spPr>
          <a:xfrm rot="0">
            <a:off x="1882226" y="2129873"/>
            <a:ext cx="4775418" cy="1076251"/>
          </a:xfrm>
          <a:prstGeom prst="rect">
            <a:avLst/>
          </a:prstGeom>
        </p:spPr>
        <p:txBody>
          <a:bodyPr anchor="t" rtlCol="false" tIns="0" lIns="0" bIns="0" rIns="0">
            <a:spAutoFit/>
          </a:bodyPr>
          <a:lstStyle/>
          <a:p>
            <a:pPr algn="l" marL="0" indent="0" lvl="0">
              <a:lnSpc>
                <a:spcPts val="8400"/>
              </a:lnSpc>
            </a:pPr>
            <a:r>
              <a:rPr lang="en-US" b="true" sz="6000" spc="300">
                <a:solidFill>
                  <a:srgbClr val="A79E9C"/>
                </a:solidFill>
                <a:latin typeface="Helios Extended Bold"/>
                <a:ea typeface="Helios Extended Bold"/>
                <a:cs typeface="Helios Extended Bold"/>
                <a:sym typeface="Helios Extended Bold"/>
              </a:rPr>
              <a:t>01</a:t>
            </a:r>
          </a:p>
        </p:txBody>
      </p:sp>
      <p:sp>
        <p:nvSpPr>
          <p:cNvPr name="TextBox 4" id="4"/>
          <p:cNvSpPr txBox="true"/>
          <p:nvPr/>
        </p:nvSpPr>
        <p:spPr>
          <a:xfrm rot="0">
            <a:off x="11630356" y="3161045"/>
            <a:ext cx="4775418" cy="1076251"/>
          </a:xfrm>
          <a:prstGeom prst="rect">
            <a:avLst/>
          </a:prstGeom>
        </p:spPr>
        <p:txBody>
          <a:bodyPr anchor="t" rtlCol="false" tIns="0" lIns="0" bIns="0" rIns="0">
            <a:spAutoFit/>
          </a:bodyPr>
          <a:lstStyle/>
          <a:p>
            <a:pPr algn="l" marL="0" indent="0" lvl="0">
              <a:lnSpc>
                <a:spcPts val="8400"/>
              </a:lnSpc>
            </a:pPr>
            <a:r>
              <a:rPr lang="en-US" b="true" sz="6000" spc="300">
                <a:solidFill>
                  <a:srgbClr val="A79E9C"/>
                </a:solidFill>
                <a:latin typeface="Helios Extended Bold"/>
                <a:ea typeface="Helios Extended Bold"/>
                <a:cs typeface="Helios Extended Bold"/>
                <a:sym typeface="Helios Extended Bold"/>
              </a:rPr>
              <a:t>05</a:t>
            </a:r>
          </a:p>
        </p:txBody>
      </p:sp>
      <p:sp>
        <p:nvSpPr>
          <p:cNvPr name="TextBox 5" id="5"/>
          <p:cNvSpPr txBox="true"/>
          <p:nvPr/>
        </p:nvSpPr>
        <p:spPr>
          <a:xfrm rot="0">
            <a:off x="1882226" y="3966162"/>
            <a:ext cx="4775418" cy="1076251"/>
          </a:xfrm>
          <a:prstGeom prst="rect">
            <a:avLst/>
          </a:prstGeom>
        </p:spPr>
        <p:txBody>
          <a:bodyPr anchor="t" rtlCol="false" tIns="0" lIns="0" bIns="0" rIns="0">
            <a:spAutoFit/>
          </a:bodyPr>
          <a:lstStyle/>
          <a:p>
            <a:pPr algn="l" marL="0" indent="0" lvl="0">
              <a:lnSpc>
                <a:spcPts val="8400"/>
              </a:lnSpc>
            </a:pPr>
            <a:r>
              <a:rPr lang="en-US" b="true" sz="6000" spc="300">
                <a:solidFill>
                  <a:srgbClr val="A79E9C"/>
                </a:solidFill>
                <a:latin typeface="Helios Extended Bold"/>
                <a:ea typeface="Helios Extended Bold"/>
                <a:cs typeface="Helios Extended Bold"/>
                <a:sym typeface="Helios Extended Bold"/>
              </a:rPr>
              <a:t>02</a:t>
            </a:r>
          </a:p>
        </p:txBody>
      </p:sp>
      <p:sp>
        <p:nvSpPr>
          <p:cNvPr name="TextBox 6" id="6"/>
          <p:cNvSpPr txBox="true"/>
          <p:nvPr/>
        </p:nvSpPr>
        <p:spPr>
          <a:xfrm rot="0">
            <a:off x="11630356" y="4997334"/>
            <a:ext cx="4775418" cy="1076251"/>
          </a:xfrm>
          <a:prstGeom prst="rect">
            <a:avLst/>
          </a:prstGeom>
        </p:spPr>
        <p:txBody>
          <a:bodyPr anchor="t" rtlCol="false" tIns="0" lIns="0" bIns="0" rIns="0">
            <a:spAutoFit/>
          </a:bodyPr>
          <a:lstStyle/>
          <a:p>
            <a:pPr algn="l" marL="0" indent="0" lvl="0">
              <a:lnSpc>
                <a:spcPts val="8400"/>
              </a:lnSpc>
            </a:pPr>
            <a:r>
              <a:rPr lang="en-US" b="true" sz="6000" spc="300">
                <a:solidFill>
                  <a:srgbClr val="A79E9C"/>
                </a:solidFill>
                <a:latin typeface="Helios Extended Bold"/>
                <a:ea typeface="Helios Extended Bold"/>
                <a:cs typeface="Helios Extended Bold"/>
                <a:sym typeface="Helios Extended Bold"/>
              </a:rPr>
              <a:t>06</a:t>
            </a:r>
          </a:p>
        </p:txBody>
      </p:sp>
      <p:sp>
        <p:nvSpPr>
          <p:cNvPr name="TextBox 7" id="7"/>
          <p:cNvSpPr txBox="true"/>
          <p:nvPr/>
        </p:nvSpPr>
        <p:spPr>
          <a:xfrm rot="0">
            <a:off x="1882226" y="5805615"/>
            <a:ext cx="4775418" cy="1076251"/>
          </a:xfrm>
          <a:prstGeom prst="rect">
            <a:avLst/>
          </a:prstGeom>
        </p:spPr>
        <p:txBody>
          <a:bodyPr anchor="t" rtlCol="false" tIns="0" lIns="0" bIns="0" rIns="0">
            <a:spAutoFit/>
          </a:bodyPr>
          <a:lstStyle/>
          <a:p>
            <a:pPr algn="l" marL="0" indent="0" lvl="0">
              <a:lnSpc>
                <a:spcPts val="8400"/>
              </a:lnSpc>
            </a:pPr>
            <a:r>
              <a:rPr lang="en-US" b="true" sz="6000" spc="300">
                <a:solidFill>
                  <a:srgbClr val="A79E9C"/>
                </a:solidFill>
                <a:latin typeface="Helios Extended Bold"/>
                <a:ea typeface="Helios Extended Bold"/>
                <a:cs typeface="Helios Extended Bold"/>
                <a:sym typeface="Helios Extended Bold"/>
              </a:rPr>
              <a:t>03</a:t>
            </a:r>
          </a:p>
        </p:txBody>
      </p:sp>
      <p:sp>
        <p:nvSpPr>
          <p:cNvPr name="TextBox 8" id="8"/>
          <p:cNvSpPr txBox="true"/>
          <p:nvPr/>
        </p:nvSpPr>
        <p:spPr>
          <a:xfrm rot="0">
            <a:off x="11630356" y="6836787"/>
            <a:ext cx="4775418" cy="1076251"/>
          </a:xfrm>
          <a:prstGeom prst="rect">
            <a:avLst/>
          </a:prstGeom>
        </p:spPr>
        <p:txBody>
          <a:bodyPr anchor="t" rtlCol="false" tIns="0" lIns="0" bIns="0" rIns="0">
            <a:spAutoFit/>
          </a:bodyPr>
          <a:lstStyle/>
          <a:p>
            <a:pPr algn="l" marL="0" indent="0" lvl="0">
              <a:lnSpc>
                <a:spcPts val="8400"/>
              </a:lnSpc>
            </a:pPr>
            <a:r>
              <a:rPr lang="en-US" b="true" sz="6000" spc="300">
                <a:solidFill>
                  <a:srgbClr val="A79E9C"/>
                </a:solidFill>
                <a:latin typeface="Helios Extended Bold"/>
                <a:ea typeface="Helios Extended Bold"/>
                <a:cs typeface="Helios Extended Bold"/>
                <a:sym typeface="Helios Extended Bold"/>
              </a:rPr>
              <a:t>07</a:t>
            </a:r>
          </a:p>
        </p:txBody>
      </p:sp>
      <p:sp>
        <p:nvSpPr>
          <p:cNvPr name="TextBox 9" id="9"/>
          <p:cNvSpPr txBox="true"/>
          <p:nvPr/>
        </p:nvSpPr>
        <p:spPr>
          <a:xfrm rot="0">
            <a:off x="1882226" y="3256295"/>
            <a:ext cx="4775418" cy="408305"/>
          </a:xfrm>
          <a:prstGeom prst="rect">
            <a:avLst/>
          </a:prstGeom>
        </p:spPr>
        <p:txBody>
          <a:bodyPr anchor="t" rtlCol="false" tIns="0" lIns="0" bIns="0" rIns="0">
            <a:spAutoFit/>
          </a:bodyPr>
          <a:lstStyle/>
          <a:p>
            <a:pPr algn="l" marL="0" indent="0" lvl="0">
              <a:lnSpc>
                <a:spcPts val="3219"/>
              </a:lnSpc>
            </a:pPr>
            <a:r>
              <a:rPr lang="en-US" b="true" sz="2299" spc="229">
                <a:solidFill>
                  <a:srgbClr val="000000"/>
                </a:solidFill>
                <a:latin typeface="Helios Extended Bold"/>
                <a:ea typeface="Helios Extended Bold"/>
                <a:cs typeface="Helios Extended Bold"/>
                <a:sym typeface="Helios Extended Bold"/>
              </a:rPr>
              <a:t>INTRODUCTION</a:t>
            </a:r>
          </a:p>
        </p:txBody>
      </p:sp>
      <p:sp>
        <p:nvSpPr>
          <p:cNvPr name="TextBox 10" id="10"/>
          <p:cNvSpPr txBox="true"/>
          <p:nvPr/>
        </p:nvSpPr>
        <p:spPr>
          <a:xfrm rot="0">
            <a:off x="11630356" y="4287467"/>
            <a:ext cx="4775418" cy="408305"/>
          </a:xfrm>
          <a:prstGeom prst="rect">
            <a:avLst/>
          </a:prstGeom>
        </p:spPr>
        <p:txBody>
          <a:bodyPr anchor="t" rtlCol="false" tIns="0" lIns="0" bIns="0" rIns="0">
            <a:spAutoFit/>
          </a:bodyPr>
          <a:lstStyle/>
          <a:p>
            <a:pPr algn="l" marL="0" indent="0" lvl="0">
              <a:lnSpc>
                <a:spcPts val="3219"/>
              </a:lnSpc>
            </a:pPr>
            <a:r>
              <a:rPr lang="en-US" b="true" sz="2299" spc="229">
                <a:solidFill>
                  <a:srgbClr val="000000"/>
                </a:solidFill>
                <a:latin typeface="Helios Extended Bold"/>
                <a:ea typeface="Helios Extended Bold"/>
                <a:cs typeface="Helios Extended Bold"/>
                <a:sym typeface="Helios Extended Bold"/>
              </a:rPr>
              <a:t>DISCUSSION</a:t>
            </a:r>
          </a:p>
        </p:txBody>
      </p:sp>
      <p:sp>
        <p:nvSpPr>
          <p:cNvPr name="TextBox 11" id="11"/>
          <p:cNvSpPr txBox="true"/>
          <p:nvPr/>
        </p:nvSpPr>
        <p:spPr>
          <a:xfrm rot="0">
            <a:off x="1882226" y="5092584"/>
            <a:ext cx="4775418" cy="408305"/>
          </a:xfrm>
          <a:prstGeom prst="rect">
            <a:avLst/>
          </a:prstGeom>
        </p:spPr>
        <p:txBody>
          <a:bodyPr anchor="t" rtlCol="false" tIns="0" lIns="0" bIns="0" rIns="0">
            <a:spAutoFit/>
          </a:bodyPr>
          <a:lstStyle/>
          <a:p>
            <a:pPr algn="l" marL="0" indent="0" lvl="0">
              <a:lnSpc>
                <a:spcPts val="3219"/>
              </a:lnSpc>
            </a:pPr>
            <a:r>
              <a:rPr lang="en-US" b="true" sz="2299" spc="229">
                <a:solidFill>
                  <a:srgbClr val="000000"/>
                </a:solidFill>
                <a:latin typeface="Helios Extended Bold"/>
                <a:ea typeface="Helios Extended Bold"/>
                <a:cs typeface="Helios Extended Bold"/>
                <a:sym typeface="Helios Extended Bold"/>
              </a:rPr>
              <a:t>RELATED WORK</a:t>
            </a:r>
          </a:p>
        </p:txBody>
      </p:sp>
      <p:sp>
        <p:nvSpPr>
          <p:cNvPr name="TextBox 12" id="12"/>
          <p:cNvSpPr txBox="true"/>
          <p:nvPr/>
        </p:nvSpPr>
        <p:spPr>
          <a:xfrm rot="0">
            <a:off x="11630356" y="6123756"/>
            <a:ext cx="4775418" cy="408305"/>
          </a:xfrm>
          <a:prstGeom prst="rect">
            <a:avLst/>
          </a:prstGeom>
        </p:spPr>
        <p:txBody>
          <a:bodyPr anchor="t" rtlCol="false" tIns="0" lIns="0" bIns="0" rIns="0">
            <a:spAutoFit/>
          </a:bodyPr>
          <a:lstStyle/>
          <a:p>
            <a:pPr algn="l" marL="0" indent="0" lvl="0">
              <a:lnSpc>
                <a:spcPts val="3219"/>
              </a:lnSpc>
            </a:pPr>
            <a:r>
              <a:rPr lang="en-US" b="true" sz="2299" spc="229">
                <a:solidFill>
                  <a:srgbClr val="000000"/>
                </a:solidFill>
                <a:latin typeface="Helios Extended Bold"/>
                <a:ea typeface="Helios Extended Bold"/>
                <a:cs typeface="Helios Extended Bold"/>
                <a:sym typeface="Helios Extended Bold"/>
              </a:rPr>
              <a:t>LIMITATION</a:t>
            </a:r>
          </a:p>
        </p:txBody>
      </p:sp>
      <p:sp>
        <p:nvSpPr>
          <p:cNvPr name="TextBox 13" id="13"/>
          <p:cNvSpPr txBox="true"/>
          <p:nvPr/>
        </p:nvSpPr>
        <p:spPr>
          <a:xfrm rot="0">
            <a:off x="1882226" y="6932037"/>
            <a:ext cx="4775418" cy="408305"/>
          </a:xfrm>
          <a:prstGeom prst="rect">
            <a:avLst/>
          </a:prstGeom>
        </p:spPr>
        <p:txBody>
          <a:bodyPr anchor="t" rtlCol="false" tIns="0" lIns="0" bIns="0" rIns="0">
            <a:spAutoFit/>
          </a:bodyPr>
          <a:lstStyle/>
          <a:p>
            <a:pPr algn="l" marL="0" indent="0" lvl="0">
              <a:lnSpc>
                <a:spcPts val="3219"/>
              </a:lnSpc>
            </a:pPr>
            <a:r>
              <a:rPr lang="en-US" b="true" sz="2299" spc="229">
                <a:solidFill>
                  <a:srgbClr val="000000"/>
                </a:solidFill>
                <a:latin typeface="Helios Extended Bold"/>
                <a:ea typeface="Helios Extended Bold"/>
                <a:cs typeface="Helios Extended Bold"/>
                <a:sym typeface="Helios Extended Bold"/>
              </a:rPr>
              <a:t>METHODOLOGY</a:t>
            </a:r>
          </a:p>
        </p:txBody>
      </p:sp>
      <p:sp>
        <p:nvSpPr>
          <p:cNvPr name="TextBox 14" id="14"/>
          <p:cNvSpPr txBox="true"/>
          <p:nvPr/>
        </p:nvSpPr>
        <p:spPr>
          <a:xfrm rot="0">
            <a:off x="11630356" y="7963209"/>
            <a:ext cx="4775418" cy="808355"/>
          </a:xfrm>
          <a:prstGeom prst="rect">
            <a:avLst/>
          </a:prstGeom>
        </p:spPr>
        <p:txBody>
          <a:bodyPr anchor="t" rtlCol="false" tIns="0" lIns="0" bIns="0" rIns="0">
            <a:spAutoFit/>
          </a:bodyPr>
          <a:lstStyle/>
          <a:p>
            <a:pPr algn="l" marL="0" indent="0" lvl="0">
              <a:lnSpc>
                <a:spcPts val="3219"/>
              </a:lnSpc>
            </a:pPr>
            <a:r>
              <a:rPr lang="en-US" b="true" sz="2299" spc="229">
                <a:solidFill>
                  <a:srgbClr val="000000"/>
                </a:solidFill>
                <a:latin typeface="Helios Extended Bold"/>
                <a:ea typeface="Helios Extended Bold"/>
                <a:cs typeface="Helios Extended Bold"/>
                <a:sym typeface="Helios Extended Bold"/>
              </a:rPr>
              <a:t>CONCLUSION &amp; NEXT STEPS</a:t>
            </a:r>
          </a:p>
        </p:txBody>
      </p:sp>
      <p:sp>
        <p:nvSpPr>
          <p:cNvPr name="TextBox 15" id="15"/>
          <p:cNvSpPr txBox="true"/>
          <p:nvPr/>
        </p:nvSpPr>
        <p:spPr>
          <a:xfrm rot="0">
            <a:off x="1882226" y="7645068"/>
            <a:ext cx="4775418" cy="1076251"/>
          </a:xfrm>
          <a:prstGeom prst="rect">
            <a:avLst/>
          </a:prstGeom>
        </p:spPr>
        <p:txBody>
          <a:bodyPr anchor="t" rtlCol="false" tIns="0" lIns="0" bIns="0" rIns="0">
            <a:spAutoFit/>
          </a:bodyPr>
          <a:lstStyle/>
          <a:p>
            <a:pPr algn="l" marL="0" indent="0" lvl="0">
              <a:lnSpc>
                <a:spcPts val="8400"/>
              </a:lnSpc>
            </a:pPr>
            <a:r>
              <a:rPr lang="en-US" b="true" sz="6000" spc="300">
                <a:solidFill>
                  <a:srgbClr val="A79E9C"/>
                </a:solidFill>
                <a:latin typeface="Helios Extended Bold"/>
                <a:ea typeface="Helios Extended Bold"/>
                <a:cs typeface="Helios Extended Bold"/>
                <a:sym typeface="Helios Extended Bold"/>
              </a:rPr>
              <a:t>04</a:t>
            </a:r>
          </a:p>
        </p:txBody>
      </p:sp>
      <p:sp>
        <p:nvSpPr>
          <p:cNvPr name="TextBox 16" id="16"/>
          <p:cNvSpPr txBox="true"/>
          <p:nvPr/>
        </p:nvSpPr>
        <p:spPr>
          <a:xfrm rot="0">
            <a:off x="1882226" y="8771490"/>
            <a:ext cx="4775418" cy="408305"/>
          </a:xfrm>
          <a:prstGeom prst="rect">
            <a:avLst/>
          </a:prstGeom>
        </p:spPr>
        <p:txBody>
          <a:bodyPr anchor="t" rtlCol="false" tIns="0" lIns="0" bIns="0" rIns="0">
            <a:spAutoFit/>
          </a:bodyPr>
          <a:lstStyle/>
          <a:p>
            <a:pPr algn="l" marL="0" indent="0" lvl="0">
              <a:lnSpc>
                <a:spcPts val="3219"/>
              </a:lnSpc>
            </a:pPr>
            <a:r>
              <a:rPr lang="en-US" b="true" sz="2299" spc="229">
                <a:solidFill>
                  <a:srgbClr val="000000"/>
                </a:solidFill>
                <a:latin typeface="Helios Extended Bold"/>
                <a:ea typeface="Helios Extended Bold"/>
                <a:cs typeface="Helios Extended Bold"/>
                <a:sym typeface="Helios Extended Bold"/>
              </a:rPr>
              <a:t>RESULTS</a:t>
            </a:r>
          </a:p>
        </p:txBody>
      </p:sp>
      <p:sp>
        <p:nvSpPr>
          <p:cNvPr name="AutoShape 17" id="17"/>
          <p:cNvSpPr/>
          <p:nvPr/>
        </p:nvSpPr>
        <p:spPr>
          <a:xfrm>
            <a:off x="9144000" y="5967540"/>
            <a:ext cx="28575" cy="4319460"/>
          </a:xfrm>
          <a:prstGeom prst="line">
            <a:avLst/>
          </a:prstGeom>
          <a:ln cap="flat" w="57150">
            <a:solidFill>
              <a:srgbClr val="3D4D55"/>
            </a:solidFill>
            <a:prstDash val="sysDash"/>
            <a:headEnd type="none" len="sm" w="sm"/>
            <a:tailEnd type="none" len="sm" w="sm"/>
          </a:ln>
        </p:spPr>
      </p:sp>
      <p:grpSp>
        <p:nvGrpSpPr>
          <p:cNvPr name="Group 18" id="18"/>
          <p:cNvGrpSpPr/>
          <p:nvPr/>
        </p:nvGrpSpPr>
        <p:grpSpPr>
          <a:xfrm rot="0">
            <a:off x="17259300" y="9258300"/>
            <a:ext cx="248490" cy="24849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20" id="20"/>
            <p:cNvSpPr txBox="true"/>
            <p:nvPr/>
          </p:nvSpPr>
          <p:spPr>
            <a:xfrm>
              <a:off x="0" y="-66675"/>
              <a:ext cx="812800" cy="879475"/>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780210" y="780210"/>
            <a:ext cx="248490" cy="248490"/>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23" id="23"/>
            <p:cNvSpPr txBox="true"/>
            <p:nvPr/>
          </p:nvSpPr>
          <p:spPr>
            <a:xfrm>
              <a:off x="0" y="-66675"/>
              <a:ext cx="812800" cy="879475"/>
            </a:xfrm>
            <a:prstGeom prst="rect">
              <a:avLst/>
            </a:prstGeom>
          </p:spPr>
          <p:txBody>
            <a:bodyPr anchor="ctr" rtlCol="false" tIns="50800" lIns="50800" bIns="50800" rIns="50800"/>
            <a:lstStyle/>
            <a:p>
              <a:pPr algn="ctr">
                <a:lnSpc>
                  <a:spcPts val="3359"/>
                </a:lnSpc>
              </a:pPr>
            </a:p>
          </p:txBody>
        </p:sp>
      </p:grpSp>
      <p:sp>
        <p:nvSpPr>
          <p:cNvPr name="TextBox 24" id="2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46304"/>
            <a:chOff x="0" y="0"/>
            <a:chExt cx="24384000" cy="195072"/>
          </a:xfrm>
        </p:grpSpPr>
        <p:sp>
          <p:nvSpPr>
            <p:cNvPr name="Freeform 3" id="3"/>
            <p:cNvSpPr/>
            <p:nvPr/>
          </p:nvSpPr>
          <p:spPr>
            <a:xfrm flipH="false" flipV="false" rot="0">
              <a:off x="0" y="0"/>
              <a:ext cx="24384000" cy="195072"/>
            </a:xfrm>
            <a:custGeom>
              <a:avLst/>
              <a:gdLst/>
              <a:ahLst/>
              <a:cxnLst/>
              <a:rect r="r" b="b" t="t" l="l"/>
              <a:pathLst>
                <a:path h="195072" w="24384000">
                  <a:moveTo>
                    <a:pt x="0" y="0"/>
                  </a:moveTo>
                  <a:lnTo>
                    <a:pt x="24384000" y="0"/>
                  </a:lnTo>
                  <a:lnTo>
                    <a:pt x="24384000" y="195072"/>
                  </a:lnTo>
                  <a:lnTo>
                    <a:pt x="0" y="195072"/>
                  </a:lnTo>
                  <a:close/>
                </a:path>
              </a:pathLst>
            </a:custGeom>
            <a:solidFill>
              <a:srgbClr val="3D4D55"/>
            </a:solidFill>
          </p:spPr>
        </p:sp>
      </p:grpSp>
      <p:grpSp>
        <p:nvGrpSpPr>
          <p:cNvPr name="Group 4" id="4"/>
          <p:cNvGrpSpPr/>
          <p:nvPr/>
        </p:nvGrpSpPr>
        <p:grpSpPr>
          <a:xfrm rot="0">
            <a:off x="4906871" y="563942"/>
            <a:ext cx="8474258" cy="1097280"/>
            <a:chOff x="0" y="0"/>
            <a:chExt cx="11299010" cy="1463040"/>
          </a:xfrm>
        </p:grpSpPr>
        <p:sp>
          <p:nvSpPr>
            <p:cNvPr name="Freeform 5" id="5"/>
            <p:cNvSpPr/>
            <p:nvPr/>
          </p:nvSpPr>
          <p:spPr>
            <a:xfrm flipH="false" flipV="false" rot="0">
              <a:off x="0" y="0"/>
              <a:ext cx="11299010" cy="1463040"/>
            </a:xfrm>
            <a:custGeom>
              <a:avLst/>
              <a:gdLst/>
              <a:ahLst/>
              <a:cxnLst/>
              <a:rect r="r" b="b" t="t" l="l"/>
              <a:pathLst>
                <a:path h="1463040" w="11299010">
                  <a:moveTo>
                    <a:pt x="0" y="0"/>
                  </a:moveTo>
                  <a:lnTo>
                    <a:pt x="11299010" y="0"/>
                  </a:lnTo>
                  <a:lnTo>
                    <a:pt x="11299010" y="1463040"/>
                  </a:lnTo>
                  <a:lnTo>
                    <a:pt x="0" y="1463040"/>
                  </a:lnTo>
                  <a:close/>
                </a:path>
              </a:pathLst>
            </a:custGeom>
            <a:blipFill>
              <a:blip r:embed="rId3">
                <a:alphaModFix amt="0"/>
              </a:blip>
              <a:stretch>
                <a:fillRect l="0" t="-203305" r="-68329" b="-203305"/>
              </a:stretch>
            </a:blipFill>
          </p:spPr>
        </p:sp>
        <p:sp>
          <p:nvSpPr>
            <p:cNvPr name="TextBox 6" id="6"/>
            <p:cNvSpPr txBox="true"/>
            <p:nvPr/>
          </p:nvSpPr>
          <p:spPr>
            <a:xfrm>
              <a:off x="0" y="-47625"/>
              <a:ext cx="11299010" cy="1510665"/>
            </a:xfrm>
            <a:prstGeom prst="rect">
              <a:avLst/>
            </a:prstGeom>
          </p:spPr>
          <p:txBody>
            <a:bodyPr anchor="ctr" rtlCol="false" tIns="0" lIns="0" bIns="0" rIns="0"/>
            <a:lstStyle/>
            <a:p>
              <a:pPr algn="l">
                <a:lnSpc>
                  <a:spcPts val="6240"/>
                </a:lnSpc>
              </a:pPr>
              <a:r>
                <a:rPr lang="en-US" b="true" sz="5200" spc="-104">
                  <a:solidFill>
                    <a:srgbClr val="000000"/>
                  </a:solidFill>
                  <a:latin typeface="Helios Extended Bold"/>
                  <a:ea typeface="Helios Extended Bold"/>
                  <a:cs typeface="Helios Extended Bold"/>
                  <a:sym typeface="Helios Extended Bold"/>
                </a:rPr>
                <a:t>Motivation &amp; Problem</a:t>
              </a:r>
            </a:p>
          </p:txBody>
        </p:sp>
      </p:grpSp>
      <p:grpSp>
        <p:nvGrpSpPr>
          <p:cNvPr name="Group 7" id="7"/>
          <p:cNvGrpSpPr/>
          <p:nvPr/>
        </p:nvGrpSpPr>
        <p:grpSpPr>
          <a:xfrm rot="0">
            <a:off x="15544800" y="365760"/>
            <a:ext cx="2377440" cy="585216"/>
            <a:chOff x="0" y="0"/>
            <a:chExt cx="3169920" cy="780288"/>
          </a:xfrm>
        </p:grpSpPr>
        <p:sp>
          <p:nvSpPr>
            <p:cNvPr name="Freeform 8" id="8"/>
            <p:cNvSpPr/>
            <p:nvPr/>
          </p:nvSpPr>
          <p:spPr>
            <a:xfrm flipH="false" flipV="false" rot="0">
              <a:off x="0" y="0"/>
              <a:ext cx="3169920" cy="780288"/>
            </a:xfrm>
            <a:custGeom>
              <a:avLst/>
              <a:gdLst/>
              <a:ahLst/>
              <a:cxnLst/>
              <a:rect r="r" b="b" t="t" l="l"/>
              <a:pathLst>
                <a:path h="780288" w="3169920">
                  <a:moveTo>
                    <a:pt x="0" y="121920"/>
                  </a:moveTo>
                  <a:cubicBezTo>
                    <a:pt x="0" y="54610"/>
                    <a:pt x="54610" y="0"/>
                    <a:pt x="121920" y="0"/>
                  </a:cubicBezTo>
                  <a:lnTo>
                    <a:pt x="3048000" y="0"/>
                  </a:lnTo>
                  <a:cubicBezTo>
                    <a:pt x="3115310" y="0"/>
                    <a:pt x="3169920" y="54610"/>
                    <a:pt x="3169920" y="121920"/>
                  </a:cubicBezTo>
                  <a:lnTo>
                    <a:pt x="3169920" y="658368"/>
                  </a:lnTo>
                  <a:cubicBezTo>
                    <a:pt x="3169920" y="725678"/>
                    <a:pt x="3115310" y="780288"/>
                    <a:pt x="3048000" y="780288"/>
                  </a:cubicBezTo>
                  <a:lnTo>
                    <a:pt x="121920" y="780288"/>
                  </a:lnTo>
                  <a:cubicBezTo>
                    <a:pt x="54610" y="780288"/>
                    <a:pt x="0" y="725678"/>
                    <a:pt x="0" y="658368"/>
                  </a:cubicBezTo>
                  <a:close/>
                </a:path>
              </a:pathLst>
            </a:custGeom>
            <a:solidFill>
              <a:srgbClr val="3D4D55"/>
            </a:solidFill>
          </p:spPr>
        </p:sp>
      </p:grpSp>
      <p:grpSp>
        <p:nvGrpSpPr>
          <p:cNvPr name="Group 9" id="9"/>
          <p:cNvGrpSpPr/>
          <p:nvPr/>
        </p:nvGrpSpPr>
        <p:grpSpPr>
          <a:xfrm rot="0">
            <a:off x="0" y="10058400"/>
            <a:ext cx="18288000" cy="228600"/>
            <a:chOff x="0" y="0"/>
            <a:chExt cx="24384000" cy="304800"/>
          </a:xfrm>
        </p:grpSpPr>
        <p:sp>
          <p:nvSpPr>
            <p:cNvPr name="Freeform 10" id="10"/>
            <p:cNvSpPr/>
            <p:nvPr/>
          </p:nvSpPr>
          <p:spPr>
            <a:xfrm flipH="false" flipV="false" rot="0">
              <a:off x="0" y="0"/>
              <a:ext cx="24384000" cy="304800"/>
            </a:xfrm>
            <a:custGeom>
              <a:avLst/>
              <a:gdLst/>
              <a:ahLst/>
              <a:cxnLst/>
              <a:rect r="r" b="b" t="t" l="l"/>
              <a:pathLst>
                <a:path h="304800" w="24384000">
                  <a:moveTo>
                    <a:pt x="0" y="0"/>
                  </a:moveTo>
                  <a:lnTo>
                    <a:pt x="24384000" y="0"/>
                  </a:lnTo>
                  <a:lnTo>
                    <a:pt x="24384000" y="304800"/>
                  </a:lnTo>
                  <a:lnTo>
                    <a:pt x="0" y="304800"/>
                  </a:lnTo>
                  <a:close/>
                </a:path>
              </a:pathLst>
            </a:custGeom>
            <a:solidFill>
              <a:srgbClr val="3D4D55"/>
            </a:solidFill>
          </p:spPr>
        </p:sp>
      </p:grpSp>
      <p:grpSp>
        <p:nvGrpSpPr>
          <p:cNvPr name="Group 11" id="11"/>
          <p:cNvGrpSpPr/>
          <p:nvPr/>
        </p:nvGrpSpPr>
        <p:grpSpPr>
          <a:xfrm rot="0">
            <a:off x="15621000" y="402336"/>
            <a:ext cx="2377440" cy="512064"/>
            <a:chOff x="0" y="0"/>
            <a:chExt cx="3169920" cy="682752"/>
          </a:xfrm>
        </p:grpSpPr>
        <p:sp>
          <p:nvSpPr>
            <p:cNvPr name="Freeform 12" id="12"/>
            <p:cNvSpPr/>
            <p:nvPr/>
          </p:nvSpPr>
          <p:spPr>
            <a:xfrm flipH="false" flipV="false" rot="0">
              <a:off x="0" y="0"/>
              <a:ext cx="3169920" cy="682752"/>
            </a:xfrm>
            <a:custGeom>
              <a:avLst/>
              <a:gdLst/>
              <a:ahLst/>
              <a:cxnLst/>
              <a:rect r="r" b="b" t="t" l="l"/>
              <a:pathLst>
                <a:path h="682752" w="3169920">
                  <a:moveTo>
                    <a:pt x="0" y="0"/>
                  </a:moveTo>
                  <a:lnTo>
                    <a:pt x="3169920" y="0"/>
                  </a:lnTo>
                  <a:lnTo>
                    <a:pt x="3169920" y="682752"/>
                  </a:lnTo>
                  <a:lnTo>
                    <a:pt x="0" y="682752"/>
                  </a:lnTo>
                  <a:close/>
                </a:path>
              </a:pathLst>
            </a:custGeom>
            <a:blipFill>
              <a:blip r:embed="rId3">
                <a:alphaModFix amt="0"/>
              </a:blip>
              <a:stretch>
                <a:fillRect l="0" t="-40466" r="0" b="-40466"/>
              </a:stretch>
            </a:blipFill>
          </p:spPr>
        </p:sp>
        <p:sp>
          <p:nvSpPr>
            <p:cNvPr name="TextBox 13" id="13"/>
            <p:cNvSpPr txBox="true"/>
            <p:nvPr/>
          </p:nvSpPr>
          <p:spPr>
            <a:xfrm>
              <a:off x="0" y="-9525"/>
              <a:ext cx="3169920" cy="692277"/>
            </a:xfrm>
            <a:prstGeom prst="rect">
              <a:avLst/>
            </a:prstGeom>
          </p:spPr>
          <p:txBody>
            <a:bodyPr anchor="ctr" rtlCol="false" tIns="0" lIns="0" bIns="0" rIns="0"/>
            <a:lstStyle/>
            <a:p>
              <a:pPr algn="l" marL="388620" indent="-194310" lvl="1">
                <a:lnSpc>
                  <a:spcPts val="2160"/>
                </a:lnSpc>
                <a:buAutoNum type="arabicPeriod" startAt="1"/>
              </a:pPr>
              <a:r>
                <a:rPr lang="en-US" b="true" sz="1800">
                  <a:solidFill>
                    <a:srgbClr val="FFFFFF"/>
                  </a:solidFill>
                  <a:latin typeface="Helios Extended Bold"/>
                  <a:ea typeface="Helios Extended Bold"/>
                  <a:cs typeface="Helios Extended Bold"/>
                  <a:sym typeface="Helios Extended Bold"/>
                </a:rPr>
                <a:t>Introduction</a:t>
              </a:r>
            </a:p>
          </p:txBody>
        </p:sp>
      </p:grpSp>
      <p:grpSp>
        <p:nvGrpSpPr>
          <p:cNvPr name="Group 14" id="14"/>
          <p:cNvGrpSpPr/>
          <p:nvPr/>
        </p:nvGrpSpPr>
        <p:grpSpPr>
          <a:xfrm rot="0">
            <a:off x="1255577" y="2078860"/>
            <a:ext cx="15776846" cy="7293461"/>
            <a:chOff x="0" y="0"/>
            <a:chExt cx="21035795" cy="9724614"/>
          </a:xfrm>
        </p:grpSpPr>
        <p:grpSp>
          <p:nvGrpSpPr>
            <p:cNvPr name="Group 15" id="15"/>
            <p:cNvGrpSpPr/>
            <p:nvPr/>
          </p:nvGrpSpPr>
          <p:grpSpPr>
            <a:xfrm rot="0">
              <a:off x="0" y="60811"/>
              <a:ext cx="10162641" cy="7682655"/>
              <a:chOff x="0" y="0"/>
              <a:chExt cx="10162641" cy="7682655"/>
            </a:xfrm>
          </p:grpSpPr>
          <p:sp>
            <p:nvSpPr>
              <p:cNvPr name="Freeform 16" id="16"/>
              <p:cNvSpPr/>
              <p:nvPr/>
            </p:nvSpPr>
            <p:spPr>
              <a:xfrm flipH="false" flipV="false" rot="0">
                <a:off x="23752" y="16559"/>
                <a:ext cx="10115013" cy="7649451"/>
              </a:xfrm>
              <a:custGeom>
                <a:avLst/>
                <a:gdLst/>
                <a:ahLst/>
                <a:cxnLst/>
                <a:rect r="r" b="b" t="t" l="l"/>
                <a:pathLst>
                  <a:path h="7649451" w="10115013">
                    <a:moveTo>
                      <a:pt x="0" y="0"/>
                    </a:moveTo>
                    <a:lnTo>
                      <a:pt x="10115013" y="0"/>
                    </a:lnTo>
                    <a:lnTo>
                      <a:pt x="10115013" y="7649451"/>
                    </a:lnTo>
                    <a:lnTo>
                      <a:pt x="0" y="7649451"/>
                    </a:lnTo>
                    <a:close/>
                  </a:path>
                </a:pathLst>
              </a:custGeom>
              <a:solidFill>
                <a:srgbClr val="F2F1F1"/>
              </a:solidFill>
            </p:spPr>
          </p:sp>
          <p:sp>
            <p:nvSpPr>
              <p:cNvPr name="Freeform 17" id="17"/>
              <p:cNvSpPr/>
              <p:nvPr/>
            </p:nvSpPr>
            <p:spPr>
              <a:xfrm flipH="false" flipV="false" rot="0">
                <a:off x="0" y="0"/>
                <a:ext cx="10162515" cy="7682568"/>
              </a:xfrm>
              <a:custGeom>
                <a:avLst/>
                <a:gdLst/>
                <a:ahLst/>
                <a:cxnLst/>
                <a:rect r="r" b="b" t="t" l="l"/>
                <a:pathLst>
                  <a:path h="7682568" w="10162515">
                    <a:moveTo>
                      <a:pt x="23752" y="0"/>
                    </a:moveTo>
                    <a:lnTo>
                      <a:pt x="10138765" y="0"/>
                    </a:lnTo>
                    <a:cubicBezTo>
                      <a:pt x="10151980" y="0"/>
                      <a:pt x="10162515" y="7470"/>
                      <a:pt x="10162515" y="16559"/>
                    </a:cubicBezTo>
                    <a:lnTo>
                      <a:pt x="10162515" y="7666010"/>
                    </a:lnTo>
                    <a:cubicBezTo>
                      <a:pt x="10162515" y="7675223"/>
                      <a:pt x="10151801" y="7682568"/>
                      <a:pt x="10138765" y="7682568"/>
                    </a:cubicBezTo>
                    <a:lnTo>
                      <a:pt x="23752" y="7682568"/>
                    </a:lnTo>
                    <a:cubicBezTo>
                      <a:pt x="10536" y="7682568"/>
                      <a:pt x="0" y="7675098"/>
                      <a:pt x="0" y="7666010"/>
                    </a:cubicBezTo>
                    <a:lnTo>
                      <a:pt x="0" y="16559"/>
                    </a:lnTo>
                    <a:cubicBezTo>
                      <a:pt x="0" y="7470"/>
                      <a:pt x="10715" y="0"/>
                      <a:pt x="23752" y="0"/>
                    </a:cubicBezTo>
                    <a:moveTo>
                      <a:pt x="23752" y="33242"/>
                    </a:moveTo>
                    <a:lnTo>
                      <a:pt x="23752" y="16559"/>
                    </a:lnTo>
                    <a:lnTo>
                      <a:pt x="47682" y="16559"/>
                    </a:lnTo>
                    <a:lnTo>
                      <a:pt x="47682" y="7666010"/>
                    </a:lnTo>
                    <a:lnTo>
                      <a:pt x="23752" y="7666010"/>
                    </a:lnTo>
                    <a:lnTo>
                      <a:pt x="23752" y="7649451"/>
                    </a:lnTo>
                    <a:lnTo>
                      <a:pt x="10138765" y="7649451"/>
                    </a:lnTo>
                    <a:lnTo>
                      <a:pt x="10138765" y="7666010"/>
                    </a:lnTo>
                    <a:lnTo>
                      <a:pt x="10115013" y="7666010"/>
                    </a:lnTo>
                    <a:lnTo>
                      <a:pt x="10115013" y="16559"/>
                    </a:lnTo>
                    <a:lnTo>
                      <a:pt x="10138765" y="16559"/>
                    </a:lnTo>
                    <a:lnTo>
                      <a:pt x="10138765" y="33242"/>
                    </a:lnTo>
                    <a:lnTo>
                      <a:pt x="23752" y="33242"/>
                    </a:lnTo>
                    <a:close/>
                  </a:path>
                </a:pathLst>
              </a:custGeom>
              <a:solidFill>
                <a:srgbClr val="E2E8F0"/>
              </a:solidFill>
            </p:spPr>
          </p:sp>
        </p:grpSp>
        <p:grpSp>
          <p:nvGrpSpPr>
            <p:cNvPr name="Group 18" id="18"/>
            <p:cNvGrpSpPr/>
            <p:nvPr/>
          </p:nvGrpSpPr>
          <p:grpSpPr>
            <a:xfrm rot="0">
              <a:off x="47628" y="1547"/>
              <a:ext cx="10115012" cy="243840"/>
              <a:chOff x="0" y="0"/>
              <a:chExt cx="10115012" cy="243840"/>
            </a:xfrm>
          </p:grpSpPr>
          <p:sp>
            <p:nvSpPr>
              <p:cNvPr name="Freeform 19" id="19"/>
              <p:cNvSpPr/>
              <p:nvPr/>
            </p:nvSpPr>
            <p:spPr>
              <a:xfrm flipH="false" flipV="false" rot="0">
                <a:off x="0" y="0"/>
                <a:ext cx="10115013" cy="243840"/>
              </a:xfrm>
              <a:custGeom>
                <a:avLst/>
                <a:gdLst/>
                <a:ahLst/>
                <a:cxnLst/>
                <a:rect r="r" b="b" t="t" l="l"/>
                <a:pathLst>
                  <a:path h="243840" w="10115013">
                    <a:moveTo>
                      <a:pt x="0" y="0"/>
                    </a:moveTo>
                    <a:lnTo>
                      <a:pt x="10115013" y="0"/>
                    </a:lnTo>
                    <a:lnTo>
                      <a:pt x="10115013" y="243840"/>
                    </a:lnTo>
                    <a:lnTo>
                      <a:pt x="0" y="243840"/>
                    </a:lnTo>
                    <a:close/>
                  </a:path>
                </a:pathLst>
              </a:custGeom>
              <a:solidFill>
                <a:srgbClr val="3D4D55"/>
              </a:solidFill>
            </p:spPr>
          </p:sp>
        </p:grpSp>
        <p:grpSp>
          <p:nvGrpSpPr>
            <p:cNvPr name="Group 20" id="20"/>
            <p:cNvGrpSpPr/>
            <p:nvPr/>
          </p:nvGrpSpPr>
          <p:grpSpPr>
            <a:xfrm rot="0">
              <a:off x="459087" y="2580205"/>
              <a:ext cx="9257808" cy="1061110"/>
              <a:chOff x="0" y="0"/>
              <a:chExt cx="9257808" cy="1061110"/>
            </a:xfrm>
          </p:grpSpPr>
          <p:sp>
            <p:nvSpPr>
              <p:cNvPr name="Freeform 21" id="21"/>
              <p:cNvSpPr/>
              <p:nvPr/>
            </p:nvSpPr>
            <p:spPr>
              <a:xfrm flipH="false" flipV="false" rot="0">
                <a:off x="0" y="0"/>
                <a:ext cx="9257808" cy="1061110"/>
              </a:xfrm>
              <a:custGeom>
                <a:avLst/>
                <a:gdLst/>
                <a:ahLst/>
                <a:cxnLst/>
                <a:rect r="r" b="b" t="t" l="l"/>
                <a:pathLst>
                  <a:path h="1061110" w="9257808">
                    <a:moveTo>
                      <a:pt x="0" y="0"/>
                    </a:moveTo>
                    <a:lnTo>
                      <a:pt x="9257808" y="0"/>
                    </a:lnTo>
                    <a:lnTo>
                      <a:pt x="9257808" y="1061110"/>
                    </a:lnTo>
                    <a:lnTo>
                      <a:pt x="0" y="1061110"/>
                    </a:lnTo>
                    <a:close/>
                  </a:path>
                </a:pathLst>
              </a:custGeom>
              <a:solidFill>
                <a:srgbClr val="3D4D55">
                  <a:alpha val="0"/>
                </a:srgbClr>
              </a:solidFill>
            </p:spPr>
          </p:sp>
          <p:sp>
            <p:nvSpPr>
              <p:cNvPr name="TextBox 22" id="22"/>
              <p:cNvSpPr txBox="true"/>
              <p:nvPr/>
            </p:nvSpPr>
            <p:spPr>
              <a:xfrm>
                <a:off x="0" y="-19050"/>
                <a:ext cx="9257808" cy="1080160"/>
              </a:xfrm>
              <a:prstGeom prst="rect">
                <a:avLst/>
              </a:prstGeom>
            </p:spPr>
            <p:txBody>
              <a:bodyPr anchor="ctr" rtlCol="false" tIns="0" lIns="0" bIns="0" rIns="0"/>
              <a:lstStyle/>
              <a:p>
                <a:pPr algn="ctr">
                  <a:lnSpc>
                    <a:spcPts val="2999"/>
                  </a:lnSpc>
                </a:pPr>
                <a:r>
                  <a:rPr lang="en-US" b="true" sz="2499" spc="399">
                    <a:solidFill>
                      <a:srgbClr val="4E6E81"/>
                    </a:solidFill>
                    <a:latin typeface="Helios Extended Bold"/>
                    <a:ea typeface="Helios Extended Bold"/>
                    <a:cs typeface="Helios Extended Bold"/>
                    <a:sym typeface="Helios Extended Bold"/>
                  </a:rPr>
                  <a:t>DDIS ARE SIGNIFICANT</a:t>
                </a:r>
              </a:p>
            </p:txBody>
          </p:sp>
        </p:grpSp>
        <p:sp>
          <p:nvSpPr>
            <p:cNvPr name="TextBox 23" id="23"/>
            <p:cNvSpPr txBox="true"/>
            <p:nvPr/>
          </p:nvSpPr>
          <p:spPr>
            <a:xfrm rot="0">
              <a:off x="878498" y="4060467"/>
              <a:ext cx="8693290" cy="3683000"/>
            </a:xfrm>
            <a:prstGeom prst="rect">
              <a:avLst/>
            </a:prstGeom>
          </p:spPr>
          <p:txBody>
            <a:bodyPr anchor="t" rtlCol="false" tIns="0" lIns="0" bIns="0" rIns="0">
              <a:spAutoFit/>
            </a:bodyPr>
            <a:lstStyle/>
            <a:p>
              <a:pPr algn="ctr">
                <a:lnSpc>
                  <a:spcPts val="3119"/>
                </a:lnSpc>
              </a:pPr>
              <a:r>
                <a:rPr lang="en-US" sz="2599">
                  <a:solidFill>
                    <a:srgbClr val="000000"/>
                  </a:solidFill>
                  <a:latin typeface="Helios Extended"/>
                  <a:ea typeface="Helios Extended"/>
                  <a:cs typeface="Helios Extended"/>
                  <a:sym typeface="Helios Extended"/>
                </a:rPr>
                <a:t>Drug-Drug interaction account for 30% of all drug reactions</a:t>
              </a:r>
            </a:p>
            <a:p>
              <a:pPr algn="ctr">
                <a:lnSpc>
                  <a:spcPts val="3119"/>
                </a:lnSpc>
              </a:pPr>
            </a:p>
            <a:p>
              <a:pPr algn="ctr">
                <a:lnSpc>
                  <a:spcPts val="3119"/>
                </a:lnSpc>
              </a:pPr>
              <a:r>
                <a:rPr lang="en-US" sz="2599">
                  <a:solidFill>
                    <a:srgbClr val="000000"/>
                  </a:solidFill>
                  <a:latin typeface="Helios Extended"/>
                  <a:ea typeface="Helios Extended"/>
                  <a:cs typeface="Helios Extended"/>
                  <a:sym typeface="Helios Extended"/>
                </a:rPr>
                <a:t>Polypharmacy is rising: the average patient over 65 takes 5+ medications simultaneously</a:t>
              </a:r>
            </a:p>
            <a:p>
              <a:pPr algn="ctr">
                <a:lnSpc>
                  <a:spcPts val="3119"/>
                </a:lnSpc>
                <a:spcBef>
                  <a:spcPct val="0"/>
                </a:spcBef>
              </a:pPr>
            </a:p>
          </p:txBody>
        </p:sp>
        <p:grpSp>
          <p:nvGrpSpPr>
            <p:cNvPr name="Group 24" id="24"/>
            <p:cNvGrpSpPr/>
            <p:nvPr/>
          </p:nvGrpSpPr>
          <p:grpSpPr>
            <a:xfrm rot="0">
              <a:off x="10873154" y="59265"/>
              <a:ext cx="10162641" cy="7682655"/>
              <a:chOff x="0" y="0"/>
              <a:chExt cx="10162641" cy="7682655"/>
            </a:xfrm>
          </p:grpSpPr>
          <p:sp>
            <p:nvSpPr>
              <p:cNvPr name="Freeform 25" id="25"/>
              <p:cNvSpPr/>
              <p:nvPr/>
            </p:nvSpPr>
            <p:spPr>
              <a:xfrm flipH="false" flipV="false" rot="0">
                <a:off x="23752" y="16559"/>
                <a:ext cx="10115013" cy="7649451"/>
              </a:xfrm>
              <a:custGeom>
                <a:avLst/>
                <a:gdLst/>
                <a:ahLst/>
                <a:cxnLst/>
                <a:rect r="r" b="b" t="t" l="l"/>
                <a:pathLst>
                  <a:path h="7649451" w="10115013">
                    <a:moveTo>
                      <a:pt x="0" y="0"/>
                    </a:moveTo>
                    <a:lnTo>
                      <a:pt x="10115013" y="0"/>
                    </a:lnTo>
                    <a:lnTo>
                      <a:pt x="10115013" y="7649451"/>
                    </a:lnTo>
                    <a:lnTo>
                      <a:pt x="0" y="7649451"/>
                    </a:lnTo>
                    <a:close/>
                  </a:path>
                </a:pathLst>
              </a:custGeom>
              <a:solidFill>
                <a:srgbClr val="F2F1F1"/>
              </a:solidFill>
            </p:spPr>
          </p:sp>
          <p:sp>
            <p:nvSpPr>
              <p:cNvPr name="Freeform 26" id="26"/>
              <p:cNvSpPr/>
              <p:nvPr/>
            </p:nvSpPr>
            <p:spPr>
              <a:xfrm flipH="false" flipV="false" rot="0">
                <a:off x="0" y="0"/>
                <a:ext cx="10162515" cy="7682568"/>
              </a:xfrm>
              <a:custGeom>
                <a:avLst/>
                <a:gdLst/>
                <a:ahLst/>
                <a:cxnLst/>
                <a:rect r="r" b="b" t="t" l="l"/>
                <a:pathLst>
                  <a:path h="7682568" w="10162515">
                    <a:moveTo>
                      <a:pt x="23752" y="0"/>
                    </a:moveTo>
                    <a:lnTo>
                      <a:pt x="10138765" y="0"/>
                    </a:lnTo>
                    <a:cubicBezTo>
                      <a:pt x="10151980" y="0"/>
                      <a:pt x="10162515" y="7470"/>
                      <a:pt x="10162515" y="16559"/>
                    </a:cubicBezTo>
                    <a:lnTo>
                      <a:pt x="10162515" y="7666010"/>
                    </a:lnTo>
                    <a:cubicBezTo>
                      <a:pt x="10162515" y="7675223"/>
                      <a:pt x="10151801" y="7682568"/>
                      <a:pt x="10138765" y="7682568"/>
                    </a:cubicBezTo>
                    <a:lnTo>
                      <a:pt x="23752" y="7682568"/>
                    </a:lnTo>
                    <a:cubicBezTo>
                      <a:pt x="10536" y="7682568"/>
                      <a:pt x="0" y="7675098"/>
                      <a:pt x="0" y="7666010"/>
                    </a:cubicBezTo>
                    <a:lnTo>
                      <a:pt x="0" y="16559"/>
                    </a:lnTo>
                    <a:cubicBezTo>
                      <a:pt x="0" y="7470"/>
                      <a:pt x="10715" y="0"/>
                      <a:pt x="23752" y="0"/>
                    </a:cubicBezTo>
                    <a:moveTo>
                      <a:pt x="23752" y="33242"/>
                    </a:moveTo>
                    <a:lnTo>
                      <a:pt x="23752" y="16559"/>
                    </a:lnTo>
                    <a:lnTo>
                      <a:pt x="47682" y="16559"/>
                    </a:lnTo>
                    <a:lnTo>
                      <a:pt x="47682" y="7666010"/>
                    </a:lnTo>
                    <a:lnTo>
                      <a:pt x="23752" y="7666010"/>
                    </a:lnTo>
                    <a:lnTo>
                      <a:pt x="23752" y="7649451"/>
                    </a:lnTo>
                    <a:lnTo>
                      <a:pt x="10138765" y="7649451"/>
                    </a:lnTo>
                    <a:lnTo>
                      <a:pt x="10138765" y="7666010"/>
                    </a:lnTo>
                    <a:lnTo>
                      <a:pt x="10115013" y="7666010"/>
                    </a:lnTo>
                    <a:lnTo>
                      <a:pt x="10115013" y="16559"/>
                    </a:lnTo>
                    <a:lnTo>
                      <a:pt x="10138765" y="16559"/>
                    </a:lnTo>
                    <a:lnTo>
                      <a:pt x="10138765" y="33242"/>
                    </a:lnTo>
                    <a:lnTo>
                      <a:pt x="23752" y="33242"/>
                    </a:lnTo>
                    <a:close/>
                  </a:path>
                </a:pathLst>
              </a:custGeom>
              <a:solidFill>
                <a:srgbClr val="E2E8F0"/>
              </a:solidFill>
            </p:spPr>
          </p:sp>
        </p:grpSp>
        <p:grpSp>
          <p:nvGrpSpPr>
            <p:cNvPr name="Group 27" id="27"/>
            <p:cNvGrpSpPr/>
            <p:nvPr/>
          </p:nvGrpSpPr>
          <p:grpSpPr>
            <a:xfrm rot="0">
              <a:off x="10920783" y="0"/>
              <a:ext cx="10115012" cy="243840"/>
              <a:chOff x="0" y="0"/>
              <a:chExt cx="10115012" cy="243840"/>
            </a:xfrm>
          </p:grpSpPr>
          <p:sp>
            <p:nvSpPr>
              <p:cNvPr name="Freeform 28" id="28"/>
              <p:cNvSpPr/>
              <p:nvPr/>
            </p:nvSpPr>
            <p:spPr>
              <a:xfrm flipH="false" flipV="false" rot="0">
                <a:off x="0" y="0"/>
                <a:ext cx="10115013" cy="243840"/>
              </a:xfrm>
              <a:custGeom>
                <a:avLst/>
                <a:gdLst/>
                <a:ahLst/>
                <a:cxnLst/>
                <a:rect r="r" b="b" t="t" l="l"/>
                <a:pathLst>
                  <a:path h="243840" w="10115013">
                    <a:moveTo>
                      <a:pt x="0" y="0"/>
                    </a:moveTo>
                    <a:lnTo>
                      <a:pt x="10115013" y="0"/>
                    </a:lnTo>
                    <a:lnTo>
                      <a:pt x="10115013" y="243840"/>
                    </a:lnTo>
                    <a:lnTo>
                      <a:pt x="0" y="243840"/>
                    </a:lnTo>
                    <a:close/>
                  </a:path>
                </a:pathLst>
              </a:custGeom>
              <a:solidFill>
                <a:srgbClr val="3D4D55"/>
              </a:solidFill>
            </p:spPr>
          </p:sp>
        </p:grpSp>
        <p:grpSp>
          <p:nvGrpSpPr>
            <p:cNvPr name="Group 29" id="29"/>
            <p:cNvGrpSpPr/>
            <p:nvPr/>
          </p:nvGrpSpPr>
          <p:grpSpPr>
            <a:xfrm rot="0">
              <a:off x="11680979" y="2617188"/>
              <a:ext cx="8546990" cy="1024128"/>
              <a:chOff x="0" y="0"/>
              <a:chExt cx="8546990" cy="1024128"/>
            </a:xfrm>
          </p:grpSpPr>
          <p:sp>
            <p:nvSpPr>
              <p:cNvPr name="Freeform 30" id="30"/>
              <p:cNvSpPr/>
              <p:nvPr/>
            </p:nvSpPr>
            <p:spPr>
              <a:xfrm flipH="false" flipV="false" rot="0">
                <a:off x="0" y="0"/>
                <a:ext cx="8546991" cy="1024128"/>
              </a:xfrm>
              <a:custGeom>
                <a:avLst/>
                <a:gdLst/>
                <a:ahLst/>
                <a:cxnLst/>
                <a:rect r="r" b="b" t="t" l="l"/>
                <a:pathLst>
                  <a:path h="1024128" w="8546991">
                    <a:moveTo>
                      <a:pt x="0" y="0"/>
                    </a:moveTo>
                    <a:lnTo>
                      <a:pt x="8546991" y="0"/>
                    </a:lnTo>
                    <a:lnTo>
                      <a:pt x="8546991" y="1024128"/>
                    </a:lnTo>
                    <a:lnTo>
                      <a:pt x="0" y="1024128"/>
                    </a:lnTo>
                    <a:close/>
                  </a:path>
                </a:pathLst>
              </a:custGeom>
              <a:blipFill>
                <a:blip r:embed="rId3">
                  <a:alphaModFix amt="0"/>
                </a:blip>
                <a:stretch>
                  <a:fillRect l="0" t="-75260" r="22970" b="-75260"/>
                </a:stretch>
              </a:blipFill>
            </p:spPr>
          </p:sp>
          <p:sp>
            <p:nvSpPr>
              <p:cNvPr name="TextBox 31" id="31"/>
              <p:cNvSpPr txBox="true"/>
              <p:nvPr/>
            </p:nvSpPr>
            <p:spPr>
              <a:xfrm>
                <a:off x="0" y="-19050"/>
                <a:ext cx="8546990" cy="1043178"/>
              </a:xfrm>
              <a:prstGeom prst="rect">
                <a:avLst/>
              </a:prstGeom>
            </p:spPr>
            <p:txBody>
              <a:bodyPr anchor="ctr" rtlCol="false" tIns="0" lIns="0" bIns="0" rIns="0"/>
              <a:lstStyle/>
              <a:p>
                <a:pPr algn="ctr">
                  <a:lnSpc>
                    <a:spcPts val="2999"/>
                  </a:lnSpc>
                </a:pPr>
                <a:r>
                  <a:rPr lang="en-US" b="true" sz="2499" spc="399">
                    <a:solidFill>
                      <a:srgbClr val="4E6E81"/>
                    </a:solidFill>
                    <a:latin typeface="Helios Extended Bold"/>
                    <a:ea typeface="Helios Extended Bold"/>
                    <a:cs typeface="Helios Extended Bold"/>
                    <a:sym typeface="Helios Extended Bold"/>
                  </a:rPr>
                  <a:t>CURRENT MODEL ISSUE</a:t>
                </a:r>
              </a:p>
            </p:txBody>
          </p:sp>
        </p:grpSp>
        <p:sp>
          <p:nvSpPr>
            <p:cNvPr name="TextBox 32" id="32"/>
            <p:cNvSpPr txBox="true"/>
            <p:nvPr/>
          </p:nvSpPr>
          <p:spPr>
            <a:xfrm rot="0">
              <a:off x="11680979" y="4060467"/>
              <a:ext cx="8546990" cy="3683000"/>
            </a:xfrm>
            <a:prstGeom prst="rect">
              <a:avLst/>
            </a:prstGeom>
          </p:spPr>
          <p:txBody>
            <a:bodyPr anchor="t" rtlCol="false" tIns="0" lIns="0" bIns="0" rIns="0">
              <a:spAutoFit/>
            </a:bodyPr>
            <a:lstStyle/>
            <a:p>
              <a:pPr algn="ctr">
                <a:lnSpc>
                  <a:spcPts val="3119"/>
                </a:lnSpc>
              </a:pPr>
              <a:r>
                <a:rPr lang="en-US" sz="2599">
                  <a:solidFill>
                    <a:srgbClr val="000000"/>
                  </a:solidFill>
                  <a:latin typeface="Helios Extended"/>
                  <a:ea typeface="Helios Extended"/>
                  <a:cs typeface="Helios Extended"/>
                  <a:sym typeface="Helios Extended"/>
                </a:rPr>
                <a:t>Existing models classify interactions accurately but hallucinate explanations</a:t>
              </a:r>
            </a:p>
            <a:p>
              <a:pPr algn="ctr">
                <a:lnSpc>
                  <a:spcPts val="3119"/>
                </a:lnSpc>
              </a:pPr>
            </a:p>
            <a:p>
              <a:pPr algn="ctr">
                <a:lnSpc>
                  <a:spcPts val="3119"/>
                </a:lnSpc>
              </a:pPr>
              <a:r>
                <a:rPr lang="en-US" sz="2599">
                  <a:solidFill>
                    <a:srgbClr val="000000"/>
                  </a:solidFill>
                  <a:latin typeface="Helios Extended"/>
                  <a:ea typeface="Helios Extended"/>
                  <a:cs typeface="Helios Extended"/>
                  <a:sym typeface="Helios Extended"/>
                </a:rPr>
                <a:t>Clinicians can't trust a label without knowing why</a:t>
              </a:r>
            </a:p>
            <a:p>
              <a:pPr algn="ctr">
                <a:lnSpc>
                  <a:spcPts val="3119"/>
                </a:lnSpc>
                <a:spcBef>
                  <a:spcPct val="0"/>
                </a:spcBef>
              </a:pPr>
            </a:p>
          </p:txBody>
        </p:sp>
        <p:grpSp>
          <p:nvGrpSpPr>
            <p:cNvPr name="Group 33" id="33"/>
            <p:cNvGrpSpPr/>
            <p:nvPr/>
          </p:nvGrpSpPr>
          <p:grpSpPr>
            <a:xfrm rot="0">
              <a:off x="0" y="8237220"/>
              <a:ext cx="21035795" cy="1487394"/>
              <a:chOff x="0" y="0"/>
              <a:chExt cx="21035795" cy="1487394"/>
            </a:xfrm>
          </p:grpSpPr>
          <p:sp>
            <p:nvSpPr>
              <p:cNvPr name="Freeform 34" id="34"/>
              <p:cNvSpPr/>
              <p:nvPr/>
            </p:nvSpPr>
            <p:spPr>
              <a:xfrm flipH="false" flipV="false" rot="0">
                <a:off x="49164" y="3206"/>
                <a:ext cx="20937209" cy="1480966"/>
              </a:xfrm>
              <a:custGeom>
                <a:avLst/>
                <a:gdLst/>
                <a:ahLst/>
                <a:cxnLst/>
                <a:rect r="r" b="b" t="t" l="l"/>
                <a:pathLst>
                  <a:path h="1480966" w="20937209">
                    <a:moveTo>
                      <a:pt x="0" y="0"/>
                    </a:moveTo>
                    <a:lnTo>
                      <a:pt x="20937209" y="0"/>
                    </a:lnTo>
                    <a:lnTo>
                      <a:pt x="20937209" y="1480966"/>
                    </a:lnTo>
                    <a:lnTo>
                      <a:pt x="0" y="1480966"/>
                    </a:lnTo>
                    <a:close/>
                  </a:path>
                </a:pathLst>
              </a:custGeom>
              <a:solidFill>
                <a:srgbClr val="F2F1F1"/>
              </a:solidFill>
            </p:spPr>
          </p:sp>
          <p:sp>
            <p:nvSpPr>
              <p:cNvPr name="Freeform 35" id="35"/>
              <p:cNvSpPr/>
              <p:nvPr/>
            </p:nvSpPr>
            <p:spPr>
              <a:xfrm flipH="false" flipV="false" rot="0">
                <a:off x="0" y="0"/>
                <a:ext cx="21035536" cy="1487378"/>
              </a:xfrm>
              <a:custGeom>
                <a:avLst/>
                <a:gdLst/>
                <a:ahLst/>
                <a:cxnLst/>
                <a:rect r="r" b="b" t="t" l="l"/>
                <a:pathLst>
                  <a:path h="1487378" w="21035536">
                    <a:moveTo>
                      <a:pt x="49164" y="0"/>
                    </a:moveTo>
                    <a:lnTo>
                      <a:pt x="20986373" y="0"/>
                    </a:lnTo>
                    <a:cubicBezTo>
                      <a:pt x="21013728" y="0"/>
                      <a:pt x="21035536" y="1446"/>
                      <a:pt x="21035536" y="3206"/>
                    </a:cubicBezTo>
                    <a:lnTo>
                      <a:pt x="21035536" y="1484172"/>
                    </a:lnTo>
                    <a:cubicBezTo>
                      <a:pt x="21035536" y="1485956"/>
                      <a:pt x="21013358" y="1487378"/>
                      <a:pt x="20986373" y="1487378"/>
                    </a:cubicBezTo>
                    <a:lnTo>
                      <a:pt x="49164" y="1487378"/>
                    </a:lnTo>
                    <a:cubicBezTo>
                      <a:pt x="21810" y="1487378"/>
                      <a:pt x="0" y="1485931"/>
                      <a:pt x="0" y="1484172"/>
                    </a:cubicBezTo>
                    <a:lnTo>
                      <a:pt x="0" y="3206"/>
                    </a:lnTo>
                    <a:cubicBezTo>
                      <a:pt x="0" y="1446"/>
                      <a:pt x="22179" y="0"/>
                      <a:pt x="49164" y="0"/>
                    </a:cubicBezTo>
                    <a:moveTo>
                      <a:pt x="49164" y="6436"/>
                    </a:moveTo>
                    <a:lnTo>
                      <a:pt x="49164" y="3206"/>
                    </a:lnTo>
                    <a:lnTo>
                      <a:pt x="98698" y="3206"/>
                    </a:lnTo>
                    <a:lnTo>
                      <a:pt x="98698" y="1484172"/>
                    </a:lnTo>
                    <a:lnTo>
                      <a:pt x="49164" y="1484172"/>
                    </a:lnTo>
                    <a:lnTo>
                      <a:pt x="49164" y="1480966"/>
                    </a:lnTo>
                    <a:lnTo>
                      <a:pt x="20986373" y="1480966"/>
                    </a:lnTo>
                    <a:lnTo>
                      <a:pt x="20986373" y="1484172"/>
                    </a:lnTo>
                    <a:lnTo>
                      <a:pt x="20937209" y="1484172"/>
                    </a:lnTo>
                    <a:lnTo>
                      <a:pt x="20937209" y="3206"/>
                    </a:lnTo>
                    <a:lnTo>
                      <a:pt x="20986373" y="3206"/>
                    </a:lnTo>
                    <a:lnTo>
                      <a:pt x="20986373" y="6436"/>
                    </a:lnTo>
                    <a:lnTo>
                      <a:pt x="49164" y="6436"/>
                    </a:lnTo>
                    <a:close/>
                  </a:path>
                </a:pathLst>
              </a:custGeom>
              <a:solidFill>
                <a:srgbClr val="E2E8F0"/>
              </a:solidFill>
            </p:spPr>
          </p:sp>
        </p:grpSp>
        <p:grpSp>
          <p:nvGrpSpPr>
            <p:cNvPr name="Group 36" id="36"/>
            <p:cNvGrpSpPr/>
            <p:nvPr/>
          </p:nvGrpSpPr>
          <p:grpSpPr>
            <a:xfrm rot="0">
              <a:off x="0" y="8271290"/>
              <a:ext cx="21035795" cy="162078"/>
              <a:chOff x="0" y="0"/>
              <a:chExt cx="9429188" cy="72651"/>
            </a:xfrm>
          </p:grpSpPr>
          <p:sp>
            <p:nvSpPr>
              <p:cNvPr name="Freeform 37" id="37"/>
              <p:cNvSpPr/>
              <p:nvPr/>
            </p:nvSpPr>
            <p:spPr>
              <a:xfrm flipH="false" flipV="false" rot="0">
                <a:off x="0" y="0"/>
                <a:ext cx="9429188" cy="72651"/>
              </a:xfrm>
              <a:custGeom>
                <a:avLst/>
                <a:gdLst/>
                <a:ahLst/>
                <a:cxnLst/>
                <a:rect r="r" b="b" t="t" l="l"/>
                <a:pathLst>
                  <a:path h="72651" w="9429188">
                    <a:moveTo>
                      <a:pt x="0" y="0"/>
                    </a:moveTo>
                    <a:lnTo>
                      <a:pt x="9429188" y="0"/>
                    </a:lnTo>
                    <a:lnTo>
                      <a:pt x="9429188" y="72651"/>
                    </a:lnTo>
                    <a:lnTo>
                      <a:pt x="0" y="72651"/>
                    </a:lnTo>
                    <a:close/>
                  </a:path>
                </a:pathLst>
              </a:custGeom>
              <a:solidFill>
                <a:srgbClr val="3D4D55"/>
              </a:solidFill>
            </p:spPr>
          </p:sp>
        </p:grpSp>
        <p:sp>
          <p:nvSpPr>
            <p:cNvPr name="TextBox 38" id="38"/>
            <p:cNvSpPr txBox="true"/>
            <p:nvPr/>
          </p:nvSpPr>
          <p:spPr>
            <a:xfrm rot="0">
              <a:off x="1010487" y="8761013"/>
              <a:ext cx="19577905" cy="558800"/>
            </a:xfrm>
            <a:prstGeom prst="rect">
              <a:avLst/>
            </a:prstGeom>
          </p:spPr>
          <p:txBody>
            <a:bodyPr anchor="t" rtlCol="false" tIns="0" lIns="0" bIns="0" rIns="0">
              <a:spAutoFit/>
            </a:bodyPr>
            <a:lstStyle/>
            <a:p>
              <a:pPr algn="ctr">
                <a:lnSpc>
                  <a:spcPts val="3119"/>
                </a:lnSpc>
                <a:spcBef>
                  <a:spcPct val="0"/>
                </a:spcBef>
              </a:pPr>
              <a:r>
                <a:rPr lang="en-US" b="true" sz="2599">
                  <a:solidFill>
                    <a:srgbClr val="000000"/>
                  </a:solidFill>
                  <a:latin typeface="Helios Extended Bold"/>
                  <a:ea typeface="Helios Extended Bold"/>
                  <a:cs typeface="Helios Extended Bold"/>
                  <a:sym typeface="Helios Extended Bold"/>
                </a:rPr>
                <a:t>We need models that are both accurate and mechanistically interpretable</a:t>
              </a:r>
            </a:p>
          </p:txBody>
        </p:sp>
      </p:grpSp>
      <p:grpSp>
        <p:nvGrpSpPr>
          <p:cNvPr name="Group 39" id="39"/>
          <p:cNvGrpSpPr/>
          <p:nvPr/>
        </p:nvGrpSpPr>
        <p:grpSpPr>
          <a:xfrm rot="0">
            <a:off x="12569443" y="2459794"/>
            <a:ext cx="1323002" cy="1298051"/>
            <a:chOff x="0" y="0"/>
            <a:chExt cx="1646087" cy="1615043"/>
          </a:xfrm>
        </p:grpSpPr>
        <p:sp>
          <p:nvSpPr>
            <p:cNvPr name="Freeform 40" id="40" descr="preencoded.png"/>
            <p:cNvSpPr/>
            <p:nvPr/>
          </p:nvSpPr>
          <p:spPr>
            <a:xfrm flipH="false" flipV="false" rot="0">
              <a:off x="0" y="0"/>
              <a:ext cx="1646087" cy="1615043"/>
            </a:xfrm>
            <a:custGeom>
              <a:avLst/>
              <a:gdLst/>
              <a:ahLst/>
              <a:cxnLst/>
              <a:rect r="r" b="b" t="t" l="l"/>
              <a:pathLst>
                <a:path h="1615043" w="1646087">
                  <a:moveTo>
                    <a:pt x="0" y="0"/>
                  </a:moveTo>
                  <a:lnTo>
                    <a:pt x="1646087" y="0"/>
                  </a:lnTo>
                  <a:lnTo>
                    <a:pt x="1646087" y="1615043"/>
                  </a:lnTo>
                  <a:lnTo>
                    <a:pt x="0" y="1615043"/>
                  </a:lnTo>
                  <a:lnTo>
                    <a:pt x="0" y="0"/>
                  </a:lnTo>
                  <a:close/>
                </a:path>
              </a:pathLst>
            </a:custGeom>
            <a:blipFill>
              <a:blip r:embed="rId4"/>
              <a:stretch>
                <a:fillRect l="0" t="-961" r="0" b="-961"/>
              </a:stretch>
            </a:blipFill>
          </p:spPr>
        </p:sp>
      </p:grpSp>
      <p:grpSp>
        <p:nvGrpSpPr>
          <p:cNvPr name="Group 41" id="41"/>
          <p:cNvGrpSpPr/>
          <p:nvPr/>
        </p:nvGrpSpPr>
        <p:grpSpPr>
          <a:xfrm rot="0">
            <a:off x="4402950" y="2459794"/>
            <a:ext cx="1337239" cy="1298051"/>
            <a:chOff x="0" y="0"/>
            <a:chExt cx="1782985" cy="1730735"/>
          </a:xfrm>
        </p:grpSpPr>
        <p:sp>
          <p:nvSpPr>
            <p:cNvPr name="Freeform 42" id="42" descr="preencoded.png"/>
            <p:cNvSpPr/>
            <p:nvPr/>
          </p:nvSpPr>
          <p:spPr>
            <a:xfrm flipH="false" flipV="false" rot="0">
              <a:off x="0" y="0"/>
              <a:ext cx="1782985" cy="1730734"/>
            </a:xfrm>
            <a:custGeom>
              <a:avLst/>
              <a:gdLst/>
              <a:ahLst/>
              <a:cxnLst/>
              <a:rect r="r" b="b" t="t" l="l"/>
              <a:pathLst>
                <a:path h="1730734" w="1782985">
                  <a:moveTo>
                    <a:pt x="0" y="0"/>
                  </a:moveTo>
                  <a:lnTo>
                    <a:pt x="1782985" y="0"/>
                  </a:lnTo>
                  <a:lnTo>
                    <a:pt x="1782985" y="1730734"/>
                  </a:lnTo>
                  <a:lnTo>
                    <a:pt x="0" y="1730734"/>
                  </a:lnTo>
                  <a:lnTo>
                    <a:pt x="0" y="0"/>
                  </a:lnTo>
                  <a:close/>
                </a:path>
              </a:pathLst>
            </a:custGeom>
            <a:blipFill>
              <a:blip r:embed="rId5"/>
              <a:stretch>
                <a:fillRect l="0" t="-1509" r="0" b="-1509"/>
              </a:stretch>
            </a:blipFill>
          </p:spPr>
        </p:sp>
      </p:grpSp>
      <p:sp>
        <p:nvSpPr>
          <p:cNvPr name="TextBox 43" id="4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46304"/>
            <a:chOff x="0" y="0"/>
            <a:chExt cx="24384000" cy="195072"/>
          </a:xfrm>
        </p:grpSpPr>
        <p:sp>
          <p:nvSpPr>
            <p:cNvPr name="Freeform 3" id="3"/>
            <p:cNvSpPr/>
            <p:nvPr/>
          </p:nvSpPr>
          <p:spPr>
            <a:xfrm flipH="false" flipV="false" rot="0">
              <a:off x="0" y="0"/>
              <a:ext cx="24384000" cy="195072"/>
            </a:xfrm>
            <a:custGeom>
              <a:avLst/>
              <a:gdLst/>
              <a:ahLst/>
              <a:cxnLst/>
              <a:rect r="r" b="b" t="t" l="l"/>
              <a:pathLst>
                <a:path h="195072" w="24384000">
                  <a:moveTo>
                    <a:pt x="0" y="0"/>
                  </a:moveTo>
                  <a:lnTo>
                    <a:pt x="24384000" y="0"/>
                  </a:lnTo>
                  <a:lnTo>
                    <a:pt x="24384000" y="195072"/>
                  </a:lnTo>
                  <a:lnTo>
                    <a:pt x="0" y="195072"/>
                  </a:lnTo>
                  <a:close/>
                </a:path>
              </a:pathLst>
            </a:custGeom>
            <a:solidFill>
              <a:srgbClr val="3D4D55"/>
            </a:solidFill>
          </p:spPr>
        </p:sp>
      </p:grpSp>
      <p:grpSp>
        <p:nvGrpSpPr>
          <p:cNvPr name="Group 4" id="4"/>
          <p:cNvGrpSpPr/>
          <p:nvPr/>
        </p:nvGrpSpPr>
        <p:grpSpPr>
          <a:xfrm rot="0">
            <a:off x="5251507" y="2322201"/>
            <a:ext cx="8474258" cy="1097280"/>
            <a:chOff x="0" y="0"/>
            <a:chExt cx="11299010" cy="1463040"/>
          </a:xfrm>
        </p:grpSpPr>
        <p:sp>
          <p:nvSpPr>
            <p:cNvPr name="Freeform 5" id="5"/>
            <p:cNvSpPr/>
            <p:nvPr/>
          </p:nvSpPr>
          <p:spPr>
            <a:xfrm flipH="false" flipV="false" rot="0">
              <a:off x="0" y="0"/>
              <a:ext cx="11299010" cy="1463040"/>
            </a:xfrm>
            <a:custGeom>
              <a:avLst/>
              <a:gdLst/>
              <a:ahLst/>
              <a:cxnLst/>
              <a:rect r="r" b="b" t="t" l="l"/>
              <a:pathLst>
                <a:path h="1463040" w="11299010">
                  <a:moveTo>
                    <a:pt x="0" y="0"/>
                  </a:moveTo>
                  <a:lnTo>
                    <a:pt x="11299010" y="0"/>
                  </a:lnTo>
                  <a:lnTo>
                    <a:pt x="11299010" y="1463040"/>
                  </a:lnTo>
                  <a:lnTo>
                    <a:pt x="0" y="1463040"/>
                  </a:lnTo>
                  <a:close/>
                </a:path>
              </a:pathLst>
            </a:custGeom>
            <a:blipFill>
              <a:blip r:embed="rId3">
                <a:alphaModFix amt="0"/>
              </a:blip>
              <a:stretch>
                <a:fillRect l="0" t="-203305" r="-68329" b="-203305"/>
              </a:stretch>
            </a:blipFill>
          </p:spPr>
        </p:sp>
        <p:sp>
          <p:nvSpPr>
            <p:cNvPr name="TextBox 6" id="6"/>
            <p:cNvSpPr txBox="true"/>
            <p:nvPr/>
          </p:nvSpPr>
          <p:spPr>
            <a:xfrm>
              <a:off x="0" y="-47625"/>
              <a:ext cx="11299010" cy="1510665"/>
            </a:xfrm>
            <a:prstGeom prst="rect">
              <a:avLst/>
            </a:prstGeom>
          </p:spPr>
          <p:txBody>
            <a:bodyPr anchor="ctr" rtlCol="false" tIns="0" lIns="0" bIns="0" rIns="0"/>
            <a:lstStyle/>
            <a:p>
              <a:pPr algn="l">
                <a:lnSpc>
                  <a:spcPts val="6240"/>
                </a:lnSpc>
              </a:pPr>
              <a:r>
                <a:rPr lang="en-US" b="true" sz="5200" spc="-104">
                  <a:solidFill>
                    <a:srgbClr val="000000"/>
                  </a:solidFill>
                  <a:latin typeface="Helios Extended Bold"/>
                  <a:ea typeface="Helios Extended Bold"/>
                  <a:cs typeface="Helios Extended Bold"/>
                  <a:sym typeface="Helios Extended Bold"/>
                </a:rPr>
                <a:t>Research Question</a:t>
              </a:r>
            </a:p>
          </p:txBody>
        </p:sp>
      </p:grpSp>
      <p:grpSp>
        <p:nvGrpSpPr>
          <p:cNvPr name="Group 7" id="7"/>
          <p:cNvGrpSpPr/>
          <p:nvPr/>
        </p:nvGrpSpPr>
        <p:grpSpPr>
          <a:xfrm rot="0">
            <a:off x="0" y="10058400"/>
            <a:ext cx="18288000" cy="228600"/>
            <a:chOff x="0" y="0"/>
            <a:chExt cx="24384000" cy="304800"/>
          </a:xfrm>
        </p:grpSpPr>
        <p:sp>
          <p:nvSpPr>
            <p:cNvPr name="Freeform 8" id="8"/>
            <p:cNvSpPr/>
            <p:nvPr/>
          </p:nvSpPr>
          <p:spPr>
            <a:xfrm flipH="false" flipV="false" rot="0">
              <a:off x="0" y="0"/>
              <a:ext cx="24384000" cy="304800"/>
            </a:xfrm>
            <a:custGeom>
              <a:avLst/>
              <a:gdLst/>
              <a:ahLst/>
              <a:cxnLst/>
              <a:rect r="r" b="b" t="t" l="l"/>
              <a:pathLst>
                <a:path h="304800" w="24384000">
                  <a:moveTo>
                    <a:pt x="0" y="0"/>
                  </a:moveTo>
                  <a:lnTo>
                    <a:pt x="24384000" y="0"/>
                  </a:lnTo>
                  <a:lnTo>
                    <a:pt x="24384000" y="304800"/>
                  </a:lnTo>
                  <a:lnTo>
                    <a:pt x="0" y="304800"/>
                  </a:lnTo>
                  <a:close/>
                </a:path>
              </a:pathLst>
            </a:custGeom>
            <a:solidFill>
              <a:srgbClr val="3D4D55"/>
            </a:solidFill>
          </p:spPr>
        </p:sp>
      </p:grpSp>
      <p:grpSp>
        <p:nvGrpSpPr>
          <p:cNvPr name="Group 9" id="9"/>
          <p:cNvGrpSpPr/>
          <p:nvPr/>
        </p:nvGrpSpPr>
        <p:grpSpPr>
          <a:xfrm rot="0">
            <a:off x="15544800" y="365760"/>
            <a:ext cx="2453640" cy="585216"/>
            <a:chOff x="0" y="0"/>
            <a:chExt cx="3271520" cy="780288"/>
          </a:xfrm>
        </p:grpSpPr>
        <p:grpSp>
          <p:nvGrpSpPr>
            <p:cNvPr name="Group 10" id="10"/>
            <p:cNvGrpSpPr/>
            <p:nvPr/>
          </p:nvGrpSpPr>
          <p:grpSpPr>
            <a:xfrm rot="0">
              <a:off x="0" y="0"/>
              <a:ext cx="3169920" cy="780288"/>
              <a:chOff x="0" y="0"/>
              <a:chExt cx="3169920" cy="780288"/>
            </a:xfrm>
          </p:grpSpPr>
          <p:sp>
            <p:nvSpPr>
              <p:cNvPr name="Freeform 11" id="11"/>
              <p:cNvSpPr/>
              <p:nvPr/>
            </p:nvSpPr>
            <p:spPr>
              <a:xfrm flipH="false" flipV="false" rot="0">
                <a:off x="0" y="0"/>
                <a:ext cx="3169920" cy="780288"/>
              </a:xfrm>
              <a:custGeom>
                <a:avLst/>
                <a:gdLst/>
                <a:ahLst/>
                <a:cxnLst/>
                <a:rect r="r" b="b" t="t" l="l"/>
                <a:pathLst>
                  <a:path h="780288" w="3169920">
                    <a:moveTo>
                      <a:pt x="0" y="121920"/>
                    </a:moveTo>
                    <a:cubicBezTo>
                      <a:pt x="0" y="54610"/>
                      <a:pt x="54610" y="0"/>
                      <a:pt x="121920" y="0"/>
                    </a:cubicBezTo>
                    <a:lnTo>
                      <a:pt x="3048000" y="0"/>
                    </a:lnTo>
                    <a:cubicBezTo>
                      <a:pt x="3115310" y="0"/>
                      <a:pt x="3169920" y="54610"/>
                      <a:pt x="3169920" y="121920"/>
                    </a:cubicBezTo>
                    <a:lnTo>
                      <a:pt x="3169920" y="658368"/>
                    </a:lnTo>
                    <a:cubicBezTo>
                      <a:pt x="3169920" y="725678"/>
                      <a:pt x="3115310" y="780288"/>
                      <a:pt x="3048000" y="780288"/>
                    </a:cubicBezTo>
                    <a:lnTo>
                      <a:pt x="121920" y="780288"/>
                    </a:lnTo>
                    <a:cubicBezTo>
                      <a:pt x="54610" y="780288"/>
                      <a:pt x="0" y="725678"/>
                      <a:pt x="0" y="658368"/>
                    </a:cubicBezTo>
                    <a:close/>
                  </a:path>
                </a:pathLst>
              </a:custGeom>
              <a:solidFill>
                <a:srgbClr val="3D4D55"/>
              </a:solidFill>
            </p:spPr>
          </p:sp>
        </p:grpSp>
        <p:grpSp>
          <p:nvGrpSpPr>
            <p:cNvPr name="Group 12" id="12"/>
            <p:cNvGrpSpPr/>
            <p:nvPr/>
          </p:nvGrpSpPr>
          <p:grpSpPr>
            <a:xfrm rot="0">
              <a:off x="101600" y="48768"/>
              <a:ext cx="3169920" cy="682752"/>
              <a:chOff x="0" y="0"/>
              <a:chExt cx="3169920" cy="682752"/>
            </a:xfrm>
          </p:grpSpPr>
          <p:sp>
            <p:nvSpPr>
              <p:cNvPr name="Freeform 13" id="13"/>
              <p:cNvSpPr/>
              <p:nvPr/>
            </p:nvSpPr>
            <p:spPr>
              <a:xfrm flipH="false" flipV="false" rot="0">
                <a:off x="0" y="0"/>
                <a:ext cx="3169920" cy="682752"/>
              </a:xfrm>
              <a:custGeom>
                <a:avLst/>
                <a:gdLst/>
                <a:ahLst/>
                <a:cxnLst/>
                <a:rect r="r" b="b" t="t" l="l"/>
                <a:pathLst>
                  <a:path h="682752" w="3169920">
                    <a:moveTo>
                      <a:pt x="0" y="0"/>
                    </a:moveTo>
                    <a:lnTo>
                      <a:pt x="3169920" y="0"/>
                    </a:lnTo>
                    <a:lnTo>
                      <a:pt x="3169920" y="682752"/>
                    </a:lnTo>
                    <a:lnTo>
                      <a:pt x="0" y="682752"/>
                    </a:lnTo>
                    <a:close/>
                  </a:path>
                </a:pathLst>
              </a:custGeom>
              <a:blipFill>
                <a:blip r:embed="rId3">
                  <a:alphaModFix amt="0"/>
                </a:blip>
                <a:stretch>
                  <a:fillRect l="0" t="-40466" r="0" b="-40466"/>
                </a:stretch>
              </a:blipFill>
            </p:spPr>
          </p:sp>
          <p:sp>
            <p:nvSpPr>
              <p:cNvPr name="TextBox 14" id="14"/>
              <p:cNvSpPr txBox="true"/>
              <p:nvPr/>
            </p:nvSpPr>
            <p:spPr>
              <a:xfrm>
                <a:off x="0" y="-9525"/>
                <a:ext cx="3169920" cy="692277"/>
              </a:xfrm>
              <a:prstGeom prst="rect">
                <a:avLst/>
              </a:prstGeom>
            </p:spPr>
            <p:txBody>
              <a:bodyPr anchor="ctr" rtlCol="false" tIns="0" lIns="0" bIns="0" rIns="0"/>
              <a:lstStyle/>
              <a:p>
                <a:pPr algn="l" marL="388620" indent="-194310" lvl="1">
                  <a:lnSpc>
                    <a:spcPts val="2160"/>
                  </a:lnSpc>
                  <a:buAutoNum type="arabicPeriod" startAt="1"/>
                </a:pPr>
                <a:r>
                  <a:rPr lang="en-US" b="true" sz="1800">
                    <a:solidFill>
                      <a:srgbClr val="FFFFFF"/>
                    </a:solidFill>
                    <a:latin typeface="Helios Extended Bold"/>
                    <a:ea typeface="Helios Extended Bold"/>
                    <a:cs typeface="Helios Extended Bold"/>
                    <a:sym typeface="Helios Extended Bold"/>
                  </a:rPr>
                  <a:t>Introduction</a:t>
                </a:r>
              </a:p>
            </p:txBody>
          </p:sp>
        </p:grpSp>
      </p:grpSp>
      <p:grpSp>
        <p:nvGrpSpPr>
          <p:cNvPr name="Group 15" id="15"/>
          <p:cNvGrpSpPr/>
          <p:nvPr/>
        </p:nvGrpSpPr>
        <p:grpSpPr>
          <a:xfrm rot="0">
            <a:off x="1028700" y="4005505"/>
            <a:ext cx="16459200" cy="2998367"/>
            <a:chOff x="0" y="0"/>
            <a:chExt cx="21945600" cy="3997822"/>
          </a:xfrm>
        </p:grpSpPr>
        <p:sp>
          <p:nvSpPr>
            <p:cNvPr name="Freeform 16" id="16"/>
            <p:cNvSpPr/>
            <p:nvPr/>
          </p:nvSpPr>
          <p:spPr>
            <a:xfrm flipH="false" flipV="false" rot="0">
              <a:off x="0" y="0"/>
              <a:ext cx="21945600" cy="3997822"/>
            </a:xfrm>
            <a:custGeom>
              <a:avLst/>
              <a:gdLst/>
              <a:ahLst/>
              <a:cxnLst/>
              <a:rect r="r" b="b" t="t" l="l"/>
              <a:pathLst>
                <a:path h="3997822" w="21945600">
                  <a:moveTo>
                    <a:pt x="0" y="0"/>
                  </a:moveTo>
                  <a:lnTo>
                    <a:pt x="21945600" y="0"/>
                  </a:lnTo>
                  <a:lnTo>
                    <a:pt x="21945600" y="3997822"/>
                  </a:lnTo>
                  <a:lnTo>
                    <a:pt x="0" y="3997822"/>
                  </a:lnTo>
                  <a:close/>
                </a:path>
              </a:pathLst>
            </a:custGeom>
            <a:blipFill>
              <a:blip r:embed="rId3">
                <a:alphaModFix amt="0"/>
              </a:blip>
              <a:stretch>
                <a:fillRect l="0" t="-95372" r="0" b="-18549"/>
              </a:stretch>
            </a:blipFill>
          </p:spPr>
        </p:sp>
        <p:sp>
          <p:nvSpPr>
            <p:cNvPr name="TextBox 17" id="17"/>
            <p:cNvSpPr txBox="true"/>
            <p:nvPr/>
          </p:nvSpPr>
          <p:spPr>
            <a:xfrm>
              <a:off x="0" y="-38100"/>
              <a:ext cx="21945600" cy="4035922"/>
            </a:xfrm>
            <a:prstGeom prst="rect">
              <a:avLst/>
            </a:prstGeom>
          </p:spPr>
          <p:txBody>
            <a:bodyPr anchor="ctr" rtlCol="false" tIns="0" lIns="0" bIns="0" rIns="0"/>
            <a:lstStyle/>
            <a:p>
              <a:pPr algn="ctr">
                <a:lnSpc>
                  <a:spcPts val="5639"/>
                </a:lnSpc>
              </a:pPr>
              <a:r>
                <a:rPr lang="en-US" sz="4699">
                  <a:solidFill>
                    <a:srgbClr val="000000"/>
                  </a:solidFill>
                  <a:latin typeface="Helios Extended"/>
                  <a:ea typeface="Helios Extended"/>
                  <a:cs typeface="Helios Extended"/>
                  <a:sym typeface="Helios Extended"/>
                </a:rPr>
                <a:t>Can pharmacological reasoning be transferred from a 70B teacher to a 7B student via CoT distillation, without sacrificing DDI classification accuracy?</a:t>
              </a:r>
            </a:p>
          </p:txBody>
        </p:sp>
      </p:grpSp>
      <p:sp>
        <p:nvSpPr>
          <p:cNvPr name="TextBox 18" id="1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46304"/>
            <a:chOff x="0" y="0"/>
            <a:chExt cx="24384000" cy="195072"/>
          </a:xfrm>
        </p:grpSpPr>
        <p:sp>
          <p:nvSpPr>
            <p:cNvPr name="Freeform 3" id="3"/>
            <p:cNvSpPr/>
            <p:nvPr/>
          </p:nvSpPr>
          <p:spPr>
            <a:xfrm flipH="false" flipV="false" rot="0">
              <a:off x="0" y="0"/>
              <a:ext cx="24384000" cy="195072"/>
            </a:xfrm>
            <a:custGeom>
              <a:avLst/>
              <a:gdLst/>
              <a:ahLst/>
              <a:cxnLst/>
              <a:rect r="r" b="b" t="t" l="l"/>
              <a:pathLst>
                <a:path h="195072" w="24384000">
                  <a:moveTo>
                    <a:pt x="0" y="0"/>
                  </a:moveTo>
                  <a:lnTo>
                    <a:pt x="24384000" y="0"/>
                  </a:lnTo>
                  <a:lnTo>
                    <a:pt x="24384000" y="195072"/>
                  </a:lnTo>
                  <a:lnTo>
                    <a:pt x="0" y="195072"/>
                  </a:lnTo>
                  <a:close/>
                </a:path>
              </a:pathLst>
            </a:custGeom>
            <a:solidFill>
              <a:srgbClr val="3D4D55"/>
            </a:solidFill>
          </p:spPr>
        </p:sp>
      </p:grpSp>
      <p:grpSp>
        <p:nvGrpSpPr>
          <p:cNvPr name="Group 4" id="4"/>
          <p:cNvGrpSpPr/>
          <p:nvPr/>
        </p:nvGrpSpPr>
        <p:grpSpPr>
          <a:xfrm rot="0">
            <a:off x="1280160" y="652776"/>
            <a:ext cx="14264640" cy="1097280"/>
            <a:chOff x="0" y="0"/>
            <a:chExt cx="19019520" cy="1463040"/>
          </a:xfrm>
        </p:grpSpPr>
        <p:sp>
          <p:nvSpPr>
            <p:cNvPr name="Freeform 5" id="5"/>
            <p:cNvSpPr/>
            <p:nvPr/>
          </p:nvSpPr>
          <p:spPr>
            <a:xfrm flipH="false" flipV="false" rot="0">
              <a:off x="0" y="0"/>
              <a:ext cx="19019520" cy="1463040"/>
            </a:xfrm>
            <a:custGeom>
              <a:avLst/>
              <a:gdLst/>
              <a:ahLst/>
              <a:cxnLst/>
              <a:rect r="r" b="b" t="t" l="l"/>
              <a:pathLst>
                <a:path h="1463040" w="19019520">
                  <a:moveTo>
                    <a:pt x="0" y="0"/>
                  </a:moveTo>
                  <a:lnTo>
                    <a:pt x="19019520" y="0"/>
                  </a:lnTo>
                  <a:lnTo>
                    <a:pt x="19019520" y="1463040"/>
                  </a:lnTo>
                  <a:lnTo>
                    <a:pt x="0" y="1463040"/>
                  </a:lnTo>
                  <a:close/>
                </a:path>
              </a:pathLst>
            </a:custGeom>
            <a:blipFill>
              <a:blip r:embed="rId3">
                <a:alphaModFix amt="0"/>
              </a:blip>
              <a:stretch>
                <a:fillRect l="0" t="-203305" r="0" b="-203305"/>
              </a:stretch>
            </a:blipFill>
          </p:spPr>
        </p:sp>
        <p:sp>
          <p:nvSpPr>
            <p:cNvPr name="TextBox 6" id="6"/>
            <p:cNvSpPr txBox="true"/>
            <p:nvPr/>
          </p:nvSpPr>
          <p:spPr>
            <a:xfrm>
              <a:off x="0" y="-47625"/>
              <a:ext cx="19019520" cy="1510665"/>
            </a:xfrm>
            <a:prstGeom prst="rect">
              <a:avLst/>
            </a:prstGeom>
          </p:spPr>
          <p:txBody>
            <a:bodyPr anchor="ctr" rtlCol="false" tIns="0" lIns="0" bIns="0" rIns="0"/>
            <a:lstStyle/>
            <a:p>
              <a:pPr algn="l">
                <a:lnSpc>
                  <a:spcPts val="6240"/>
                </a:lnSpc>
              </a:pPr>
              <a:r>
                <a:rPr lang="en-US" b="true" sz="5200">
                  <a:solidFill>
                    <a:srgbClr val="000000"/>
                  </a:solidFill>
                  <a:latin typeface="Helios Extended Bold"/>
                  <a:ea typeface="Helios Extended Bold"/>
                  <a:cs typeface="Helios Extended Bold"/>
                  <a:sym typeface="Helios Extended Bold"/>
                </a:rPr>
                <a:t>Related Work  </a:t>
              </a:r>
            </a:p>
          </p:txBody>
        </p:sp>
      </p:grpSp>
      <p:grpSp>
        <p:nvGrpSpPr>
          <p:cNvPr name="Group 7" id="7"/>
          <p:cNvGrpSpPr/>
          <p:nvPr/>
        </p:nvGrpSpPr>
        <p:grpSpPr>
          <a:xfrm rot="0">
            <a:off x="15544800" y="365760"/>
            <a:ext cx="2377440" cy="585216"/>
            <a:chOff x="0" y="0"/>
            <a:chExt cx="3169920" cy="780288"/>
          </a:xfrm>
        </p:grpSpPr>
        <p:sp>
          <p:nvSpPr>
            <p:cNvPr name="Freeform 8" id="8"/>
            <p:cNvSpPr/>
            <p:nvPr/>
          </p:nvSpPr>
          <p:spPr>
            <a:xfrm flipH="false" flipV="false" rot="0">
              <a:off x="0" y="0"/>
              <a:ext cx="3169920" cy="780288"/>
            </a:xfrm>
            <a:custGeom>
              <a:avLst/>
              <a:gdLst/>
              <a:ahLst/>
              <a:cxnLst/>
              <a:rect r="r" b="b" t="t" l="l"/>
              <a:pathLst>
                <a:path h="780288" w="3169920">
                  <a:moveTo>
                    <a:pt x="0" y="121920"/>
                  </a:moveTo>
                  <a:cubicBezTo>
                    <a:pt x="0" y="54610"/>
                    <a:pt x="54610" y="0"/>
                    <a:pt x="121920" y="0"/>
                  </a:cubicBezTo>
                  <a:lnTo>
                    <a:pt x="3048000" y="0"/>
                  </a:lnTo>
                  <a:cubicBezTo>
                    <a:pt x="3115310" y="0"/>
                    <a:pt x="3169920" y="54610"/>
                    <a:pt x="3169920" y="121920"/>
                  </a:cubicBezTo>
                  <a:lnTo>
                    <a:pt x="3169920" y="658368"/>
                  </a:lnTo>
                  <a:cubicBezTo>
                    <a:pt x="3169920" y="725678"/>
                    <a:pt x="3115310" y="780288"/>
                    <a:pt x="3048000" y="780288"/>
                  </a:cubicBezTo>
                  <a:lnTo>
                    <a:pt x="121920" y="780288"/>
                  </a:lnTo>
                  <a:cubicBezTo>
                    <a:pt x="54610" y="780288"/>
                    <a:pt x="0" y="725678"/>
                    <a:pt x="0" y="658368"/>
                  </a:cubicBezTo>
                  <a:close/>
                </a:path>
              </a:pathLst>
            </a:custGeom>
            <a:solidFill>
              <a:srgbClr val="3D4D55"/>
            </a:solidFill>
          </p:spPr>
        </p:sp>
      </p:grpSp>
      <p:grpSp>
        <p:nvGrpSpPr>
          <p:cNvPr name="Group 9" id="9"/>
          <p:cNvGrpSpPr/>
          <p:nvPr/>
        </p:nvGrpSpPr>
        <p:grpSpPr>
          <a:xfrm rot="0">
            <a:off x="15544800" y="402336"/>
            <a:ext cx="2377440" cy="512064"/>
            <a:chOff x="0" y="0"/>
            <a:chExt cx="3169920" cy="682752"/>
          </a:xfrm>
        </p:grpSpPr>
        <p:sp>
          <p:nvSpPr>
            <p:cNvPr name="Freeform 10" id="10"/>
            <p:cNvSpPr/>
            <p:nvPr/>
          </p:nvSpPr>
          <p:spPr>
            <a:xfrm flipH="false" flipV="false" rot="0">
              <a:off x="0" y="0"/>
              <a:ext cx="3169920" cy="682752"/>
            </a:xfrm>
            <a:custGeom>
              <a:avLst/>
              <a:gdLst/>
              <a:ahLst/>
              <a:cxnLst/>
              <a:rect r="r" b="b" t="t" l="l"/>
              <a:pathLst>
                <a:path h="682752" w="3169920">
                  <a:moveTo>
                    <a:pt x="0" y="0"/>
                  </a:moveTo>
                  <a:lnTo>
                    <a:pt x="3169920" y="0"/>
                  </a:lnTo>
                  <a:lnTo>
                    <a:pt x="3169920" y="682752"/>
                  </a:lnTo>
                  <a:lnTo>
                    <a:pt x="0" y="682752"/>
                  </a:lnTo>
                  <a:close/>
                </a:path>
              </a:pathLst>
            </a:custGeom>
            <a:blipFill>
              <a:blip r:embed="rId3">
                <a:alphaModFix amt="0"/>
              </a:blip>
              <a:stretch>
                <a:fillRect l="0" t="-40466" r="0" b="-40466"/>
              </a:stretch>
            </a:blipFill>
          </p:spPr>
        </p:sp>
        <p:sp>
          <p:nvSpPr>
            <p:cNvPr name="TextBox 11" id="11"/>
            <p:cNvSpPr txBox="true"/>
            <p:nvPr/>
          </p:nvSpPr>
          <p:spPr>
            <a:xfrm>
              <a:off x="0" y="-9525"/>
              <a:ext cx="3169920" cy="692277"/>
            </a:xfrm>
            <a:prstGeom prst="rect">
              <a:avLst/>
            </a:prstGeom>
          </p:spPr>
          <p:txBody>
            <a:bodyPr anchor="ctr" rtlCol="false" tIns="0" lIns="0" bIns="0" rIns="0"/>
            <a:lstStyle/>
            <a:p>
              <a:pPr algn="ctr">
                <a:lnSpc>
                  <a:spcPts val="2160"/>
                </a:lnSpc>
              </a:pPr>
              <a:r>
                <a:rPr lang="en-US" sz="1800" b="true">
                  <a:solidFill>
                    <a:srgbClr val="FFFFFF"/>
                  </a:solidFill>
                  <a:latin typeface="Helios Extended Bold"/>
                  <a:ea typeface="Helios Extended Bold"/>
                  <a:cs typeface="Helios Extended Bold"/>
                  <a:sym typeface="Helios Extended Bold"/>
                </a:rPr>
                <a:t>2. Related Work</a:t>
              </a:r>
            </a:p>
          </p:txBody>
        </p:sp>
      </p:grpSp>
      <p:graphicFrame>
        <p:nvGraphicFramePr>
          <p:cNvPr name="Table 12" id="12"/>
          <p:cNvGraphicFramePr>
            <a:graphicFrameLocks noGrp="true"/>
          </p:cNvGraphicFramePr>
          <p:nvPr/>
        </p:nvGraphicFramePr>
        <p:xfrm>
          <a:off x="1331645" y="2256528"/>
          <a:ext cx="15927655" cy="4610100"/>
        </p:xfrm>
        <a:graphic>
          <a:graphicData uri="http://schemas.openxmlformats.org/drawingml/2006/table">
            <a:tbl>
              <a:tblPr/>
              <a:tblGrid>
                <a:gridCol w="2781559"/>
                <a:gridCol w="3436271"/>
                <a:gridCol w="5238877"/>
                <a:gridCol w="4470947"/>
              </a:tblGrid>
              <a:tr h="940301">
                <a:tc>
                  <a:txBody>
                    <a:bodyPr anchor="t" rtlCol="false"/>
                    <a:lstStyle/>
                    <a:p>
                      <a:pPr algn="ctr">
                        <a:lnSpc>
                          <a:spcPts val="2640"/>
                        </a:lnSpc>
                        <a:defRPr/>
                      </a:pPr>
                      <a:r>
                        <a:rPr lang="en-US" sz="2200" b="true">
                          <a:solidFill>
                            <a:srgbClr val="FFFFFF"/>
                          </a:solidFill>
                          <a:latin typeface="Helios Extended Bold"/>
                          <a:ea typeface="Helios Extended Bold"/>
                          <a:cs typeface="Helios Extended Bold"/>
                          <a:sym typeface="Helios Extended Bold"/>
                        </a:rPr>
                        <a:t>Area</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3D4D55"/>
                    </a:solidFill>
                  </a:tcPr>
                </a:tc>
                <a:tc>
                  <a:txBody>
                    <a:bodyPr anchor="t" rtlCol="false"/>
                    <a:lstStyle/>
                    <a:p>
                      <a:pPr algn="ctr">
                        <a:lnSpc>
                          <a:spcPts val="2640"/>
                        </a:lnSpc>
                        <a:defRPr/>
                      </a:pPr>
                      <a:r>
                        <a:rPr lang="en-US" sz="2200" b="true">
                          <a:solidFill>
                            <a:srgbClr val="FFFFFF"/>
                          </a:solidFill>
                          <a:latin typeface="Helios Extended Bold"/>
                          <a:ea typeface="Helios Extended Bold"/>
                          <a:cs typeface="Helios Extended Bold"/>
                          <a:sym typeface="Helios Extended Bold"/>
                        </a:rPr>
                        <a:t>Key Work</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3D4D55"/>
                    </a:solidFill>
                  </a:tcPr>
                </a:tc>
                <a:tc>
                  <a:txBody>
                    <a:bodyPr anchor="t" rtlCol="false"/>
                    <a:lstStyle/>
                    <a:p>
                      <a:pPr algn="ctr">
                        <a:lnSpc>
                          <a:spcPts val="2640"/>
                        </a:lnSpc>
                        <a:defRPr/>
                      </a:pPr>
                      <a:r>
                        <a:rPr lang="en-US" sz="2200" b="true">
                          <a:solidFill>
                            <a:srgbClr val="FFFFFF"/>
                          </a:solidFill>
                          <a:latin typeface="Helios Extended Bold"/>
                          <a:ea typeface="Helios Extended Bold"/>
                          <a:cs typeface="Helios Extended Bold"/>
                          <a:sym typeface="Helios Extended Bold"/>
                        </a:rPr>
                        <a:t>What They Showed </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3D4D55"/>
                    </a:solidFill>
                  </a:tcPr>
                </a:tc>
                <a:tc>
                  <a:txBody>
                    <a:bodyPr anchor="t" rtlCol="false"/>
                    <a:lstStyle/>
                    <a:p>
                      <a:pPr algn="ctr">
                        <a:lnSpc>
                          <a:spcPts val="2640"/>
                        </a:lnSpc>
                        <a:defRPr/>
                      </a:pPr>
                      <a:r>
                        <a:rPr lang="en-US" sz="2200" b="true">
                          <a:solidFill>
                            <a:srgbClr val="FFFFFF"/>
                          </a:solidFill>
                          <a:latin typeface="Helios Extended Bold"/>
                          <a:ea typeface="Helios Extended Bold"/>
                          <a:cs typeface="Helios Extended Bold"/>
                          <a:sym typeface="Helios Extended Bold"/>
                        </a:rPr>
                        <a:t>What’s Missing</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3D4D55"/>
                    </a:solidFill>
                  </a:tcPr>
                </a:tc>
              </a:tr>
              <a:tr h="940301">
                <a:tc>
                  <a:txBody>
                    <a:bodyPr anchor="t" rtlCol="false"/>
                    <a:lstStyle/>
                    <a:p>
                      <a:pPr algn="l">
                        <a:lnSpc>
                          <a:spcPts val="2400"/>
                        </a:lnSpc>
                        <a:defRPr/>
                      </a:pPr>
                      <a:r>
                        <a:rPr lang="en-US" sz="2000">
                          <a:solidFill>
                            <a:srgbClr val="000000"/>
                          </a:solidFill>
                          <a:latin typeface="Helios Extended"/>
                          <a:ea typeface="Helios Extended"/>
                          <a:cs typeface="Helios Extended"/>
                          <a:sym typeface="Helios Extended"/>
                        </a:rPr>
                        <a:t>Chain of Thought (CoT prompting) </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000000"/>
                          </a:solidFill>
                          <a:latin typeface="Helios Extended"/>
                          <a:ea typeface="Helios Extended"/>
                          <a:cs typeface="Helios Extended"/>
                          <a:sym typeface="Helios Extended"/>
                        </a:rPr>
                        <a:t>Wei et al. (2022) </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000000"/>
                          </a:solidFill>
                          <a:latin typeface="Helios Extended"/>
                          <a:ea typeface="Helios Extended"/>
                          <a:cs typeface="Helios Extended"/>
                          <a:sym typeface="Helios Extended"/>
                        </a:rPr>
                        <a:t>Step-by-s</a:t>
                      </a:r>
                      <a:r>
                        <a:rPr lang="en-US" sz="2000">
                          <a:solidFill>
                            <a:srgbClr val="000000"/>
                          </a:solidFill>
                          <a:latin typeface="Helios Extended"/>
                          <a:ea typeface="Helios Extended"/>
                          <a:cs typeface="Helios Extended"/>
                          <a:sym typeface="Helios Extended"/>
                        </a:rPr>
                        <a:t>tep reasoning dramatically improves LLM performance</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E53E3E"/>
                          </a:solidFill>
                          <a:latin typeface="Helios Extended"/>
                          <a:ea typeface="Helios Extended"/>
                          <a:cs typeface="Helios Extended"/>
                          <a:sym typeface="Helios Extended"/>
                        </a:rPr>
                        <a:t>CoT </a:t>
                      </a:r>
                      <a:r>
                        <a:rPr lang="en-US" sz="2000">
                          <a:solidFill>
                            <a:srgbClr val="E53E3E"/>
                          </a:solidFill>
                          <a:latin typeface="Helios Extended"/>
                          <a:ea typeface="Helios Extended"/>
                          <a:cs typeface="Helios Extended"/>
                          <a:sym typeface="Helios Extended"/>
                        </a:rPr>
                        <a:t>only works in 100B+ models</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r>
              <a:tr h="940301">
                <a:tc>
                  <a:txBody>
                    <a:bodyPr anchor="t" rtlCol="false"/>
                    <a:lstStyle/>
                    <a:p>
                      <a:pPr algn="l">
                        <a:lnSpc>
                          <a:spcPts val="2400"/>
                        </a:lnSpc>
                        <a:defRPr/>
                      </a:pPr>
                      <a:r>
                        <a:rPr lang="en-US" sz="2000">
                          <a:solidFill>
                            <a:srgbClr val="000000"/>
                          </a:solidFill>
                          <a:latin typeface="Helios Extended"/>
                          <a:ea typeface="Helios Extended"/>
                          <a:cs typeface="Helios Extended"/>
                          <a:sym typeface="Helios Extended"/>
                        </a:rPr>
                        <a:t>Knowledge Distillation </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l">
                        <a:lnSpc>
                          <a:spcPts val="2400"/>
                        </a:lnSpc>
                        <a:defRPr/>
                      </a:pPr>
                      <a:r>
                        <a:rPr lang="en-US" sz="2000">
                          <a:solidFill>
                            <a:srgbClr val="000000"/>
                          </a:solidFill>
                          <a:latin typeface="Helios Extended"/>
                          <a:ea typeface="Helios Extended"/>
                          <a:cs typeface="Helios Extended"/>
                          <a:sym typeface="Helios Extended"/>
                        </a:rPr>
                        <a:t>H</a:t>
                      </a:r>
                      <a:r>
                        <a:rPr lang="en-US" sz="2000">
                          <a:solidFill>
                            <a:srgbClr val="000000"/>
                          </a:solidFill>
                          <a:latin typeface="Helios Extended"/>
                          <a:ea typeface="Helios Extended"/>
                          <a:cs typeface="Helios Extended"/>
                          <a:sym typeface="Helios Extended"/>
                        </a:rPr>
                        <a:t>inton et al. (2015)</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l">
                        <a:lnSpc>
                          <a:spcPts val="2400"/>
                        </a:lnSpc>
                        <a:defRPr/>
                      </a:pPr>
                      <a:r>
                        <a:rPr lang="en-US" sz="2000">
                          <a:solidFill>
                            <a:srgbClr val="000000"/>
                          </a:solidFill>
                          <a:latin typeface="Helios Extended"/>
                          <a:ea typeface="Helios Extended"/>
                          <a:cs typeface="Helios Extended"/>
                          <a:sym typeface="Helios Extended"/>
                        </a:rPr>
                        <a:t>Small students can match large teache</a:t>
                      </a:r>
                      <a:r>
                        <a:rPr lang="en-US" sz="2000">
                          <a:solidFill>
                            <a:srgbClr val="000000"/>
                          </a:solidFill>
                          <a:latin typeface="Helios Extended"/>
                          <a:ea typeface="Helios Extended"/>
                          <a:cs typeface="Helios Extended"/>
                          <a:sym typeface="Helios Extended"/>
                        </a:rPr>
                        <a:t>rs via soft label training</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l">
                        <a:lnSpc>
                          <a:spcPts val="2400"/>
                        </a:lnSpc>
                        <a:defRPr/>
                      </a:pPr>
                      <a:r>
                        <a:rPr lang="en-US" sz="2000">
                          <a:solidFill>
                            <a:srgbClr val="E53E3E"/>
                          </a:solidFill>
                          <a:latin typeface="Helios Extended"/>
                          <a:ea typeface="Helios Extended"/>
                          <a:cs typeface="Helios Extended"/>
                          <a:sym typeface="Helios Extended"/>
                        </a:rPr>
                        <a:t>Tr</a:t>
                      </a:r>
                      <a:r>
                        <a:rPr lang="en-US" sz="2000">
                          <a:solidFill>
                            <a:srgbClr val="E53E3E"/>
                          </a:solidFill>
                          <a:latin typeface="Helios Extended"/>
                          <a:ea typeface="Helios Extended"/>
                          <a:cs typeface="Helios Extended"/>
                          <a:sym typeface="Helios Extended"/>
                        </a:rPr>
                        <a:t>ansfers probabilities, not reasoning processes</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r>
              <a:tr h="940301">
                <a:tc>
                  <a:txBody>
                    <a:bodyPr anchor="t" rtlCol="false"/>
                    <a:lstStyle/>
                    <a:p>
                      <a:pPr algn="l">
                        <a:lnSpc>
                          <a:spcPts val="2400"/>
                        </a:lnSpc>
                        <a:defRPr/>
                      </a:pPr>
                      <a:r>
                        <a:rPr lang="en-US" sz="2000">
                          <a:solidFill>
                            <a:srgbClr val="000000"/>
                          </a:solidFill>
                          <a:latin typeface="Helios Extended"/>
                          <a:ea typeface="Helios Extended"/>
                          <a:cs typeface="Helios Extended"/>
                          <a:sym typeface="Helios Extended"/>
                        </a:rPr>
                        <a:t>CoT Distillation </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000000"/>
                          </a:solidFill>
                          <a:latin typeface="Helios Extended"/>
                          <a:ea typeface="Helios Extended"/>
                          <a:cs typeface="Helios Extended"/>
                          <a:sym typeface="Helios Extended"/>
                        </a:rPr>
                        <a:t>Mag</a:t>
                      </a:r>
                      <a:r>
                        <a:rPr lang="en-US" sz="2000">
                          <a:solidFill>
                            <a:srgbClr val="000000"/>
                          </a:solidFill>
                          <a:latin typeface="Helios Extended"/>
                          <a:ea typeface="Helios Extended"/>
                          <a:cs typeface="Helios Extended"/>
                          <a:sym typeface="Helios Extended"/>
                        </a:rPr>
                        <a:t>ister et al. (2023)</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000000"/>
                          </a:solidFill>
                          <a:latin typeface="Helios Extended"/>
                          <a:ea typeface="Helios Extended"/>
                          <a:cs typeface="Helios Extended"/>
                          <a:sym typeface="Helios Extended"/>
                        </a:rPr>
                        <a:t>CoT</a:t>
                      </a:r>
                      <a:r>
                        <a:rPr lang="en-US" sz="2000">
                          <a:solidFill>
                            <a:srgbClr val="000000"/>
                          </a:solidFill>
                          <a:latin typeface="Helios Extended"/>
                          <a:ea typeface="Helios Extended"/>
                          <a:cs typeface="Helios Extended"/>
                          <a:sym typeface="Helios Extended"/>
                        </a:rPr>
                        <a:t> reasoning can be distilled into small models via SFT</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E53E3E"/>
                          </a:solidFill>
                          <a:latin typeface="Helios Extended"/>
                          <a:ea typeface="Helios Extended"/>
                          <a:cs typeface="Helios Extended"/>
                          <a:sym typeface="Helios Extended"/>
                        </a:rPr>
                        <a:t>On</a:t>
                      </a:r>
                      <a:r>
                        <a:rPr lang="en-US" sz="2000">
                          <a:solidFill>
                            <a:srgbClr val="E53E3E"/>
                          </a:solidFill>
                          <a:latin typeface="Helios Extended"/>
                          <a:ea typeface="Helios Extended"/>
                          <a:cs typeface="Helios Extended"/>
                          <a:sym typeface="Helios Extended"/>
                        </a:rPr>
                        <a:t>ly tested on math, not biomedical or imbalanced data</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r>
              <a:tr h="848894">
                <a:tc>
                  <a:txBody>
                    <a:bodyPr anchor="t" rtlCol="false"/>
                    <a:lstStyle/>
                    <a:p>
                      <a:pPr algn="l">
                        <a:lnSpc>
                          <a:spcPts val="2400"/>
                        </a:lnSpc>
                        <a:defRPr/>
                      </a:pPr>
                      <a:r>
                        <a:rPr lang="en-US" sz="2000">
                          <a:solidFill>
                            <a:srgbClr val="000000"/>
                          </a:solidFill>
                          <a:latin typeface="Helios Extended"/>
                          <a:ea typeface="Helios Extended"/>
                          <a:cs typeface="Helios Extended"/>
                          <a:sym typeface="Helios Extended"/>
                        </a:rPr>
                        <a:t>LLMs for DDI </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l">
                        <a:lnSpc>
                          <a:spcPts val="2400"/>
                        </a:lnSpc>
                        <a:defRPr/>
                      </a:pPr>
                      <a:r>
                        <a:rPr lang="en-US" sz="2000">
                          <a:solidFill>
                            <a:srgbClr val="000000"/>
                          </a:solidFill>
                          <a:latin typeface="Helios Extended"/>
                          <a:ea typeface="Helios Extended"/>
                          <a:cs typeface="Helios Extended"/>
                          <a:sym typeface="Helios Extended"/>
                        </a:rPr>
                        <a:t>De</a:t>
                      </a:r>
                      <a:r>
                        <a:rPr lang="en-US" sz="2000">
                          <a:solidFill>
                            <a:srgbClr val="000000"/>
                          </a:solidFill>
                          <a:latin typeface="Helios Extended"/>
                          <a:ea typeface="Helios Extended"/>
                          <a:cs typeface="Helios Extended"/>
                          <a:sym typeface="Helios Extended"/>
                        </a:rPr>
                        <a:t> Vito et al. (2026)</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l">
                        <a:lnSpc>
                          <a:spcPts val="2400"/>
                        </a:lnSpc>
                        <a:defRPr/>
                      </a:pPr>
                      <a:r>
                        <a:rPr lang="en-US" sz="2000">
                          <a:solidFill>
                            <a:srgbClr val="000000"/>
                          </a:solidFill>
                          <a:latin typeface="Helios Extended"/>
                          <a:ea typeface="Helios Extended"/>
                          <a:cs typeface="Helios Extended"/>
                          <a:sym typeface="Helios Extended"/>
                        </a:rPr>
                        <a:t>F</a:t>
                      </a:r>
                      <a:r>
                        <a:rPr lang="en-US" sz="2000">
                          <a:solidFill>
                            <a:srgbClr val="000000"/>
                          </a:solidFill>
                          <a:latin typeface="Helios Extended"/>
                          <a:ea typeface="Helios Extended"/>
                          <a:cs typeface="Helios Extended"/>
                          <a:sym typeface="Helios Extended"/>
                        </a:rPr>
                        <a:t>ine-tuned small LLMs achieve 91.9% DDI accuracy</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l">
                        <a:lnSpc>
                          <a:spcPts val="2400"/>
                        </a:lnSpc>
                        <a:defRPr/>
                      </a:pPr>
                      <a:r>
                        <a:rPr lang="en-US" sz="2000">
                          <a:solidFill>
                            <a:srgbClr val="E53E3E"/>
                          </a:solidFill>
                          <a:latin typeface="Helios Extended"/>
                          <a:ea typeface="Helios Extended"/>
                          <a:cs typeface="Helios Extended"/>
                          <a:sym typeface="Helios Extended"/>
                        </a:rPr>
                        <a:t>Black</a:t>
                      </a:r>
                      <a:r>
                        <a:rPr lang="en-US" sz="2000">
                          <a:solidFill>
                            <a:srgbClr val="E53E3E"/>
                          </a:solidFill>
                          <a:latin typeface="Helios Extended"/>
                          <a:ea typeface="Helios Extended"/>
                          <a:cs typeface="Helios Extended"/>
                          <a:sym typeface="Helios Extended"/>
                        </a:rPr>
                        <a:t> box, no mechanistic explanation</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r>
            </a:tbl>
          </a:graphicData>
        </a:graphic>
      </p:graphicFrame>
      <p:grpSp>
        <p:nvGrpSpPr>
          <p:cNvPr name="Group 13" id="13"/>
          <p:cNvGrpSpPr/>
          <p:nvPr/>
        </p:nvGrpSpPr>
        <p:grpSpPr>
          <a:xfrm rot="0">
            <a:off x="0" y="10058400"/>
            <a:ext cx="18288000" cy="228600"/>
            <a:chOff x="0" y="0"/>
            <a:chExt cx="24384000" cy="304800"/>
          </a:xfrm>
        </p:grpSpPr>
        <p:sp>
          <p:nvSpPr>
            <p:cNvPr name="Freeform 14" id="14"/>
            <p:cNvSpPr/>
            <p:nvPr/>
          </p:nvSpPr>
          <p:spPr>
            <a:xfrm flipH="false" flipV="false" rot="0">
              <a:off x="0" y="0"/>
              <a:ext cx="24384000" cy="304800"/>
            </a:xfrm>
            <a:custGeom>
              <a:avLst/>
              <a:gdLst/>
              <a:ahLst/>
              <a:cxnLst/>
              <a:rect r="r" b="b" t="t" l="l"/>
              <a:pathLst>
                <a:path h="304800" w="24384000">
                  <a:moveTo>
                    <a:pt x="0" y="0"/>
                  </a:moveTo>
                  <a:lnTo>
                    <a:pt x="24384000" y="0"/>
                  </a:lnTo>
                  <a:lnTo>
                    <a:pt x="24384000" y="304800"/>
                  </a:lnTo>
                  <a:lnTo>
                    <a:pt x="0" y="304800"/>
                  </a:lnTo>
                  <a:close/>
                </a:path>
              </a:pathLst>
            </a:custGeom>
            <a:solidFill>
              <a:srgbClr val="3D4D55"/>
            </a:solidFill>
          </p:spPr>
        </p:sp>
      </p:grpSp>
      <p:sp>
        <p:nvSpPr>
          <p:cNvPr name="TextBox 15" id="15"/>
          <p:cNvSpPr txBox="true"/>
          <p:nvPr/>
        </p:nvSpPr>
        <p:spPr>
          <a:xfrm rot="0">
            <a:off x="1280160" y="7469617"/>
            <a:ext cx="15979140" cy="2646679"/>
          </a:xfrm>
          <a:prstGeom prst="rect">
            <a:avLst/>
          </a:prstGeom>
        </p:spPr>
        <p:txBody>
          <a:bodyPr anchor="t" rtlCol="false" tIns="0" lIns="0" bIns="0" rIns="0">
            <a:spAutoFit/>
          </a:bodyPr>
          <a:lstStyle/>
          <a:p>
            <a:pPr algn="l">
              <a:lnSpc>
                <a:spcPts val="5320"/>
              </a:lnSpc>
            </a:pPr>
            <a:r>
              <a:rPr lang="en-US" sz="3800" b="true">
                <a:solidFill>
                  <a:srgbClr val="000000"/>
                </a:solidFill>
                <a:latin typeface="Canva Sans Bold"/>
                <a:ea typeface="Canva Sans Bold"/>
                <a:cs typeface="Canva Sans Bold"/>
                <a:sym typeface="Canva Sans Bold"/>
              </a:rPr>
              <a:t>Our contribution: </a:t>
            </a:r>
            <a:r>
              <a:rPr lang="en-US" sz="3800">
                <a:solidFill>
                  <a:srgbClr val="000000"/>
                </a:solidFill>
                <a:latin typeface="Canva Sans"/>
                <a:ea typeface="Canva Sans"/>
                <a:cs typeface="Canva Sans"/>
                <a:sym typeface="Canva Sans"/>
              </a:rPr>
              <a:t>We are the first to apply CoT </a:t>
            </a:r>
            <a:r>
              <a:rPr lang="en-US" sz="3800">
                <a:solidFill>
                  <a:srgbClr val="000000"/>
                </a:solidFill>
                <a:latin typeface="Canva Sans"/>
                <a:ea typeface="Canva Sans"/>
                <a:cs typeface="Canva Sans"/>
                <a:sym typeface="Canva Sans"/>
              </a:rPr>
              <a:t>distillation to biomedical molecular prediction with extreme class imbalance, combining classification accuracy with interpretable reasoning.</a:t>
            </a:r>
          </a:p>
          <a:p>
            <a:pPr algn="l">
              <a:lnSpc>
                <a:spcPts val="5320"/>
              </a:lnSpc>
            </a:pP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274320"/>
            <a:ext cx="14264640" cy="1097280"/>
            <a:chOff x="0" y="0"/>
            <a:chExt cx="19019520" cy="1463040"/>
          </a:xfrm>
        </p:grpSpPr>
        <p:sp>
          <p:nvSpPr>
            <p:cNvPr name="Freeform 3" id="3"/>
            <p:cNvSpPr/>
            <p:nvPr/>
          </p:nvSpPr>
          <p:spPr>
            <a:xfrm flipH="false" flipV="false" rot="0">
              <a:off x="0" y="0"/>
              <a:ext cx="19019520" cy="1463040"/>
            </a:xfrm>
            <a:custGeom>
              <a:avLst/>
              <a:gdLst/>
              <a:ahLst/>
              <a:cxnLst/>
              <a:rect r="r" b="b" t="t" l="l"/>
              <a:pathLst>
                <a:path h="1463040" w="19019520">
                  <a:moveTo>
                    <a:pt x="0" y="0"/>
                  </a:moveTo>
                  <a:lnTo>
                    <a:pt x="19019520" y="0"/>
                  </a:lnTo>
                  <a:lnTo>
                    <a:pt x="19019520" y="1463040"/>
                  </a:lnTo>
                  <a:lnTo>
                    <a:pt x="0" y="1463040"/>
                  </a:lnTo>
                  <a:close/>
                </a:path>
              </a:pathLst>
            </a:custGeom>
            <a:blipFill>
              <a:blip r:embed="rId3">
                <a:alphaModFix amt="0"/>
              </a:blip>
              <a:stretch>
                <a:fillRect l="0" t="-203305" r="0" b="-203305"/>
              </a:stretch>
            </a:blipFill>
          </p:spPr>
        </p:sp>
        <p:sp>
          <p:nvSpPr>
            <p:cNvPr name="TextBox 4" id="4"/>
            <p:cNvSpPr txBox="true"/>
            <p:nvPr/>
          </p:nvSpPr>
          <p:spPr>
            <a:xfrm>
              <a:off x="0" y="-47625"/>
              <a:ext cx="19019520" cy="1510665"/>
            </a:xfrm>
            <a:prstGeom prst="rect">
              <a:avLst/>
            </a:prstGeom>
          </p:spPr>
          <p:txBody>
            <a:bodyPr anchor="ctr" rtlCol="false" tIns="0" lIns="0" bIns="0" rIns="0"/>
            <a:lstStyle/>
            <a:p>
              <a:pPr algn="l">
                <a:lnSpc>
                  <a:spcPts val="6240"/>
                </a:lnSpc>
              </a:pPr>
              <a:r>
                <a:rPr lang="en-US" b="true" sz="5200">
                  <a:solidFill>
                    <a:srgbClr val="000000"/>
                  </a:solidFill>
                  <a:latin typeface="Helios Extended Bold"/>
                  <a:ea typeface="Helios Extended Bold"/>
                  <a:cs typeface="Helios Extended Bold"/>
                  <a:sym typeface="Helios Extended Bold"/>
                </a:rPr>
                <a:t>Task Definition &amp; Dataset</a:t>
              </a:r>
            </a:p>
          </p:txBody>
        </p:sp>
      </p:grpSp>
      <p:grpSp>
        <p:nvGrpSpPr>
          <p:cNvPr name="Group 5" id="5"/>
          <p:cNvGrpSpPr/>
          <p:nvPr/>
        </p:nvGrpSpPr>
        <p:grpSpPr>
          <a:xfrm rot="0">
            <a:off x="15544800" y="365760"/>
            <a:ext cx="2377440" cy="585216"/>
            <a:chOff x="0" y="0"/>
            <a:chExt cx="3169920" cy="780288"/>
          </a:xfrm>
        </p:grpSpPr>
        <p:sp>
          <p:nvSpPr>
            <p:cNvPr name="Freeform 6" id="6"/>
            <p:cNvSpPr/>
            <p:nvPr/>
          </p:nvSpPr>
          <p:spPr>
            <a:xfrm flipH="false" flipV="false" rot="0">
              <a:off x="0" y="0"/>
              <a:ext cx="3169920" cy="780288"/>
            </a:xfrm>
            <a:custGeom>
              <a:avLst/>
              <a:gdLst/>
              <a:ahLst/>
              <a:cxnLst/>
              <a:rect r="r" b="b" t="t" l="l"/>
              <a:pathLst>
                <a:path h="780288" w="3169920">
                  <a:moveTo>
                    <a:pt x="0" y="121920"/>
                  </a:moveTo>
                  <a:cubicBezTo>
                    <a:pt x="0" y="54610"/>
                    <a:pt x="54610" y="0"/>
                    <a:pt x="121920" y="0"/>
                  </a:cubicBezTo>
                  <a:lnTo>
                    <a:pt x="3048000" y="0"/>
                  </a:lnTo>
                  <a:cubicBezTo>
                    <a:pt x="3115310" y="0"/>
                    <a:pt x="3169920" y="54610"/>
                    <a:pt x="3169920" y="121920"/>
                  </a:cubicBezTo>
                  <a:lnTo>
                    <a:pt x="3169920" y="658368"/>
                  </a:lnTo>
                  <a:cubicBezTo>
                    <a:pt x="3169920" y="725678"/>
                    <a:pt x="3115310" y="780288"/>
                    <a:pt x="3048000" y="780288"/>
                  </a:cubicBezTo>
                  <a:lnTo>
                    <a:pt x="121920" y="780288"/>
                  </a:lnTo>
                  <a:cubicBezTo>
                    <a:pt x="54610" y="780288"/>
                    <a:pt x="0" y="725678"/>
                    <a:pt x="0" y="658368"/>
                  </a:cubicBezTo>
                  <a:close/>
                </a:path>
              </a:pathLst>
            </a:custGeom>
            <a:solidFill>
              <a:srgbClr val="3D4D55"/>
            </a:solidFill>
          </p:spPr>
        </p:sp>
      </p:grpSp>
      <p:grpSp>
        <p:nvGrpSpPr>
          <p:cNvPr name="Group 7" id="7"/>
          <p:cNvGrpSpPr/>
          <p:nvPr/>
        </p:nvGrpSpPr>
        <p:grpSpPr>
          <a:xfrm rot="0">
            <a:off x="15544800" y="402336"/>
            <a:ext cx="2377440" cy="512064"/>
            <a:chOff x="0" y="0"/>
            <a:chExt cx="3169920" cy="682752"/>
          </a:xfrm>
        </p:grpSpPr>
        <p:sp>
          <p:nvSpPr>
            <p:cNvPr name="Freeform 8" id="8"/>
            <p:cNvSpPr/>
            <p:nvPr/>
          </p:nvSpPr>
          <p:spPr>
            <a:xfrm flipH="false" flipV="false" rot="0">
              <a:off x="0" y="0"/>
              <a:ext cx="3169920" cy="682752"/>
            </a:xfrm>
            <a:custGeom>
              <a:avLst/>
              <a:gdLst/>
              <a:ahLst/>
              <a:cxnLst/>
              <a:rect r="r" b="b" t="t" l="l"/>
              <a:pathLst>
                <a:path h="682752" w="3169920">
                  <a:moveTo>
                    <a:pt x="0" y="0"/>
                  </a:moveTo>
                  <a:lnTo>
                    <a:pt x="3169920" y="0"/>
                  </a:lnTo>
                  <a:lnTo>
                    <a:pt x="3169920" y="682752"/>
                  </a:lnTo>
                  <a:lnTo>
                    <a:pt x="0" y="682752"/>
                  </a:lnTo>
                  <a:close/>
                </a:path>
              </a:pathLst>
            </a:custGeom>
            <a:blipFill>
              <a:blip r:embed="rId3">
                <a:alphaModFix amt="0"/>
              </a:blip>
              <a:stretch>
                <a:fillRect l="0" t="-40466" r="0" b="-40466"/>
              </a:stretch>
            </a:blipFill>
          </p:spPr>
        </p:sp>
        <p:sp>
          <p:nvSpPr>
            <p:cNvPr name="TextBox 9" id="9"/>
            <p:cNvSpPr txBox="true"/>
            <p:nvPr/>
          </p:nvSpPr>
          <p:spPr>
            <a:xfrm>
              <a:off x="0" y="-9525"/>
              <a:ext cx="3169920" cy="692277"/>
            </a:xfrm>
            <a:prstGeom prst="rect">
              <a:avLst/>
            </a:prstGeom>
          </p:spPr>
          <p:txBody>
            <a:bodyPr anchor="ctr" rtlCol="false" tIns="0" lIns="0" bIns="0" rIns="0"/>
            <a:lstStyle/>
            <a:p>
              <a:pPr algn="ctr">
                <a:lnSpc>
                  <a:spcPts val="2160"/>
                </a:lnSpc>
              </a:pPr>
              <a:r>
                <a:rPr lang="en-US" sz="1800" b="true">
                  <a:solidFill>
                    <a:srgbClr val="FFFFFF"/>
                  </a:solidFill>
                  <a:latin typeface="Helios Extended Bold"/>
                  <a:ea typeface="Helios Extended Bold"/>
                  <a:cs typeface="Helios Extended Bold"/>
                  <a:sym typeface="Helios Extended Bold"/>
                </a:rPr>
                <a:t>3. Methodology</a:t>
              </a:r>
            </a:p>
          </p:txBody>
        </p:sp>
      </p:grpSp>
      <p:grpSp>
        <p:nvGrpSpPr>
          <p:cNvPr name="Group 10" id="10"/>
          <p:cNvGrpSpPr/>
          <p:nvPr/>
        </p:nvGrpSpPr>
        <p:grpSpPr>
          <a:xfrm rot="0">
            <a:off x="548640" y="1682496"/>
            <a:ext cx="7863840" cy="182880"/>
            <a:chOff x="0" y="0"/>
            <a:chExt cx="10485120" cy="243840"/>
          </a:xfrm>
        </p:grpSpPr>
        <p:sp>
          <p:nvSpPr>
            <p:cNvPr name="Freeform 11" id="11"/>
            <p:cNvSpPr/>
            <p:nvPr/>
          </p:nvSpPr>
          <p:spPr>
            <a:xfrm flipH="false" flipV="false" rot="0">
              <a:off x="0" y="0"/>
              <a:ext cx="10485120" cy="243840"/>
            </a:xfrm>
            <a:custGeom>
              <a:avLst/>
              <a:gdLst/>
              <a:ahLst/>
              <a:cxnLst/>
              <a:rect r="r" b="b" t="t" l="l"/>
              <a:pathLst>
                <a:path h="243840" w="10485120">
                  <a:moveTo>
                    <a:pt x="0" y="0"/>
                  </a:moveTo>
                  <a:lnTo>
                    <a:pt x="10485120" y="0"/>
                  </a:lnTo>
                  <a:lnTo>
                    <a:pt x="10485120" y="243840"/>
                  </a:lnTo>
                  <a:lnTo>
                    <a:pt x="0" y="243840"/>
                  </a:lnTo>
                  <a:close/>
                </a:path>
              </a:pathLst>
            </a:custGeom>
            <a:solidFill>
              <a:srgbClr val="A79E9C"/>
            </a:solidFill>
          </p:spPr>
        </p:sp>
      </p:grpSp>
      <p:grpSp>
        <p:nvGrpSpPr>
          <p:cNvPr name="Group 12" id="12"/>
          <p:cNvGrpSpPr/>
          <p:nvPr/>
        </p:nvGrpSpPr>
        <p:grpSpPr>
          <a:xfrm rot="0">
            <a:off x="822960" y="1920240"/>
            <a:ext cx="7315200" cy="694944"/>
            <a:chOff x="0" y="0"/>
            <a:chExt cx="9753600" cy="926592"/>
          </a:xfrm>
        </p:grpSpPr>
        <p:sp>
          <p:nvSpPr>
            <p:cNvPr name="Freeform 13" id="13"/>
            <p:cNvSpPr/>
            <p:nvPr/>
          </p:nvSpPr>
          <p:spPr>
            <a:xfrm flipH="false" flipV="false" rot="0">
              <a:off x="0" y="0"/>
              <a:ext cx="9753600" cy="926592"/>
            </a:xfrm>
            <a:custGeom>
              <a:avLst/>
              <a:gdLst/>
              <a:ahLst/>
              <a:cxnLst/>
              <a:rect r="r" b="b" t="t" l="l"/>
              <a:pathLst>
                <a:path h="926592" w="9753600">
                  <a:moveTo>
                    <a:pt x="0" y="0"/>
                  </a:moveTo>
                  <a:lnTo>
                    <a:pt x="9753600" y="0"/>
                  </a:lnTo>
                  <a:lnTo>
                    <a:pt x="9753600" y="926592"/>
                  </a:lnTo>
                  <a:lnTo>
                    <a:pt x="0" y="926592"/>
                  </a:lnTo>
                  <a:close/>
                </a:path>
              </a:pathLst>
            </a:custGeom>
            <a:blipFill>
              <a:blip r:embed="rId3">
                <a:alphaModFix amt="0"/>
              </a:blip>
              <a:stretch>
                <a:fillRect l="0" t="-155105" r="0" b="-155105"/>
              </a:stretch>
            </a:blipFill>
          </p:spPr>
        </p:sp>
        <p:sp>
          <p:nvSpPr>
            <p:cNvPr name="TextBox 14" id="14"/>
            <p:cNvSpPr txBox="true"/>
            <p:nvPr/>
          </p:nvSpPr>
          <p:spPr>
            <a:xfrm>
              <a:off x="0" y="-38100"/>
              <a:ext cx="9753600" cy="964692"/>
            </a:xfrm>
            <a:prstGeom prst="rect">
              <a:avLst/>
            </a:prstGeom>
          </p:spPr>
          <p:txBody>
            <a:bodyPr anchor="ctr" rtlCol="false" tIns="0" lIns="0" bIns="0" rIns="0"/>
            <a:lstStyle/>
            <a:p>
              <a:pPr algn="l">
                <a:lnSpc>
                  <a:spcPts val="3120"/>
                </a:lnSpc>
              </a:pPr>
              <a:r>
                <a:rPr lang="en-US" b="true" sz="2600">
                  <a:solidFill>
                    <a:srgbClr val="000000"/>
                  </a:solidFill>
                  <a:latin typeface="Helios Extended Bold"/>
                  <a:ea typeface="Helios Extended Bold"/>
                  <a:cs typeface="Helios Extended Bold"/>
                  <a:sym typeface="Helios Extended Bold"/>
                </a:rPr>
                <a:t>Task Definition</a:t>
              </a:r>
            </a:p>
          </p:txBody>
        </p:sp>
      </p:grpSp>
      <p:grpSp>
        <p:nvGrpSpPr>
          <p:cNvPr name="Group 15" id="15"/>
          <p:cNvGrpSpPr/>
          <p:nvPr/>
        </p:nvGrpSpPr>
        <p:grpSpPr>
          <a:xfrm rot="0">
            <a:off x="548640" y="1682496"/>
            <a:ext cx="17190720" cy="263702"/>
            <a:chOff x="0" y="0"/>
            <a:chExt cx="11460480" cy="175802"/>
          </a:xfrm>
        </p:grpSpPr>
        <p:sp>
          <p:nvSpPr>
            <p:cNvPr name="Freeform 16" id="16"/>
            <p:cNvSpPr/>
            <p:nvPr/>
          </p:nvSpPr>
          <p:spPr>
            <a:xfrm flipH="false" flipV="false" rot="0">
              <a:off x="0" y="0"/>
              <a:ext cx="11460480" cy="175802"/>
            </a:xfrm>
            <a:custGeom>
              <a:avLst/>
              <a:gdLst/>
              <a:ahLst/>
              <a:cxnLst/>
              <a:rect r="r" b="b" t="t" l="l"/>
              <a:pathLst>
                <a:path h="175802" w="11460480">
                  <a:moveTo>
                    <a:pt x="0" y="0"/>
                  </a:moveTo>
                  <a:lnTo>
                    <a:pt x="11460480" y="0"/>
                  </a:lnTo>
                  <a:lnTo>
                    <a:pt x="11460480" y="175802"/>
                  </a:lnTo>
                  <a:lnTo>
                    <a:pt x="0" y="175802"/>
                  </a:lnTo>
                  <a:close/>
                </a:path>
              </a:pathLst>
            </a:custGeom>
            <a:solidFill>
              <a:srgbClr val="3D4D55"/>
            </a:solidFill>
          </p:spPr>
        </p:sp>
      </p:grpSp>
      <p:grpSp>
        <p:nvGrpSpPr>
          <p:cNvPr name="Group 17" id="17"/>
          <p:cNvGrpSpPr/>
          <p:nvPr/>
        </p:nvGrpSpPr>
        <p:grpSpPr>
          <a:xfrm rot="0">
            <a:off x="11630684" y="3607308"/>
            <a:ext cx="2042312" cy="768096"/>
            <a:chOff x="0" y="0"/>
            <a:chExt cx="2723082" cy="1024128"/>
          </a:xfrm>
        </p:grpSpPr>
        <p:sp>
          <p:nvSpPr>
            <p:cNvPr name="Freeform 18" id="18"/>
            <p:cNvSpPr/>
            <p:nvPr/>
          </p:nvSpPr>
          <p:spPr>
            <a:xfrm flipH="false" flipV="false" rot="0">
              <a:off x="0" y="0"/>
              <a:ext cx="2723082" cy="1024128"/>
            </a:xfrm>
            <a:custGeom>
              <a:avLst/>
              <a:gdLst/>
              <a:ahLst/>
              <a:cxnLst/>
              <a:rect r="r" b="b" t="t" l="l"/>
              <a:pathLst>
                <a:path h="1024128" w="2723082">
                  <a:moveTo>
                    <a:pt x="0" y="0"/>
                  </a:moveTo>
                  <a:lnTo>
                    <a:pt x="2723082" y="0"/>
                  </a:lnTo>
                  <a:lnTo>
                    <a:pt x="2723082" y="1024128"/>
                  </a:lnTo>
                  <a:lnTo>
                    <a:pt x="0" y="1024128"/>
                  </a:lnTo>
                  <a:close/>
                </a:path>
              </a:pathLst>
            </a:custGeom>
            <a:blipFill>
              <a:blip r:embed="rId3">
                <a:alphaModFix amt="0"/>
              </a:blip>
              <a:stretch>
                <a:fillRect l="0" t="-33507" r="-61182" b="-33507"/>
              </a:stretch>
            </a:blipFill>
          </p:spPr>
        </p:sp>
        <p:sp>
          <p:nvSpPr>
            <p:cNvPr name="TextBox 19" id="19"/>
            <p:cNvSpPr txBox="true"/>
            <p:nvPr/>
          </p:nvSpPr>
          <p:spPr>
            <a:xfrm>
              <a:off x="0" y="-28575"/>
              <a:ext cx="2723082" cy="1052703"/>
            </a:xfrm>
            <a:prstGeom prst="rect">
              <a:avLst/>
            </a:prstGeom>
          </p:spPr>
          <p:txBody>
            <a:bodyPr anchor="ctr" rtlCol="false" tIns="0" lIns="0" bIns="0" rIns="0"/>
            <a:lstStyle/>
            <a:p>
              <a:pPr algn="l">
                <a:lnSpc>
                  <a:spcPts val="4079"/>
                </a:lnSpc>
              </a:pPr>
              <a:r>
                <a:rPr lang="en-US" b="true" sz="3400">
                  <a:solidFill>
                    <a:srgbClr val="A79E9C"/>
                  </a:solidFill>
                  <a:latin typeface="Helios Extended Bold"/>
                  <a:ea typeface="Helios Extended Bold"/>
                  <a:cs typeface="Helios Extended Bold"/>
                  <a:sym typeface="Helios Extended Bold"/>
                </a:rPr>
                <a:t>191,808</a:t>
              </a:r>
            </a:p>
          </p:txBody>
        </p:sp>
      </p:grpSp>
      <p:grpSp>
        <p:nvGrpSpPr>
          <p:cNvPr name="Group 20" id="20"/>
          <p:cNvGrpSpPr/>
          <p:nvPr/>
        </p:nvGrpSpPr>
        <p:grpSpPr>
          <a:xfrm rot="0">
            <a:off x="14422318" y="3607308"/>
            <a:ext cx="2099896" cy="694944"/>
            <a:chOff x="0" y="0"/>
            <a:chExt cx="2799861" cy="926592"/>
          </a:xfrm>
        </p:grpSpPr>
        <p:sp>
          <p:nvSpPr>
            <p:cNvPr name="Freeform 21" id="21"/>
            <p:cNvSpPr/>
            <p:nvPr/>
          </p:nvSpPr>
          <p:spPr>
            <a:xfrm flipH="false" flipV="false" rot="0">
              <a:off x="0" y="0"/>
              <a:ext cx="2799861" cy="926592"/>
            </a:xfrm>
            <a:custGeom>
              <a:avLst/>
              <a:gdLst/>
              <a:ahLst/>
              <a:cxnLst/>
              <a:rect r="r" b="b" t="t" l="l"/>
              <a:pathLst>
                <a:path h="926592" w="2799861">
                  <a:moveTo>
                    <a:pt x="0" y="0"/>
                  </a:moveTo>
                  <a:lnTo>
                    <a:pt x="2799861" y="0"/>
                  </a:lnTo>
                  <a:lnTo>
                    <a:pt x="2799861" y="926592"/>
                  </a:lnTo>
                  <a:lnTo>
                    <a:pt x="0" y="926592"/>
                  </a:lnTo>
                  <a:close/>
                </a:path>
              </a:pathLst>
            </a:custGeom>
            <a:blipFill>
              <a:blip r:embed="rId3">
                <a:alphaModFix amt="0"/>
              </a:blip>
              <a:stretch>
                <a:fillRect l="0" t="-80754" r="-122079" b="-80754"/>
              </a:stretch>
            </a:blipFill>
          </p:spPr>
        </p:sp>
        <p:sp>
          <p:nvSpPr>
            <p:cNvPr name="TextBox 22" id="22"/>
            <p:cNvSpPr txBox="true"/>
            <p:nvPr/>
          </p:nvSpPr>
          <p:spPr>
            <a:xfrm>
              <a:off x="0" y="-19050"/>
              <a:ext cx="2799861" cy="945642"/>
            </a:xfrm>
            <a:prstGeom prst="rect">
              <a:avLst/>
            </a:prstGeom>
          </p:spPr>
          <p:txBody>
            <a:bodyPr anchor="ctr" rtlCol="false" tIns="0" lIns="0" bIns="0" rIns="0"/>
            <a:lstStyle/>
            <a:p>
              <a:pPr algn="l">
                <a:lnSpc>
                  <a:spcPts val="3479"/>
                </a:lnSpc>
              </a:pPr>
              <a:r>
                <a:rPr lang="en-US" sz="2899">
                  <a:solidFill>
                    <a:srgbClr val="000000"/>
                  </a:solidFill>
                  <a:latin typeface="Helios Extended"/>
                  <a:ea typeface="Helios Extended"/>
                  <a:cs typeface="Helios Extended"/>
                  <a:sym typeface="Helios Extended"/>
                </a:rPr>
                <a:t>drug pairs</a:t>
              </a:r>
            </a:p>
          </p:txBody>
        </p:sp>
      </p:grpSp>
      <p:grpSp>
        <p:nvGrpSpPr>
          <p:cNvPr name="Group 23" id="23"/>
          <p:cNvGrpSpPr/>
          <p:nvPr/>
        </p:nvGrpSpPr>
        <p:grpSpPr>
          <a:xfrm rot="0">
            <a:off x="12408146" y="4375404"/>
            <a:ext cx="910590" cy="768096"/>
            <a:chOff x="0" y="0"/>
            <a:chExt cx="1214120" cy="1024128"/>
          </a:xfrm>
        </p:grpSpPr>
        <p:sp>
          <p:nvSpPr>
            <p:cNvPr name="Freeform 24" id="24"/>
            <p:cNvSpPr/>
            <p:nvPr/>
          </p:nvSpPr>
          <p:spPr>
            <a:xfrm flipH="false" flipV="false" rot="0">
              <a:off x="0" y="0"/>
              <a:ext cx="1214120" cy="1024128"/>
            </a:xfrm>
            <a:custGeom>
              <a:avLst/>
              <a:gdLst/>
              <a:ahLst/>
              <a:cxnLst/>
              <a:rect r="r" b="b" t="t" l="l"/>
              <a:pathLst>
                <a:path h="1024128" w="1214120">
                  <a:moveTo>
                    <a:pt x="0" y="0"/>
                  </a:moveTo>
                  <a:lnTo>
                    <a:pt x="1214120" y="0"/>
                  </a:lnTo>
                  <a:lnTo>
                    <a:pt x="1214120" y="1024128"/>
                  </a:lnTo>
                  <a:lnTo>
                    <a:pt x="0" y="1024128"/>
                  </a:lnTo>
                  <a:close/>
                </a:path>
              </a:pathLst>
            </a:custGeom>
            <a:blipFill>
              <a:blip r:embed="rId3">
                <a:alphaModFix amt="0"/>
              </a:blip>
              <a:stretch>
                <a:fillRect l="0" t="-33507" r="-261506" b="-33507"/>
              </a:stretch>
            </a:blipFill>
          </p:spPr>
        </p:sp>
        <p:sp>
          <p:nvSpPr>
            <p:cNvPr name="TextBox 25" id="25"/>
            <p:cNvSpPr txBox="true"/>
            <p:nvPr/>
          </p:nvSpPr>
          <p:spPr>
            <a:xfrm>
              <a:off x="0" y="-28575"/>
              <a:ext cx="1214120" cy="1052703"/>
            </a:xfrm>
            <a:prstGeom prst="rect">
              <a:avLst/>
            </a:prstGeom>
          </p:spPr>
          <p:txBody>
            <a:bodyPr anchor="ctr" rtlCol="false" tIns="0" lIns="0" bIns="0" rIns="0"/>
            <a:lstStyle/>
            <a:p>
              <a:pPr algn="l">
                <a:lnSpc>
                  <a:spcPts val="4079"/>
                </a:lnSpc>
              </a:pPr>
              <a:r>
                <a:rPr lang="en-US" b="true" sz="3400">
                  <a:solidFill>
                    <a:srgbClr val="A79E9C"/>
                  </a:solidFill>
                  <a:latin typeface="Helios Extended Bold"/>
                  <a:ea typeface="Helios Extended Bold"/>
                  <a:cs typeface="Helios Extended Bold"/>
                  <a:sym typeface="Helios Extended Bold"/>
                </a:rPr>
                <a:t>86</a:t>
              </a:r>
            </a:p>
          </p:txBody>
        </p:sp>
      </p:grpSp>
      <p:grpSp>
        <p:nvGrpSpPr>
          <p:cNvPr name="Group 26" id="26"/>
          <p:cNvGrpSpPr/>
          <p:nvPr/>
        </p:nvGrpSpPr>
        <p:grpSpPr>
          <a:xfrm rot="0">
            <a:off x="13848646" y="4411980"/>
            <a:ext cx="3574068" cy="694944"/>
            <a:chOff x="0" y="0"/>
            <a:chExt cx="4765424" cy="926592"/>
          </a:xfrm>
        </p:grpSpPr>
        <p:sp>
          <p:nvSpPr>
            <p:cNvPr name="Freeform 27" id="27"/>
            <p:cNvSpPr/>
            <p:nvPr/>
          </p:nvSpPr>
          <p:spPr>
            <a:xfrm flipH="false" flipV="false" rot="0">
              <a:off x="0" y="0"/>
              <a:ext cx="4765423" cy="926592"/>
            </a:xfrm>
            <a:custGeom>
              <a:avLst/>
              <a:gdLst/>
              <a:ahLst/>
              <a:cxnLst/>
              <a:rect r="r" b="b" t="t" l="l"/>
              <a:pathLst>
                <a:path h="926592" w="4765423">
                  <a:moveTo>
                    <a:pt x="0" y="0"/>
                  </a:moveTo>
                  <a:lnTo>
                    <a:pt x="4765423" y="0"/>
                  </a:lnTo>
                  <a:lnTo>
                    <a:pt x="4765423" y="926592"/>
                  </a:lnTo>
                  <a:lnTo>
                    <a:pt x="0" y="926592"/>
                  </a:lnTo>
                  <a:close/>
                </a:path>
              </a:pathLst>
            </a:custGeom>
            <a:blipFill>
              <a:blip r:embed="rId3">
                <a:alphaModFix amt="0"/>
              </a:blip>
              <a:stretch>
                <a:fillRect l="0" t="-80754" r="-30479" b="-80754"/>
              </a:stretch>
            </a:blipFill>
          </p:spPr>
        </p:sp>
        <p:sp>
          <p:nvSpPr>
            <p:cNvPr name="TextBox 28" id="28"/>
            <p:cNvSpPr txBox="true"/>
            <p:nvPr/>
          </p:nvSpPr>
          <p:spPr>
            <a:xfrm>
              <a:off x="0" y="-19050"/>
              <a:ext cx="4765424" cy="945642"/>
            </a:xfrm>
            <a:prstGeom prst="rect">
              <a:avLst/>
            </a:prstGeom>
          </p:spPr>
          <p:txBody>
            <a:bodyPr anchor="ctr" rtlCol="false" tIns="0" lIns="0" bIns="0" rIns="0"/>
            <a:lstStyle/>
            <a:p>
              <a:pPr algn="l">
                <a:lnSpc>
                  <a:spcPts val="3479"/>
                </a:lnSpc>
              </a:pPr>
              <a:r>
                <a:rPr lang="en-US" sz="2899">
                  <a:solidFill>
                    <a:srgbClr val="000000"/>
                  </a:solidFill>
                  <a:latin typeface="Helios Extended"/>
                  <a:ea typeface="Helios Extended"/>
                  <a:cs typeface="Helios Extended"/>
                  <a:sym typeface="Helios Extended"/>
                </a:rPr>
                <a:t>interaction types</a:t>
              </a:r>
            </a:p>
          </p:txBody>
        </p:sp>
      </p:grpSp>
      <p:grpSp>
        <p:nvGrpSpPr>
          <p:cNvPr name="Group 29" id="29"/>
          <p:cNvGrpSpPr/>
          <p:nvPr/>
        </p:nvGrpSpPr>
        <p:grpSpPr>
          <a:xfrm rot="0">
            <a:off x="15732901" y="7676856"/>
            <a:ext cx="553861" cy="768096"/>
            <a:chOff x="0" y="0"/>
            <a:chExt cx="738481" cy="1024128"/>
          </a:xfrm>
        </p:grpSpPr>
        <p:sp>
          <p:nvSpPr>
            <p:cNvPr name="Freeform 30" id="30"/>
            <p:cNvSpPr/>
            <p:nvPr/>
          </p:nvSpPr>
          <p:spPr>
            <a:xfrm flipH="false" flipV="false" rot="0">
              <a:off x="0" y="0"/>
              <a:ext cx="738482" cy="1024128"/>
            </a:xfrm>
            <a:custGeom>
              <a:avLst/>
              <a:gdLst/>
              <a:ahLst/>
              <a:cxnLst/>
              <a:rect r="r" b="b" t="t" l="l"/>
              <a:pathLst>
                <a:path h="1024128" w="738482">
                  <a:moveTo>
                    <a:pt x="0" y="0"/>
                  </a:moveTo>
                  <a:lnTo>
                    <a:pt x="738482" y="0"/>
                  </a:lnTo>
                  <a:lnTo>
                    <a:pt x="738482" y="1024128"/>
                  </a:lnTo>
                  <a:lnTo>
                    <a:pt x="0" y="1024128"/>
                  </a:lnTo>
                  <a:close/>
                </a:path>
              </a:pathLst>
            </a:custGeom>
            <a:blipFill>
              <a:blip r:embed="rId3">
                <a:alphaModFix amt="0"/>
              </a:blip>
              <a:stretch>
                <a:fillRect l="0" t="-33507" r="-494343" b="-33507"/>
              </a:stretch>
            </a:blipFill>
          </p:spPr>
        </p:sp>
        <p:sp>
          <p:nvSpPr>
            <p:cNvPr name="TextBox 31" id="31"/>
            <p:cNvSpPr txBox="true"/>
            <p:nvPr/>
          </p:nvSpPr>
          <p:spPr>
            <a:xfrm>
              <a:off x="0" y="-28575"/>
              <a:ext cx="738481" cy="1052703"/>
            </a:xfrm>
            <a:prstGeom prst="rect">
              <a:avLst/>
            </a:prstGeom>
          </p:spPr>
          <p:txBody>
            <a:bodyPr anchor="ctr" rtlCol="false" tIns="0" lIns="0" bIns="0" rIns="0"/>
            <a:lstStyle/>
            <a:p>
              <a:pPr algn="l">
                <a:lnSpc>
                  <a:spcPts val="4079"/>
                </a:lnSpc>
              </a:pPr>
              <a:r>
                <a:rPr lang="en-US" sz="3400" b="true">
                  <a:solidFill>
                    <a:srgbClr val="A79E9C"/>
                  </a:solidFill>
                  <a:latin typeface="Helios Extended Bold"/>
                  <a:ea typeface="Helios Extended Bold"/>
                  <a:cs typeface="Helios Extended Bold"/>
                  <a:sym typeface="Helios Extended Bold"/>
                </a:rPr>
                <a:t>5</a:t>
              </a:r>
            </a:p>
          </p:txBody>
        </p:sp>
      </p:grpSp>
      <p:grpSp>
        <p:nvGrpSpPr>
          <p:cNvPr name="Group 32" id="32"/>
          <p:cNvGrpSpPr/>
          <p:nvPr/>
        </p:nvGrpSpPr>
        <p:grpSpPr>
          <a:xfrm rot="0">
            <a:off x="15116117" y="8708455"/>
            <a:ext cx="1582713" cy="446405"/>
            <a:chOff x="0" y="0"/>
            <a:chExt cx="2110284" cy="595207"/>
          </a:xfrm>
        </p:grpSpPr>
        <p:sp>
          <p:nvSpPr>
            <p:cNvPr name="Freeform 33" id="33"/>
            <p:cNvSpPr/>
            <p:nvPr/>
          </p:nvSpPr>
          <p:spPr>
            <a:xfrm flipH="false" flipV="false" rot="0">
              <a:off x="0" y="0"/>
              <a:ext cx="2110284" cy="595207"/>
            </a:xfrm>
            <a:custGeom>
              <a:avLst/>
              <a:gdLst/>
              <a:ahLst/>
              <a:cxnLst/>
              <a:rect r="r" b="b" t="t" l="l"/>
              <a:pathLst>
                <a:path h="595207" w="2110284">
                  <a:moveTo>
                    <a:pt x="0" y="0"/>
                  </a:moveTo>
                  <a:lnTo>
                    <a:pt x="2110284" y="0"/>
                  </a:lnTo>
                  <a:lnTo>
                    <a:pt x="2110284" y="595207"/>
                  </a:lnTo>
                  <a:lnTo>
                    <a:pt x="0" y="595207"/>
                  </a:lnTo>
                  <a:close/>
                </a:path>
              </a:pathLst>
            </a:custGeom>
            <a:blipFill>
              <a:blip r:embed="rId3">
                <a:alphaModFix amt="0"/>
              </a:blip>
              <a:stretch>
                <a:fillRect l="0" t="-125715" r="-194648" b="-181391"/>
              </a:stretch>
            </a:blipFill>
          </p:spPr>
        </p:sp>
        <p:sp>
          <p:nvSpPr>
            <p:cNvPr name="TextBox 34" id="34"/>
            <p:cNvSpPr txBox="true"/>
            <p:nvPr/>
          </p:nvSpPr>
          <p:spPr>
            <a:xfrm>
              <a:off x="0" y="-19050"/>
              <a:ext cx="2110284" cy="614257"/>
            </a:xfrm>
            <a:prstGeom prst="rect">
              <a:avLst/>
            </a:prstGeom>
          </p:spPr>
          <p:txBody>
            <a:bodyPr anchor="ctr" rtlCol="false" tIns="0" lIns="0" bIns="0" rIns="0"/>
            <a:lstStyle/>
            <a:p>
              <a:pPr algn="l">
                <a:lnSpc>
                  <a:spcPts val="2999"/>
                </a:lnSpc>
              </a:pPr>
              <a:r>
                <a:rPr lang="en-US" sz="2499">
                  <a:solidFill>
                    <a:srgbClr val="000000"/>
                  </a:solidFill>
                  <a:latin typeface="Helios Extended"/>
                  <a:ea typeface="Helios Extended"/>
                  <a:cs typeface="Helios Extended"/>
                  <a:sym typeface="Helios Extended"/>
                </a:rPr>
                <a:t>Smallest</a:t>
              </a:r>
            </a:p>
          </p:txBody>
        </p:sp>
      </p:grpSp>
      <p:grpSp>
        <p:nvGrpSpPr>
          <p:cNvPr name="Group 35" id="35"/>
          <p:cNvGrpSpPr/>
          <p:nvPr/>
        </p:nvGrpSpPr>
        <p:grpSpPr>
          <a:xfrm rot="0">
            <a:off x="12020999" y="7676856"/>
            <a:ext cx="1725439" cy="768096"/>
            <a:chOff x="0" y="0"/>
            <a:chExt cx="2300585" cy="1024128"/>
          </a:xfrm>
        </p:grpSpPr>
        <p:sp>
          <p:nvSpPr>
            <p:cNvPr name="Freeform 36" id="36"/>
            <p:cNvSpPr/>
            <p:nvPr/>
          </p:nvSpPr>
          <p:spPr>
            <a:xfrm flipH="false" flipV="false" rot="0">
              <a:off x="0" y="0"/>
              <a:ext cx="2300585" cy="1024128"/>
            </a:xfrm>
            <a:custGeom>
              <a:avLst/>
              <a:gdLst/>
              <a:ahLst/>
              <a:cxnLst/>
              <a:rect r="r" b="b" t="t" l="l"/>
              <a:pathLst>
                <a:path h="1024128" w="2300585">
                  <a:moveTo>
                    <a:pt x="0" y="0"/>
                  </a:moveTo>
                  <a:lnTo>
                    <a:pt x="2300585" y="0"/>
                  </a:lnTo>
                  <a:lnTo>
                    <a:pt x="2300585" y="1024128"/>
                  </a:lnTo>
                  <a:lnTo>
                    <a:pt x="0" y="1024128"/>
                  </a:lnTo>
                  <a:close/>
                </a:path>
              </a:pathLst>
            </a:custGeom>
            <a:blipFill>
              <a:blip r:embed="rId3">
                <a:alphaModFix amt="0"/>
              </a:blip>
              <a:stretch>
                <a:fillRect l="0" t="-33507" r="-90782" b="-33507"/>
              </a:stretch>
            </a:blipFill>
          </p:spPr>
        </p:sp>
        <p:sp>
          <p:nvSpPr>
            <p:cNvPr name="TextBox 37" id="37"/>
            <p:cNvSpPr txBox="true"/>
            <p:nvPr/>
          </p:nvSpPr>
          <p:spPr>
            <a:xfrm>
              <a:off x="0" y="-28575"/>
              <a:ext cx="2300585" cy="1052703"/>
            </a:xfrm>
            <a:prstGeom prst="rect">
              <a:avLst/>
            </a:prstGeom>
          </p:spPr>
          <p:txBody>
            <a:bodyPr anchor="ctr" rtlCol="false" tIns="0" lIns="0" bIns="0" rIns="0"/>
            <a:lstStyle/>
            <a:p>
              <a:pPr algn="l">
                <a:lnSpc>
                  <a:spcPts val="4079"/>
                </a:lnSpc>
              </a:pPr>
              <a:r>
                <a:rPr lang="en-US" sz="3400" b="true">
                  <a:solidFill>
                    <a:srgbClr val="A79E9C"/>
                  </a:solidFill>
                  <a:latin typeface="Helios Extended Bold"/>
                  <a:ea typeface="Helios Extended Bold"/>
                  <a:cs typeface="Helios Extended Bold"/>
                  <a:sym typeface="Helios Extended Bold"/>
                </a:rPr>
                <a:t>44,184</a:t>
              </a:r>
            </a:p>
          </p:txBody>
        </p:sp>
      </p:grpSp>
      <p:grpSp>
        <p:nvGrpSpPr>
          <p:cNvPr name="Group 38" id="38"/>
          <p:cNvGrpSpPr/>
          <p:nvPr/>
        </p:nvGrpSpPr>
        <p:grpSpPr>
          <a:xfrm rot="0">
            <a:off x="12258955" y="8739116"/>
            <a:ext cx="1249528" cy="415744"/>
            <a:chOff x="0" y="0"/>
            <a:chExt cx="1666038" cy="554325"/>
          </a:xfrm>
        </p:grpSpPr>
        <p:sp>
          <p:nvSpPr>
            <p:cNvPr name="Freeform 39" id="39"/>
            <p:cNvSpPr/>
            <p:nvPr/>
          </p:nvSpPr>
          <p:spPr>
            <a:xfrm flipH="false" flipV="false" rot="0">
              <a:off x="0" y="0"/>
              <a:ext cx="1666038" cy="554325"/>
            </a:xfrm>
            <a:custGeom>
              <a:avLst/>
              <a:gdLst/>
              <a:ahLst/>
              <a:cxnLst/>
              <a:rect r="r" b="b" t="t" l="l"/>
              <a:pathLst>
                <a:path h="554325" w="1666038">
                  <a:moveTo>
                    <a:pt x="0" y="0"/>
                  </a:moveTo>
                  <a:lnTo>
                    <a:pt x="1666038" y="0"/>
                  </a:lnTo>
                  <a:lnTo>
                    <a:pt x="1666038" y="554325"/>
                  </a:lnTo>
                  <a:lnTo>
                    <a:pt x="0" y="554325"/>
                  </a:lnTo>
                  <a:close/>
                </a:path>
              </a:pathLst>
            </a:custGeom>
            <a:blipFill>
              <a:blip r:embed="rId3">
                <a:alphaModFix amt="0"/>
              </a:blip>
              <a:stretch>
                <a:fillRect l="0" t="-134987" r="-273216" b="-202143"/>
              </a:stretch>
            </a:blipFill>
          </p:spPr>
        </p:sp>
        <p:sp>
          <p:nvSpPr>
            <p:cNvPr name="TextBox 40" id="40"/>
            <p:cNvSpPr txBox="true"/>
            <p:nvPr/>
          </p:nvSpPr>
          <p:spPr>
            <a:xfrm>
              <a:off x="0" y="-19050"/>
              <a:ext cx="1666038" cy="573375"/>
            </a:xfrm>
            <a:prstGeom prst="rect">
              <a:avLst/>
            </a:prstGeom>
          </p:spPr>
          <p:txBody>
            <a:bodyPr anchor="ctr" rtlCol="false" tIns="0" lIns="0" bIns="0" rIns="0"/>
            <a:lstStyle/>
            <a:p>
              <a:pPr algn="l">
                <a:lnSpc>
                  <a:spcPts val="2760"/>
                </a:lnSpc>
              </a:pPr>
              <a:r>
                <a:rPr lang="en-US" sz="2300">
                  <a:solidFill>
                    <a:srgbClr val="000000"/>
                  </a:solidFill>
                  <a:latin typeface="Helios Extended"/>
                  <a:ea typeface="Helios Extended"/>
                  <a:cs typeface="Helios Extended"/>
                  <a:sym typeface="Helios Extended"/>
                </a:rPr>
                <a:t>Largest</a:t>
              </a:r>
            </a:p>
          </p:txBody>
        </p:sp>
      </p:grpSp>
      <p:grpSp>
        <p:nvGrpSpPr>
          <p:cNvPr name="Group 41" id="41"/>
          <p:cNvGrpSpPr/>
          <p:nvPr/>
        </p:nvGrpSpPr>
        <p:grpSpPr>
          <a:xfrm rot="0">
            <a:off x="11239161" y="6483910"/>
            <a:ext cx="6236053" cy="1143305"/>
            <a:chOff x="0" y="0"/>
            <a:chExt cx="8314737" cy="1524406"/>
          </a:xfrm>
        </p:grpSpPr>
        <p:sp>
          <p:nvSpPr>
            <p:cNvPr name="Freeform 42" id="42"/>
            <p:cNvSpPr/>
            <p:nvPr/>
          </p:nvSpPr>
          <p:spPr>
            <a:xfrm flipH="false" flipV="false" rot="0">
              <a:off x="0" y="0"/>
              <a:ext cx="8314737" cy="1524406"/>
            </a:xfrm>
            <a:custGeom>
              <a:avLst/>
              <a:gdLst/>
              <a:ahLst/>
              <a:cxnLst/>
              <a:rect r="r" b="b" t="t" l="l"/>
              <a:pathLst>
                <a:path h="1524406" w="8314737">
                  <a:moveTo>
                    <a:pt x="0" y="0"/>
                  </a:moveTo>
                  <a:lnTo>
                    <a:pt x="8314737" y="0"/>
                  </a:lnTo>
                  <a:lnTo>
                    <a:pt x="8314737" y="1524406"/>
                  </a:lnTo>
                  <a:lnTo>
                    <a:pt x="0" y="1524406"/>
                  </a:lnTo>
                  <a:close/>
                </a:path>
              </a:pathLst>
            </a:custGeom>
            <a:blipFill>
              <a:blip r:embed="rId3">
                <a:alphaModFix amt="0"/>
              </a:blip>
              <a:stretch>
                <a:fillRect l="0" t="-22510" r="47212" b="10307"/>
              </a:stretch>
            </a:blipFill>
          </p:spPr>
        </p:sp>
        <p:sp>
          <p:nvSpPr>
            <p:cNvPr name="TextBox 43" id="43"/>
            <p:cNvSpPr txBox="true"/>
            <p:nvPr/>
          </p:nvSpPr>
          <p:spPr>
            <a:xfrm>
              <a:off x="0" y="-28575"/>
              <a:ext cx="8314737" cy="1552981"/>
            </a:xfrm>
            <a:prstGeom prst="rect">
              <a:avLst/>
            </a:prstGeom>
          </p:spPr>
          <p:txBody>
            <a:bodyPr anchor="ctr" rtlCol="false" tIns="0" lIns="0" bIns="0" rIns="0"/>
            <a:lstStyle/>
            <a:p>
              <a:pPr algn="ctr">
                <a:lnSpc>
                  <a:spcPts val="4079"/>
                </a:lnSpc>
              </a:pPr>
              <a:r>
                <a:rPr lang="en-US" sz="3399" b="true">
                  <a:solidFill>
                    <a:srgbClr val="A79E9C"/>
                  </a:solidFill>
                  <a:latin typeface="Helios Extended Bold"/>
                  <a:ea typeface="Helios Extended Bold"/>
                  <a:cs typeface="Helios Extended Bold"/>
                  <a:sym typeface="Helios Extended Bold"/>
                </a:rPr>
                <a:t>Class Imbalance</a:t>
              </a:r>
            </a:p>
            <a:p>
              <a:pPr algn="ctr">
                <a:lnSpc>
                  <a:spcPts val="4079"/>
                </a:lnSpc>
              </a:pPr>
              <a:r>
                <a:rPr lang="en-US" sz="3400" b="true">
                  <a:solidFill>
                    <a:srgbClr val="A79E9C"/>
                  </a:solidFill>
                  <a:latin typeface="Helios Extended Bold"/>
                  <a:ea typeface="Helios Extended Bold"/>
                  <a:cs typeface="Helios Extended Bold"/>
                  <a:sym typeface="Helios Extended Bold"/>
                </a:rPr>
                <a:t>(8,837:1)</a:t>
              </a:r>
            </a:p>
          </p:txBody>
        </p:sp>
      </p:grpSp>
      <p:graphicFrame>
        <p:nvGraphicFramePr>
          <p:cNvPr name="Table 44" id="44"/>
          <p:cNvGraphicFramePr>
            <a:graphicFrameLocks noGrp="true"/>
          </p:cNvGraphicFramePr>
          <p:nvPr/>
        </p:nvGraphicFramePr>
        <p:xfrm>
          <a:off x="1301048" y="4302357"/>
          <a:ext cx="9643456" cy="5092331"/>
        </p:xfrm>
        <a:graphic>
          <a:graphicData uri="http://schemas.openxmlformats.org/drawingml/2006/table">
            <a:tbl>
              <a:tblPr/>
              <a:tblGrid>
                <a:gridCol w="1254590"/>
                <a:gridCol w="2700919"/>
                <a:gridCol w="1311106"/>
                <a:gridCol w="3804115"/>
                <a:gridCol w="572726"/>
              </a:tblGrid>
              <a:tr h="909799">
                <a:tc>
                  <a:txBody>
                    <a:bodyPr anchor="t" rtlCol="false"/>
                    <a:lstStyle/>
                    <a:p>
                      <a:pPr algn="ctr">
                        <a:lnSpc>
                          <a:spcPts val="1680"/>
                        </a:lnSpc>
                        <a:defRPr/>
                      </a:pPr>
                      <a:r>
                        <a:rPr lang="en-US" sz="1400" b="true">
                          <a:solidFill>
                            <a:srgbClr val="FFFFFF"/>
                          </a:solidFill>
                          <a:latin typeface="Helios Extended Bold"/>
                          <a:ea typeface="Helios Extended Bold"/>
                          <a:cs typeface="Helios Extended Bold"/>
                          <a:sym typeface="Helios Extended Bold"/>
                        </a:rPr>
                        <a:t>Drug1_ID</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3D4D55"/>
                    </a:solidFill>
                  </a:tcPr>
                </a:tc>
                <a:tc>
                  <a:txBody>
                    <a:bodyPr anchor="t" rtlCol="false"/>
                    <a:lstStyle/>
                    <a:p>
                      <a:pPr algn="ctr">
                        <a:lnSpc>
                          <a:spcPts val="1680"/>
                        </a:lnSpc>
                        <a:defRPr/>
                      </a:pPr>
                      <a:r>
                        <a:rPr lang="en-US" sz="1400" b="true">
                          <a:solidFill>
                            <a:srgbClr val="FFFFFF"/>
                          </a:solidFill>
                          <a:latin typeface="Helios Extended Bold"/>
                          <a:ea typeface="Helios Extended Bold"/>
                          <a:cs typeface="Helios Extended Bold"/>
                          <a:sym typeface="Helios Extended Bold"/>
                        </a:rPr>
                        <a:t>Drug1</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3D4D55"/>
                    </a:solidFill>
                  </a:tcPr>
                </a:tc>
                <a:tc>
                  <a:txBody>
                    <a:bodyPr anchor="t" rtlCol="false"/>
                    <a:lstStyle/>
                    <a:p>
                      <a:pPr algn="ctr">
                        <a:lnSpc>
                          <a:spcPts val="1680"/>
                        </a:lnSpc>
                        <a:defRPr/>
                      </a:pPr>
                      <a:r>
                        <a:rPr lang="en-US" sz="1400" b="true">
                          <a:solidFill>
                            <a:srgbClr val="FFFFFF"/>
                          </a:solidFill>
                          <a:latin typeface="Helios Extended Bold"/>
                          <a:ea typeface="Helios Extended Bold"/>
                          <a:cs typeface="Helios Extended Bold"/>
                          <a:sym typeface="Helios Extended Bold"/>
                        </a:rPr>
                        <a:t>Drug2_ID</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3D4D55"/>
                    </a:solidFill>
                  </a:tcPr>
                </a:tc>
                <a:tc>
                  <a:txBody>
                    <a:bodyPr anchor="t" rtlCol="false"/>
                    <a:lstStyle/>
                    <a:p>
                      <a:pPr algn="ctr">
                        <a:lnSpc>
                          <a:spcPts val="1680"/>
                        </a:lnSpc>
                        <a:defRPr/>
                      </a:pPr>
                      <a:r>
                        <a:rPr lang="en-US" sz="1400" b="true">
                          <a:solidFill>
                            <a:srgbClr val="FFFFFF"/>
                          </a:solidFill>
                          <a:latin typeface="Helios Extended Bold"/>
                          <a:ea typeface="Helios Extended Bold"/>
                          <a:cs typeface="Helios Extended Bold"/>
                          <a:sym typeface="Helios Extended Bold"/>
                        </a:rPr>
                        <a:t>Drug2</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3D4D55"/>
                    </a:solidFill>
                  </a:tcPr>
                </a:tc>
                <a:tc>
                  <a:txBody>
                    <a:bodyPr anchor="t" rtlCol="false"/>
                    <a:lstStyle/>
                    <a:p>
                      <a:pPr algn="ctr">
                        <a:lnSpc>
                          <a:spcPts val="1680"/>
                        </a:lnSpc>
                        <a:defRPr/>
                      </a:pPr>
                      <a:r>
                        <a:rPr lang="en-US" sz="1400" b="true">
                          <a:solidFill>
                            <a:srgbClr val="FFFFFF"/>
                          </a:solidFill>
                          <a:latin typeface="Helios Extended Bold"/>
                          <a:ea typeface="Helios Extended Bold"/>
                          <a:cs typeface="Helios Extended Bold"/>
                          <a:sym typeface="Helios Extended Bold"/>
                        </a:rPr>
                        <a:t>Y</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3D4D55"/>
                    </a:solidFill>
                  </a:tcPr>
                </a:tc>
              </a:tr>
              <a:tr h="824832">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DB00503</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CC(C)[C@H](NC(=O)N(..</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DB00169</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CC(C)CCC[C@@H](C)[C@@]1...</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47</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r>
              <a:tr h="824832">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DB04930</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CC1(C)C(C=C(Cl)Cl)C1..</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DB01589</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FC1=CC=CC=C1C1=NCC(=S)N(...</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73</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r>
              <a:tr h="824832">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DB00753</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FC(F)OC(Cl)C(F)(F)F</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DB00285</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COC1==C=C(C=C1)C(CN(C)C)C...</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47</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r>
              <a:tr h="910424">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DB01210</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CC(C)(C)NC[C@H](O)C..</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DB04896</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CCN(CC)C(=O)C1(CC1CN)C1=C...</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73</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r>
              <a:tr h="797612">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DB00328</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COC1=CC2=C(C=C1)..</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DB12332</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000000"/>
                          </a:solidFill>
                          <a:latin typeface="Helios Extended"/>
                          <a:ea typeface="Helios Extended"/>
                          <a:cs typeface="Helios Extended"/>
                          <a:sym typeface="Helios Extended"/>
                        </a:rPr>
                        <a:t>CNCC1=CC=C(C=C1)C1=C2C...</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1920"/>
                        </a:lnSpc>
                        <a:defRPr/>
                      </a:pPr>
                      <a:r>
                        <a:rPr lang="en-US" sz="1600">
                          <a:solidFill>
                            <a:srgbClr val="000000"/>
                          </a:solidFill>
                          <a:latin typeface="Helios Extended"/>
                          <a:ea typeface="Helios Extended"/>
                          <a:cs typeface="Helios Extended"/>
                          <a:sym typeface="Helios Extended"/>
                        </a:rPr>
                        <a:t>47</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r>
            </a:tbl>
          </a:graphicData>
        </a:graphic>
      </p:graphicFrame>
      <p:graphicFrame>
        <p:nvGraphicFramePr>
          <p:cNvPr name="Table 45" id="45"/>
          <p:cNvGraphicFramePr>
            <a:graphicFrameLocks noGrp="true"/>
          </p:cNvGraphicFramePr>
          <p:nvPr/>
        </p:nvGraphicFramePr>
        <p:xfrm>
          <a:off x="11480000" y="3538607"/>
          <a:ext cx="5779300" cy="1673594"/>
        </p:xfrm>
        <a:graphic>
          <a:graphicData uri="http://schemas.openxmlformats.org/drawingml/2006/table">
            <a:tbl>
              <a:tblPr/>
              <a:tblGrid>
                <a:gridCol w="2205435"/>
                <a:gridCol w="3573865"/>
              </a:tblGrid>
              <a:tr h="836797">
                <a:tc>
                  <a:txBody>
                    <a:bodyPr anchor="t" rtlCol="false"/>
                    <a:lstStyle/>
                    <a:p>
                      <a:pPr algn="ctr">
                        <a:lnSpc>
                          <a:spcPts val="2520"/>
                        </a:lnSpc>
                        <a:defRPr/>
                      </a:pP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36797">
                <a:tc>
                  <a:txBody>
                    <a:bodyPr anchor="t" rtlCol="false"/>
                    <a:lstStyle/>
                    <a:p>
                      <a:pPr algn="ctr">
                        <a:lnSpc>
                          <a:spcPts val="2520"/>
                        </a:lnSpc>
                        <a:defRPr/>
                      </a:pP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aphicFrame>
        <p:nvGraphicFramePr>
          <p:cNvPr name="Table 46" id="46"/>
          <p:cNvGraphicFramePr>
            <a:graphicFrameLocks noGrp="true"/>
          </p:cNvGraphicFramePr>
          <p:nvPr/>
        </p:nvGraphicFramePr>
        <p:xfrm>
          <a:off x="11462680" y="6430823"/>
          <a:ext cx="5789015" cy="2827477"/>
        </p:xfrm>
        <a:graphic>
          <a:graphicData uri="http://schemas.openxmlformats.org/drawingml/2006/table">
            <a:tbl>
              <a:tblPr/>
              <a:tblGrid>
                <a:gridCol w="2894508"/>
                <a:gridCol w="2894508"/>
              </a:tblGrid>
              <a:tr h="1213708">
                <a:tc gridSpan="2">
                  <a:txBody>
                    <a:bodyPr anchor="t" rtlCol="false"/>
                    <a:lstStyle/>
                    <a:p>
                      <a:pPr algn="ctr">
                        <a:lnSpc>
                          <a:spcPts val="2800"/>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hMerge="true">
                  <a:txBody>
                    <a:bodyPr anchor="t" rtlCol="false"/>
                    <a:lstStyle/>
                    <a:p>
                      <a:pPr algn="ctr">
                        <a:lnSpc>
                          <a:spcPts val="2800"/>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06884">
                <a:tc>
                  <a:txBody>
                    <a:bodyPr anchor="t" rtlCol="false"/>
                    <a:lstStyle/>
                    <a:p>
                      <a:pPr algn="ctr">
                        <a:lnSpc>
                          <a:spcPts val="2800"/>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06884">
                <a:tc>
                  <a:txBody>
                    <a:bodyPr anchor="t" rtlCol="false"/>
                    <a:lstStyle/>
                    <a:p>
                      <a:pPr algn="ctr">
                        <a:lnSpc>
                          <a:spcPts val="2800"/>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47" id="47"/>
          <p:cNvSpPr txBox="true"/>
          <p:nvPr/>
        </p:nvSpPr>
        <p:spPr>
          <a:xfrm rot="0">
            <a:off x="1234937" y="2406882"/>
            <a:ext cx="9356588" cy="1771650"/>
          </a:xfrm>
          <a:prstGeom prst="rect">
            <a:avLst/>
          </a:prstGeom>
        </p:spPr>
        <p:txBody>
          <a:bodyPr anchor="t" rtlCol="false" tIns="0" lIns="0" bIns="0" rIns="0">
            <a:spAutoFit/>
          </a:bodyPr>
          <a:lstStyle/>
          <a:p>
            <a:pPr algn="l">
              <a:lnSpc>
                <a:spcPts val="3479"/>
              </a:lnSpc>
            </a:pPr>
            <a:r>
              <a:rPr lang="en-US" sz="2899" b="true">
                <a:solidFill>
                  <a:srgbClr val="4E6E81"/>
                </a:solidFill>
                <a:latin typeface="Helios Extended Bold"/>
                <a:ea typeface="Helios Extended Bold"/>
                <a:cs typeface="Helios Extended Bold"/>
                <a:sym typeface="Helios Extended Bold"/>
              </a:rPr>
              <a:t>Source: </a:t>
            </a:r>
            <a:r>
              <a:rPr lang="en-US" sz="2899">
                <a:solidFill>
                  <a:srgbClr val="000000"/>
                </a:solidFill>
                <a:latin typeface="Helios Extended"/>
                <a:ea typeface="Helios Extended"/>
                <a:cs typeface="Helios Extended"/>
                <a:sym typeface="Helios Extended"/>
              </a:rPr>
              <a:t>Biomedical database</a:t>
            </a:r>
          </a:p>
          <a:p>
            <a:pPr algn="l" marL="626106" indent="-313053" lvl="1">
              <a:lnSpc>
                <a:spcPts val="3479"/>
              </a:lnSpc>
              <a:buFont typeface="Arial"/>
              <a:buChar char="•"/>
            </a:pPr>
            <a:r>
              <a:rPr lang="en-US" sz="2899">
                <a:solidFill>
                  <a:srgbClr val="000000"/>
                </a:solidFill>
                <a:latin typeface="Helios Extended"/>
                <a:ea typeface="Helios Extended"/>
                <a:cs typeface="Helios Extended"/>
                <a:sym typeface="Helios Extended"/>
              </a:rPr>
              <a:t>DrugBank Therapeutics Data Commons</a:t>
            </a:r>
          </a:p>
          <a:p>
            <a:pPr algn="l" marL="626106" indent="-313053" lvl="1">
              <a:lnSpc>
                <a:spcPts val="3479"/>
              </a:lnSpc>
              <a:buFont typeface="Arial"/>
              <a:buChar char="•"/>
            </a:pPr>
            <a:r>
              <a:rPr lang="en-US" sz="2899">
                <a:solidFill>
                  <a:srgbClr val="000000"/>
                </a:solidFill>
                <a:latin typeface="Helios Extended"/>
                <a:ea typeface="Helios Extended"/>
                <a:cs typeface="Helios Extended"/>
                <a:sym typeface="Helios Extended"/>
              </a:rPr>
              <a:t>Apply for license</a:t>
            </a:r>
          </a:p>
          <a:p>
            <a:pPr algn="l" marL="626106" indent="-313053" lvl="1">
              <a:lnSpc>
                <a:spcPts val="3479"/>
              </a:lnSpc>
              <a:buFont typeface="Arial"/>
              <a:buChar char="•"/>
            </a:pPr>
            <a:r>
              <a:rPr lang="en-US" sz="2899">
                <a:solidFill>
                  <a:srgbClr val="000000"/>
                </a:solidFill>
                <a:latin typeface="Helios Extended"/>
                <a:ea typeface="Helios Extended"/>
                <a:cs typeface="Helios Extended"/>
                <a:sym typeface="Helios Extended"/>
              </a:rPr>
              <a:t>Scientific literature and regulatory sources</a:t>
            </a:r>
          </a:p>
        </p:txBody>
      </p:sp>
      <p:sp>
        <p:nvSpPr>
          <p:cNvPr name="TextBox 48" id="4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274320"/>
            <a:ext cx="14264640" cy="1097280"/>
            <a:chOff x="0" y="0"/>
            <a:chExt cx="19019520" cy="1463040"/>
          </a:xfrm>
        </p:grpSpPr>
        <p:sp>
          <p:nvSpPr>
            <p:cNvPr name="Freeform 3" id="3"/>
            <p:cNvSpPr/>
            <p:nvPr/>
          </p:nvSpPr>
          <p:spPr>
            <a:xfrm flipH="false" flipV="false" rot="0">
              <a:off x="0" y="0"/>
              <a:ext cx="19019520" cy="1463040"/>
            </a:xfrm>
            <a:custGeom>
              <a:avLst/>
              <a:gdLst/>
              <a:ahLst/>
              <a:cxnLst/>
              <a:rect r="r" b="b" t="t" l="l"/>
              <a:pathLst>
                <a:path h="1463040" w="19019520">
                  <a:moveTo>
                    <a:pt x="0" y="0"/>
                  </a:moveTo>
                  <a:lnTo>
                    <a:pt x="19019520" y="0"/>
                  </a:lnTo>
                  <a:lnTo>
                    <a:pt x="19019520" y="1463040"/>
                  </a:lnTo>
                  <a:lnTo>
                    <a:pt x="0" y="1463040"/>
                  </a:lnTo>
                  <a:close/>
                </a:path>
              </a:pathLst>
            </a:custGeom>
            <a:blipFill>
              <a:blip r:embed="rId3">
                <a:alphaModFix amt="0"/>
              </a:blip>
              <a:stretch>
                <a:fillRect l="0" t="-203305" r="0" b="-203305"/>
              </a:stretch>
            </a:blipFill>
          </p:spPr>
        </p:sp>
        <p:sp>
          <p:nvSpPr>
            <p:cNvPr name="TextBox 4" id="4"/>
            <p:cNvSpPr txBox="true"/>
            <p:nvPr/>
          </p:nvSpPr>
          <p:spPr>
            <a:xfrm>
              <a:off x="0" y="-47625"/>
              <a:ext cx="19019520" cy="1510665"/>
            </a:xfrm>
            <a:prstGeom prst="rect">
              <a:avLst/>
            </a:prstGeom>
          </p:spPr>
          <p:txBody>
            <a:bodyPr anchor="ctr" rtlCol="false" tIns="0" lIns="0" bIns="0" rIns="0"/>
            <a:lstStyle/>
            <a:p>
              <a:pPr algn="l">
                <a:lnSpc>
                  <a:spcPts val="6240"/>
                </a:lnSpc>
              </a:pPr>
              <a:r>
                <a:rPr lang="en-US" sz="5200" b="true">
                  <a:solidFill>
                    <a:srgbClr val="000000"/>
                  </a:solidFill>
                  <a:latin typeface="Helios Extended Bold"/>
                  <a:ea typeface="Helios Extended Bold"/>
                  <a:cs typeface="Helios Extended Bold"/>
                  <a:sym typeface="Helios Extended Bold"/>
                </a:rPr>
                <a:t>Preprocessing</a:t>
              </a:r>
            </a:p>
          </p:txBody>
        </p:sp>
      </p:grpSp>
      <p:grpSp>
        <p:nvGrpSpPr>
          <p:cNvPr name="Group 5" id="5"/>
          <p:cNvGrpSpPr/>
          <p:nvPr/>
        </p:nvGrpSpPr>
        <p:grpSpPr>
          <a:xfrm rot="0">
            <a:off x="15544800" y="365760"/>
            <a:ext cx="2377440" cy="585216"/>
            <a:chOff x="0" y="0"/>
            <a:chExt cx="3169920" cy="780288"/>
          </a:xfrm>
        </p:grpSpPr>
        <p:sp>
          <p:nvSpPr>
            <p:cNvPr name="Freeform 6" id="6"/>
            <p:cNvSpPr/>
            <p:nvPr/>
          </p:nvSpPr>
          <p:spPr>
            <a:xfrm flipH="false" flipV="false" rot="0">
              <a:off x="0" y="0"/>
              <a:ext cx="3169920" cy="780288"/>
            </a:xfrm>
            <a:custGeom>
              <a:avLst/>
              <a:gdLst/>
              <a:ahLst/>
              <a:cxnLst/>
              <a:rect r="r" b="b" t="t" l="l"/>
              <a:pathLst>
                <a:path h="780288" w="3169920">
                  <a:moveTo>
                    <a:pt x="0" y="121920"/>
                  </a:moveTo>
                  <a:cubicBezTo>
                    <a:pt x="0" y="54610"/>
                    <a:pt x="54610" y="0"/>
                    <a:pt x="121920" y="0"/>
                  </a:cubicBezTo>
                  <a:lnTo>
                    <a:pt x="3048000" y="0"/>
                  </a:lnTo>
                  <a:cubicBezTo>
                    <a:pt x="3115310" y="0"/>
                    <a:pt x="3169920" y="54610"/>
                    <a:pt x="3169920" y="121920"/>
                  </a:cubicBezTo>
                  <a:lnTo>
                    <a:pt x="3169920" y="658368"/>
                  </a:lnTo>
                  <a:cubicBezTo>
                    <a:pt x="3169920" y="725678"/>
                    <a:pt x="3115310" y="780288"/>
                    <a:pt x="3048000" y="780288"/>
                  </a:cubicBezTo>
                  <a:lnTo>
                    <a:pt x="121920" y="780288"/>
                  </a:lnTo>
                  <a:cubicBezTo>
                    <a:pt x="54610" y="780288"/>
                    <a:pt x="0" y="725678"/>
                    <a:pt x="0" y="658368"/>
                  </a:cubicBezTo>
                  <a:close/>
                </a:path>
              </a:pathLst>
            </a:custGeom>
            <a:solidFill>
              <a:srgbClr val="3D4D55"/>
            </a:solidFill>
          </p:spPr>
        </p:sp>
      </p:grpSp>
      <p:grpSp>
        <p:nvGrpSpPr>
          <p:cNvPr name="Group 7" id="7"/>
          <p:cNvGrpSpPr/>
          <p:nvPr/>
        </p:nvGrpSpPr>
        <p:grpSpPr>
          <a:xfrm rot="0">
            <a:off x="15544800" y="402336"/>
            <a:ext cx="2377440" cy="512064"/>
            <a:chOff x="0" y="0"/>
            <a:chExt cx="3169920" cy="682752"/>
          </a:xfrm>
        </p:grpSpPr>
        <p:sp>
          <p:nvSpPr>
            <p:cNvPr name="Freeform 8" id="8"/>
            <p:cNvSpPr/>
            <p:nvPr/>
          </p:nvSpPr>
          <p:spPr>
            <a:xfrm flipH="false" flipV="false" rot="0">
              <a:off x="0" y="0"/>
              <a:ext cx="3169920" cy="682752"/>
            </a:xfrm>
            <a:custGeom>
              <a:avLst/>
              <a:gdLst/>
              <a:ahLst/>
              <a:cxnLst/>
              <a:rect r="r" b="b" t="t" l="l"/>
              <a:pathLst>
                <a:path h="682752" w="3169920">
                  <a:moveTo>
                    <a:pt x="0" y="0"/>
                  </a:moveTo>
                  <a:lnTo>
                    <a:pt x="3169920" y="0"/>
                  </a:lnTo>
                  <a:lnTo>
                    <a:pt x="3169920" y="682752"/>
                  </a:lnTo>
                  <a:lnTo>
                    <a:pt x="0" y="682752"/>
                  </a:lnTo>
                  <a:close/>
                </a:path>
              </a:pathLst>
            </a:custGeom>
            <a:blipFill>
              <a:blip r:embed="rId3">
                <a:alphaModFix amt="0"/>
              </a:blip>
              <a:stretch>
                <a:fillRect l="0" t="-40466" r="0" b="-40466"/>
              </a:stretch>
            </a:blipFill>
          </p:spPr>
        </p:sp>
        <p:sp>
          <p:nvSpPr>
            <p:cNvPr name="TextBox 9" id="9"/>
            <p:cNvSpPr txBox="true"/>
            <p:nvPr/>
          </p:nvSpPr>
          <p:spPr>
            <a:xfrm>
              <a:off x="0" y="-9525"/>
              <a:ext cx="3169920" cy="692277"/>
            </a:xfrm>
            <a:prstGeom prst="rect">
              <a:avLst/>
            </a:prstGeom>
          </p:spPr>
          <p:txBody>
            <a:bodyPr anchor="ctr" rtlCol="false" tIns="0" lIns="0" bIns="0" rIns="0"/>
            <a:lstStyle/>
            <a:p>
              <a:pPr algn="ctr">
                <a:lnSpc>
                  <a:spcPts val="2160"/>
                </a:lnSpc>
              </a:pPr>
              <a:r>
                <a:rPr lang="en-US" sz="1800" b="true">
                  <a:solidFill>
                    <a:srgbClr val="FFFFFF"/>
                  </a:solidFill>
                  <a:latin typeface="Helios Extended Bold"/>
                  <a:ea typeface="Helios Extended Bold"/>
                  <a:cs typeface="Helios Extended Bold"/>
                  <a:sym typeface="Helios Extended Bold"/>
                </a:rPr>
                <a:t>3. Methodology</a:t>
              </a:r>
            </a:p>
          </p:txBody>
        </p:sp>
      </p:grpSp>
      <p:grpSp>
        <p:nvGrpSpPr>
          <p:cNvPr name="Group 10" id="10"/>
          <p:cNvGrpSpPr/>
          <p:nvPr/>
        </p:nvGrpSpPr>
        <p:grpSpPr>
          <a:xfrm rot="0">
            <a:off x="548640" y="1682496"/>
            <a:ext cx="7863840" cy="182880"/>
            <a:chOff x="0" y="0"/>
            <a:chExt cx="10485120" cy="243840"/>
          </a:xfrm>
        </p:grpSpPr>
        <p:sp>
          <p:nvSpPr>
            <p:cNvPr name="Freeform 11" id="11"/>
            <p:cNvSpPr/>
            <p:nvPr/>
          </p:nvSpPr>
          <p:spPr>
            <a:xfrm flipH="false" flipV="false" rot="0">
              <a:off x="0" y="0"/>
              <a:ext cx="10485120" cy="243840"/>
            </a:xfrm>
            <a:custGeom>
              <a:avLst/>
              <a:gdLst/>
              <a:ahLst/>
              <a:cxnLst/>
              <a:rect r="r" b="b" t="t" l="l"/>
              <a:pathLst>
                <a:path h="243840" w="10485120">
                  <a:moveTo>
                    <a:pt x="0" y="0"/>
                  </a:moveTo>
                  <a:lnTo>
                    <a:pt x="10485120" y="0"/>
                  </a:lnTo>
                  <a:lnTo>
                    <a:pt x="10485120" y="243840"/>
                  </a:lnTo>
                  <a:lnTo>
                    <a:pt x="0" y="243840"/>
                  </a:lnTo>
                  <a:close/>
                </a:path>
              </a:pathLst>
            </a:custGeom>
            <a:solidFill>
              <a:srgbClr val="A79E9C"/>
            </a:solidFill>
          </p:spPr>
        </p:sp>
      </p:grpSp>
      <p:grpSp>
        <p:nvGrpSpPr>
          <p:cNvPr name="Group 12" id="12"/>
          <p:cNvGrpSpPr/>
          <p:nvPr/>
        </p:nvGrpSpPr>
        <p:grpSpPr>
          <a:xfrm rot="0">
            <a:off x="822960" y="1920240"/>
            <a:ext cx="7315200" cy="694944"/>
            <a:chOff x="0" y="0"/>
            <a:chExt cx="9753600" cy="926592"/>
          </a:xfrm>
        </p:grpSpPr>
        <p:sp>
          <p:nvSpPr>
            <p:cNvPr name="Freeform 13" id="13"/>
            <p:cNvSpPr/>
            <p:nvPr/>
          </p:nvSpPr>
          <p:spPr>
            <a:xfrm flipH="false" flipV="false" rot="0">
              <a:off x="0" y="0"/>
              <a:ext cx="9753600" cy="926592"/>
            </a:xfrm>
            <a:custGeom>
              <a:avLst/>
              <a:gdLst/>
              <a:ahLst/>
              <a:cxnLst/>
              <a:rect r="r" b="b" t="t" l="l"/>
              <a:pathLst>
                <a:path h="926592" w="9753600">
                  <a:moveTo>
                    <a:pt x="0" y="0"/>
                  </a:moveTo>
                  <a:lnTo>
                    <a:pt x="9753600" y="0"/>
                  </a:lnTo>
                  <a:lnTo>
                    <a:pt x="9753600" y="926592"/>
                  </a:lnTo>
                  <a:lnTo>
                    <a:pt x="0" y="926592"/>
                  </a:lnTo>
                  <a:close/>
                </a:path>
              </a:pathLst>
            </a:custGeom>
            <a:blipFill>
              <a:blip r:embed="rId3">
                <a:alphaModFix amt="0"/>
              </a:blip>
              <a:stretch>
                <a:fillRect l="0" t="-155105" r="0" b="-155105"/>
              </a:stretch>
            </a:blipFill>
          </p:spPr>
        </p:sp>
        <p:sp>
          <p:nvSpPr>
            <p:cNvPr name="TextBox 14" id="14"/>
            <p:cNvSpPr txBox="true"/>
            <p:nvPr/>
          </p:nvSpPr>
          <p:spPr>
            <a:xfrm>
              <a:off x="0" y="-38100"/>
              <a:ext cx="9753600" cy="964692"/>
            </a:xfrm>
            <a:prstGeom prst="rect">
              <a:avLst/>
            </a:prstGeom>
          </p:spPr>
          <p:txBody>
            <a:bodyPr anchor="ctr" rtlCol="false" tIns="0" lIns="0" bIns="0" rIns="0"/>
            <a:lstStyle/>
            <a:p>
              <a:pPr algn="l">
                <a:lnSpc>
                  <a:spcPts val="3120"/>
                </a:lnSpc>
              </a:pPr>
              <a:r>
                <a:rPr lang="en-US" b="true" sz="2600">
                  <a:solidFill>
                    <a:srgbClr val="000000"/>
                  </a:solidFill>
                  <a:latin typeface="Helios Extended Bold"/>
                  <a:ea typeface="Helios Extended Bold"/>
                  <a:cs typeface="Helios Extended Bold"/>
                  <a:sym typeface="Helios Extended Bold"/>
                </a:rPr>
                <a:t>Task Definition</a:t>
              </a:r>
            </a:p>
          </p:txBody>
        </p:sp>
      </p:grpSp>
      <p:grpSp>
        <p:nvGrpSpPr>
          <p:cNvPr name="Group 15" id="15"/>
          <p:cNvGrpSpPr/>
          <p:nvPr/>
        </p:nvGrpSpPr>
        <p:grpSpPr>
          <a:xfrm rot="0">
            <a:off x="548640" y="1669799"/>
            <a:ext cx="17190720" cy="7980683"/>
            <a:chOff x="0" y="0"/>
            <a:chExt cx="22920960" cy="10640911"/>
          </a:xfrm>
        </p:grpSpPr>
        <p:sp>
          <p:nvSpPr>
            <p:cNvPr name="Freeform 16" id="16"/>
            <p:cNvSpPr/>
            <p:nvPr/>
          </p:nvSpPr>
          <p:spPr>
            <a:xfrm flipH="false" flipV="false" rot="0">
              <a:off x="33682" y="16891"/>
              <a:ext cx="22853418" cy="10607040"/>
            </a:xfrm>
            <a:custGeom>
              <a:avLst/>
              <a:gdLst/>
              <a:ahLst/>
              <a:cxnLst/>
              <a:rect r="r" b="b" t="t" l="l"/>
              <a:pathLst>
                <a:path h="10607040" w="22853418">
                  <a:moveTo>
                    <a:pt x="0" y="0"/>
                  </a:moveTo>
                  <a:lnTo>
                    <a:pt x="22853419" y="0"/>
                  </a:lnTo>
                  <a:lnTo>
                    <a:pt x="22853419" y="10607040"/>
                  </a:lnTo>
                  <a:lnTo>
                    <a:pt x="0" y="10607040"/>
                  </a:lnTo>
                  <a:close/>
                </a:path>
              </a:pathLst>
            </a:custGeom>
            <a:solidFill>
              <a:srgbClr val="FFFFFF"/>
            </a:solidFill>
          </p:spPr>
        </p:sp>
        <p:sp>
          <p:nvSpPr>
            <p:cNvPr name="Freeform 17" id="17"/>
            <p:cNvSpPr/>
            <p:nvPr/>
          </p:nvSpPr>
          <p:spPr>
            <a:xfrm flipH="false" flipV="false" rot="0">
              <a:off x="0" y="0"/>
              <a:ext cx="22920782" cy="10640822"/>
            </a:xfrm>
            <a:custGeom>
              <a:avLst/>
              <a:gdLst/>
              <a:ahLst/>
              <a:cxnLst/>
              <a:rect r="r" b="b" t="t" l="l"/>
              <a:pathLst>
                <a:path h="10640822" w="22920782">
                  <a:moveTo>
                    <a:pt x="33682" y="0"/>
                  </a:moveTo>
                  <a:lnTo>
                    <a:pt x="22887101" y="0"/>
                  </a:lnTo>
                  <a:cubicBezTo>
                    <a:pt x="22905842" y="0"/>
                    <a:pt x="22920782" y="7620"/>
                    <a:pt x="22920782" y="16891"/>
                  </a:cubicBezTo>
                  <a:lnTo>
                    <a:pt x="22920782" y="10623931"/>
                  </a:lnTo>
                  <a:cubicBezTo>
                    <a:pt x="22920782" y="10633329"/>
                    <a:pt x="22905588" y="10640822"/>
                    <a:pt x="22887101" y="10640822"/>
                  </a:cubicBezTo>
                  <a:lnTo>
                    <a:pt x="33682" y="10640822"/>
                  </a:lnTo>
                  <a:cubicBezTo>
                    <a:pt x="14942" y="10640822"/>
                    <a:pt x="0" y="10633202"/>
                    <a:pt x="0" y="10623931"/>
                  </a:cubicBezTo>
                  <a:lnTo>
                    <a:pt x="0" y="16891"/>
                  </a:lnTo>
                  <a:cubicBezTo>
                    <a:pt x="0" y="7620"/>
                    <a:pt x="15195" y="0"/>
                    <a:pt x="33682" y="0"/>
                  </a:cubicBezTo>
                  <a:moveTo>
                    <a:pt x="33682" y="33909"/>
                  </a:moveTo>
                  <a:lnTo>
                    <a:pt x="33682" y="16891"/>
                  </a:lnTo>
                  <a:lnTo>
                    <a:pt x="67618" y="16891"/>
                  </a:lnTo>
                  <a:lnTo>
                    <a:pt x="67618" y="10623931"/>
                  </a:lnTo>
                  <a:lnTo>
                    <a:pt x="33682" y="10623931"/>
                  </a:lnTo>
                  <a:lnTo>
                    <a:pt x="33682" y="10607040"/>
                  </a:lnTo>
                  <a:lnTo>
                    <a:pt x="22887101" y="10607040"/>
                  </a:lnTo>
                  <a:lnTo>
                    <a:pt x="22887101" y="10623931"/>
                  </a:lnTo>
                  <a:lnTo>
                    <a:pt x="22853419" y="10623931"/>
                  </a:lnTo>
                  <a:lnTo>
                    <a:pt x="22853419" y="16891"/>
                  </a:lnTo>
                  <a:lnTo>
                    <a:pt x="22887101" y="16891"/>
                  </a:lnTo>
                  <a:lnTo>
                    <a:pt x="22887101" y="33909"/>
                  </a:lnTo>
                  <a:lnTo>
                    <a:pt x="33682" y="33909"/>
                  </a:lnTo>
                  <a:close/>
                </a:path>
              </a:pathLst>
            </a:custGeom>
            <a:solidFill>
              <a:srgbClr val="E2E8F0"/>
            </a:solidFill>
          </p:spPr>
        </p:sp>
      </p:grpSp>
      <p:grpSp>
        <p:nvGrpSpPr>
          <p:cNvPr name="Group 18" id="18"/>
          <p:cNvGrpSpPr/>
          <p:nvPr/>
        </p:nvGrpSpPr>
        <p:grpSpPr>
          <a:xfrm rot="0">
            <a:off x="548640" y="1682496"/>
            <a:ext cx="17190720" cy="263702"/>
            <a:chOff x="0" y="0"/>
            <a:chExt cx="11460480" cy="175802"/>
          </a:xfrm>
        </p:grpSpPr>
        <p:sp>
          <p:nvSpPr>
            <p:cNvPr name="Freeform 19" id="19"/>
            <p:cNvSpPr/>
            <p:nvPr/>
          </p:nvSpPr>
          <p:spPr>
            <a:xfrm flipH="false" flipV="false" rot="0">
              <a:off x="0" y="0"/>
              <a:ext cx="11460480" cy="175802"/>
            </a:xfrm>
            <a:custGeom>
              <a:avLst/>
              <a:gdLst/>
              <a:ahLst/>
              <a:cxnLst/>
              <a:rect r="r" b="b" t="t" l="l"/>
              <a:pathLst>
                <a:path h="175802" w="11460480">
                  <a:moveTo>
                    <a:pt x="0" y="0"/>
                  </a:moveTo>
                  <a:lnTo>
                    <a:pt x="11460480" y="0"/>
                  </a:lnTo>
                  <a:lnTo>
                    <a:pt x="11460480" y="175802"/>
                  </a:lnTo>
                  <a:lnTo>
                    <a:pt x="0" y="175802"/>
                  </a:lnTo>
                  <a:close/>
                </a:path>
              </a:pathLst>
            </a:custGeom>
            <a:solidFill>
              <a:srgbClr val="3D4D55"/>
            </a:solidFill>
          </p:spPr>
        </p:sp>
      </p:grpSp>
      <p:graphicFrame>
        <p:nvGraphicFramePr>
          <p:cNvPr name="Table 20" id="20"/>
          <p:cNvGraphicFramePr>
            <a:graphicFrameLocks noGrp="true"/>
          </p:cNvGraphicFramePr>
          <p:nvPr/>
        </p:nvGraphicFramePr>
        <p:xfrm>
          <a:off x="1028700" y="2672334"/>
          <a:ext cx="6054164" cy="5609227"/>
        </p:xfrm>
        <a:graphic>
          <a:graphicData uri="http://schemas.openxmlformats.org/drawingml/2006/table">
            <a:tbl>
              <a:tblPr/>
              <a:tblGrid>
                <a:gridCol w="2494465"/>
                <a:gridCol w="3559699"/>
              </a:tblGrid>
              <a:tr h="751763">
                <a:tc>
                  <a:txBody>
                    <a:bodyPr anchor="t" rtlCol="false"/>
                    <a:lstStyle/>
                    <a:p>
                      <a:pPr algn="ctr">
                        <a:lnSpc>
                          <a:spcPts val="2400"/>
                        </a:lnSpc>
                        <a:defRPr/>
                      </a:pPr>
                      <a:r>
                        <a:rPr lang="en-US" sz="2000" b="true">
                          <a:solidFill>
                            <a:srgbClr val="FFFFFF"/>
                          </a:solidFill>
                          <a:latin typeface="Helios Extended Bold"/>
                          <a:ea typeface="Helios Extended Bold"/>
                          <a:cs typeface="Helios Extended Bold"/>
                          <a:sym typeface="Helios Extended Bold"/>
                        </a:rPr>
                        <a:t>ID</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3D4D55"/>
                    </a:solidFill>
                  </a:tcPr>
                </a:tc>
                <a:tc>
                  <a:txBody>
                    <a:bodyPr anchor="t" rtlCol="false"/>
                    <a:lstStyle/>
                    <a:p>
                      <a:pPr algn="ctr">
                        <a:lnSpc>
                          <a:spcPts val="2400"/>
                        </a:lnSpc>
                        <a:defRPr/>
                      </a:pPr>
                      <a:r>
                        <a:rPr lang="en-US" sz="2000" b="true">
                          <a:solidFill>
                            <a:srgbClr val="FFFFFF"/>
                          </a:solidFill>
                          <a:latin typeface="Helios Extended Bold"/>
                          <a:ea typeface="Helios Extended Bold"/>
                          <a:cs typeface="Helios Extended Bold"/>
                          <a:sym typeface="Helios Extended Bold"/>
                        </a:rPr>
                        <a:t>Drug Name</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3D4D55"/>
                    </a:solidFill>
                  </a:tcPr>
                </a:tc>
              </a:tr>
              <a:tr h="669475">
                <a:tc>
                  <a:txBody>
                    <a:bodyPr anchor="t" rtlCol="false"/>
                    <a:lstStyle/>
                    <a:p>
                      <a:pPr algn="ctr">
                        <a:lnSpc>
                          <a:spcPts val="2759"/>
                        </a:lnSpc>
                        <a:defRPr/>
                      </a:pPr>
                      <a:r>
                        <a:rPr lang="en-US" sz="2299">
                          <a:solidFill>
                            <a:srgbClr val="000000"/>
                          </a:solidFill>
                          <a:latin typeface="Helios Extended"/>
                          <a:ea typeface="Helios Extended"/>
                          <a:cs typeface="Helios Extended"/>
                          <a:sym typeface="Helios Extended"/>
                        </a:rPr>
                        <a:t>DB01174</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000000"/>
                          </a:solidFill>
                          <a:latin typeface="Helios Extended"/>
                          <a:ea typeface="Helios Extended"/>
                          <a:cs typeface="Helios Extended"/>
                          <a:sym typeface="Helios Extended"/>
                        </a:rPr>
                        <a:t>Phenobarbital</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r>
              <a:tr h="1045165">
                <a:tc>
                  <a:txBody>
                    <a:bodyPr anchor="t" rtlCol="false"/>
                    <a:lstStyle/>
                    <a:p>
                      <a:pPr algn="ctr">
                        <a:lnSpc>
                          <a:spcPts val="2759"/>
                        </a:lnSpc>
                        <a:defRPr/>
                      </a:pPr>
                      <a:r>
                        <a:rPr lang="en-US" sz="2299">
                          <a:solidFill>
                            <a:srgbClr val="000000"/>
                          </a:solidFill>
                          <a:latin typeface="Helios Extended"/>
                          <a:ea typeface="Helios Extended"/>
                          <a:cs typeface="Helios Extended"/>
                          <a:sym typeface="Helios Extended"/>
                        </a:rPr>
                        <a:t>DB00794</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ctr">
                        <a:lnSpc>
                          <a:spcPts val="2639"/>
                        </a:lnSpc>
                        <a:defRPr/>
                      </a:pPr>
                      <a:r>
                        <a:rPr lang="en-US" sz="2199">
                          <a:solidFill>
                            <a:srgbClr val="000000"/>
                          </a:solidFill>
                          <a:latin typeface="Helios Extended"/>
                          <a:ea typeface="Helios Extended"/>
                          <a:cs typeface="Helios Extended"/>
                          <a:sym typeface="Helios Extended"/>
                        </a:rPr>
                        <a:t>Primidone</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r>
              <a:tr h="1056862">
                <a:tc>
                  <a:txBody>
                    <a:bodyPr anchor="t" rtlCol="false"/>
                    <a:lstStyle/>
                    <a:p>
                      <a:pPr algn="ctr">
                        <a:lnSpc>
                          <a:spcPts val="2759"/>
                        </a:lnSpc>
                        <a:defRPr/>
                      </a:pPr>
                      <a:r>
                        <a:rPr lang="en-US" sz="2299">
                          <a:solidFill>
                            <a:srgbClr val="000000"/>
                          </a:solidFill>
                          <a:latin typeface="Helios Extended"/>
                          <a:ea typeface="Helios Extended"/>
                          <a:cs typeface="Helios Extended"/>
                          <a:sym typeface="Helios Extended"/>
                        </a:rPr>
                        <a:t>DB00252</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000000"/>
                          </a:solidFill>
                          <a:latin typeface="Helios Extended"/>
                          <a:ea typeface="Helios Extended"/>
                          <a:cs typeface="Helios Extended"/>
                          <a:sym typeface="Helios Extended"/>
                        </a:rPr>
                        <a:t>Phenytoin</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r>
              <a:tr h="957632">
                <a:tc>
                  <a:txBody>
                    <a:bodyPr anchor="t" rtlCol="false"/>
                    <a:lstStyle/>
                    <a:p>
                      <a:pPr algn="ctr">
                        <a:lnSpc>
                          <a:spcPts val="2759"/>
                        </a:lnSpc>
                        <a:defRPr/>
                      </a:pPr>
                      <a:r>
                        <a:rPr lang="en-US" sz="2299">
                          <a:solidFill>
                            <a:srgbClr val="000000"/>
                          </a:solidFill>
                          <a:latin typeface="Helios Extended"/>
                          <a:ea typeface="Helios Extended"/>
                          <a:cs typeface="Helios Extended"/>
                          <a:sym typeface="Helios Extended"/>
                        </a:rPr>
                        <a:t>DB01320</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ctr">
                        <a:lnSpc>
                          <a:spcPts val="2639"/>
                        </a:lnSpc>
                        <a:defRPr/>
                      </a:pPr>
                      <a:r>
                        <a:rPr lang="en-US" sz="2199">
                          <a:solidFill>
                            <a:srgbClr val="000000"/>
                          </a:solidFill>
                          <a:latin typeface="Helios Extended"/>
                          <a:ea typeface="Helios Extended"/>
                          <a:cs typeface="Helios Extended"/>
                          <a:sym typeface="Helios Extended"/>
                        </a:rPr>
                        <a:t>Fosphenytoin</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r>
              <a:tr h="1128330">
                <a:tc>
                  <a:txBody>
                    <a:bodyPr anchor="t" rtlCol="false"/>
                    <a:lstStyle/>
                    <a:p>
                      <a:pPr algn="ctr">
                        <a:lnSpc>
                          <a:spcPts val="2759"/>
                        </a:lnSpc>
                        <a:defRPr/>
                      </a:pPr>
                      <a:r>
                        <a:rPr lang="en-US" sz="2299">
                          <a:solidFill>
                            <a:srgbClr val="000000"/>
                          </a:solidFill>
                          <a:latin typeface="Helios Extended"/>
                          <a:ea typeface="Helios Extended"/>
                          <a:cs typeface="Helios Extended"/>
                          <a:sym typeface="Helios Extended"/>
                        </a:rPr>
                        <a:t>DB00564</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000000"/>
                          </a:solidFill>
                          <a:latin typeface="Helios Extended"/>
                          <a:ea typeface="Helios Extended"/>
                          <a:cs typeface="Helios Extended"/>
                          <a:sym typeface="Helios Extended"/>
                        </a:rPr>
                        <a:t>Carbamazepine </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r>
            </a:tbl>
          </a:graphicData>
        </a:graphic>
      </p:graphicFrame>
      <p:graphicFrame>
        <p:nvGraphicFramePr>
          <p:cNvPr name="Table 21" id="21"/>
          <p:cNvGraphicFramePr>
            <a:graphicFrameLocks noGrp="true"/>
          </p:cNvGraphicFramePr>
          <p:nvPr/>
        </p:nvGraphicFramePr>
        <p:xfrm>
          <a:off x="8046720" y="2672334"/>
          <a:ext cx="9126989" cy="5615247"/>
        </p:xfrm>
        <a:graphic>
          <a:graphicData uri="http://schemas.openxmlformats.org/drawingml/2006/table">
            <a:tbl>
              <a:tblPr/>
              <a:tblGrid>
                <a:gridCol w="1094867"/>
                <a:gridCol w="8032122"/>
              </a:tblGrid>
              <a:tr h="681253">
                <a:tc>
                  <a:txBody>
                    <a:bodyPr anchor="t" rtlCol="false"/>
                    <a:lstStyle/>
                    <a:p>
                      <a:pPr algn="ctr">
                        <a:lnSpc>
                          <a:spcPts val="2400"/>
                        </a:lnSpc>
                        <a:defRPr/>
                      </a:pPr>
                      <a:r>
                        <a:rPr lang="en-US" sz="2000" b="true">
                          <a:solidFill>
                            <a:srgbClr val="FFFFFF"/>
                          </a:solidFill>
                          <a:latin typeface="Helios Extended Bold"/>
                          <a:ea typeface="Helios Extended Bold"/>
                          <a:cs typeface="Helios Extended Bold"/>
                          <a:sym typeface="Helios Extended Bold"/>
                        </a:rPr>
                        <a:t>Y</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3D4D55"/>
                    </a:solidFill>
                  </a:tcPr>
                </a:tc>
                <a:tc>
                  <a:txBody>
                    <a:bodyPr anchor="t" rtlCol="false"/>
                    <a:lstStyle/>
                    <a:p>
                      <a:pPr algn="ctr">
                        <a:lnSpc>
                          <a:spcPts val="2400"/>
                        </a:lnSpc>
                        <a:defRPr/>
                      </a:pPr>
                      <a:r>
                        <a:rPr lang="en-US" sz="2000" b="true">
                          <a:solidFill>
                            <a:srgbClr val="FFFFFF"/>
                          </a:solidFill>
                          <a:latin typeface="Helios Extended Bold"/>
                          <a:ea typeface="Helios Extended Bold"/>
                          <a:cs typeface="Helios Extended Bold"/>
                          <a:sym typeface="Helios Extended Bold"/>
                        </a:rPr>
                        <a:t>Description</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3D4D55"/>
                    </a:solidFill>
                  </a:tcPr>
                </a:tc>
              </a:tr>
              <a:tr h="924971">
                <a:tc>
                  <a:txBody>
                    <a:bodyPr anchor="t" rtlCol="false"/>
                    <a:lstStyle/>
                    <a:p>
                      <a:pPr algn="ctr">
                        <a:lnSpc>
                          <a:spcPts val="2639"/>
                        </a:lnSpc>
                        <a:defRPr/>
                      </a:pPr>
                      <a:r>
                        <a:rPr lang="en-US" sz="2199">
                          <a:solidFill>
                            <a:srgbClr val="000000"/>
                          </a:solidFill>
                          <a:latin typeface="Helios Extended"/>
                          <a:ea typeface="Helios Extended"/>
                          <a:cs typeface="Helios Extended"/>
                          <a:sym typeface="Helios Extended"/>
                        </a:rPr>
                        <a:t>47</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2639"/>
                        </a:lnSpc>
                        <a:defRPr/>
                      </a:pPr>
                      <a:r>
                        <a:rPr lang="en-US" sz="2199">
                          <a:solidFill>
                            <a:srgbClr val="000000"/>
                          </a:solidFill>
                          <a:latin typeface="Helios Extended"/>
                          <a:ea typeface="Helios Extended"/>
                          <a:cs typeface="Helios Extended"/>
                          <a:sym typeface="Helios Extended"/>
                        </a:rPr>
                        <a:t>The metabolism of #Drug2 can be decreased when combined with #Drug1</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r>
              <a:tr h="1192943">
                <a:tc>
                  <a:txBody>
                    <a:bodyPr anchor="t" rtlCol="false"/>
                    <a:lstStyle/>
                    <a:p>
                      <a:pPr algn="ctr">
                        <a:lnSpc>
                          <a:spcPts val="2639"/>
                        </a:lnSpc>
                        <a:defRPr/>
                      </a:pPr>
                      <a:r>
                        <a:rPr lang="en-US" sz="2199">
                          <a:solidFill>
                            <a:srgbClr val="000000"/>
                          </a:solidFill>
                          <a:latin typeface="Helios Extended"/>
                          <a:ea typeface="Helios Extended"/>
                          <a:cs typeface="Helios Extended"/>
                          <a:sym typeface="Helios Extended"/>
                        </a:rPr>
                        <a:t>49</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l">
                        <a:lnSpc>
                          <a:spcPts val="2639"/>
                        </a:lnSpc>
                        <a:defRPr/>
                      </a:pPr>
                      <a:r>
                        <a:rPr lang="en-US" sz="2199">
                          <a:solidFill>
                            <a:srgbClr val="000000"/>
                          </a:solidFill>
                          <a:latin typeface="Helios Extended"/>
                          <a:ea typeface="Helios Extended"/>
                          <a:cs typeface="Helios Extended"/>
                          <a:sym typeface="Helios Extended"/>
                        </a:rPr>
                        <a:t>The risk of severity of adverse effects can be increased when #Drug1 is combined with #Drug2</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r>
              <a:tr h="966139">
                <a:tc>
                  <a:txBody>
                    <a:bodyPr anchor="t" rtlCol="false"/>
                    <a:lstStyle/>
                    <a:p>
                      <a:pPr algn="ctr">
                        <a:lnSpc>
                          <a:spcPts val="2639"/>
                        </a:lnSpc>
                        <a:defRPr/>
                      </a:pPr>
                      <a:r>
                        <a:rPr lang="en-US" sz="2199">
                          <a:solidFill>
                            <a:srgbClr val="000000"/>
                          </a:solidFill>
                          <a:latin typeface="Helios Extended"/>
                          <a:ea typeface="Helios Extended"/>
                          <a:cs typeface="Helios Extended"/>
                          <a:sym typeface="Helios Extended"/>
                        </a:rPr>
                        <a:t>73</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2639"/>
                        </a:lnSpc>
                        <a:defRPr/>
                      </a:pPr>
                      <a:r>
                        <a:rPr lang="en-US" sz="2199">
                          <a:solidFill>
                            <a:srgbClr val="000000"/>
                          </a:solidFill>
                          <a:latin typeface="Helios Extended"/>
                          <a:ea typeface="Helios Extended"/>
                          <a:cs typeface="Helios Extended"/>
                          <a:sym typeface="Helios Extended"/>
                        </a:rPr>
                        <a:t>The serum concentration of #Drug2 can be increased when combined with #Drug1</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r>
              <a:tr h="924971">
                <a:tc>
                  <a:txBody>
                    <a:bodyPr anchor="t" rtlCol="false"/>
                    <a:lstStyle/>
                    <a:p>
                      <a:pPr algn="ctr">
                        <a:lnSpc>
                          <a:spcPts val="2639"/>
                        </a:lnSpc>
                        <a:defRPr/>
                      </a:pPr>
                      <a:r>
                        <a:rPr lang="en-US" sz="2199">
                          <a:solidFill>
                            <a:srgbClr val="000000"/>
                          </a:solidFill>
                          <a:latin typeface="Helios Extended"/>
                          <a:ea typeface="Helios Extended"/>
                          <a:cs typeface="Helios Extended"/>
                          <a:sym typeface="Helios Extended"/>
                        </a:rPr>
                        <a:t>75</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l">
                        <a:lnSpc>
                          <a:spcPts val="2639"/>
                        </a:lnSpc>
                        <a:defRPr/>
                      </a:pPr>
                      <a:r>
                        <a:rPr lang="en-US" sz="2199">
                          <a:solidFill>
                            <a:srgbClr val="000000"/>
                          </a:solidFill>
                          <a:latin typeface="Helios Extended"/>
                          <a:ea typeface="Helios Extended"/>
                          <a:cs typeface="Helios Extended"/>
                          <a:sym typeface="Helios Extended"/>
                        </a:rPr>
                        <a:t>The ser</a:t>
                      </a:r>
                      <a:r>
                        <a:rPr lang="en-US" sz="2199">
                          <a:solidFill>
                            <a:srgbClr val="000000"/>
                          </a:solidFill>
                          <a:latin typeface="Helios Extended"/>
                          <a:ea typeface="Helios Extended"/>
                          <a:cs typeface="Helios Extended"/>
                          <a:sym typeface="Helios Extended"/>
                        </a:rPr>
                        <a:t>um concentration of #Drug2 can be increased when combined with #Drug1</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r>
              <a:tr h="924971">
                <a:tc>
                  <a:txBody>
                    <a:bodyPr anchor="t" rtlCol="false"/>
                    <a:lstStyle/>
                    <a:p>
                      <a:pPr algn="ctr">
                        <a:lnSpc>
                          <a:spcPts val="2639"/>
                        </a:lnSpc>
                        <a:defRPr/>
                      </a:pPr>
                      <a:r>
                        <a:rPr lang="en-US" sz="2199">
                          <a:solidFill>
                            <a:srgbClr val="000000"/>
                          </a:solidFill>
                          <a:latin typeface="Helios Extended"/>
                          <a:ea typeface="Helios Extended"/>
                          <a:cs typeface="Helios Extended"/>
                          <a:sym typeface="Helios Extended"/>
                        </a:rPr>
                        <a:t>4</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2639"/>
                        </a:lnSpc>
                        <a:defRPr/>
                      </a:pPr>
                      <a:r>
                        <a:rPr lang="en-US" sz="2199">
                          <a:solidFill>
                            <a:srgbClr val="000000"/>
                          </a:solidFill>
                          <a:latin typeface="Helios Extended"/>
                          <a:ea typeface="Helios Extended"/>
                          <a:cs typeface="Helios Extended"/>
                          <a:sym typeface="Helios Extended"/>
                        </a:rPr>
                        <a:t>The metabolism of #Drug2 can be increased when combined with #Drug1</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r>
            </a:tbl>
          </a:graphicData>
        </a:graphic>
      </p:graphicFrame>
      <p:sp>
        <p:nvSpPr>
          <p:cNvPr name="TextBox 22" id="22"/>
          <p:cNvSpPr txBox="true"/>
          <p:nvPr/>
        </p:nvSpPr>
        <p:spPr>
          <a:xfrm rot="0">
            <a:off x="1652527" y="2098598"/>
            <a:ext cx="4806510" cy="408305"/>
          </a:xfrm>
          <a:prstGeom prst="rect">
            <a:avLst/>
          </a:prstGeom>
        </p:spPr>
        <p:txBody>
          <a:bodyPr anchor="t" rtlCol="false" tIns="0" lIns="0" bIns="0" rIns="0">
            <a:spAutoFit/>
          </a:bodyPr>
          <a:lstStyle/>
          <a:p>
            <a:pPr algn="l" marL="0" indent="0" lvl="0">
              <a:lnSpc>
                <a:spcPts val="3219"/>
              </a:lnSpc>
            </a:pPr>
            <a:r>
              <a:rPr lang="en-US" b="true" sz="2299" spc="229">
                <a:solidFill>
                  <a:srgbClr val="000000"/>
                </a:solidFill>
                <a:latin typeface="Helios Extended Bold"/>
                <a:ea typeface="Helios Extended Bold"/>
                <a:cs typeface="Helios Extended Bold"/>
                <a:sym typeface="Helios Extended Bold"/>
              </a:rPr>
              <a:t>ID ⟶ NAME MAPPING</a:t>
            </a:r>
          </a:p>
        </p:txBody>
      </p:sp>
      <p:sp>
        <p:nvSpPr>
          <p:cNvPr name="TextBox 23" id="23"/>
          <p:cNvSpPr txBox="true"/>
          <p:nvPr/>
        </p:nvSpPr>
        <p:spPr>
          <a:xfrm rot="0">
            <a:off x="9817135" y="2098598"/>
            <a:ext cx="6454392" cy="408305"/>
          </a:xfrm>
          <a:prstGeom prst="rect">
            <a:avLst/>
          </a:prstGeom>
        </p:spPr>
        <p:txBody>
          <a:bodyPr anchor="t" rtlCol="false" tIns="0" lIns="0" bIns="0" rIns="0">
            <a:spAutoFit/>
          </a:bodyPr>
          <a:lstStyle/>
          <a:p>
            <a:pPr algn="l" marL="0" indent="0" lvl="0">
              <a:lnSpc>
                <a:spcPts val="3219"/>
              </a:lnSpc>
            </a:pPr>
            <a:r>
              <a:rPr lang="en-US" b="true" sz="2299" spc="229">
                <a:solidFill>
                  <a:srgbClr val="000000"/>
                </a:solidFill>
                <a:latin typeface="Helios Extended Bold"/>
                <a:ea typeface="Helios Extended Bold"/>
                <a:cs typeface="Helios Extended Bold"/>
                <a:sym typeface="Helios Extended Bold"/>
              </a:rPr>
              <a:t>Y ⟶ DESCRIPTION MAPPING</a:t>
            </a:r>
          </a:p>
        </p:txBody>
      </p:sp>
      <p:grpSp>
        <p:nvGrpSpPr>
          <p:cNvPr name="Group 24" id="24"/>
          <p:cNvGrpSpPr/>
          <p:nvPr/>
        </p:nvGrpSpPr>
        <p:grpSpPr>
          <a:xfrm rot="0">
            <a:off x="6380325" y="8582856"/>
            <a:ext cx="5527350" cy="806653"/>
            <a:chOff x="0" y="0"/>
            <a:chExt cx="7369800" cy="1075538"/>
          </a:xfrm>
        </p:grpSpPr>
        <p:sp>
          <p:nvSpPr>
            <p:cNvPr name="Freeform 25" id="25"/>
            <p:cNvSpPr/>
            <p:nvPr/>
          </p:nvSpPr>
          <p:spPr>
            <a:xfrm flipH="false" flipV="false" rot="0">
              <a:off x="0" y="0"/>
              <a:ext cx="7369801" cy="1075538"/>
            </a:xfrm>
            <a:custGeom>
              <a:avLst/>
              <a:gdLst/>
              <a:ahLst/>
              <a:cxnLst/>
              <a:rect r="r" b="b" t="t" l="l"/>
              <a:pathLst>
                <a:path h="1075538" w="7369801">
                  <a:moveTo>
                    <a:pt x="0" y="0"/>
                  </a:moveTo>
                  <a:lnTo>
                    <a:pt x="7369801" y="0"/>
                  </a:lnTo>
                  <a:lnTo>
                    <a:pt x="7369801" y="1075538"/>
                  </a:lnTo>
                  <a:lnTo>
                    <a:pt x="0" y="1075538"/>
                  </a:lnTo>
                  <a:close/>
                </a:path>
              </a:pathLst>
            </a:custGeom>
            <a:blipFill>
              <a:blip r:embed="rId3">
                <a:alphaModFix amt="0"/>
              </a:blip>
              <a:stretch>
                <a:fillRect l="0" t="-31905" r="40444" b="-27125"/>
              </a:stretch>
            </a:blipFill>
          </p:spPr>
        </p:sp>
        <p:sp>
          <p:nvSpPr>
            <p:cNvPr name="TextBox 26" id="26"/>
            <p:cNvSpPr txBox="true"/>
            <p:nvPr/>
          </p:nvSpPr>
          <p:spPr>
            <a:xfrm>
              <a:off x="0" y="-28575"/>
              <a:ext cx="7369800" cy="1104113"/>
            </a:xfrm>
            <a:prstGeom prst="rect">
              <a:avLst/>
            </a:prstGeom>
          </p:spPr>
          <p:txBody>
            <a:bodyPr anchor="ctr" rtlCol="false" tIns="0" lIns="0" bIns="0" rIns="0"/>
            <a:lstStyle/>
            <a:p>
              <a:pPr algn="l">
                <a:lnSpc>
                  <a:spcPts val="4079"/>
                </a:lnSpc>
              </a:pPr>
              <a:r>
                <a:rPr lang="en-US" sz="3400" b="true">
                  <a:solidFill>
                    <a:srgbClr val="A79E9C"/>
                  </a:solidFill>
                  <a:latin typeface="Helios Extended Bold"/>
                  <a:ea typeface="Helios Extended Bold"/>
                  <a:cs typeface="Helios Extended Bold"/>
                  <a:sym typeface="Helios Extended Bold"/>
                </a:rPr>
                <a:t>80/20 Stratified Split</a:t>
              </a:r>
            </a:p>
          </p:txBody>
        </p:sp>
      </p:grpSp>
      <p:sp>
        <p:nvSpPr>
          <p:cNvPr name="TextBox 27" id="2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46304"/>
            <a:chOff x="0" y="0"/>
            <a:chExt cx="24384000" cy="195072"/>
          </a:xfrm>
        </p:grpSpPr>
        <p:sp>
          <p:nvSpPr>
            <p:cNvPr name="Freeform 3" id="3"/>
            <p:cNvSpPr/>
            <p:nvPr/>
          </p:nvSpPr>
          <p:spPr>
            <a:xfrm flipH="false" flipV="false" rot="0">
              <a:off x="0" y="0"/>
              <a:ext cx="24384000" cy="195072"/>
            </a:xfrm>
            <a:custGeom>
              <a:avLst/>
              <a:gdLst/>
              <a:ahLst/>
              <a:cxnLst/>
              <a:rect r="r" b="b" t="t" l="l"/>
              <a:pathLst>
                <a:path h="195072" w="24384000">
                  <a:moveTo>
                    <a:pt x="0" y="0"/>
                  </a:moveTo>
                  <a:lnTo>
                    <a:pt x="24384000" y="0"/>
                  </a:lnTo>
                  <a:lnTo>
                    <a:pt x="24384000" y="195072"/>
                  </a:lnTo>
                  <a:lnTo>
                    <a:pt x="0" y="195072"/>
                  </a:lnTo>
                  <a:close/>
                </a:path>
              </a:pathLst>
            </a:custGeom>
            <a:solidFill>
              <a:srgbClr val="3D4D55"/>
            </a:solidFill>
          </p:spPr>
        </p:sp>
      </p:grpSp>
      <p:grpSp>
        <p:nvGrpSpPr>
          <p:cNvPr name="Group 4" id="4"/>
          <p:cNvGrpSpPr/>
          <p:nvPr/>
        </p:nvGrpSpPr>
        <p:grpSpPr>
          <a:xfrm rot="0">
            <a:off x="822960" y="658368"/>
            <a:ext cx="14264640" cy="1097280"/>
            <a:chOff x="0" y="0"/>
            <a:chExt cx="19019520" cy="1463040"/>
          </a:xfrm>
        </p:grpSpPr>
        <p:sp>
          <p:nvSpPr>
            <p:cNvPr name="Freeform 5" id="5"/>
            <p:cNvSpPr/>
            <p:nvPr/>
          </p:nvSpPr>
          <p:spPr>
            <a:xfrm flipH="false" flipV="false" rot="0">
              <a:off x="0" y="0"/>
              <a:ext cx="19019520" cy="1463040"/>
            </a:xfrm>
            <a:custGeom>
              <a:avLst/>
              <a:gdLst/>
              <a:ahLst/>
              <a:cxnLst/>
              <a:rect r="r" b="b" t="t" l="l"/>
              <a:pathLst>
                <a:path h="1463040" w="19019520">
                  <a:moveTo>
                    <a:pt x="0" y="0"/>
                  </a:moveTo>
                  <a:lnTo>
                    <a:pt x="19019520" y="0"/>
                  </a:lnTo>
                  <a:lnTo>
                    <a:pt x="19019520" y="1463040"/>
                  </a:lnTo>
                  <a:lnTo>
                    <a:pt x="0" y="1463040"/>
                  </a:lnTo>
                  <a:close/>
                </a:path>
              </a:pathLst>
            </a:custGeom>
            <a:blipFill>
              <a:blip r:embed="rId3">
                <a:alphaModFix amt="0"/>
              </a:blip>
              <a:stretch>
                <a:fillRect l="0" t="-203305" r="0" b="-203305"/>
              </a:stretch>
            </a:blipFill>
          </p:spPr>
        </p:sp>
        <p:sp>
          <p:nvSpPr>
            <p:cNvPr name="TextBox 6" id="6"/>
            <p:cNvSpPr txBox="true"/>
            <p:nvPr/>
          </p:nvSpPr>
          <p:spPr>
            <a:xfrm>
              <a:off x="0" y="-47625"/>
              <a:ext cx="19019520" cy="1510665"/>
            </a:xfrm>
            <a:prstGeom prst="rect">
              <a:avLst/>
            </a:prstGeom>
          </p:spPr>
          <p:txBody>
            <a:bodyPr anchor="ctr" rtlCol="false" tIns="0" lIns="0" bIns="0" rIns="0"/>
            <a:lstStyle/>
            <a:p>
              <a:pPr algn="l">
                <a:lnSpc>
                  <a:spcPts val="6240"/>
                </a:lnSpc>
              </a:pPr>
              <a:r>
                <a:rPr lang="en-US" b="true" sz="5200">
                  <a:solidFill>
                    <a:srgbClr val="000000"/>
                  </a:solidFill>
                  <a:latin typeface="Helios Extended Bold"/>
                  <a:ea typeface="Helios Extended Bold"/>
                  <a:cs typeface="Helios Extended Bold"/>
                  <a:sym typeface="Helios Extended Bold"/>
                </a:rPr>
                <a:t>System Pipeline</a:t>
              </a:r>
            </a:p>
          </p:txBody>
        </p:sp>
      </p:grpSp>
      <p:grpSp>
        <p:nvGrpSpPr>
          <p:cNvPr name="Group 7" id="7"/>
          <p:cNvGrpSpPr/>
          <p:nvPr/>
        </p:nvGrpSpPr>
        <p:grpSpPr>
          <a:xfrm rot="0">
            <a:off x="15544800" y="365760"/>
            <a:ext cx="2377440" cy="585216"/>
            <a:chOff x="0" y="0"/>
            <a:chExt cx="3169920" cy="780288"/>
          </a:xfrm>
        </p:grpSpPr>
        <p:sp>
          <p:nvSpPr>
            <p:cNvPr name="Freeform 8" id="8"/>
            <p:cNvSpPr/>
            <p:nvPr/>
          </p:nvSpPr>
          <p:spPr>
            <a:xfrm flipH="false" flipV="false" rot="0">
              <a:off x="0" y="0"/>
              <a:ext cx="3169920" cy="780288"/>
            </a:xfrm>
            <a:custGeom>
              <a:avLst/>
              <a:gdLst/>
              <a:ahLst/>
              <a:cxnLst/>
              <a:rect r="r" b="b" t="t" l="l"/>
              <a:pathLst>
                <a:path h="780288" w="3169920">
                  <a:moveTo>
                    <a:pt x="0" y="121920"/>
                  </a:moveTo>
                  <a:cubicBezTo>
                    <a:pt x="0" y="54610"/>
                    <a:pt x="54610" y="0"/>
                    <a:pt x="121920" y="0"/>
                  </a:cubicBezTo>
                  <a:lnTo>
                    <a:pt x="3048000" y="0"/>
                  </a:lnTo>
                  <a:cubicBezTo>
                    <a:pt x="3115310" y="0"/>
                    <a:pt x="3169920" y="54610"/>
                    <a:pt x="3169920" y="121920"/>
                  </a:cubicBezTo>
                  <a:lnTo>
                    <a:pt x="3169920" y="658368"/>
                  </a:lnTo>
                  <a:cubicBezTo>
                    <a:pt x="3169920" y="725678"/>
                    <a:pt x="3115310" y="780288"/>
                    <a:pt x="3048000" y="780288"/>
                  </a:cubicBezTo>
                  <a:lnTo>
                    <a:pt x="121920" y="780288"/>
                  </a:lnTo>
                  <a:cubicBezTo>
                    <a:pt x="54610" y="780288"/>
                    <a:pt x="0" y="725678"/>
                    <a:pt x="0" y="658368"/>
                  </a:cubicBezTo>
                  <a:close/>
                </a:path>
              </a:pathLst>
            </a:custGeom>
            <a:solidFill>
              <a:srgbClr val="3D4D55"/>
            </a:solidFill>
          </p:spPr>
        </p:sp>
      </p:grpSp>
      <p:grpSp>
        <p:nvGrpSpPr>
          <p:cNvPr name="Group 9" id="9"/>
          <p:cNvGrpSpPr/>
          <p:nvPr/>
        </p:nvGrpSpPr>
        <p:grpSpPr>
          <a:xfrm rot="0">
            <a:off x="15544800" y="402336"/>
            <a:ext cx="2377440" cy="512064"/>
            <a:chOff x="0" y="0"/>
            <a:chExt cx="3169920" cy="682752"/>
          </a:xfrm>
        </p:grpSpPr>
        <p:sp>
          <p:nvSpPr>
            <p:cNvPr name="Freeform 10" id="10"/>
            <p:cNvSpPr/>
            <p:nvPr/>
          </p:nvSpPr>
          <p:spPr>
            <a:xfrm flipH="false" flipV="false" rot="0">
              <a:off x="0" y="0"/>
              <a:ext cx="3169920" cy="682752"/>
            </a:xfrm>
            <a:custGeom>
              <a:avLst/>
              <a:gdLst/>
              <a:ahLst/>
              <a:cxnLst/>
              <a:rect r="r" b="b" t="t" l="l"/>
              <a:pathLst>
                <a:path h="682752" w="3169920">
                  <a:moveTo>
                    <a:pt x="0" y="0"/>
                  </a:moveTo>
                  <a:lnTo>
                    <a:pt x="3169920" y="0"/>
                  </a:lnTo>
                  <a:lnTo>
                    <a:pt x="3169920" y="682752"/>
                  </a:lnTo>
                  <a:lnTo>
                    <a:pt x="0" y="682752"/>
                  </a:lnTo>
                  <a:close/>
                </a:path>
              </a:pathLst>
            </a:custGeom>
            <a:blipFill>
              <a:blip r:embed="rId3">
                <a:alphaModFix amt="0"/>
              </a:blip>
              <a:stretch>
                <a:fillRect l="0" t="-40466" r="0" b="-40466"/>
              </a:stretch>
            </a:blipFill>
          </p:spPr>
        </p:sp>
        <p:sp>
          <p:nvSpPr>
            <p:cNvPr name="TextBox 11" id="11"/>
            <p:cNvSpPr txBox="true"/>
            <p:nvPr/>
          </p:nvSpPr>
          <p:spPr>
            <a:xfrm>
              <a:off x="0" y="-9525"/>
              <a:ext cx="3169920" cy="692277"/>
            </a:xfrm>
            <a:prstGeom prst="rect">
              <a:avLst/>
            </a:prstGeom>
          </p:spPr>
          <p:txBody>
            <a:bodyPr anchor="ctr" rtlCol="false" tIns="0" lIns="0" bIns="0" rIns="0"/>
            <a:lstStyle/>
            <a:p>
              <a:pPr algn="ctr">
                <a:lnSpc>
                  <a:spcPts val="2160"/>
                </a:lnSpc>
              </a:pPr>
              <a:r>
                <a:rPr lang="en-US" sz="1800" b="true">
                  <a:solidFill>
                    <a:srgbClr val="FFFFFF"/>
                  </a:solidFill>
                  <a:latin typeface="Helios Extended Bold"/>
                  <a:ea typeface="Helios Extended Bold"/>
                  <a:cs typeface="Helios Extended Bold"/>
                  <a:sym typeface="Helios Extended Bold"/>
                </a:rPr>
                <a:t>3. Methodology</a:t>
              </a:r>
            </a:p>
          </p:txBody>
        </p:sp>
      </p:grpSp>
      <p:grpSp>
        <p:nvGrpSpPr>
          <p:cNvPr name="Group 12" id="12"/>
          <p:cNvGrpSpPr/>
          <p:nvPr/>
        </p:nvGrpSpPr>
        <p:grpSpPr>
          <a:xfrm rot="0">
            <a:off x="444503" y="2090423"/>
            <a:ext cx="2494283" cy="4626125"/>
            <a:chOff x="0" y="0"/>
            <a:chExt cx="3325711" cy="6168166"/>
          </a:xfrm>
        </p:grpSpPr>
        <p:sp>
          <p:nvSpPr>
            <p:cNvPr name="Freeform 13" id="13"/>
            <p:cNvSpPr/>
            <p:nvPr/>
          </p:nvSpPr>
          <p:spPr>
            <a:xfrm flipH="false" flipV="false" rot="0">
              <a:off x="16891" y="18466"/>
              <a:ext cx="3291840" cy="6131138"/>
            </a:xfrm>
            <a:custGeom>
              <a:avLst/>
              <a:gdLst/>
              <a:ahLst/>
              <a:cxnLst/>
              <a:rect r="r" b="b" t="t" l="l"/>
              <a:pathLst>
                <a:path h="6131138" w="3291840">
                  <a:moveTo>
                    <a:pt x="0" y="0"/>
                  </a:moveTo>
                  <a:lnTo>
                    <a:pt x="3291840" y="0"/>
                  </a:lnTo>
                  <a:lnTo>
                    <a:pt x="3291840" y="6131137"/>
                  </a:lnTo>
                  <a:lnTo>
                    <a:pt x="0" y="6131137"/>
                  </a:lnTo>
                  <a:close/>
                </a:path>
              </a:pathLst>
            </a:custGeom>
            <a:solidFill>
              <a:srgbClr val="FFFFFF"/>
            </a:solidFill>
          </p:spPr>
        </p:sp>
        <p:sp>
          <p:nvSpPr>
            <p:cNvPr name="Freeform 14" id="14"/>
            <p:cNvSpPr/>
            <p:nvPr/>
          </p:nvSpPr>
          <p:spPr>
            <a:xfrm flipH="false" flipV="false" rot="0">
              <a:off x="0" y="0"/>
              <a:ext cx="3325622" cy="6168069"/>
            </a:xfrm>
            <a:custGeom>
              <a:avLst/>
              <a:gdLst/>
              <a:ahLst/>
              <a:cxnLst/>
              <a:rect r="r" b="b" t="t" l="l"/>
              <a:pathLst>
                <a:path h="6168069" w="3325622">
                  <a:moveTo>
                    <a:pt x="16891" y="0"/>
                  </a:moveTo>
                  <a:lnTo>
                    <a:pt x="3308731" y="0"/>
                  </a:lnTo>
                  <a:cubicBezTo>
                    <a:pt x="3318129" y="0"/>
                    <a:pt x="3325622" y="8330"/>
                    <a:pt x="3325622" y="18466"/>
                  </a:cubicBezTo>
                  <a:lnTo>
                    <a:pt x="3325622" y="6149603"/>
                  </a:lnTo>
                  <a:cubicBezTo>
                    <a:pt x="3325622" y="6159877"/>
                    <a:pt x="3318002" y="6168069"/>
                    <a:pt x="3308731" y="6168069"/>
                  </a:cubicBezTo>
                  <a:lnTo>
                    <a:pt x="16891" y="6168069"/>
                  </a:lnTo>
                  <a:cubicBezTo>
                    <a:pt x="7493" y="6168069"/>
                    <a:pt x="0" y="6159739"/>
                    <a:pt x="0" y="6149603"/>
                  </a:cubicBezTo>
                  <a:lnTo>
                    <a:pt x="0" y="18466"/>
                  </a:lnTo>
                  <a:cubicBezTo>
                    <a:pt x="0" y="8330"/>
                    <a:pt x="7620" y="0"/>
                    <a:pt x="16891" y="0"/>
                  </a:cubicBezTo>
                  <a:moveTo>
                    <a:pt x="16891" y="37070"/>
                  </a:moveTo>
                  <a:lnTo>
                    <a:pt x="16891" y="18466"/>
                  </a:lnTo>
                  <a:lnTo>
                    <a:pt x="33909" y="18466"/>
                  </a:lnTo>
                  <a:lnTo>
                    <a:pt x="33909" y="6149603"/>
                  </a:lnTo>
                  <a:lnTo>
                    <a:pt x="16891" y="6149603"/>
                  </a:lnTo>
                  <a:lnTo>
                    <a:pt x="16891" y="6131138"/>
                  </a:lnTo>
                  <a:lnTo>
                    <a:pt x="3308731" y="6131138"/>
                  </a:lnTo>
                  <a:lnTo>
                    <a:pt x="3308731" y="6149603"/>
                  </a:lnTo>
                  <a:lnTo>
                    <a:pt x="3291840" y="6149603"/>
                  </a:lnTo>
                  <a:lnTo>
                    <a:pt x="3291840" y="18466"/>
                  </a:lnTo>
                  <a:lnTo>
                    <a:pt x="3308731" y="18466"/>
                  </a:lnTo>
                  <a:lnTo>
                    <a:pt x="3308731" y="37070"/>
                  </a:lnTo>
                  <a:lnTo>
                    <a:pt x="16891" y="37070"/>
                  </a:lnTo>
                  <a:close/>
                </a:path>
              </a:pathLst>
            </a:custGeom>
            <a:solidFill>
              <a:srgbClr val="E2E8F0"/>
            </a:solidFill>
          </p:spPr>
        </p:sp>
      </p:grpSp>
      <p:grpSp>
        <p:nvGrpSpPr>
          <p:cNvPr name="Group 15" id="15"/>
          <p:cNvGrpSpPr/>
          <p:nvPr/>
        </p:nvGrpSpPr>
        <p:grpSpPr>
          <a:xfrm rot="0">
            <a:off x="457200" y="3659236"/>
            <a:ext cx="2494283" cy="1055908"/>
            <a:chOff x="0" y="0"/>
            <a:chExt cx="3325711" cy="1407877"/>
          </a:xfrm>
        </p:grpSpPr>
        <p:sp>
          <p:nvSpPr>
            <p:cNvPr name="Freeform 16" id="16"/>
            <p:cNvSpPr/>
            <p:nvPr/>
          </p:nvSpPr>
          <p:spPr>
            <a:xfrm flipH="false" flipV="false" rot="0">
              <a:off x="16891" y="4215"/>
              <a:ext cx="3291840" cy="1399425"/>
            </a:xfrm>
            <a:custGeom>
              <a:avLst/>
              <a:gdLst/>
              <a:ahLst/>
              <a:cxnLst/>
              <a:rect r="r" b="b" t="t" l="l"/>
              <a:pathLst>
                <a:path h="1399425" w="3291840">
                  <a:moveTo>
                    <a:pt x="0" y="0"/>
                  </a:moveTo>
                  <a:lnTo>
                    <a:pt x="3291840" y="0"/>
                  </a:lnTo>
                  <a:lnTo>
                    <a:pt x="3291840" y="1399425"/>
                  </a:lnTo>
                  <a:lnTo>
                    <a:pt x="0" y="1399425"/>
                  </a:lnTo>
                  <a:close/>
                </a:path>
              </a:pathLst>
            </a:custGeom>
            <a:solidFill>
              <a:srgbClr val="F2F1F1"/>
            </a:solidFill>
          </p:spPr>
        </p:sp>
        <p:sp>
          <p:nvSpPr>
            <p:cNvPr name="Freeform 17" id="17"/>
            <p:cNvSpPr/>
            <p:nvPr/>
          </p:nvSpPr>
          <p:spPr>
            <a:xfrm flipH="false" flipV="false" rot="0">
              <a:off x="0" y="0"/>
              <a:ext cx="3325622" cy="1407855"/>
            </a:xfrm>
            <a:custGeom>
              <a:avLst/>
              <a:gdLst/>
              <a:ahLst/>
              <a:cxnLst/>
              <a:rect r="r" b="b" t="t" l="l"/>
              <a:pathLst>
                <a:path h="1407855" w="3325622">
                  <a:moveTo>
                    <a:pt x="16891" y="0"/>
                  </a:moveTo>
                  <a:lnTo>
                    <a:pt x="3308731" y="0"/>
                  </a:lnTo>
                  <a:cubicBezTo>
                    <a:pt x="3318129" y="0"/>
                    <a:pt x="3325622" y="1901"/>
                    <a:pt x="3325622" y="4215"/>
                  </a:cubicBezTo>
                  <a:lnTo>
                    <a:pt x="3325622" y="1403640"/>
                  </a:lnTo>
                  <a:cubicBezTo>
                    <a:pt x="3325622" y="1405985"/>
                    <a:pt x="3318002" y="1407855"/>
                    <a:pt x="3308731" y="1407855"/>
                  </a:cubicBezTo>
                  <a:lnTo>
                    <a:pt x="16891" y="1407855"/>
                  </a:lnTo>
                  <a:cubicBezTo>
                    <a:pt x="7493" y="1407855"/>
                    <a:pt x="0" y="1405954"/>
                    <a:pt x="0" y="1403640"/>
                  </a:cubicBezTo>
                  <a:lnTo>
                    <a:pt x="0" y="4215"/>
                  </a:lnTo>
                  <a:cubicBezTo>
                    <a:pt x="0" y="1901"/>
                    <a:pt x="7620" y="0"/>
                    <a:pt x="16891" y="0"/>
                  </a:cubicBezTo>
                  <a:moveTo>
                    <a:pt x="16891" y="8461"/>
                  </a:moveTo>
                  <a:lnTo>
                    <a:pt x="16891" y="4215"/>
                  </a:lnTo>
                  <a:lnTo>
                    <a:pt x="33909" y="4215"/>
                  </a:lnTo>
                  <a:lnTo>
                    <a:pt x="33909" y="1403640"/>
                  </a:lnTo>
                  <a:lnTo>
                    <a:pt x="16891" y="1403640"/>
                  </a:lnTo>
                  <a:lnTo>
                    <a:pt x="16891" y="1399426"/>
                  </a:lnTo>
                  <a:lnTo>
                    <a:pt x="3308731" y="1399426"/>
                  </a:lnTo>
                  <a:lnTo>
                    <a:pt x="3308731" y="1403640"/>
                  </a:lnTo>
                  <a:lnTo>
                    <a:pt x="3291840" y="1403640"/>
                  </a:lnTo>
                  <a:lnTo>
                    <a:pt x="3291840" y="4215"/>
                  </a:lnTo>
                  <a:lnTo>
                    <a:pt x="3308731" y="4215"/>
                  </a:lnTo>
                  <a:lnTo>
                    <a:pt x="3308731" y="8461"/>
                  </a:lnTo>
                  <a:lnTo>
                    <a:pt x="16891" y="8461"/>
                  </a:lnTo>
                  <a:close/>
                </a:path>
              </a:pathLst>
            </a:custGeom>
            <a:solidFill>
              <a:srgbClr val="E2E8F0"/>
            </a:solidFill>
          </p:spPr>
        </p:sp>
      </p:grpSp>
      <p:grpSp>
        <p:nvGrpSpPr>
          <p:cNvPr name="Group 18" id="18"/>
          <p:cNvGrpSpPr/>
          <p:nvPr/>
        </p:nvGrpSpPr>
        <p:grpSpPr>
          <a:xfrm rot="0">
            <a:off x="457200" y="2103120"/>
            <a:ext cx="2468880" cy="822960"/>
            <a:chOff x="0" y="0"/>
            <a:chExt cx="3291840" cy="1097280"/>
          </a:xfrm>
        </p:grpSpPr>
        <p:sp>
          <p:nvSpPr>
            <p:cNvPr name="Freeform 19" id="19"/>
            <p:cNvSpPr/>
            <p:nvPr/>
          </p:nvSpPr>
          <p:spPr>
            <a:xfrm flipH="false" flipV="false" rot="0">
              <a:off x="0" y="0"/>
              <a:ext cx="3291840" cy="1097280"/>
            </a:xfrm>
            <a:custGeom>
              <a:avLst/>
              <a:gdLst/>
              <a:ahLst/>
              <a:cxnLst/>
              <a:rect r="r" b="b" t="t" l="l"/>
              <a:pathLst>
                <a:path h="1097280" w="3291840">
                  <a:moveTo>
                    <a:pt x="0" y="0"/>
                  </a:moveTo>
                  <a:lnTo>
                    <a:pt x="3291840" y="0"/>
                  </a:lnTo>
                  <a:lnTo>
                    <a:pt x="3291840" y="1097280"/>
                  </a:lnTo>
                  <a:lnTo>
                    <a:pt x="0" y="1097280"/>
                  </a:lnTo>
                  <a:close/>
                </a:path>
              </a:pathLst>
            </a:custGeom>
            <a:solidFill>
              <a:srgbClr val="3D4D55"/>
            </a:solidFill>
          </p:spPr>
        </p:sp>
      </p:grpSp>
      <p:grpSp>
        <p:nvGrpSpPr>
          <p:cNvPr name="Group 20" id="20"/>
          <p:cNvGrpSpPr/>
          <p:nvPr/>
        </p:nvGrpSpPr>
        <p:grpSpPr>
          <a:xfrm rot="0">
            <a:off x="457200" y="2176272"/>
            <a:ext cx="2468880" cy="694944"/>
            <a:chOff x="0" y="0"/>
            <a:chExt cx="3291840" cy="926592"/>
          </a:xfrm>
        </p:grpSpPr>
        <p:sp>
          <p:nvSpPr>
            <p:cNvPr name="Freeform 21" id="21"/>
            <p:cNvSpPr/>
            <p:nvPr/>
          </p:nvSpPr>
          <p:spPr>
            <a:xfrm flipH="false" flipV="false" rot="0">
              <a:off x="0" y="0"/>
              <a:ext cx="3291840" cy="926592"/>
            </a:xfrm>
            <a:custGeom>
              <a:avLst/>
              <a:gdLst/>
              <a:ahLst/>
              <a:cxnLst/>
              <a:rect r="r" b="b" t="t" l="l"/>
              <a:pathLst>
                <a:path h="926592" w="3291840">
                  <a:moveTo>
                    <a:pt x="0" y="0"/>
                  </a:moveTo>
                  <a:lnTo>
                    <a:pt x="3291840" y="0"/>
                  </a:lnTo>
                  <a:lnTo>
                    <a:pt x="3291840" y="926592"/>
                  </a:lnTo>
                  <a:lnTo>
                    <a:pt x="0" y="926592"/>
                  </a:lnTo>
                  <a:close/>
                </a:path>
              </a:pathLst>
            </a:custGeom>
            <a:blipFill>
              <a:blip r:embed="rId3">
                <a:alphaModFix amt="0"/>
              </a:blip>
              <a:stretch>
                <a:fillRect l="0" t="-19223" r="0" b="-19223"/>
              </a:stretch>
            </a:blipFill>
          </p:spPr>
        </p:sp>
        <p:sp>
          <p:nvSpPr>
            <p:cNvPr name="TextBox 22" id="22"/>
            <p:cNvSpPr txBox="true"/>
            <p:nvPr/>
          </p:nvSpPr>
          <p:spPr>
            <a:xfrm>
              <a:off x="0" y="-28575"/>
              <a:ext cx="3291840" cy="955167"/>
            </a:xfrm>
            <a:prstGeom prst="rect">
              <a:avLst/>
            </a:prstGeom>
          </p:spPr>
          <p:txBody>
            <a:bodyPr anchor="ctr" rtlCol="false" tIns="0" lIns="0" bIns="0" rIns="0"/>
            <a:lstStyle/>
            <a:p>
              <a:pPr algn="ctr">
                <a:lnSpc>
                  <a:spcPts val="2400"/>
                </a:lnSpc>
              </a:pPr>
              <a:r>
                <a:rPr lang="en-US" sz="2000" b="true">
                  <a:solidFill>
                    <a:srgbClr val="FFFFFF"/>
                  </a:solidFill>
                  <a:latin typeface="Helios Extended Bold"/>
                  <a:ea typeface="Helios Extended Bold"/>
                  <a:cs typeface="Helios Extended Bold"/>
                  <a:sym typeface="Helios Extended Bold"/>
                </a:rPr>
                <a:t>Stage 1</a:t>
              </a:r>
            </a:p>
          </p:txBody>
        </p:sp>
      </p:grpSp>
      <p:grpSp>
        <p:nvGrpSpPr>
          <p:cNvPr name="Group 23" id="23"/>
          <p:cNvGrpSpPr/>
          <p:nvPr/>
        </p:nvGrpSpPr>
        <p:grpSpPr>
          <a:xfrm rot="0">
            <a:off x="457200" y="3659236"/>
            <a:ext cx="2494283" cy="1055908"/>
            <a:chOff x="0" y="0"/>
            <a:chExt cx="3325711" cy="1407877"/>
          </a:xfrm>
        </p:grpSpPr>
        <p:sp>
          <p:nvSpPr>
            <p:cNvPr name="Freeform 24" id="24"/>
            <p:cNvSpPr/>
            <p:nvPr/>
          </p:nvSpPr>
          <p:spPr>
            <a:xfrm flipH="false" flipV="false" rot="0">
              <a:off x="0" y="0"/>
              <a:ext cx="3325711" cy="1407877"/>
            </a:xfrm>
            <a:custGeom>
              <a:avLst/>
              <a:gdLst/>
              <a:ahLst/>
              <a:cxnLst/>
              <a:rect r="r" b="b" t="t" l="l"/>
              <a:pathLst>
                <a:path h="1407877" w="3325711">
                  <a:moveTo>
                    <a:pt x="0" y="0"/>
                  </a:moveTo>
                  <a:lnTo>
                    <a:pt x="3325711" y="0"/>
                  </a:lnTo>
                  <a:lnTo>
                    <a:pt x="3325711" y="1407877"/>
                  </a:lnTo>
                  <a:lnTo>
                    <a:pt x="0" y="1407877"/>
                  </a:lnTo>
                  <a:close/>
                </a:path>
              </a:pathLst>
            </a:custGeom>
            <a:blipFill>
              <a:blip r:embed="rId3">
                <a:alphaModFix amt="0"/>
              </a:blip>
              <a:stretch>
                <a:fillRect l="-21491" t="0" r="-10208" b="-21237"/>
              </a:stretch>
            </a:blipFill>
          </p:spPr>
        </p:sp>
        <p:sp>
          <p:nvSpPr>
            <p:cNvPr name="TextBox 25" id="25"/>
            <p:cNvSpPr txBox="true"/>
            <p:nvPr/>
          </p:nvSpPr>
          <p:spPr>
            <a:xfrm>
              <a:off x="0" y="-28575"/>
              <a:ext cx="3325711" cy="1436452"/>
            </a:xfrm>
            <a:prstGeom prst="rect">
              <a:avLst/>
            </a:prstGeom>
          </p:spPr>
          <p:txBody>
            <a:bodyPr anchor="ctr" rtlCol="false" tIns="0" lIns="0" bIns="0" rIns="0"/>
            <a:lstStyle/>
            <a:p>
              <a:pPr algn="ctr">
                <a:lnSpc>
                  <a:spcPts val="2400"/>
                </a:lnSpc>
              </a:pPr>
              <a:r>
                <a:rPr lang="en-US" sz="2000" b="true">
                  <a:solidFill>
                    <a:srgbClr val="000000"/>
                  </a:solidFill>
                  <a:latin typeface="Helios Extended Bold"/>
                  <a:ea typeface="Helios Extended Bold"/>
                  <a:cs typeface="Helios Extended Bold"/>
                  <a:sym typeface="Helios Extended Bold"/>
                </a:rPr>
                <a:t>Preprocessing</a:t>
              </a:r>
            </a:p>
          </p:txBody>
        </p:sp>
      </p:grpSp>
      <p:grpSp>
        <p:nvGrpSpPr>
          <p:cNvPr name="Group 26" id="26"/>
          <p:cNvGrpSpPr/>
          <p:nvPr/>
        </p:nvGrpSpPr>
        <p:grpSpPr>
          <a:xfrm rot="0">
            <a:off x="457200" y="4720590"/>
            <a:ext cx="2450468" cy="1885850"/>
            <a:chOff x="0" y="0"/>
            <a:chExt cx="3267291" cy="2514467"/>
          </a:xfrm>
        </p:grpSpPr>
        <p:sp>
          <p:nvSpPr>
            <p:cNvPr name="Freeform 27" id="27"/>
            <p:cNvSpPr/>
            <p:nvPr/>
          </p:nvSpPr>
          <p:spPr>
            <a:xfrm flipH="false" flipV="false" rot="0">
              <a:off x="0" y="0"/>
              <a:ext cx="3267291" cy="2514467"/>
            </a:xfrm>
            <a:custGeom>
              <a:avLst/>
              <a:gdLst/>
              <a:ahLst/>
              <a:cxnLst/>
              <a:rect r="r" b="b" t="t" l="l"/>
              <a:pathLst>
                <a:path h="2514467" w="3267291">
                  <a:moveTo>
                    <a:pt x="0" y="0"/>
                  </a:moveTo>
                  <a:lnTo>
                    <a:pt x="3267291" y="0"/>
                  </a:lnTo>
                  <a:lnTo>
                    <a:pt x="3267291" y="2514467"/>
                  </a:lnTo>
                  <a:lnTo>
                    <a:pt x="0" y="2514467"/>
                  </a:lnTo>
                  <a:close/>
                </a:path>
              </a:pathLst>
            </a:custGeom>
            <a:blipFill>
              <a:blip r:embed="rId3">
                <a:alphaModFix amt="0"/>
              </a:blip>
              <a:stretch>
                <a:fillRect l="-36239" t="0" r="-26542" b="17571"/>
              </a:stretch>
            </a:blipFill>
          </p:spPr>
        </p:sp>
        <p:sp>
          <p:nvSpPr>
            <p:cNvPr name="TextBox 28" id="28"/>
            <p:cNvSpPr txBox="true"/>
            <p:nvPr/>
          </p:nvSpPr>
          <p:spPr>
            <a:xfrm>
              <a:off x="0" y="-19050"/>
              <a:ext cx="3267291" cy="2533517"/>
            </a:xfrm>
            <a:prstGeom prst="rect">
              <a:avLst/>
            </a:prstGeom>
          </p:spPr>
          <p:txBody>
            <a:bodyPr anchor="ctr" rtlCol="false" tIns="0" lIns="0" bIns="0" rIns="0"/>
            <a:lstStyle/>
            <a:p>
              <a:pPr algn="ctr">
                <a:lnSpc>
                  <a:spcPts val="2040"/>
                </a:lnSpc>
              </a:pPr>
              <a:r>
                <a:rPr lang="en-US" sz="1700">
                  <a:solidFill>
                    <a:srgbClr val="000000"/>
                  </a:solidFill>
                  <a:latin typeface="Helios Extended"/>
                  <a:ea typeface="Helios Extended"/>
                  <a:cs typeface="Helios Extended"/>
                  <a:sym typeface="Helios Extended"/>
                </a:rPr>
                <a:t>Map IDs to drug names, integer labels to textual descriptions</a:t>
              </a:r>
            </a:p>
          </p:txBody>
        </p:sp>
      </p:grpSp>
      <p:grpSp>
        <p:nvGrpSpPr>
          <p:cNvPr name="Group 29" id="29"/>
          <p:cNvGrpSpPr/>
          <p:nvPr/>
        </p:nvGrpSpPr>
        <p:grpSpPr>
          <a:xfrm rot="0">
            <a:off x="2907030" y="4187190"/>
            <a:ext cx="403860" cy="38100"/>
            <a:chOff x="0" y="0"/>
            <a:chExt cx="538480" cy="50800"/>
          </a:xfrm>
        </p:grpSpPr>
        <p:sp>
          <p:nvSpPr>
            <p:cNvPr name="Freeform 30" id="30"/>
            <p:cNvSpPr/>
            <p:nvPr/>
          </p:nvSpPr>
          <p:spPr>
            <a:xfrm flipH="false" flipV="false" rot="0">
              <a:off x="25400" y="0"/>
              <a:ext cx="487680" cy="50800"/>
            </a:xfrm>
            <a:custGeom>
              <a:avLst/>
              <a:gdLst/>
              <a:ahLst/>
              <a:cxnLst/>
              <a:rect r="r" b="b" t="t" l="l"/>
              <a:pathLst>
                <a:path h="50800" w="487680">
                  <a:moveTo>
                    <a:pt x="0" y="0"/>
                  </a:moveTo>
                  <a:lnTo>
                    <a:pt x="487680" y="0"/>
                  </a:lnTo>
                  <a:lnTo>
                    <a:pt x="487680" y="50800"/>
                  </a:lnTo>
                  <a:lnTo>
                    <a:pt x="0" y="50800"/>
                  </a:lnTo>
                  <a:close/>
                </a:path>
              </a:pathLst>
            </a:custGeom>
            <a:solidFill>
              <a:srgbClr val="4A5568"/>
            </a:solidFill>
          </p:spPr>
        </p:sp>
      </p:grpSp>
      <p:grpSp>
        <p:nvGrpSpPr>
          <p:cNvPr name="Group 31" id="31"/>
          <p:cNvGrpSpPr/>
          <p:nvPr/>
        </p:nvGrpSpPr>
        <p:grpSpPr>
          <a:xfrm rot="0">
            <a:off x="3279143" y="2090423"/>
            <a:ext cx="2494283" cy="4626125"/>
            <a:chOff x="0" y="0"/>
            <a:chExt cx="3325711" cy="6168166"/>
          </a:xfrm>
        </p:grpSpPr>
        <p:sp>
          <p:nvSpPr>
            <p:cNvPr name="Freeform 32" id="32"/>
            <p:cNvSpPr/>
            <p:nvPr/>
          </p:nvSpPr>
          <p:spPr>
            <a:xfrm flipH="false" flipV="false" rot="0">
              <a:off x="16891" y="18466"/>
              <a:ext cx="3291840" cy="6131138"/>
            </a:xfrm>
            <a:custGeom>
              <a:avLst/>
              <a:gdLst/>
              <a:ahLst/>
              <a:cxnLst/>
              <a:rect r="r" b="b" t="t" l="l"/>
              <a:pathLst>
                <a:path h="6131138" w="3291840">
                  <a:moveTo>
                    <a:pt x="0" y="0"/>
                  </a:moveTo>
                  <a:lnTo>
                    <a:pt x="3291840" y="0"/>
                  </a:lnTo>
                  <a:lnTo>
                    <a:pt x="3291840" y="6131137"/>
                  </a:lnTo>
                  <a:lnTo>
                    <a:pt x="0" y="6131137"/>
                  </a:lnTo>
                  <a:close/>
                </a:path>
              </a:pathLst>
            </a:custGeom>
            <a:solidFill>
              <a:srgbClr val="FFFFFF"/>
            </a:solidFill>
          </p:spPr>
        </p:sp>
        <p:sp>
          <p:nvSpPr>
            <p:cNvPr name="Freeform 33" id="33"/>
            <p:cNvSpPr/>
            <p:nvPr/>
          </p:nvSpPr>
          <p:spPr>
            <a:xfrm flipH="false" flipV="false" rot="0">
              <a:off x="0" y="0"/>
              <a:ext cx="3325622" cy="6168069"/>
            </a:xfrm>
            <a:custGeom>
              <a:avLst/>
              <a:gdLst/>
              <a:ahLst/>
              <a:cxnLst/>
              <a:rect r="r" b="b" t="t" l="l"/>
              <a:pathLst>
                <a:path h="6168069" w="3325622">
                  <a:moveTo>
                    <a:pt x="16891" y="0"/>
                  </a:moveTo>
                  <a:lnTo>
                    <a:pt x="3308731" y="0"/>
                  </a:lnTo>
                  <a:cubicBezTo>
                    <a:pt x="3318129" y="0"/>
                    <a:pt x="3325622" y="8330"/>
                    <a:pt x="3325622" y="18466"/>
                  </a:cubicBezTo>
                  <a:lnTo>
                    <a:pt x="3325622" y="6149603"/>
                  </a:lnTo>
                  <a:cubicBezTo>
                    <a:pt x="3325622" y="6159877"/>
                    <a:pt x="3318002" y="6168069"/>
                    <a:pt x="3308731" y="6168069"/>
                  </a:cubicBezTo>
                  <a:lnTo>
                    <a:pt x="16891" y="6168069"/>
                  </a:lnTo>
                  <a:cubicBezTo>
                    <a:pt x="7493" y="6168069"/>
                    <a:pt x="0" y="6159739"/>
                    <a:pt x="0" y="6149603"/>
                  </a:cubicBezTo>
                  <a:lnTo>
                    <a:pt x="0" y="18466"/>
                  </a:lnTo>
                  <a:cubicBezTo>
                    <a:pt x="0" y="8330"/>
                    <a:pt x="7620" y="0"/>
                    <a:pt x="16891" y="0"/>
                  </a:cubicBezTo>
                  <a:moveTo>
                    <a:pt x="16891" y="37070"/>
                  </a:moveTo>
                  <a:lnTo>
                    <a:pt x="16891" y="18466"/>
                  </a:lnTo>
                  <a:lnTo>
                    <a:pt x="33909" y="18466"/>
                  </a:lnTo>
                  <a:lnTo>
                    <a:pt x="33909" y="6149603"/>
                  </a:lnTo>
                  <a:lnTo>
                    <a:pt x="16891" y="6149603"/>
                  </a:lnTo>
                  <a:lnTo>
                    <a:pt x="16891" y="6131138"/>
                  </a:lnTo>
                  <a:lnTo>
                    <a:pt x="3308731" y="6131138"/>
                  </a:lnTo>
                  <a:lnTo>
                    <a:pt x="3308731" y="6149603"/>
                  </a:lnTo>
                  <a:lnTo>
                    <a:pt x="3291840" y="6149603"/>
                  </a:lnTo>
                  <a:lnTo>
                    <a:pt x="3291840" y="18466"/>
                  </a:lnTo>
                  <a:lnTo>
                    <a:pt x="3308731" y="18466"/>
                  </a:lnTo>
                  <a:lnTo>
                    <a:pt x="3308731" y="37070"/>
                  </a:lnTo>
                  <a:lnTo>
                    <a:pt x="16891" y="37070"/>
                  </a:lnTo>
                  <a:close/>
                </a:path>
              </a:pathLst>
            </a:custGeom>
            <a:solidFill>
              <a:srgbClr val="E2E8F0"/>
            </a:solidFill>
          </p:spPr>
        </p:sp>
      </p:grpSp>
      <p:grpSp>
        <p:nvGrpSpPr>
          <p:cNvPr name="Group 34" id="34"/>
          <p:cNvGrpSpPr/>
          <p:nvPr/>
        </p:nvGrpSpPr>
        <p:grpSpPr>
          <a:xfrm rot="0">
            <a:off x="3291840" y="2103120"/>
            <a:ext cx="2468880" cy="822960"/>
            <a:chOff x="0" y="0"/>
            <a:chExt cx="3291840" cy="1097280"/>
          </a:xfrm>
        </p:grpSpPr>
        <p:sp>
          <p:nvSpPr>
            <p:cNvPr name="Freeform 35" id="35"/>
            <p:cNvSpPr/>
            <p:nvPr/>
          </p:nvSpPr>
          <p:spPr>
            <a:xfrm flipH="false" flipV="false" rot="0">
              <a:off x="0" y="0"/>
              <a:ext cx="3291840" cy="1097280"/>
            </a:xfrm>
            <a:custGeom>
              <a:avLst/>
              <a:gdLst/>
              <a:ahLst/>
              <a:cxnLst/>
              <a:rect r="r" b="b" t="t" l="l"/>
              <a:pathLst>
                <a:path h="1097280" w="3291840">
                  <a:moveTo>
                    <a:pt x="0" y="0"/>
                  </a:moveTo>
                  <a:lnTo>
                    <a:pt x="3291840" y="0"/>
                  </a:lnTo>
                  <a:lnTo>
                    <a:pt x="3291840" y="1097280"/>
                  </a:lnTo>
                  <a:lnTo>
                    <a:pt x="0" y="1097280"/>
                  </a:lnTo>
                  <a:close/>
                </a:path>
              </a:pathLst>
            </a:custGeom>
            <a:solidFill>
              <a:srgbClr val="0474B5"/>
            </a:solidFill>
          </p:spPr>
        </p:sp>
      </p:grpSp>
      <p:grpSp>
        <p:nvGrpSpPr>
          <p:cNvPr name="Group 36" id="36"/>
          <p:cNvGrpSpPr/>
          <p:nvPr/>
        </p:nvGrpSpPr>
        <p:grpSpPr>
          <a:xfrm rot="0">
            <a:off x="3291840" y="2176272"/>
            <a:ext cx="2468880" cy="694944"/>
            <a:chOff x="0" y="0"/>
            <a:chExt cx="3291840" cy="926592"/>
          </a:xfrm>
        </p:grpSpPr>
        <p:sp>
          <p:nvSpPr>
            <p:cNvPr name="Freeform 37" id="37"/>
            <p:cNvSpPr/>
            <p:nvPr/>
          </p:nvSpPr>
          <p:spPr>
            <a:xfrm flipH="false" flipV="false" rot="0">
              <a:off x="0" y="0"/>
              <a:ext cx="3291840" cy="926592"/>
            </a:xfrm>
            <a:custGeom>
              <a:avLst/>
              <a:gdLst/>
              <a:ahLst/>
              <a:cxnLst/>
              <a:rect r="r" b="b" t="t" l="l"/>
              <a:pathLst>
                <a:path h="926592" w="3291840">
                  <a:moveTo>
                    <a:pt x="0" y="0"/>
                  </a:moveTo>
                  <a:lnTo>
                    <a:pt x="3291840" y="0"/>
                  </a:lnTo>
                  <a:lnTo>
                    <a:pt x="3291840" y="926592"/>
                  </a:lnTo>
                  <a:lnTo>
                    <a:pt x="0" y="926592"/>
                  </a:lnTo>
                  <a:close/>
                </a:path>
              </a:pathLst>
            </a:custGeom>
            <a:blipFill>
              <a:blip r:embed="rId3">
                <a:alphaModFix amt="0"/>
              </a:blip>
              <a:stretch>
                <a:fillRect l="0" t="-19223" r="0" b="-19223"/>
              </a:stretch>
            </a:blipFill>
          </p:spPr>
        </p:sp>
        <p:sp>
          <p:nvSpPr>
            <p:cNvPr name="TextBox 38" id="38"/>
            <p:cNvSpPr txBox="true"/>
            <p:nvPr/>
          </p:nvSpPr>
          <p:spPr>
            <a:xfrm>
              <a:off x="0" y="-28575"/>
              <a:ext cx="3291840" cy="955167"/>
            </a:xfrm>
            <a:prstGeom prst="rect">
              <a:avLst/>
            </a:prstGeom>
          </p:spPr>
          <p:txBody>
            <a:bodyPr anchor="ctr" rtlCol="false" tIns="0" lIns="0" bIns="0" rIns="0"/>
            <a:lstStyle/>
            <a:p>
              <a:pPr algn="ctr">
                <a:lnSpc>
                  <a:spcPts val="2400"/>
                </a:lnSpc>
              </a:pPr>
              <a:r>
                <a:rPr lang="en-US" sz="2000" b="true">
                  <a:solidFill>
                    <a:srgbClr val="FFFFFF"/>
                  </a:solidFill>
                  <a:latin typeface="Helios Extended Bold"/>
                  <a:ea typeface="Helios Extended Bold"/>
                  <a:cs typeface="Helios Extended Bold"/>
                  <a:sym typeface="Helios Extended Bold"/>
                </a:rPr>
                <a:t>Stage 2</a:t>
              </a:r>
            </a:p>
          </p:txBody>
        </p:sp>
      </p:grpSp>
      <p:grpSp>
        <p:nvGrpSpPr>
          <p:cNvPr name="Group 39" id="39"/>
          <p:cNvGrpSpPr/>
          <p:nvPr/>
        </p:nvGrpSpPr>
        <p:grpSpPr>
          <a:xfrm rot="0">
            <a:off x="3291840" y="3659236"/>
            <a:ext cx="2494283" cy="1055908"/>
            <a:chOff x="0" y="0"/>
            <a:chExt cx="3325711" cy="1407877"/>
          </a:xfrm>
        </p:grpSpPr>
        <p:sp>
          <p:nvSpPr>
            <p:cNvPr name="Freeform 40" id="40"/>
            <p:cNvSpPr/>
            <p:nvPr/>
          </p:nvSpPr>
          <p:spPr>
            <a:xfrm flipH="false" flipV="false" rot="0">
              <a:off x="16891" y="4215"/>
              <a:ext cx="3291840" cy="1399425"/>
            </a:xfrm>
            <a:custGeom>
              <a:avLst/>
              <a:gdLst/>
              <a:ahLst/>
              <a:cxnLst/>
              <a:rect r="r" b="b" t="t" l="l"/>
              <a:pathLst>
                <a:path h="1399425" w="3291840">
                  <a:moveTo>
                    <a:pt x="0" y="0"/>
                  </a:moveTo>
                  <a:lnTo>
                    <a:pt x="3291840" y="0"/>
                  </a:lnTo>
                  <a:lnTo>
                    <a:pt x="3291840" y="1399425"/>
                  </a:lnTo>
                  <a:lnTo>
                    <a:pt x="0" y="1399425"/>
                  </a:lnTo>
                  <a:close/>
                </a:path>
              </a:pathLst>
            </a:custGeom>
            <a:solidFill>
              <a:srgbClr val="F2F1F1"/>
            </a:solidFill>
          </p:spPr>
        </p:sp>
        <p:sp>
          <p:nvSpPr>
            <p:cNvPr name="Freeform 41" id="41"/>
            <p:cNvSpPr/>
            <p:nvPr/>
          </p:nvSpPr>
          <p:spPr>
            <a:xfrm flipH="false" flipV="false" rot="0">
              <a:off x="0" y="0"/>
              <a:ext cx="3325622" cy="1407855"/>
            </a:xfrm>
            <a:custGeom>
              <a:avLst/>
              <a:gdLst/>
              <a:ahLst/>
              <a:cxnLst/>
              <a:rect r="r" b="b" t="t" l="l"/>
              <a:pathLst>
                <a:path h="1407855" w="3325622">
                  <a:moveTo>
                    <a:pt x="16891" y="0"/>
                  </a:moveTo>
                  <a:lnTo>
                    <a:pt x="3308731" y="0"/>
                  </a:lnTo>
                  <a:cubicBezTo>
                    <a:pt x="3318129" y="0"/>
                    <a:pt x="3325622" y="1901"/>
                    <a:pt x="3325622" y="4215"/>
                  </a:cubicBezTo>
                  <a:lnTo>
                    <a:pt x="3325622" y="1403640"/>
                  </a:lnTo>
                  <a:cubicBezTo>
                    <a:pt x="3325622" y="1405985"/>
                    <a:pt x="3318002" y="1407855"/>
                    <a:pt x="3308731" y="1407855"/>
                  </a:cubicBezTo>
                  <a:lnTo>
                    <a:pt x="16891" y="1407855"/>
                  </a:lnTo>
                  <a:cubicBezTo>
                    <a:pt x="7493" y="1407855"/>
                    <a:pt x="0" y="1405954"/>
                    <a:pt x="0" y="1403640"/>
                  </a:cubicBezTo>
                  <a:lnTo>
                    <a:pt x="0" y="4215"/>
                  </a:lnTo>
                  <a:cubicBezTo>
                    <a:pt x="0" y="1901"/>
                    <a:pt x="7620" y="0"/>
                    <a:pt x="16891" y="0"/>
                  </a:cubicBezTo>
                  <a:moveTo>
                    <a:pt x="16891" y="8461"/>
                  </a:moveTo>
                  <a:lnTo>
                    <a:pt x="16891" y="4215"/>
                  </a:lnTo>
                  <a:lnTo>
                    <a:pt x="33909" y="4215"/>
                  </a:lnTo>
                  <a:lnTo>
                    <a:pt x="33909" y="1403640"/>
                  </a:lnTo>
                  <a:lnTo>
                    <a:pt x="16891" y="1403640"/>
                  </a:lnTo>
                  <a:lnTo>
                    <a:pt x="16891" y="1399426"/>
                  </a:lnTo>
                  <a:lnTo>
                    <a:pt x="3308731" y="1399426"/>
                  </a:lnTo>
                  <a:lnTo>
                    <a:pt x="3308731" y="1403640"/>
                  </a:lnTo>
                  <a:lnTo>
                    <a:pt x="3291840" y="1403640"/>
                  </a:lnTo>
                  <a:lnTo>
                    <a:pt x="3291840" y="4215"/>
                  </a:lnTo>
                  <a:lnTo>
                    <a:pt x="3308731" y="4215"/>
                  </a:lnTo>
                  <a:lnTo>
                    <a:pt x="3308731" y="8461"/>
                  </a:lnTo>
                  <a:lnTo>
                    <a:pt x="16891" y="8461"/>
                  </a:lnTo>
                  <a:close/>
                </a:path>
              </a:pathLst>
            </a:custGeom>
            <a:solidFill>
              <a:srgbClr val="E2E8F0"/>
            </a:solidFill>
          </p:spPr>
        </p:sp>
      </p:grpSp>
      <p:grpSp>
        <p:nvGrpSpPr>
          <p:cNvPr name="Group 42" id="42"/>
          <p:cNvGrpSpPr/>
          <p:nvPr/>
        </p:nvGrpSpPr>
        <p:grpSpPr>
          <a:xfrm rot="0">
            <a:off x="3310890" y="3659236"/>
            <a:ext cx="2440943" cy="1094008"/>
            <a:chOff x="0" y="0"/>
            <a:chExt cx="3254591" cy="1458677"/>
          </a:xfrm>
        </p:grpSpPr>
        <p:sp>
          <p:nvSpPr>
            <p:cNvPr name="Freeform 43" id="43"/>
            <p:cNvSpPr/>
            <p:nvPr/>
          </p:nvSpPr>
          <p:spPr>
            <a:xfrm flipH="false" flipV="false" rot="0">
              <a:off x="0" y="0"/>
              <a:ext cx="3254591" cy="1458677"/>
            </a:xfrm>
            <a:custGeom>
              <a:avLst/>
              <a:gdLst/>
              <a:ahLst/>
              <a:cxnLst/>
              <a:rect r="r" b="b" t="t" l="l"/>
              <a:pathLst>
                <a:path h="1458677" w="3254591">
                  <a:moveTo>
                    <a:pt x="0" y="0"/>
                  </a:moveTo>
                  <a:lnTo>
                    <a:pt x="3254591" y="0"/>
                  </a:lnTo>
                  <a:lnTo>
                    <a:pt x="3254591" y="1458677"/>
                  </a:lnTo>
                  <a:lnTo>
                    <a:pt x="0" y="1458677"/>
                  </a:lnTo>
                  <a:close/>
                </a:path>
              </a:pathLst>
            </a:custGeom>
            <a:blipFill>
              <a:blip r:embed="rId3">
                <a:alphaModFix amt="0"/>
              </a:blip>
              <a:stretch>
                <a:fillRect l="-21961" t="0" r="-12616" b="-17015"/>
              </a:stretch>
            </a:blipFill>
          </p:spPr>
        </p:sp>
        <p:sp>
          <p:nvSpPr>
            <p:cNvPr name="TextBox 44" id="44"/>
            <p:cNvSpPr txBox="true"/>
            <p:nvPr/>
          </p:nvSpPr>
          <p:spPr>
            <a:xfrm>
              <a:off x="0" y="-19050"/>
              <a:ext cx="3254591" cy="1477727"/>
            </a:xfrm>
            <a:prstGeom prst="rect">
              <a:avLst/>
            </a:prstGeom>
          </p:spPr>
          <p:txBody>
            <a:bodyPr anchor="ctr" rtlCol="false" tIns="0" lIns="0" bIns="0" rIns="0"/>
            <a:lstStyle/>
            <a:p>
              <a:pPr algn="ctr">
                <a:lnSpc>
                  <a:spcPts val="2640"/>
                </a:lnSpc>
              </a:pPr>
              <a:r>
                <a:rPr lang="en-US" b="true" sz="2200">
                  <a:solidFill>
                    <a:srgbClr val="000000"/>
                  </a:solidFill>
                  <a:latin typeface="Helios Extended Bold"/>
                  <a:ea typeface="Helios Extended Bold"/>
                  <a:cs typeface="Helios Extended Bold"/>
                  <a:sym typeface="Helios Extended Bold"/>
                </a:rPr>
                <a:t>Teacher</a:t>
              </a:r>
            </a:p>
            <a:p>
              <a:pPr algn="ctr">
                <a:lnSpc>
                  <a:spcPts val="2640"/>
                </a:lnSpc>
              </a:pPr>
              <a:r>
                <a:rPr lang="en-US" b="true" sz="2200">
                  <a:solidFill>
                    <a:srgbClr val="000000"/>
                  </a:solidFill>
                  <a:latin typeface="Helios Extended Bold"/>
                  <a:ea typeface="Helios Extended Bold"/>
                  <a:cs typeface="Helios Extended Bold"/>
                  <a:sym typeface="Helios Extended Bold"/>
                </a:rPr>
                <a:t>CoT Gen</a:t>
              </a:r>
            </a:p>
          </p:txBody>
        </p:sp>
      </p:grpSp>
      <p:grpSp>
        <p:nvGrpSpPr>
          <p:cNvPr name="Group 45" id="45"/>
          <p:cNvGrpSpPr/>
          <p:nvPr/>
        </p:nvGrpSpPr>
        <p:grpSpPr>
          <a:xfrm rot="0">
            <a:off x="5741670" y="4187190"/>
            <a:ext cx="403860" cy="38100"/>
            <a:chOff x="0" y="0"/>
            <a:chExt cx="538480" cy="50800"/>
          </a:xfrm>
        </p:grpSpPr>
        <p:sp>
          <p:nvSpPr>
            <p:cNvPr name="Freeform 46" id="46"/>
            <p:cNvSpPr/>
            <p:nvPr/>
          </p:nvSpPr>
          <p:spPr>
            <a:xfrm flipH="false" flipV="false" rot="0">
              <a:off x="25400" y="0"/>
              <a:ext cx="487680" cy="50800"/>
            </a:xfrm>
            <a:custGeom>
              <a:avLst/>
              <a:gdLst/>
              <a:ahLst/>
              <a:cxnLst/>
              <a:rect r="r" b="b" t="t" l="l"/>
              <a:pathLst>
                <a:path h="50800" w="487680">
                  <a:moveTo>
                    <a:pt x="0" y="0"/>
                  </a:moveTo>
                  <a:lnTo>
                    <a:pt x="487680" y="0"/>
                  </a:lnTo>
                  <a:lnTo>
                    <a:pt x="487680" y="50800"/>
                  </a:lnTo>
                  <a:lnTo>
                    <a:pt x="0" y="50800"/>
                  </a:lnTo>
                  <a:close/>
                </a:path>
              </a:pathLst>
            </a:custGeom>
            <a:solidFill>
              <a:srgbClr val="4A5568"/>
            </a:solidFill>
          </p:spPr>
        </p:sp>
      </p:grpSp>
      <p:grpSp>
        <p:nvGrpSpPr>
          <p:cNvPr name="Group 47" id="47"/>
          <p:cNvGrpSpPr/>
          <p:nvPr/>
        </p:nvGrpSpPr>
        <p:grpSpPr>
          <a:xfrm rot="0">
            <a:off x="6113783" y="2090423"/>
            <a:ext cx="2494283" cy="4626125"/>
            <a:chOff x="0" y="0"/>
            <a:chExt cx="3325711" cy="6168166"/>
          </a:xfrm>
        </p:grpSpPr>
        <p:sp>
          <p:nvSpPr>
            <p:cNvPr name="Freeform 48" id="48"/>
            <p:cNvSpPr/>
            <p:nvPr/>
          </p:nvSpPr>
          <p:spPr>
            <a:xfrm flipH="false" flipV="false" rot="0">
              <a:off x="16891" y="18466"/>
              <a:ext cx="3291840" cy="6131138"/>
            </a:xfrm>
            <a:custGeom>
              <a:avLst/>
              <a:gdLst/>
              <a:ahLst/>
              <a:cxnLst/>
              <a:rect r="r" b="b" t="t" l="l"/>
              <a:pathLst>
                <a:path h="6131138" w="3291840">
                  <a:moveTo>
                    <a:pt x="0" y="0"/>
                  </a:moveTo>
                  <a:lnTo>
                    <a:pt x="3291840" y="0"/>
                  </a:lnTo>
                  <a:lnTo>
                    <a:pt x="3291840" y="6131137"/>
                  </a:lnTo>
                  <a:lnTo>
                    <a:pt x="0" y="6131137"/>
                  </a:lnTo>
                  <a:close/>
                </a:path>
              </a:pathLst>
            </a:custGeom>
            <a:solidFill>
              <a:srgbClr val="FFFFFF"/>
            </a:solidFill>
          </p:spPr>
        </p:sp>
        <p:sp>
          <p:nvSpPr>
            <p:cNvPr name="Freeform 49" id="49"/>
            <p:cNvSpPr/>
            <p:nvPr/>
          </p:nvSpPr>
          <p:spPr>
            <a:xfrm flipH="false" flipV="false" rot="0">
              <a:off x="0" y="0"/>
              <a:ext cx="3325622" cy="6168069"/>
            </a:xfrm>
            <a:custGeom>
              <a:avLst/>
              <a:gdLst/>
              <a:ahLst/>
              <a:cxnLst/>
              <a:rect r="r" b="b" t="t" l="l"/>
              <a:pathLst>
                <a:path h="6168069" w="3325622">
                  <a:moveTo>
                    <a:pt x="16891" y="0"/>
                  </a:moveTo>
                  <a:lnTo>
                    <a:pt x="3308731" y="0"/>
                  </a:lnTo>
                  <a:cubicBezTo>
                    <a:pt x="3318129" y="0"/>
                    <a:pt x="3325622" y="8330"/>
                    <a:pt x="3325622" y="18466"/>
                  </a:cubicBezTo>
                  <a:lnTo>
                    <a:pt x="3325622" y="6149603"/>
                  </a:lnTo>
                  <a:cubicBezTo>
                    <a:pt x="3325622" y="6159877"/>
                    <a:pt x="3318002" y="6168069"/>
                    <a:pt x="3308731" y="6168069"/>
                  </a:cubicBezTo>
                  <a:lnTo>
                    <a:pt x="16891" y="6168069"/>
                  </a:lnTo>
                  <a:cubicBezTo>
                    <a:pt x="7493" y="6168069"/>
                    <a:pt x="0" y="6159739"/>
                    <a:pt x="0" y="6149603"/>
                  </a:cubicBezTo>
                  <a:lnTo>
                    <a:pt x="0" y="18466"/>
                  </a:lnTo>
                  <a:cubicBezTo>
                    <a:pt x="0" y="8330"/>
                    <a:pt x="7620" y="0"/>
                    <a:pt x="16891" y="0"/>
                  </a:cubicBezTo>
                  <a:moveTo>
                    <a:pt x="16891" y="37070"/>
                  </a:moveTo>
                  <a:lnTo>
                    <a:pt x="16891" y="18466"/>
                  </a:lnTo>
                  <a:lnTo>
                    <a:pt x="33909" y="18466"/>
                  </a:lnTo>
                  <a:lnTo>
                    <a:pt x="33909" y="6149603"/>
                  </a:lnTo>
                  <a:lnTo>
                    <a:pt x="16891" y="6149603"/>
                  </a:lnTo>
                  <a:lnTo>
                    <a:pt x="16891" y="6131138"/>
                  </a:lnTo>
                  <a:lnTo>
                    <a:pt x="3308731" y="6131138"/>
                  </a:lnTo>
                  <a:lnTo>
                    <a:pt x="3308731" y="6149603"/>
                  </a:lnTo>
                  <a:lnTo>
                    <a:pt x="3291840" y="6149603"/>
                  </a:lnTo>
                  <a:lnTo>
                    <a:pt x="3291840" y="18466"/>
                  </a:lnTo>
                  <a:lnTo>
                    <a:pt x="3308731" y="18466"/>
                  </a:lnTo>
                  <a:lnTo>
                    <a:pt x="3308731" y="37070"/>
                  </a:lnTo>
                  <a:lnTo>
                    <a:pt x="16891" y="37070"/>
                  </a:lnTo>
                  <a:close/>
                </a:path>
              </a:pathLst>
            </a:custGeom>
            <a:solidFill>
              <a:srgbClr val="E2E8F0"/>
            </a:solidFill>
          </p:spPr>
        </p:sp>
      </p:grpSp>
      <p:grpSp>
        <p:nvGrpSpPr>
          <p:cNvPr name="Group 50" id="50"/>
          <p:cNvGrpSpPr/>
          <p:nvPr/>
        </p:nvGrpSpPr>
        <p:grpSpPr>
          <a:xfrm rot="0">
            <a:off x="6126480" y="2103120"/>
            <a:ext cx="2468880" cy="822960"/>
            <a:chOff x="0" y="0"/>
            <a:chExt cx="3291840" cy="1097280"/>
          </a:xfrm>
        </p:grpSpPr>
        <p:sp>
          <p:nvSpPr>
            <p:cNvPr name="Freeform 51" id="51"/>
            <p:cNvSpPr/>
            <p:nvPr/>
          </p:nvSpPr>
          <p:spPr>
            <a:xfrm flipH="false" flipV="false" rot="0">
              <a:off x="0" y="0"/>
              <a:ext cx="3291840" cy="1097280"/>
            </a:xfrm>
            <a:custGeom>
              <a:avLst/>
              <a:gdLst/>
              <a:ahLst/>
              <a:cxnLst/>
              <a:rect r="r" b="b" t="t" l="l"/>
              <a:pathLst>
                <a:path h="1097280" w="3291840">
                  <a:moveTo>
                    <a:pt x="0" y="0"/>
                  </a:moveTo>
                  <a:lnTo>
                    <a:pt x="3291840" y="0"/>
                  </a:lnTo>
                  <a:lnTo>
                    <a:pt x="3291840" y="1097280"/>
                  </a:lnTo>
                  <a:lnTo>
                    <a:pt x="0" y="1097280"/>
                  </a:lnTo>
                  <a:close/>
                </a:path>
              </a:pathLst>
            </a:custGeom>
            <a:solidFill>
              <a:srgbClr val="D97706"/>
            </a:solidFill>
          </p:spPr>
        </p:sp>
      </p:grpSp>
      <p:grpSp>
        <p:nvGrpSpPr>
          <p:cNvPr name="Group 52" id="52"/>
          <p:cNvGrpSpPr/>
          <p:nvPr/>
        </p:nvGrpSpPr>
        <p:grpSpPr>
          <a:xfrm rot="0">
            <a:off x="6126480" y="2176272"/>
            <a:ext cx="2468880" cy="694944"/>
            <a:chOff x="0" y="0"/>
            <a:chExt cx="3291840" cy="926592"/>
          </a:xfrm>
        </p:grpSpPr>
        <p:sp>
          <p:nvSpPr>
            <p:cNvPr name="Freeform 53" id="53"/>
            <p:cNvSpPr/>
            <p:nvPr/>
          </p:nvSpPr>
          <p:spPr>
            <a:xfrm flipH="false" flipV="false" rot="0">
              <a:off x="0" y="0"/>
              <a:ext cx="3291840" cy="926592"/>
            </a:xfrm>
            <a:custGeom>
              <a:avLst/>
              <a:gdLst/>
              <a:ahLst/>
              <a:cxnLst/>
              <a:rect r="r" b="b" t="t" l="l"/>
              <a:pathLst>
                <a:path h="926592" w="3291840">
                  <a:moveTo>
                    <a:pt x="0" y="0"/>
                  </a:moveTo>
                  <a:lnTo>
                    <a:pt x="3291840" y="0"/>
                  </a:lnTo>
                  <a:lnTo>
                    <a:pt x="3291840" y="926592"/>
                  </a:lnTo>
                  <a:lnTo>
                    <a:pt x="0" y="926592"/>
                  </a:lnTo>
                  <a:close/>
                </a:path>
              </a:pathLst>
            </a:custGeom>
            <a:blipFill>
              <a:blip r:embed="rId3">
                <a:alphaModFix amt="0"/>
              </a:blip>
              <a:stretch>
                <a:fillRect l="0" t="-19223" r="0" b="-19223"/>
              </a:stretch>
            </a:blipFill>
          </p:spPr>
        </p:sp>
        <p:sp>
          <p:nvSpPr>
            <p:cNvPr name="TextBox 54" id="54"/>
            <p:cNvSpPr txBox="true"/>
            <p:nvPr/>
          </p:nvSpPr>
          <p:spPr>
            <a:xfrm>
              <a:off x="0" y="-28575"/>
              <a:ext cx="3291840" cy="955167"/>
            </a:xfrm>
            <a:prstGeom prst="rect">
              <a:avLst/>
            </a:prstGeom>
          </p:spPr>
          <p:txBody>
            <a:bodyPr anchor="ctr" rtlCol="false" tIns="0" lIns="0" bIns="0" rIns="0"/>
            <a:lstStyle/>
            <a:p>
              <a:pPr algn="ctr">
                <a:lnSpc>
                  <a:spcPts val="2400"/>
                </a:lnSpc>
              </a:pPr>
              <a:r>
                <a:rPr lang="en-US" sz="2000" b="true">
                  <a:solidFill>
                    <a:srgbClr val="FFFFFF"/>
                  </a:solidFill>
                  <a:latin typeface="Helios Extended Bold"/>
                  <a:ea typeface="Helios Extended Bold"/>
                  <a:cs typeface="Helios Extended Bold"/>
                  <a:sym typeface="Helios Extended Bold"/>
                </a:rPr>
                <a:t>Stage 3</a:t>
              </a:r>
            </a:p>
          </p:txBody>
        </p:sp>
      </p:grpSp>
      <p:grpSp>
        <p:nvGrpSpPr>
          <p:cNvPr name="Group 55" id="55"/>
          <p:cNvGrpSpPr/>
          <p:nvPr/>
        </p:nvGrpSpPr>
        <p:grpSpPr>
          <a:xfrm rot="0">
            <a:off x="6138548" y="3659236"/>
            <a:ext cx="2494283" cy="1055908"/>
            <a:chOff x="0" y="0"/>
            <a:chExt cx="3325711" cy="1407877"/>
          </a:xfrm>
        </p:grpSpPr>
        <p:sp>
          <p:nvSpPr>
            <p:cNvPr name="Freeform 56" id="56"/>
            <p:cNvSpPr/>
            <p:nvPr/>
          </p:nvSpPr>
          <p:spPr>
            <a:xfrm flipH="false" flipV="false" rot="0">
              <a:off x="16891" y="4215"/>
              <a:ext cx="3291840" cy="1399425"/>
            </a:xfrm>
            <a:custGeom>
              <a:avLst/>
              <a:gdLst/>
              <a:ahLst/>
              <a:cxnLst/>
              <a:rect r="r" b="b" t="t" l="l"/>
              <a:pathLst>
                <a:path h="1399425" w="3291840">
                  <a:moveTo>
                    <a:pt x="0" y="0"/>
                  </a:moveTo>
                  <a:lnTo>
                    <a:pt x="3291840" y="0"/>
                  </a:lnTo>
                  <a:lnTo>
                    <a:pt x="3291840" y="1399425"/>
                  </a:lnTo>
                  <a:lnTo>
                    <a:pt x="0" y="1399425"/>
                  </a:lnTo>
                  <a:close/>
                </a:path>
              </a:pathLst>
            </a:custGeom>
            <a:solidFill>
              <a:srgbClr val="F2F1F1"/>
            </a:solidFill>
          </p:spPr>
        </p:sp>
        <p:sp>
          <p:nvSpPr>
            <p:cNvPr name="Freeform 57" id="57"/>
            <p:cNvSpPr/>
            <p:nvPr/>
          </p:nvSpPr>
          <p:spPr>
            <a:xfrm flipH="false" flipV="false" rot="0">
              <a:off x="0" y="0"/>
              <a:ext cx="3325622" cy="1407855"/>
            </a:xfrm>
            <a:custGeom>
              <a:avLst/>
              <a:gdLst/>
              <a:ahLst/>
              <a:cxnLst/>
              <a:rect r="r" b="b" t="t" l="l"/>
              <a:pathLst>
                <a:path h="1407855" w="3325622">
                  <a:moveTo>
                    <a:pt x="16891" y="0"/>
                  </a:moveTo>
                  <a:lnTo>
                    <a:pt x="3308731" y="0"/>
                  </a:lnTo>
                  <a:cubicBezTo>
                    <a:pt x="3318129" y="0"/>
                    <a:pt x="3325622" y="1901"/>
                    <a:pt x="3325622" y="4215"/>
                  </a:cubicBezTo>
                  <a:lnTo>
                    <a:pt x="3325622" y="1403640"/>
                  </a:lnTo>
                  <a:cubicBezTo>
                    <a:pt x="3325622" y="1405985"/>
                    <a:pt x="3318002" y="1407855"/>
                    <a:pt x="3308731" y="1407855"/>
                  </a:cubicBezTo>
                  <a:lnTo>
                    <a:pt x="16891" y="1407855"/>
                  </a:lnTo>
                  <a:cubicBezTo>
                    <a:pt x="7493" y="1407855"/>
                    <a:pt x="0" y="1405954"/>
                    <a:pt x="0" y="1403640"/>
                  </a:cubicBezTo>
                  <a:lnTo>
                    <a:pt x="0" y="4215"/>
                  </a:lnTo>
                  <a:cubicBezTo>
                    <a:pt x="0" y="1901"/>
                    <a:pt x="7620" y="0"/>
                    <a:pt x="16891" y="0"/>
                  </a:cubicBezTo>
                  <a:moveTo>
                    <a:pt x="16891" y="8461"/>
                  </a:moveTo>
                  <a:lnTo>
                    <a:pt x="16891" y="4215"/>
                  </a:lnTo>
                  <a:lnTo>
                    <a:pt x="33909" y="4215"/>
                  </a:lnTo>
                  <a:lnTo>
                    <a:pt x="33909" y="1403640"/>
                  </a:lnTo>
                  <a:lnTo>
                    <a:pt x="16891" y="1403640"/>
                  </a:lnTo>
                  <a:lnTo>
                    <a:pt x="16891" y="1399426"/>
                  </a:lnTo>
                  <a:lnTo>
                    <a:pt x="3308731" y="1399426"/>
                  </a:lnTo>
                  <a:lnTo>
                    <a:pt x="3308731" y="1403640"/>
                  </a:lnTo>
                  <a:lnTo>
                    <a:pt x="3291840" y="1403640"/>
                  </a:lnTo>
                  <a:lnTo>
                    <a:pt x="3291840" y="4215"/>
                  </a:lnTo>
                  <a:lnTo>
                    <a:pt x="3308731" y="4215"/>
                  </a:lnTo>
                  <a:lnTo>
                    <a:pt x="3308731" y="8461"/>
                  </a:lnTo>
                  <a:lnTo>
                    <a:pt x="16891" y="8461"/>
                  </a:lnTo>
                  <a:close/>
                </a:path>
              </a:pathLst>
            </a:custGeom>
            <a:solidFill>
              <a:srgbClr val="E2E8F0"/>
            </a:solidFill>
          </p:spPr>
        </p:sp>
      </p:grpSp>
      <p:grpSp>
        <p:nvGrpSpPr>
          <p:cNvPr name="Group 58" id="58"/>
          <p:cNvGrpSpPr/>
          <p:nvPr/>
        </p:nvGrpSpPr>
        <p:grpSpPr>
          <a:xfrm rot="0">
            <a:off x="6145530" y="3678286"/>
            <a:ext cx="2430780" cy="1042304"/>
            <a:chOff x="0" y="0"/>
            <a:chExt cx="3241040" cy="1389739"/>
          </a:xfrm>
        </p:grpSpPr>
        <p:sp>
          <p:nvSpPr>
            <p:cNvPr name="Freeform 59" id="59"/>
            <p:cNvSpPr/>
            <p:nvPr/>
          </p:nvSpPr>
          <p:spPr>
            <a:xfrm flipH="false" flipV="false" rot="0">
              <a:off x="0" y="0"/>
              <a:ext cx="3241040" cy="1389739"/>
            </a:xfrm>
            <a:custGeom>
              <a:avLst/>
              <a:gdLst/>
              <a:ahLst/>
              <a:cxnLst/>
              <a:rect r="r" b="b" t="t" l="l"/>
              <a:pathLst>
                <a:path h="1389739" w="3241040">
                  <a:moveTo>
                    <a:pt x="0" y="0"/>
                  </a:moveTo>
                  <a:lnTo>
                    <a:pt x="3241040" y="0"/>
                  </a:lnTo>
                  <a:lnTo>
                    <a:pt x="3241040" y="1389739"/>
                  </a:lnTo>
                  <a:lnTo>
                    <a:pt x="0" y="1389739"/>
                  </a:lnTo>
                  <a:close/>
                </a:path>
              </a:pathLst>
            </a:custGeom>
            <a:blipFill>
              <a:blip r:embed="rId3">
                <a:alphaModFix amt="0"/>
              </a:blip>
              <a:stretch>
                <a:fillRect l="-22053" t="0" r="-13087" b="-22820"/>
              </a:stretch>
            </a:blipFill>
          </p:spPr>
        </p:sp>
        <p:sp>
          <p:nvSpPr>
            <p:cNvPr name="TextBox 60" id="60"/>
            <p:cNvSpPr txBox="true"/>
            <p:nvPr/>
          </p:nvSpPr>
          <p:spPr>
            <a:xfrm>
              <a:off x="0" y="-19050"/>
              <a:ext cx="3241040" cy="1408789"/>
            </a:xfrm>
            <a:prstGeom prst="rect">
              <a:avLst/>
            </a:prstGeom>
          </p:spPr>
          <p:txBody>
            <a:bodyPr anchor="ctr" rtlCol="false" tIns="0" lIns="0" bIns="0" rIns="0"/>
            <a:lstStyle/>
            <a:p>
              <a:pPr algn="ctr">
                <a:lnSpc>
                  <a:spcPts val="2640"/>
                </a:lnSpc>
              </a:pPr>
              <a:r>
                <a:rPr lang="en-US" b="true" sz="2200">
                  <a:solidFill>
                    <a:srgbClr val="000000"/>
                  </a:solidFill>
                  <a:latin typeface="Helios Extended Bold"/>
                  <a:ea typeface="Helios Extended Bold"/>
                  <a:cs typeface="Helios Extended Bold"/>
                  <a:sym typeface="Helios Extended Bold"/>
                </a:rPr>
                <a:t>Judge</a:t>
              </a:r>
            </a:p>
            <a:p>
              <a:pPr algn="ctr">
                <a:lnSpc>
                  <a:spcPts val="2640"/>
                </a:lnSpc>
              </a:pPr>
              <a:r>
                <a:rPr lang="en-US" b="true" sz="2200">
                  <a:solidFill>
                    <a:srgbClr val="000000"/>
                  </a:solidFill>
                  <a:latin typeface="Helios Extended Bold"/>
                  <a:ea typeface="Helios Extended Bold"/>
                  <a:cs typeface="Helios Extended Bold"/>
                  <a:sym typeface="Helios Extended Bold"/>
                </a:rPr>
                <a:t>Filtering</a:t>
              </a:r>
            </a:p>
          </p:txBody>
        </p:sp>
      </p:grpSp>
      <p:grpSp>
        <p:nvGrpSpPr>
          <p:cNvPr name="Group 61" id="61"/>
          <p:cNvGrpSpPr/>
          <p:nvPr/>
        </p:nvGrpSpPr>
        <p:grpSpPr>
          <a:xfrm rot="0">
            <a:off x="8576310" y="4187190"/>
            <a:ext cx="403860" cy="38100"/>
            <a:chOff x="0" y="0"/>
            <a:chExt cx="538480" cy="50800"/>
          </a:xfrm>
        </p:grpSpPr>
        <p:sp>
          <p:nvSpPr>
            <p:cNvPr name="Freeform 62" id="62"/>
            <p:cNvSpPr/>
            <p:nvPr/>
          </p:nvSpPr>
          <p:spPr>
            <a:xfrm flipH="false" flipV="false" rot="0">
              <a:off x="25400" y="0"/>
              <a:ext cx="487680" cy="50800"/>
            </a:xfrm>
            <a:custGeom>
              <a:avLst/>
              <a:gdLst/>
              <a:ahLst/>
              <a:cxnLst/>
              <a:rect r="r" b="b" t="t" l="l"/>
              <a:pathLst>
                <a:path h="50800" w="487680">
                  <a:moveTo>
                    <a:pt x="0" y="0"/>
                  </a:moveTo>
                  <a:lnTo>
                    <a:pt x="487680" y="0"/>
                  </a:lnTo>
                  <a:lnTo>
                    <a:pt x="487680" y="50800"/>
                  </a:lnTo>
                  <a:lnTo>
                    <a:pt x="0" y="50800"/>
                  </a:lnTo>
                  <a:close/>
                </a:path>
              </a:pathLst>
            </a:custGeom>
            <a:solidFill>
              <a:srgbClr val="4A5568"/>
            </a:solidFill>
          </p:spPr>
        </p:sp>
      </p:grpSp>
      <p:grpSp>
        <p:nvGrpSpPr>
          <p:cNvPr name="Group 63" id="63"/>
          <p:cNvGrpSpPr/>
          <p:nvPr/>
        </p:nvGrpSpPr>
        <p:grpSpPr>
          <a:xfrm rot="0">
            <a:off x="8948423" y="2090423"/>
            <a:ext cx="5341620" cy="4626125"/>
            <a:chOff x="0" y="0"/>
            <a:chExt cx="7122160" cy="6168166"/>
          </a:xfrm>
        </p:grpSpPr>
        <p:sp>
          <p:nvSpPr>
            <p:cNvPr name="Freeform 64" id="64"/>
            <p:cNvSpPr/>
            <p:nvPr/>
          </p:nvSpPr>
          <p:spPr>
            <a:xfrm flipH="false" flipV="false" rot="0">
              <a:off x="36173" y="18466"/>
              <a:ext cx="7049624" cy="6131138"/>
            </a:xfrm>
            <a:custGeom>
              <a:avLst/>
              <a:gdLst/>
              <a:ahLst/>
              <a:cxnLst/>
              <a:rect r="r" b="b" t="t" l="l"/>
              <a:pathLst>
                <a:path h="6131138" w="7049624">
                  <a:moveTo>
                    <a:pt x="0" y="0"/>
                  </a:moveTo>
                  <a:lnTo>
                    <a:pt x="7049624" y="0"/>
                  </a:lnTo>
                  <a:lnTo>
                    <a:pt x="7049624" y="6131137"/>
                  </a:lnTo>
                  <a:lnTo>
                    <a:pt x="0" y="6131137"/>
                  </a:lnTo>
                  <a:close/>
                </a:path>
              </a:pathLst>
            </a:custGeom>
            <a:solidFill>
              <a:srgbClr val="FFFFFF"/>
            </a:solidFill>
          </p:spPr>
        </p:sp>
        <p:sp>
          <p:nvSpPr>
            <p:cNvPr name="Freeform 65" id="65"/>
            <p:cNvSpPr/>
            <p:nvPr/>
          </p:nvSpPr>
          <p:spPr>
            <a:xfrm flipH="false" flipV="false" rot="0">
              <a:off x="0" y="0"/>
              <a:ext cx="7121970" cy="6168069"/>
            </a:xfrm>
            <a:custGeom>
              <a:avLst/>
              <a:gdLst/>
              <a:ahLst/>
              <a:cxnLst/>
              <a:rect r="r" b="b" t="t" l="l"/>
              <a:pathLst>
                <a:path h="6168069" w="7121970">
                  <a:moveTo>
                    <a:pt x="36173" y="0"/>
                  </a:moveTo>
                  <a:lnTo>
                    <a:pt x="7085797" y="0"/>
                  </a:lnTo>
                  <a:cubicBezTo>
                    <a:pt x="7105924" y="0"/>
                    <a:pt x="7121970" y="8330"/>
                    <a:pt x="7121970" y="18466"/>
                  </a:cubicBezTo>
                  <a:lnTo>
                    <a:pt x="7121970" y="6149603"/>
                  </a:lnTo>
                  <a:cubicBezTo>
                    <a:pt x="7121970" y="6159877"/>
                    <a:pt x="7105652" y="6168069"/>
                    <a:pt x="7085797" y="6168069"/>
                  </a:cubicBezTo>
                  <a:lnTo>
                    <a:pt x="36173" y="6168069"/>
                  </a:lnTo>
                  <a:cubicBezTo>
                    <a:pt x="16047" y="6168069"/>
                    <a:pt x="0" y="6159739"/>
                    <a:pt x="0" y="6149603"/>
                  </a:cubicBezTo>
                  <a:lnTo>
                    <a:pt x="0" y="18466"/>
                  </a:lnTo>
                  <a:cubicBezTo>
                    <a:pt x="0" y="8330"/>
                    <a:pt x="16319" y="0"/>
                    <a:pt x="36173" y="0"/>
                  </a:cubicBezTo>
                  <a:moveTo>
                    <a:pt x="36173" y="37070"/>
                  </a:moveTo>
                  <a:lnTo>
                    <a:pt x="36173" y="18466"/>
                  </a:lnTo>
                  <a:lnTo>
                    <a:pt x="72618" y="18466"/>
                  </a:lnTo>
                  <a:lnTo>
                    <a:pt x="72618" y="6149603"/>
                  </a:lnTo>
                  <a:lnTo>
                    <a:pt x="36173" y="6149603"/>
                  </a:lnTo>
                  <a:lnTo>
                    <a:pt x="36173" y="6131138"/>
                  </a:lnTo>
                  <a:lnTo>
                    <a:pt x="7085797" y="6131138"/>
                  </a:lnTo>
                  <a:lnTo>
                    <a:pt x="7085797" y="6149603"/>
                  </a:lnTo>
                  <a:lnTo>
                    <a:pt x="7049624" y="6149603"/>
                  </a:lnTo>
                  <a:lnTo>
                    <a:pt x="7049624" y="18466"/>
                  </a:lnTo>
                  <a:lnTo>
                    <a:pt x="7085797" y="18466"/>
                  </a:lnTo>
                  <a:lnTo>
                    <a:pt x="7085797" y="37070"/>
                  </a:lnTo>
                  <a:lnTo>
                    <a:pt x="36173" y="37070"/>
                  </a:lnTo>
                  <a:close/>
                </a:path>
              </a:pathLst>
            </a:custGeom>
            <a:solidFill>
              <a:srgbClr val="E2E8F0"/>
            </a:solidFill>
          </p:spPr>
        </p:sp>
      </p:grpSp>
      <p:grpSp>
        <p:nvGrpSpPr>
          <p:cNvPr name="Group 66" id="66"/>
          <p:cNvGrpSpPr/>
          <p:nvPr/>
        </p:nvGrpSpPr>
        <p:grpSpPr>
          <a:xfrm rot="0">
            <a:off x="8961120" y="2103120"/>
            <a:ext cx="5328923" cy="822960"/>
            <a:chOff x="0" y="0"/>
            <a:chExt cx="7105231" cy="1097280"/>
          </a:xfrm>
        </p:grpSpPr>
        <p:sp>
          <p:nvSpPr>
            <p:cNvPr name="Freeform 67" id="67"/>
            <p:cNvSpPr/>
            <p:nvPr/>
          </p:nvSpPr>
          <p:spPr>
            <a:xfrm flipH="false" flipV="false" rot="0">
              <a:off x="0" y="0"/>
              <a:ext cx="7105231" cy="1097280"/>
            </a:xfrm>
            <a:custGeom>
              <a:avLst/>
              <a:gdLst/>
              <a:ahLst/>
              <a:cxnLst/>
              <a:rect r="r" b="b" t="t" l="l"/>
              <a:pathLst>
                <a:path h="1097280" w="7105231">
                  <a:moveTo>
                    <a:pt x="0" y="0"/>
                  </a:moveTo>
                  <a:lnTo>
                    <a:pt x="7105231" y="0"/>
                  </a:lnTo>
                  <a:lnTo>
                    <a:pt x="7105231" y="1097280"/>
                  </a:lnTo>
                  <a:lnTo>
                    <a:pt x="0" y="1097280"/>
                  </a:lnTo>
                  <a:close/>
                </a:path>
              </a:pathLst>
            </a:custGeom>
            <a:solidFill>
              <a:srgbClr val="007E41"/>
            </a:solidFill>
          </p:spPr>
        </p:sp>
      </p:grpSp>
      <p:grpSp>
        <p:nvGrpSpPr>
          <p:cNvPr name="Group 68" id="68"/>
          <p:cNvGrpSpPr/>
          <p:nvPr/>
        </p:nvGrpSpPr>
        <p:grpSpPr>
          <a:xfrm rot="0">
            <a:off x="10727152" y="2167128"/>
            <a:ext cx="1771455" cy="694944"/>
            <a:chOff x="0" y="0"/>
            <a:chExt cx="2361941" cy="926592"/>
          </a:xfrm>
        </p:grpSpPr>
        <p:sp>
          <p:nvSpPr>
            <p:cNvPr name="Freeform 69" id="69"/>
            <p:cNvSpPr/>
            <p:nvPr/>
          </p:nvSpPr>
          <p:spPr>
            <a:xfrm flipH="false" flipV="false" rot="0">
              <a:off x="0" y="0"/>
              <a:ext cx="2361941" cy="926592"/>
            </a:xfrm>
            <a:custGeom>
              <a:avLst/>
              <a:gdLst/>
              <a:ahLst/>
              <a:cxnLst/>
              <a:rect r="r" b="b" t="t" l="l"/>
              <a:pathLst>
                <a:path h="926592" w="2361941">
                  <a:moveTo>
                    <a:pt x="0" y="0"/>
                  </a:moveTo>
                  <a:lnTo>
                    <a:pt x="2361941" y="0"/>
                  </a:lnTo>
                  <a:lnTo>
                    <a:pt x="2361941" y="926592"/>
                  </a:lnTo>
                  <a:lnTo>
                    <a:pt x="0" y="926592"/>
                  </a:lnTo>
                  <a:close/>
                </a:path>
              </a:pathLst>
            </a:custGeom>
            <a:blipFill>
              <a:blip r:embed="rId3">
                <a:alphaModFix amt="0"/>
              </a:blip>
              <a:stretch>
                <a:fillRect l="0" t="-19223" r="-39370" b="-19223"/>
              </a:stretch>
            </a:blipFill>
          </p:spPr>
        </p:sp>
        <p:sp>
          <p:nvSpPr>
            <p:cNvPr name="TextBox 70" id="70"/>
            <p:cNvSpPr txBox="true"/>
            <p:nvPr/>
          </p:nvSpPr>
          <p:spPr>
            <a:xfrm>
              <a:off x="0" y="-28575"/>
              <a:ext cx="2361941" cy="955167"/>
            </a:xfrm>
            <a:prstGeom prst="rect">
              <a:avLst/>
            </a:prstGeom>
          </p:spPr>
          <p:txBody>
            <a:bodyPr anchor="ctr" rtlCol="false" tIns="0" lIns="0" bIns="0" rIns="0"/>
            <a:lstStyle/>
            <a:p>
              <a:pPr algn="ctr">
                <a:lnSpc>
                  <a:spcPts val="2400"/>
                </a:lnSpc>
              </a:pPr>
              <a:r>
                <a:rPr lang="en-US" sz="2000" b="true">
                  <a:solidFill>
                    <a:srgbClr val="FFFFFF"/>
                  </a:solidFill>
                  <a:latin typeface="Helios Extended Bold"/>
                  <a:ea typeface="Helios Extended Bold"/>
                  <a:cs typeface="Helios Extended Bold"/>
                  <a:sym typeface="Helios Extended Bold"/>
                </a:rPr>
                <a:t>Stage 4</a:t>
              </a:r>
            </a:p>
          </p:txBody>
        </p:sp>
      </p:grpSp>
      <p:grpSp>
        <p:nvGrpSpPr>
          <p:cNvPr name="Group 71" id="71"/>
          <p:cNvGrpSpPr/>
          <p:nvPr/>
        </p:nvGrpSpPr>
        <p:grpSpPr>
          <a:xfrm rot="0">
            <a:off x="8935717" y="3678286"/>
            <a:ext cx="5354326" cy="1055908"/>
            <a:chOff x="0" y="0"/>
            <a:chExt cx="7139102" cy="1407877"/>
          </a:xfrm>
        </p:grpSpPr>
        <p:sp>
          <p:nvSpPr>
            <p:cNvPr name="Freeform 72" id="72"/>
            <p:cNvSpPr/>
            <p:nvPr/>
          </p:nvSpPr>
          <p:spPr>
            <a:xfrm flipH="false" flipV="false" rot="0">
              <a:off x="36259" y="4215"/>
              <a:ext cx="7066393" cy="1399425"/>
            </a:xfrm>
            <a:custGeom>
              <a:avLst/>
              <a:gdLst/>
              <a:ahLst/>
              <a:cxnLst/>
              <a:rect r="r" b="b" t="t" l="l"/>
              <a:pathLst>
                <a:path h="1399425" w="7066393">
                  <a:moveTo>
                    <a:pt x="0" y="0"/>
                  </a:moveTo>
                  <a:lnTo>
                    <a:pt x="7066393" y="0"/>
                  </a:lnTo>
                  <a:lnTo>
                    <a:pt x="7066393" y="1399425"/>
                  </a:lnTo>
                  <a:lnTo>
                    <a:pt x="0" y="1399425"/>
                  </a:lnTo>
                  <a:close/>
                </a:path>
              </a:pathLst>
            </a:custGeom>
            <a:solidFill>
              <a:srgbClr val="F2F1F1"/>
            </a:solidFill>
          </p:spPr>
        </p:sp>
        <p:sp>
          <p:nvSpPr>
            <p:cNvPr name="Freeform 73" id="73"/>
            <p:cNvSpPr/>
            <p:nvPr/>
          </p:nvSpPr>
          <p:spPr>
            <a:xfrm flipH="false" flipV="false" rot="0">
              <a:off x="0" y="0"/>
              <a:ext cx="7138912" cy="1407855"/>
            </a:xfrm>
            <a:custGeom>
              <a:avLst/>
              <a:gdLst/>
              <a:ahLst/>
              <a:cxnLst/>
              <a:rect r="r" b="b" t="t" l="l"/>
              <a:pathLst>
                <a:path h="1407855" w="7138912">
                  <a:moveTo>
                    <a:pt x="36259" y="0"/>
                  </a:moveTo>
                  <a:lnTo>
                    <a:pt x="7102652" y="0"/>
                  </a:lnTo>
                  <a:cubicBezTo>
                    <a:pt x="7122826" y="0"/>
                    <a:pt x="7138912" y="1901"/>
                    <a:pt x="7138912" y="4215"/>
                  </a:cubicBezTo>
                  <a:lnTo>
                    <a:pt x="7138912" y="1403640"/>
                  </a:lnTo>
                  <a:cubicBezTo>
                    <a:pt x="7138912" y="1405985"/>
                    <a:pt x="7122554" y="1407855"/>
                    <a:pt x="7102652" y="1407855"/>
                  </a:cubicBezTo>
                  <a:lnTo>
                    <a:pt x="36259" y="1407855"/>
                  </a:lnTo>
                  <a:cubicBezTo>
                    <a:pt x="16085" y="1407855"/>
                    <a:pt x="0" y="1405954"/>
                    <a:pt x="0" y="1403640"/>
                  </a:cubicBezTo>
                  <a:lnTo>
                    <a:pt x="0" y="4215"/>
                  </a:lnTo>
                  <a:cubicBezTo>
                    <a:pt x="0" y="1901"/>
                    <a:pt x="16357" y="0"/>
                    <a:pt x="36259" y="0"/>
                  </a:cubicBezTo>
                  <a:moveTo>
                    <a:pt x="36259" y="8461"/>
                  </a:moveTo>
                  <a:lnTo>
                    <a:pt x="36259" y="4215"/>
                  </a:lnTo>
                  <a:lnTo>
                    <a:pt x="72790" y="4215"/>
                  </a:lnTo>
                  <a:lnTo>
                    <a:pt x="72790" y="1403640"/>
                  </a:lnTo>
                  <a:lnTo>
                    <a:pt x="36259" y="1403640"/>
                  </a:lnTo>
                  <a:lnTo>
                    <a:pt x="36259" y="1399426"/>
                  </a:lnTo>
                  <a:lnTo>
                    <a:pt x="7102652" y="1399426"/>
                  </a:lnTo>
                  <a:lnTo>
                    <a:pt x="7102652" y="1403640"/>
                  </a:lnTo>
                  <a:lnTo>
                    <a:pt x="7066393" y="1403640"/>
                  </a:lnTo>
                  <a:lnTo>
                    <a:pt x="7066393" y="4215"/>
                  </a:lnTo>
                  <a:lnTo>
                    <a:pt x="7102652" y="4215"/>
                  </a:lnTo>
                  <a:lnTo>
                    <a:pt x="7102652" y="8461"/>
                  </a:lnTo>
                  <a:lnTo>
                    <a:pt x="36259" y="8461"/>
                  </a:lnTo>
                  <a:close/>
                </a:path>
              </a:pathLst>
            </a:custGeom>
            <a:solidFill>
              <a:srgbClr val="E2E8F0"/>
            </a:solidFill>
          </p:spPr>
        </p:sp>
      </p:grpSp>
      <p:grpSp>
        <p:nvGrpSpPr>
          <p:cNvPr name="Group 74" id="74"/>
          <p:cNvGrpSpPr/>
          <p:nvPr/>
        </p:nvGrpSpPr>
        <p:grpSpPr>
          <a:xfrm rot="0">
            <a:off x="8929977" y="4634865"/>
            <a:ext cx="2668900" cy="1061354"/>
            <a:chOff x="0" y="0"/>
            <a:chExt cx="3558534" cy="1415139"/>
          </a:xfrm>
        </p:grpSpPr>
        <p:sp>
          <p:nvSpPr>
            <p:cNvPr name="Freeform 75" id="75"/>
            <p:cNvSpPr/>
            <p:nvPr/>
          </p:nvSpPr>
          <p:spPr>
            <a:xfrm flipH="false" flipV="false" rot="0">
              <a:off x="0" y="0"/>
              <a:ext cx="3558534" cy="1415139"/>
            </a:xfrm>
            <a:custGeom>
              <a:avLst/>
              <a:gdLst/>
              <a:ahLst/>
              <a:cxnLst/>
              <a:rect r="r" b="b" t="t" l="l"/>
              <a:pathLst>
                <a:path h="1415139" w="3558534">
                  <a:moveTo>
                    <a:pt x="0" y="0"/>
                  </a:moveTo>
                  <a:lnTo>
                    <a:pt x="3558534" y="0"/>
                  </a:lnTo>
                  <a:lnTo>
                    <a:pt x="3558534" y="1415139"/>
                  </a:lnTo>
                  <a:lnTo>
                    <a:pt x="0" y="1415139"/>
                  </a:lnTo>
                  <a:close/>
                </a:path>
              </a:pathLst>
            </a:custGeom>
            <a:blipFill>
              <a:blip r:embed="rId3">
                <a:alphaModFix amt="0"/>
              </a:blip>
              <a:stretch>
                <a:fillRect l="-20085" t="0" r="-2998" b="-20615"/>
              </a:stretch>
            </a:blipFill>
          </p:spPr>
        </p:sp>
        <p:sp>
          <p:nvSpPr>
            <p:cNvPr name="TextBox 76" id="76"/>
            <p:cNvSpPr txBox="true"/>
            <p:nvPr/>
          </p:nvSpPr>
          <p:spPr>
            <a:xfrm>
              <a:off x="0" y="-19050"/>
              <a:ext cx="3558534" cy="1434189"/>
            </a:xfrm>
            <a:prstGeom prst="rect">
              <a:avLst/>
            </a:prstGeom>
          </p:spPr>
          <p:txBody>
            <a:bodyPr anchor="ctr" rtlCol="false" tIns="0" lIns="0" bIns="0" rIns="0"/>
            <a:lstStyle/>
            <a:p>
              <a:pPr algn="ctr">
                <a:lnSpc>
                  <a:spcPts val="2640"/>
                </a:lnSpc>
              </a:pPr>
              <a:r>
                <a:rPr lang="en-US" b="true" sz="2200">
                  <a:solidFill>
                    <a:srgbClr val="000000"/>
                  </a:solidFill>
                  <a:latin typeface="Helios Extended Bold"/>
                  <a:ea typeface="Helios Extended Bold"/>
                  <a:cs typeface="Helios Extended Bold"/>
                  <a:sym typeface="Helios Extended Bold"/>
                </a:rPr>
                <a:t>Phase 1: Classification</a:t>
              </a:r>
            </a:p>
          </p:txBody>
        </p:sp>
      </p:grpSp>
      <p:grpSp>
        <p:nvGrpSpPr>
          <p:cNvPr name="Group 77" id="77"/>
          <p:cNvGrpSpPr/>
          <p:nvPr/>
        </p:nvGrpSpPr>
        <p:grpSpPr>
          <a:xfrm rot="0">
            <a:off x="14245590" y="4187190"/>
            <a:ext cx="403860" cy="38100"/>
            <a:chOff x="0" y="0"/>
            <a:chExt cx="538480" cy="50800"/>
          </a:xfrm>
        </p:grpSpPr>
        <p:sp>
          <p:nvSpPr>
            <p:cNvPr name="Freeform 78" id="78"/>
            <p:cNvSpPr/>
            <p:nvPr/>
          </p:nvSpPr>
          <p:spPr>
            <a:xfrm flipH="false" flipV="false" rot="0">
              <a:off x="25400" y="0"/>
              <a:ext cx="487680" cy="50800"/>
            </a:xfrm>
            <a:custGeom>
              <a:avLst/>
              <a:gdLst/>
              <a:ahLst/>
              <a:cxnLst/>
              <a:rect r="r" b="b" t="t" l="l"/>
              <a:pathLst>
                <a:path h="50800" w="487680">
                  <a:moveTo>
                    <a:pt x="0" y="0"/>
                  </a:moveTo>
                  <a:lnTo>
                    <a:pt x="487680" y="0"/>
                  </a:lnTo>
                  <a:lnTo>
                    <a:pt x="487680" y="50800"/>
                  </a:lnTo>
                  <a:lnTo>
                    <a:pt x="0" y="50800"/>
                  </a:lnTo>
                  <a:close/>
                </a:path>
              </a:pathLst>
            </a:custGeom>
            <a:solidFill>
              <a:srgbClr val="4A5568"/>
            </a:solidFill>
          </p:spPr>
        </p:sp>
      </p:grpSp>
      <p:grpSp>
        <p:nvGrpSpPr>
          <p:cNvPr name="Group 79" id="79"/>
          <p:cNvGrpSpPr/>
          <p:nvPr/>
        </p:nvGrpSpPr>
        <p:grpSpPr>
          <a:xfrm rot="0">
            <a:off x="14617703" y="2090423"/>
            <a:ext cx="2494283" cy="4626125"/>
            <a:chOff x="0" y="0"/>
            <a:chExt cx="3325711" cy="6168166"/>
          </a:xfrm>
        </p:grpSpPr>
        <p:sp>
          <p:nvSpPr>
            <p:cNvPr name="Freeform 80" id="80"/>
            <p:cNvSpPr/>
            <p:nvPr/>
          </p:nvSpPr>
          <p:spPr>
            <a:xfrm flipH="false" flipV="false" rot="0">
              <a:off x="16891" y="18466"/>
              <a:ext cx="3291840" cy="6131138"/>
            </a:xfrm>
            <a:custGeom>
              <a:avLst/>
              <a:gdLst/>
              <a:ahLst/>
              <a:cxnLst/>
              <a:rect r="r" b="b" t="t" l="l"/>
              <a:pathLst>
                <a:path h="6131138" w="3291840">
                  <a:moveTo>
                    <a:pt x="0" y="0"/>
                  </a:moveTo>
                  <a:lnTo>
                    <a:pt x="3291840" y="0"/>
                  </a:lnTo>
                  <a:lnTo>
                    <a:pt x="3291840" y="6131137"/>
                  </a:lnTo>
                  <a:lnTo>
                    <a:pt x="0" y="6131137"/>
                  </a:lnTo>
                  <a:close/>
                </a:path>
              </a:pathLst>
            </a:custGeom>
            <a:solidFill>
              <a:srgbClr val="FFFFFF"/>
            </a:solidFill>
          </p:spPr>
        </p:sp>
        <p:sp>
          <p:nvSpPr>
            <p:cNvPr name="Freeform 81" id="81"/>
            <p:cNvSpPr/>
            <p:nvPr/>
          </p:nvSpPr>
          <p:spPr>
            <a:xfrm flipH="false" flipV="false" rot="0">
              <a:off x="0" y="0"/>
              <a:ext cx="3325622" cy="6168069"/>
            </a:xfrm>
            <a:custGeom>
              <a:avLst/>
              <a:gdLst/>
              <a:ahLst/>
              <a:cxnLst/>
              <a:rect r="r" b="b" t="t" l="l"/>
              <a:pathLst>
                <a:path h="6168069" w="3325622">
                  <a:moveTo>
                    <a:pt x="16891" y="0"/>
                  </a:moveTo>
                  <a:lnTo>
                    <a:pt x="3308731" y="0"/>
                  </a:lnTo>
                  <a:cubicBezTo>
                    <a:pt x="3318129" y="0"/>
                    <a:pt x="3325622" y="8330"/>
                    <a:pt x="3325622" y="18466"/>
                  </a:cubicBezTo>
                  <a:lnTo>
                    <a:pt x="3325622" y="6149603"/>
                  </a:lnTo>
                  <a:cubicBezTo>
                    <a:pt x="3325622" y="6159877"/>
                    <a:pt x="3318002" y="6168069"/>
                    <a:pt x="3308731" y="6168069"/>
                  </a:cubicBezTo>
                  <a:lnTo>
                    <a:pt x="16891" y="6168069"/>
                  </a:lnTo>
                  <a:cubicBezTo>
                    <a:pt x="7493" y="6168069"/>
                    <a:pt x="0" y="6159739"/>
                    <a:pt x="0" y="6149603"/>
                  </a:cubicBezTo>
                  <a:lnTo>
                    <a:pt x="0" y="18466"/>
                  </a:lnTo>
                  <a:cubicBezTo>
                    <a:pt x="0" y="8330"/>
                    <a:pt x="7620" y="0"/>
                    <a:pt x="16891" y="0"/>
                  </a:cubicBezTo>
                  <a:moveTo>
                    <a:pt x="16891" y="37070"/>
                  </a:moveTo>
                  <a:lnTo>
                    <a:pt x="16891" y="18466"/>
                  </a:lnTo>
                  <a:lnTo>
                    <a:pt x="33909" y="18466"/>
                  </a:lnTo>
                  <a:lnTo>
                    <a:pt x="33909" y="6149603"/>
                  </a:lnTo>
                  <a:lnTo>
                    <a:pt x="16891" y="6149603"/>
                  </a:lnTo>
                  <a:lnTo>
                    <a:pt x="16891" y="6131138"/>
                  </a:lnTo>
                  <a:lnTo>
                    <a:pt x="3308731" y="6131138"/>
                  </a:lnTo>
                  <a:lnTo>
                    <a:pt x="3308731" y="6149603"/>
                  </a:lnTo>
                  <a:lnTo>
                    <a:pt x="3291840" y="6149603"/>
                  </a:lnTo>
                  <a:lnTo>
                    <a:pt x="3291840" y="18466"/>
                  </a:lnTo>
                  <a:lnTo>
                    <a:pt x="3308731" y="18466"/>
                  </a:lnTo>
                  <a:lnTo>
                    <a:pt x="3308731" y="37070"/>
                  </a:lnTo>
                  <a:lnTo>
                    <a:pt x="16891" y="37070"/>
                  </a:lnTo>
                  <a:close/>
                </a:path>
              </a:pathLst>
            </a:custGeom>
            <a:solidFill>
              <a:srgbClr val="E2E8F0"/>
            </a:solidFill>
          </p:spPr>
        </p:sp>
      </p:grpSp>
      <p:grpSp>
        <p:nvGrpSpPr>
          <p:cNvPr name="Group 82" id="82"/>
          <p:cNvGrpSpPr/>
          <p:nvPr/>
        </p:nvGrpSpPr>
        <p:grpSpPr>
          <a:xfrm rot="0">
            <a:off x="14630400" y="2103120"/>
            <a:ext cx="2468880" cy="822960"/>
            <a:chOff x="0" y="0"/>
            <a:chExt cx="3291840" cy="1097280"/>
          </a:xfrm>
        </p:grpSpPr>
        <p:sp>
          <p:nvSpPr>
            <p:cNvPr name="Freeform 83" id="83"/>
            <p:cNvSpPr/>
            <p:nvPr/>
          </p:nvSpPr>
          <p:spPr>
            <a:xfrm flipH="false" flipV="false" rot="0">
              <a:off x="0" y="0"/>
              <a:ext cx="3291840" cy="1097280"/>
            </a:xfrm>
            <a:custGeom>
              <a:avLst/>
              <a:gdLst/>
              <a:ahLst/>
              <a:cxnLst/>
              <a:rect r="r" b="b" t="t" l="l"/>
              <a:pathLst>
                <a:path h="1097280" w="3291840">
                  <a:moveTo>
                    <a:pt x="0" y="0"/>
                  </a:moveTo>
                  <a:lnTo>
                    <a:pt x="3291840" y="0"/>
                  </a:lnTo>
                  <a:lnTo>
                    <a:pt x="3291840" y="1097280"/>
                  </a:lnTo>
                  <a:lnTo>
                    <a:pt x="0" y="1097280"/>
                  </a:lnTo>
                  <a:close/>
                </a:path>
              </a:pathLst>
            </a:custGeom>
            <a:solidFill>
              <a:srgbClr val="3D4D55"/>
            </a:solidFill>
          </p:spPr>
        </p:sp>
      </p:grpSp>
      <p:grpSp>
        <p:nvGrpSpPr>
          <p:cNvPr name="Group 84" id="84"/>
          <p:cNvGrpSpPr/>
          <p:nvPr/>
        </p:nvGrpSpPr>
        <p:grpSpPr>
          <a:xfrm rot="0">
            <a:off x="14630400" y="2176272"/>
            <a:ext cx="2468880" cy="694944"/>
            <a:chOff x="0" y="0"/>
            <a:chExt cx="3291840" cy="926592"/>
          </a:xfrm>
        </p:grpSpPr>
        <p:sp>
          <p:nvSpPr>
            <p:cNvPr name="Freeform 85" id="85"/>
            <p:cNvSpPr/>
            <p:nvPr/>
          </p:nvSpPr>
          <p:spPr>
            <a:xfrm flipH="false" flipV="false" rot="0">
              <a:off x="0" y="0"/>
              <a:ext cx="3291840" cy="926592"/>
            </a:xfrm>
            <a:custGeom>
              <a:avLst/>
              <a:gdLst/>
              <a:ahLst/>
              <a:cxnLst/>
              <a:rect r="r" b="b" t="t" l="l"/>
              <a:pathLst>
                <a:path h="926592" w="3291840">
                  <a:moveTo>
                    <a:pt x="0" y="0"/>
                  </a:moveTo>
                  <a:lnTo>
                    <a:pt x="3291840" y="0"/>
                  </a:lnTo>
                  <a:lnTo>
                    <a:pt x="3291840" y="926592"/>
                  </a:lnTo>
                  <a:lnTo>
                    <a:pt x="0" y="926592"/>
                  </a:lnTo>
                  <a:close/>
                </a:path>
              </a:pathLst>
            </a:custGeom>
            <a:blipFill>
              <a:blip r:embed="rId3">
                <a:alphaModFix amt="0"/>
              </a:blip>
              <a:stretch>
                <a:fillRect l="0" t="-19223" r="0" b="-19223"/>
              </a:stretch>
            </a:blipFill>
          </p:spPr>
        </p:sp>
        <p:sp>
          <p:nvSpPr>
            <p:cNvPr name="TextBox 86" id="86"/>
            <p:cNvSpPr txBox="true"/>
            <p:nvPr/>
          </p:nvSpPr>
          <p:spPr>
            <a:xfrm>
              <a:off x="0" y="-28575"/>
              <a:ext cx="3291840" cy="955167"/>
            </a:xfrm>
            <a:prstGeom prst="rect">
              <a:avLst/>
            </a:prstGeom>
          </p:spPr>
          <p:txBody>
            <a:bodyPr anchor="ctr" rtlCol="false" tIns="0" lIns="0" bIns="0" rIns="0"/>
            <a:lstStyle/>
            <a:p>
              <a:pPr algn="ctr">
                <a:lnSpc>
                  <a:spcPts val="2400"/>
                </a:lnSpc>
              </a:pPr>
              <a:r>
                <a:rPr lang="en-US" sz="2000" b="true">
                  <a:solidFill>
                    <a:srgbClr val="FFFFFF"/>
                  </a:solidFill>
                  <a:latin typeface="Helios Extended Bold"/>
                  <a:ea typeface="Helios Extended Bold"/>
                  <a:cs typeface="Helios Extended Bold"/>
                  <a:sym typeface="Helios Extended Bold"/>
                </a:rPr>
                <a:t>Stage 5</a:t>
              </a:r>
            </a:p>
          </p:txBody>
        </p:sp>
      </p:grpSp>
      <p:grpSp>
        <p:nvGrpSpPr>
          <p:cNvPr name="Group 87" id="87"/>
          <p:cNvGrpSpPr/>
          <p:nvPr/>
        </p:nvGrpSpPr>
        <p:grpSpPr>
          <a:xfrm rot="0">
            <a:off x="14617703" y="3678286"/>
            <a:ext cx="2494283" cy="1055908"/>
            <a:chOff x="0" y="0"/>
            <a:chExt cx="3325711" cy="1407877"/>
          </a:xfrm>
        </p:grpSpPr>
        <p:sp>
          <p:nvSpPr>
            <p:cNvPr name="Freeform 88" id="88"/>
            <p:cNvSpPr/>
            <p:nvPr/>
          </p:nvSpPr>
          <p:spPr>
            <a:xfrm flipH="false" flipV="false" rot="0">
              <a:off x="16891" y="4215"/>
              <a:ext cx="3291840" cy="1399425"/>
            </a:xfrm>
            <a:custGeom>
              <a:avLst/>
              <a:gdLst/>
              <a:ahLst/>
              <a:cxnLst/>
              <a:rect r="r" b="b" t="t" l="l"/>
              <a:pathLst>
                <a:path h="1399425" w="3291840">
                  <a:moveTo>
                    <a:pt x="0" y="0"/>
                  </a:moveTo>
                  <a:lnTo>
                    <a:pt x="3291840" y="0"/>
                  </a:lnTo>
                  <a:lnTo>
                    <a:pt x="3291840" y="1399425"/>
                  </a:lnTo>
                  <a:lnTo>
                    <a:pt x="0" y="1399425"/>
                  </a:lnTo>
                  <a:close/>
                </a:path>
              </a:pathLst>
            </a:custGeom>
            <a:solidFill>
              <a:srgbClr val="F2F1F1"/>
            </a:solidFill>
          </p:spPr>
        </p:sp>
        <p:sp>
          <p:nvSpPr>
            <p:cNvPr name="Freeform 89" id="89"/>
            <p:cNvSpPr/>
            <p:nvPr/>
          </p:nvSpPr>
          <p:spPr>
            <a:xfrm flipH="false" flipV="false" rot="0">
              <a:off x="0" y="0"/>
              <a:ext cx="3325622" cy="1407855"/>
            </a:xfrm>
            <a:custGeom>
              <a:avLst/>
              <a:gdLst/>
              <a:ahLst/>
              <a:cxnLst/>
              <a:rect r="r" b="b" t="t" l="l"/>
              <a:pathLst>
                <a:path h="1407855" w="3325622">
                  <a:moveTo>
                    <a:pt x="16891" y="0"/>
                  </a:moveTo>
                  <a:lnTo>
                    <a:pt x="3308731" y="0"/>
                  </a:lnTo>
                  <a:cubicBezTo>
                    <a:pt x="3318129" y="0"/>
                    <a:pt x="3325622" y="1901"/>
                    <a:pt x="3325622" y="4215"/>
                  </a:cubicBezTo>
                  <a:lnTo>
                    <a:pt x="3325622" y="1403640"/>
                  </a:lnTo>
                  <a:cubicBezTo>
                    <a:pt x="3325622" y="1405985"/>
                    <a:pt x="3318002" y="1407855"/>
                    <a:pt x="3308731" y="1407855"/>
                  </a:cubicBezTo>
                  <a:lnTo>
                    <a:pt x="16891" y="1407855"/>
                  </a:lnTo>
                  <a:cubicBezTo>
                    <a:pt x="7493" y="1407855"/>
                    <a:pt x="0" y="1405954"/>
                    <a:pt x="0" y="1403640"/>
                  </a:cubicBezTo>
                  <a:lnTo>
                    <a:pt x="0" y="4215"/>
                  </a:lnTo>
                  <a:cubicBezTo>
                    <a:pt x="0" y="1901"/>
                    <a:pt x="7620" y="0"/>
                    <a:pt x="16891" y="0"/>
                  </a:cubicBezTo>
                  <a:moveTo>
                    <a:pt x="16891" y="8461"/>
                  </a:moveTo>
                  <a:lnTo>
                    <a:pt x="16891" y="4215"/>
                  </a:lnTo>
                  <a:lnTo>
                    <a:pt x="33909" y="4215"/>
                  </a:lnTo>
                  <a:lnTo>
                    <a:pt x="33909" y="1403640"/>
                  </a:lnTo>
                  <a:lnTo>
                    <a:pt x="16891" y="1403640"/>
                  </a:lnTo>
                  <a:lnTo>
                    <a:pt x="16891" y="1399426"/>
                  </a:lnTo>
                  <a:lnTo>
                    <a:pt x="3308731" y="1399426"/>
                  </a:lnTo>
                  <a:lnTo>
                    <a:pt x="3308731" y="1403640"/>
                  </a:lnTo>
                  <a:lnTo>
                    <a:pt x="3291840" y="1403640"/>
                  </a:lnTo>
                  <a:lnTo>
                    <a:pt x="3291840" y="4215"/>
                  </a:lnTo>
                  <a:lnTo>
                    <a:pt x="3308731" y="4215"/>
                  </a:lnTo>
                  <a:lnTo>
                    <a:pt x="3308731" y="8461"/>
                  </a:lnTo>
                  <a:lnTo>
                    <a:pt x="16891" y="8461"/>
                  </a:lnTo>
                  <a:close/>
                </a:path>
              </a:pathLst>
            </a:custGeom>
            <a:solidFill>
              <a:srgbClr val="E2E8F0"/>
            </a:solidFill>
          </p:spPr>
        </p:sp>
      </p:grpSp>
      <p:grpSp>
        <p:nvGrpSpPr>
          <p:cNvPr name="Group 90" id="90"/>
          <p:cNvGrpSpPr/>
          <p:nvPr/>
        </p:nvGrpSpPr>
        <p:grpSpPr>
          <a:xfrm rot="0">
            <a:off x="14725650" y="3678286"/>
            <a:ext cx="2373630" cy="1055908"/>
            <a:chOff x="0" y="0"/>
            <a:chExt cx="3164840" cy="1407877"/>
          </a:xfrm>
        </p:grpSpPr>
        <p:sp>
          <p:nvSpPr>
            <p:cNvPr name="Freeform 91" id="91"/>
            <p:cNvSpPr/>
            <p:nvPr/>
          </p:nvSpPr>
          <p:spPr>
            <a:xfrm flipH="false" flipV="false" rot="0">
              <a:off x="0" y="0"/>
              <a:ext cx="3164840" cy="1407877"/>
            </a:xfrm>
            <a:custGeom>
              <a:avLst/>
              <a:gdLst/>
              <a:ahLst/>
              <a:cxnLst/>
              <a:rect r="r" b="b" t="t" l="l"/>
              <a:pathLst>
                <a:path h="1407877" w="3164840">
                  <a:moveTo>
                    <a:pt x="0" y="0"/>
                  </a:moveTo>
                  <a:lnTo>
                    <a:pt x="3164840" y="0"/>
                  </a:lnTo>
                  <a:lnTo>
                    <a:pt x="3164840" y="1407877"/>
                  </a:lnTo>
                  <a:lnTo>
                    <a:pt x="0" y="1407877"/>
                  </a:lnTo>
                  <a:close/>
                </a:path>
              </a:pathLst>
            </a:custGeom>
            <a:blipFill>
              <a:blip r:embed="rId3">
                <a:alphaModFix amt="0"/>
              </a:blip>
              <a:stretch>
                <a:fillRect l="-22584" t="0" r="-15810" b="-21237"/>
              </a:stretch>
            </a:blipFill>
          </p:spPr>
        </p:sp>
        <p:sp>
          <p:nvSpPr>
            <p:cNvPr name="TextBox 92" id="92"/>
            <p:cNvSpPr txBox="true"/>
            <p:nvPr/>
          </p:nvSpPr>
          <p:spPr>
            <a:xfrm>
              <a:off x="0" y="-19050"/>
              <a:ext cx="3164840" cy="1426927"/>
            </a:xfrm>
            <a:prstGeom prst="rect">
              <a:avLst/>
            </a:prstGeom>
          </p:spPr>
          <p:txBody>
            <a:bodyPr anchor="ctr" rtlCol="false" tIns="0" lIns="0" bIns="0" rIns="0"/>
            <a:lstStyle/>
            <a:p>
              <a:pPr algn="ctr">
                <a:lnSpc>
                  <a:spcPts val="2640"/>
                </a:lnSpc>
              </a:pPr>
              <a:r>
                <a:rPr lang="en-US" b="true" sz="2200">
                  <a:solidFill>
                    <a:srgbClr val="000000"/>
                  </a:solidFill>
                  <a:latin typeface="Helios Extended Bold"/>
                  <a:ea typeface="Helios Extended Bold"/>
                  <a:cs typeface="Helios Extended Bold"/>
                  <a:sym typeface="Helios Extended Bold"/>
                </a:rPr>
                <a:t>Evaluation</a:t>
              </a:r>
            </a:p>
          </p:txBody>
        </p:sp>
      </p:grpSp>
      <p:grpSp>
        <p:nvGrpSpPr>
          <p:cNvPr name="Group 93" id="93"/>
          <p:cNvGrpSpPr/>
          <p:nvPr/>
        </p:nvGrpSpPr>
        <p:grpSpPr>
          <a:xfrm rot="0">
            <a:off x="0" y="10058400"/>
            <a:ext cx="18288000" cy="228600"/>
            <a:chOff x="0" y="0"/>
            <a:chExt cx="24384000" cy="304800"/>
          </a:xfrm>
        </p:grpSpPr>
        <p:sp>
          <p:nvSpPr>
            <p:cNvPr name="Freeform 94" id="94"/>
            <p:cNvSpPr/>
            <p:nvPr/>
          </p:nvSpPr>
          <p:spPr>
            <a:xfrm flipH="false" flipV="false" rot="0">
              <a:off x="0" y="0"/>
              <a:ext cx="24384000" cy="304800"/>
            </a:xfrm>
            <a:custGeom>
              <a:avLst/>
              <a:gdLst/>
              <a:ahLst/>
              <a:cxnLst/>
              <a:rect r="r" b="b" t="t" l="l"/>
              <a:pathLst>
                <a:path h="304800" w="24384000">
                  <a:moveTo>
                    <a:pt x="0" y="0"/>
                  </a:moveTo>
                  <a:lnTo>
                    <a:pt x="24384000" y="0"/>
                  </a:lnTo>
                  <a:lnTo>
                    <a:pt x="24384000" y="304800"/>
                  </a:lnTo>
                  <a:lnTo>
                    <a:pt x="0" y="304800"/>
                  </a:lnTo>
                  <a:close/>
                </a:path>
              </a:pathLst>
            </a:custGeom>
            <a:solidFill>
              <a:srgbClr val="3D4D55"/>
            </a:solidFill>
          </p:spPr>
        </p:sp>
      </p:grpSp>
      <p:grpSp>
        <p:nvGrpSpPr>
          <p:cNvPr name="Group 95" id="95"/>
          <p:cNvGrpSpPr/>
          <p:nvPr/>
        </p:nvGrpSpPr>
        <p:grpSpPr>
          <a:xfrm rot="0">
            <a:off x="6145530" y="4753244"/>
            <a:ext cx="2421893" cy="1963304"/>
            <a:chOff x="0" y="0"/>
            <a:chExt cx="3229191" cy="2617738"/>
          </a:xfrm>
        </p:grpSpPr>
        <p:sp>
          <p:nvSpPr>
            <p:cNvPr name="Freeform 96" id="96"/>
            <p:cNvSpPr/>
            <p:nvPr/>
          </p:nvSpPr>
          <p:spPr>
            <a:xfrm flipH="false" flipV="false" rot="0">
              <a:off x="0" y="0"/>
              <a:ext cx="3229191" cy="2617738"/>
            </a:xfrm>
            <a:custGeom>
              <a:avLst/>
              <a:gdLst/>
              <a:ahLst/>
              <a:cxnLst/>
              <a:rect r="r" b="b" t="t" l="l"/>
              <a:pathLst>
                <a:path h="2617738" w="3229191">
                  <a:moveTo>
                    <a:pt x="0" y="0"/>
                  </a:moveTo>
                  <a:lnTo>
                    <a:pt x="3229191" y="0"/>
                  </a:lnTo>
                  <a:lnTo>
                    <a:pt x="3229191" y="2617738"/>
                  </a:lnTo>
                  <a:lnTo>
                    <a:pt x="0" y="2617738"/>
                  </a:lnTo>
                  <a:close/>
                </a:path>
              </a:pathLst>
            </a:custGeom>
            <a:blipFill>
              <a:blip r:embed="rId3">
                <a:alphaModFix amt="0"/>
              </a:blip>
              <a:stretch>
                <a:fillRect l="-22134" t="0" r="-13502" b="34795"/>
              </a:stretch>
            </a:blipFill>
          </p:spPr>
        </p:sp>
        <p:sp>
          <p:nvSpPr>
            <p:cNvPr name="TextBox 97" id="97"/>
            <p:cNvSpPr txBox="true"/>
            <p:nvPr/>
          </p:nvSpPr>
          <p:spPr>
            <a:xfrm>
              <a:off x="0" y="-19050"/>
              <a:ext cx="3229191" cy="2636788"/>
            </a:xfrm>
            <a:prstGeom prst="rect">
              <a:avLst/>
            </a:prstGeom>
          </p:spPr>
          <p:txBody>
            <a:bodyPr anchor="ctr" rtlCol="false" tIns="0" lIns="0" bIns="0" rIns="0"/>
            <a:lstStyle/>
            <a:p>
              <a:pPr algn="ctr">
                <a:lnSpc>
                  <a:spcPts val="2040"/>
                </a:lnSpc>
              </a:pPr>
              <a:r>
                <a:rPr lang="en-US" sz="1700">
                  <a:solidFill>
                    <a:srgbClr val="000000"/>
                  </a:solidFill>
                  <a:latin typeface="Helios Extended"/>
                  <a:ea typeface="Helios Extended"/>
                  <a:cs typeface="Helios Extended"/>
                  <a:sym typeface="Helios Extended"/>
                </a:rPr>
                <a:t>Krippendorff's </a:t>
              </a:r>
              <a:r>
                <a:rPr lang="en-US" sz="1700" b="true">
                  <a:solidFill>
                    <a:srgbClr val="000000"/>
                  </a:solidFill>
                  <a:latin typeface="Helios Extended Bold"/>
                  <a:ea typeface="Helios Extended Bold"/>
                  <a:cs typeface="Helios Extended Bold"/>
                  <a:sym typeface="Helios Extended Bold"/>
                </a:rPr>
                <a:t>α</a:t>
              </a:r>
              <a:r>
                <a:rPr lang="en-US" sz="1700">
                  <a:solidFill>
                    <a:srgbClr val="000000"/>
                  </a:solidFill>
                  <a:latin typeface="Helios Extended"/>
                  <a:ea typeface="Helios Extended"/>
                  <a:cs typeface="Helios Extended"/>
                  <a:sym typeface="Helios Extended"/>
                </a:rPr>
                <a:t>&gt;0.6</a:t>
              </a:r>
            </a:p>
            <a:p>
              <a:pPr algn="ctr">
                <a:lnSpc>
                  <a:spcPts val="2040"/>
                </a:lnSpc>
              </a:pPr>
              <a:r>
                <a:rPr lang="en-US" sz="1700">
                  <a:solidFill>
                    <a:srgbClr val="000000"/>
                  </a:solidFill>
                  <a:latin typeface="Helios Extended"/>
                  <a:ea typeface="Helios Extended"/>
                  <a:cs typeface="Helios Extended"/>
                  <a:sym typeface="Helios Extended"/>
                </a:rPr>
                <a:t>Consensus ⟶ 2/3</a:t>
              </a:r>
            </a:p>
            <a:p>
              <a:pPr algn="ctr">
                <a:lnSpc>
                  <a:spcPts val="2040"/>
                </a:lnSpc>
              </a:pPr>
              <a:r>
                <a:rPr lang="en-US" sz="1700">
                  <a:solidFill>
                    <a:srgbClr val="000000"/>
                  </a:solidFill>
                  <a:latin typeface="Helios Extended"/>
                  <a:ea typeface="Helios Extended"/>
                  <a:cs typeface="Helios Extended"/>
                  <a:sym typeface="Helios Extended"/>
                </a:rPr>
                <a:t>Retained traces</a:t>
              </a:r>
            </a:p>
          </p:txBody>
        </p:sp>
      </p:grpSp>
      <p:grpSp>
        <p:nvGrpSpPr>
          <p:cNvPr name="Group 98" id="98"/>
          <p:cNvGrpSpPr/>
          <p:nvPr/>
        </p:nvGrpSpPr>
        <p:grpSpPr>
          <a:xfrm rot="0">
            <a:off x="3424685" y="4753244"/>
            <a:ext cx="2212848" cy="1963304"/>
            <a:chOff x="0" y="0"/>
            <a:chExt cx="2950464" cy="2617738"/>
          </a:xfrm>
        </p:grpSpPr>
        <p:sp>
          <p:nvSpPr>
            <p:cNvPr name="Freeform 99" id="99"/>
            <p:cNvSpPr/>
            <p:nvPr/>
          </p:nvSpPr>
          <p:spPr>
            <a:xfrm flipH="false" flipV="false" rot="0">
              <a:off x="0" y="0"/>
              <a:ext cx="2950464" cy="2617738"/>
            </a:xfrm>
            <a:custGeom>
              <a:avLst/>
              <a:gdLst/>
              <a:ahLst/>
              <a:cxnLst/>
              <a:rect r="r" b="b" t="t" l="l"/>
              <a:pathLst>
                <a:path h="2617738" w="2950464">
                  <a:moveTo>
                    <a:pt x="0" y="0"/>
                  </a:moveTo>
                  <a:lnTo>
                    <a:pt x="2950464" y="0"/>
                  </a:lnTo>
                  <a:lnTo>
                    <a:pt x="2950464" y="2617738"/>
                  </a:lnTo>
                  <a:lnTo>
                    <a:pt x="0" y="2617738"/>
                  </a:lnTo>
                  <a:close/>
                </a:path>
              </a:pathLst>
            </a:custGeom>
            <a:blipFill>
              <a:blip r:embed="rId3">
                <a:alphaModFix amt="0"/>
              </a:blip>
              <a:stretch>
                <a:fillRect l="-24225" t="0" r="-24225" b="34795"/>
              </a:stretch>
            </a:blipFill>
          </p:spPr>
        </p:sp>
        <p:sp>
          <p:nvSpPr>
            <p:cNvPr name="TextBox 100" id="100"/>
            <p:cNvSpPr txBox="true"/>
            <p:nvPr/>
          </p:nvSpPr>
          <p:spPr>
            <a:xfrm>
              <a:off x="0" y="-19050"/>
              <a:ext cx="2950464" cy="2636788"/>
            </a:xfrm>
            <a:prstGeom prst="rect">
              <a:avLst/>
            </a:prstGeom>
          </p:spPr>
          <p:txBody>
            <a:bodyPr anchor="ctr" rtlCol="false" tIns="0" lIns="0" bIns="0" rIns="0"/>
            <a:lstStyle/>
            <a:p>
              <a:pPr algn="ctr">
                <a:lnSpc>
                  <a:spcPts val="2040"/>
                </a:lnSpc>
              </a:pPr>
              <a:r>
                <a:rPr lang="en-US" sz="1700">
                  <a:solidFill>
                    <a:srgbClr val="000000"/>
                  </a:solidFill>
                  <a:latin typeface="Helios Extended"/>
                  <a:ea typeface="Helios Extended"/>
                  <a:cs typeface="Helios Extended"/>
                  <a:sym typeface="Helios Extended"/>
                </a:rPr>
                <a:t>Ground truth</a:t>
              </a:r>
            </a:p>
            <a:p>
              <a:pPr algn="ctr">
                <a:lnSpc>
                  <a:spcPts val="2040"/>
                </a:lnSpc>
              </a:pPr>
              <a:r>
                <a:rPr lang="en-US" sz="1700">
                  <a:solidFill>
                    <a:srgbClr val="000000"/>
                  </a:solidFill>
                  <a:latin typeface="Helios Extended"/>
                  <a:ea typeface="Helios Extended"/>
                  <a:cs typeface="Helios Extended"/>
                  <a:sym typeface="Helios Extended"/>
                </a:rPr>
                <a:t>Trace</a:t>
              </a:r>
            </a:p>
            <a:p>
              <a:pPr algn="ctr">
                <a:lnSpc>
                  <a:spcPts val="2040"/>
                </a:lnSpc>
              </a:pPr>
              <a:r>
                <a:rPr lang="en-US" sz="1700">
                  <a:solidFill>
                    <a:srgbClr val="000000"/>
                  </a:solidFill>
                  <a:latin typeface="Helios Extended"/>
                  <a:ea typeface="Helios Extended"/>
                  <a:cs typeface="Helios Extended"/>
                  <a:sym typeface="Helios Extended"/>
                </a:rPr>
                <a:t>CoT + label</a:t>
              </a:r>
            </a:p>
          </p:txBody>
        </p:sp>
      </p:grpSp>
      <p:grpSp>
        <p:nvGrpSpPr>
          <p:cNvPr name="Group 101" id="101"/>
          <p:cNvGrpSpPr/>
          <p:nvPr/>
        </p:nvGrpSpPr>
        <p:grpSpPr>
          <a:xfrm rot="0">
            <a:off x="9163743" y="5553344"/>
            <a:ext cx="2212848" cy="1224534"/>
            <a:chOff x="0" y="0"/>
            <a:chExt cx="2950464" cy="1632712"/>
          </a:xfrm>
        </p:grpSpPr>
        <p:sp>
          <p:nvSpPr>
            <p:cNvPr name="Freeform 102" id="102"/>
            <p:cNvSpPr/>
            <p:nvPr/>
          </p:nvSpPr>
          <p:spPr>
            <a:xfrm flipH="false" flipV="false" rot="0">
              <a:off x="0" y="0"/>
              <a:ext cx="2950464" cy="1632712"/>
            </a:xfrm>
            <a:custGeom>
              <a:avLst/>
              <a:gdLst/>
              <a:ahLst/>
              <a:cxnLst/>
              <a:rect r="r" b="b" t="t" l="l"/>
              <a:pathLst>
                <a:path h="1632712" w="2950464">
                  <a:moveTo>
                    <a:pt x="0" y="0"/>
                  </a:moveTo>
                  <a:lnTo>
                    <a:pt x="2950464" y="0"/>
                  </a:lnTo>
                  <a:lnTo>
                    <a:pt x="2950464" y="1632712"/>
                  </a:lnTo>
                  <a:lnTo>
                    <a:pt x="0" y="1632712"/>
                  </a:lnTo>
                  <a:close/>
                </a:path>
              </a:pathLst>
            </a:custGeom>
            <a:blipFill>
              <a:blip r:embed="rId3">
                <a:alphaModFix amt="0"/>
              </a:blip>
              <a:stretch>
                <a:fillRect l="-24225" t="0" r="-24225" b="-4542"/>
              </a:stretch>
            </a:blipFill>
          </p:spPr>
        </p:sp>
        <p:sp>
          <p:nvSpPr>
            <p:cNvPr name="TextBox 103" id="103"/>
            <p:cNvSpPr txBox="true"/>
            <p:nvPr/>
          </p:nvSpPr>
          <p:spPr>
            <a:xfrm>
              <a:off x="0" y="-19050"/>
              <a:ext cx="2950464" cy="1651762"/>
            </a:xfrm>
            <a:prstGeom prst="rect">
              <a:avLst/>
            </a:prstGeom>
          </p:spPr>
          <p:txBody>
            <a:bodyPr anchor="ctr" rtlCol="false" tIns="0" lIns="0" bIns="0" rIns="0"/>
            <a:lstStyle/>
            <a:p>
              <a:pPr algn="ctr">
                <a:lnSpc>
                  <a:spcPts val="2040"/>
                </a:lnSpc>
              </a:pPr>
              <a:r>
                <a:rPr lang="en-US" sz="1700">
                  <a:solidFill>
                    <a:srgbClr val="000000"/>
                  </a:solidFill>
                  <a:latin typeface="Helios Extended"/>
                  <a:ea typeface="Helios Extended"/>
                  <a:cs typeface="Helios Extended"/>
                  <a:sym typeface="Helios Extended"/>
                </a:rPr>
                <a:t>LoRA finetuning </a:t>
              </a:r>
            </a:p>
            <a:p>
              <a:pPr algn="ctr">
                <a:lnSpc>
                  <a:spcPts val="2040"/>
                </a:lnSpc>
              </a:pPr>
              <a:r>
                <a:rPr lang="en-US" sz="1700">
                  <a:solidFill>
                    <a:srgbClr val="000000"/>
                  </a:solidFill>
                  <a:latin typeface="Helios Extended"/>
                  <a:ea typeface="Helios Extended"/>
                  <a:cs typeface="Helios Extended"/>
                  <a:sym typeface="Helios Extended"/>
                </a:rPr>
                <a:t>LR = 2×10</a:t>
              </a:r>
              <a:r>
                <a:rPr lang="en-US" sz="1700">
                  <a:solidFill>
                    <a:srgbClr val="000000"/>
                  </a:solidFill>
                  <a:latin typeface="Helios Extended"/>
                  <a:ea typeface="Helios Extended"/>
                  <a:cs typeface="Helios Extended"/>
                  <a:sym typeface="Helios Extended"/>
                </a:rPr>
                <a:t>-4</a:t>
              </a:r>
            </a:p>
          </p:txBody>
        </p:sp>
      </p:grpSp>
      <p:grpSp>
        <p:nvGrpSpPr>
          <p:cNvPr name="Group 104" id="104"/>
          <p:cNvGrpSpPr/>
          <p:nvPr/>
        </p:nvGrpSpPr>
        <p:grpSpPr>
          <a:xfrm rot="0">
            <a:off x="11817952" y="5553344"/>
            <a:ext cx="2358390" cy="1224534"/>
            <a:chOff x="0" y="0"/>
            <a:chExt cx="3144520" cy="1632712"/>
          </a:xfrm>
        </p:grpSpPr>
        <p:sp>
          <p:nvSpPr>
            <p:cNvPr name="Freeform 105" id="105"/>
            <p:cNvSpPr/>
            <p:nvPr/>
          </p:nvSpPr>
          <p:spPr>
            <a:xfrm flipH="false" flipV="false" rot="0">
              <a:off x="0" y="0"/>
              <a:ext cx="3144520" cy="1632712"/>
            </a:xfrm>
            <a:custGeom>
              <a:avLst/>
              <a:gdLst/>
              <a:ahLst/>
              <a:cxnLst/>
              <a:rect r="r" b="b" t="t" l="l"/>
              <a:pathLst>
                <a:path h="1632712" w="3144520">
                  <a:moveTo>
                    <a:pt x="0" y="0"/>
                  </a:moveTo>
                  <a:lnTo>
                    <a:pt x="3144520" y="0"/>
                  </a:lnTo>
                  <a:lnTo>
                    <a:pt x="3144520" y="1632712"/>
                  </a:lnTo>
                  <a:lnTo>
                    <a:pt x="0" y="1632712"/>
                  </a:lnTo>
                  <a:close/>
                </a:path>
              </a:pathLst>
            </a:custGeom>
            <a:blipFill>
              <a:blip r:embed="rId3">
                <a:alphaModFix amt="0"/>
              </a:blip>
              <a:stretch>
                <a:fillRect l="-22730" t="0" r="-16558" b="-4542"/>
              </a:stretch>
            </a:blipFill>
          </p:spPr>
        </p:sp>
        <p:sp>
          <p:nvSpPr>
            <p:cNvPr name="TextBox 106" id="106"/>
            <p:cNvSpPr txBox="true"/>
            <p:nvPr/>
          </p:nvSpPr>
          <p:spPr>
            <a:xfrm>
              <a:off x="0" y="-19050"/>
              <a:ext cx="3144520" cy="1651762"/>
            </a:xfrm>
            <a:prstGeom prst="rect">
              <a:avLst/>
            </a:prstGeom>
          </p:spPr>
          <p:txBody>
            <a:bodyPr anchor="ctr" rtlCol="false" tIns="0" lIns="0" bIns="0" rIns="0"/>
            <a:lstStyle/>
            <a:p>
              <a:pPr algn="ctr">
                <a:lnSpc>
                  <a:spcPts val="2040"/>
                </a:lnSpc>
              </a:pPr>
              <a:r>
                <a:rPr lang="en-US" sz="1700">
                  <a:solidFill>
                    <a:srgbClr val="000000"/>
                  </a:solidFill>
                  <a:latin typeface="Helios Extended"/>
                  <a:ea typeface="Helios Extended"/>
                  <a:cs typeface="Helios Extended"/>
                  <a:sym typeface="Helios Extended"/>
                </a:rPr>
                <a:t>LR =  5×10</a:t>
              </a:r>
              <a:r>
                <a:rPr lang="en-US" sz="1700">
                  <a:solidFill>
                    <a:srgbClr val="000000"/>
                  </a:solidFill>
                  <a:latin typeface="Helios Extended"/>
                  <a:ea typeface="Helios Extended"/>
                  <a:cs typeface="Helios Extended"/>
                  <a:sym typeface="Helios Extended"/>
                </a:rPr>
                <a:t>-5</a:t>
              </a:r>
            </a:p>
            <a:p>
              <a:pPr algn="ctr">
                <a:lnSpc>
                  <a:spcPts val="2040"/>
                </a:lnSpc>
              </a:pPr>
              <a:r>
                <a:rPr lang="en-US" sz="1700">
                  <a:solidFill>
                    <a:srgbClr val="000000"/>
                  </a:solidFill>
                  <a:latin typeface="Helios Extended"/>
                  <a:ea typeface="Helios Extended"/>
                  <a:cs typeface="Helios Extended"/>
                  <a:sym typeface="Helios Extended"/>
                </a:rPr>
                <a:t>Temp-scaled resampling</a:t>
              </a:r>
            </a:p>
          </p:txBody>
        </p:sp>
      </p:grpSp>
      <p:grpSp>
        <p:nvGrpSpPr>
          <p:cNvPr name="Group 107" id="107"/>
          <p:cNvGrpSpPr/>
          <p:nvPr/>
        </p:nvGrpSpPr>
        <p:grpSpPr>
          <a:xfrm rot="0">
            <a:off x="14658346" y="5051248"/>
            <a:ext cx="2440934" cy="1224534"/>
            <a:chOff x="0" y="0"/>
            <a:chExt cx="3254578" cy="1632712"/>
          </a:xfrm>
        </p:grpSpPr>
        <p:sp>
          <p:nvSpPr>
            <p:cNvPr name="Freeform 108" id="108"/>
            <p:cNvSpPr/>
            <p:nvPr/>
          </p:nvSpPr>
          <p:spPr>
            <a:xfrm flipH="false" flipV="false" rot="0">
              <a:off x="0" y="0"/>
              <a:ext cx="3254578" cy="1632712"/>
            </a:xfrm>
            <a:custGeom>
              <a:avLst/>
              <a:gdLst/>
              <a:ahLst/>
              <a:cxnLst/>
              <a:rect r="r" b="b" t="t" l="l"/>
              <a:pathLst>
                <a:path h="1632712" w="3254578">
                  <a:moveTo>
                    <a:pt x="0" y="0"/>
                  </a:moveTo>
                  <a:lnTo>
                    <a:pt x="3254578" y="0"/>
                  </a:lnTo>
                  <a:lnTo>
                    <a:pt x="3254578" y="1632712"/>
                  </a:lnTo>
                  <a:lnTo>
                    <a:pt x="0" y="1632712"/>
                  </a:lnTo>
                  <a:close/>
                </a:path>
              </a:pathLst>
            </a:custGeom>
            <a:blipFill>
              <a:blip r:embed="rId3">
                <a:alphaModFix amt="0"/>
              </a:blip>
              <a:stretch>
                <a:fillRect l="-21961" t="0" r="-12617" b="-4542"/>
              </a:stretch>
            </a:blipFill>
          </p:spPr>
        </p:sp>
        <p:sp>
          <p:nvSpPr>
            <p:cNvPr name="TextBox 109" id="109"/>
            <p:cNvSpPr txBox="true"/>
            <p:nvPr/>
          </p:nvSpPr>
          <p:spPr>
            <a:xfrm>
              <a:off x="0" y="-19050"/>
              <a:ext cx="3254578" cy="1651762"/>
            </a:xfrm>
            <a:prstGeom prst="rect">
              <a:avLst/>
            </a:prstGeom>
          </p:spPr>
          <p:txBody>
            <a:bodyPr anchor="ctr" rtlCol="false" tIns="0" lIns="0" bIns="0" rIns="0"/>
            <a:lstStyle/>
            <a:p>
              <a:pPr algn="ctr">
                <a:lnSpc>
                  <a:spcPts val="2040"/>
                </a:lnSpc>
              </a:pPr>
              <a:r>
                <a:rPr lang="en-US" sz="1700">
                  <a:solidFill>
                    <a:srgbClr val="000000"/>
                  </a:solidFill>
                  <a:latin typeface="Helios Extended"/>
                  <a:ea typeface="Helios Extended"/>
                  <a:cs typeface="Helios Extended"/>
                  <a:sym typeface="Helios Extended"/>
                </a:rPr>
                <a:t>Macro F1 </a:t>
              </a:r>
            </a:p>
            <a:p>
              <a:pPr algn="ctr">
                <a:lnSpc>
                  <a:spcPts val="2040"/>
                </a:lnSpc>
              </a:pPr>
              <a:r>
                <a:rPr lang="en-US" sz="1700">
                  <a:solidFill>
                    <a:srgbClr val="000000"/>
                  </a:solidFill>
                  <a:latin typeface="Helios Extended"/>
                  <a:ea typeface="Helios Extended"/>
                  <a:cs typeface="Helios Extended"/>
                  <a:sym typeface="Helios Extended"/>
                </a:rPr>
                <a:t>LLM-as-a-judge </a:t>
              </a:r>
            </a:p>
          </p:txBody>
        </p:sp>
      </p:grpSp>
      <p:grpSp>
        <p:nvGrpSpPr>
          <p:cNvPr name="Group 110" id="110"/>
          <p:cNvGrpSpPr/>
          <p:nvPr/>
        </p:nvGrpSpPr>
        <p:grpSpPr>
          <a:xfrm rot="0">
            <a:off x="457200" y="6897523"/>
            <a:ext cx="16642080" cy="2942042"/>
            <a:chOff x="0" y="0"/>
            <a:chExt cx="22189440" cy="3922722"/>
          </a:xfrm>
        </p:grpSpPr>
        <p:sp>
          <p:nvSpPr>
            <p:cNvPr name="Freeform 111" id="111"/>
            <p:cNvSpPr/>
            <p:nvPr/>
          </p:nvSpPr>
          <p:spPr>
            <a:xfrm flipH="false" flipV="false" rot="0">
              <a:off x="0" y="0"/>
              <a:ext cx="22189439" cy="3922723"/>
            </a:xfrm>
            <a:custGeom>
              <a:avLst/>
              <a:gdLst/>
              <a:ahLst/>
              <a:cxnLst/>
              <a:rect r="r" b="b" t="t" l="l"/>
              <a:pathLst>
                <a:path h="3922723" w="22189439">
                  <a:moveTo>
                    <a:pt x="0" y="0"/>
                  </a:moveTo>
                  <a:lnTo>
                    <a:pt x="22189439" y="0"/>
                  </a:lnTo>
                  <a:lnTo>
                    <a:pt x="22189439" y="3922723"/>
                  </a:lnTo>
                  <a:lnTo>
                    <a:pt x="0" y="3922723"/>
                  </a:lnTo>
                  <a:close/>
                </a:path>
              </a:pathLst>
            </a:custGeom>
            <a:solidFill>
              <a:srgbClr val="F2F1F1"/>
            </a:solidFill>
          </p:spPr>
        </p:sp>
      </p:grpSp>
      <p:grpSp>
        <p:nvGrpSpPr>
          <p:cNvPr name="Group 112" id="112"/>
          <p:cNvGrpSpPr/>
          <p:nvPr/>
        </p:nvGrpSpPr>
        <p:grpSpPr>
          <a:xfrm rot="0">
            <a:off x="457200" y="6897523"/>
            <a:ext cx="16642080" cy="822960"/>
            <a:chOff x="0" y="0"/>
            <a:chExt cx="22189440" cy="1097280"/>
          </a:xfrm>
        </p:grpSpPr>
        <p:sp>
          <p:nvSpPr>
            <p:cNvPr name="Freeform 113" id="113"/>
            <p:cNvSpPr/>
            <p:nvPr/>
          </p:nvSpPr>
          <p:spPr>
            <a:xfrm flipH="false" flipV="false" rot="0">
              <a:off x="0" y="0"/>
              <a:ext cx="22189441" cy="1097280"/>
            </a:xfrm>
            <a:custGeom>
              <a:avLst/>
              <a:gdLst/>
              <a:ahLst/>
              <a:cxnLst/>
              <a:rect r="r" b="b" t="t" l="l"/>
              <a:pathLst>
                <a:path h="1097280" w="22189441">
                  <a:moveTo>
                    <a:pt x="0" y="0"/>
                  </a:moveTo>
                  <a:lnTo>
                    <a:pt x="22189441" y="0"/>
                  </a:lnTo>
                  <a:lnTo>
                    <a:pt x="22189441" y="1097280"/>
                  </a:lnTo>
                  <a:lnTo>
                    <a:pt x="0" y="1097280"/>
                  </a:lnTo>
                  <a:close/>
                </a:path>
              </a:pathLst>
            </a:custGeom>
            <a:solidFill>
              <a:srgbClr val="D97706"/>
            </a:solidFill>
          </p:spPr>
        </p:sp>
      </p:grpSp>
      <p:sp>
        <p:nvSpPr>
          <p:cNvPr name="TextBox 114" id="114"/>
          <p:cNvSpPr txBox="true"/>
          <p:nvPr/>
        </p:nvSpPr>
        <p:spPr>
          <a:xfrm rot="0">
            <a:off x="822960" y="7109168"/>
            <a:ext cx="6327106" cy="390525"/>
          </a:xfrm>
          <a:prstGeom prst="rect">
            <a:avLst/>
          </a:prstGeom>
        </p:spPr>
        <p:txBody>
          <a:bodyPr anchor="t" rtlCol="false" tIns="0" lIns="0" bIns="0" rIns="0">
            <a:spAutoFit/>
          </a:bodyPr>
          <a:lstStyle/>
          <a:p>
            <a:pPr algn="l">
              <a:lnSpc>
                <a:spcPts val="2999"/>
              </a:lnSpc>
              <a:spcBef>
                <a:spcPct val="0"/>
              </a:spcBef>
            </a:pPr>
            <a:r>
              <a:rPr lang="en-US" b="true" sz="2499">
                <a:solidFill>
                  <a:srgbClr val="FFFFFF"/>
                </a:solidFill>
                <a:latin typeface="Helios Extended Bold"/>
                <a:ea typeface="Helios Extended Bold"/>
                <a:cs typeface="Helios Extended Bold"/>
                <a:sym typeface="Helios Extended Bold"/>
              </a:rPr>
              <a:t>Judge 5 Dimension Criterion </a:t>
            </a:r>
          </a:p>
        </p:txBody>
      </p:sp>
      <p:sp>
        <p:nvSpPr>
          <p:cNvPr name="TextBox 115" id="115"/>
          <p:cNvSpPr txBox="true"/>
          <p:nvPr/>
        </p:nvSpPr>
        <p:spPr>
          <a:xfrm rot="0">
            <a:off x="444503" y="7768108"/>
            <a:ext cx="16006810" cy="1916744"/>
          </a:xfrm>
          <a:prstGeom prst="rect">
            <a:avLst/>
          </a:prstGeom>
        </p:spPr>
        <p:txBody>
          <a:bodyPr anchor="t" rtlCol="false" tIns="0" lIns="0" bIns="0" rIns="0">
            <a:spAutoFit/>
          </a:bodyPr>
          <a:lstStyle/>
          <a:p>
            <a:pPr algn="l" marL="466917" indent="-233459" lvl="1">
              <a:lnSpc>
                <a:spcPts val="3027"/>
              </a:lnSpc>
              <a:buAutoNum type="arabicPeriod" startAt="1"/>
            </a:pPr>
            <a:r>
              <a:rPr lang="en-US" sz="2162">
                <a:solidFill>
                  <a:srgbClr val="000000"/>
                </a:solidFill>
                <a:latin typeface="Helios Extended"/>
                <a:ea typeface="Helios Extended"/>
                <a:cs typeface="Helios Extended"/>
                <a:sym typeface="Helios Extended"/>
              </a:rPr>
              <a:t> Mechanism accuracy: does the reasoning correctly describe how something works?</a:t>
            </a:r>
          </a:p>
          <a:p>
            <a:pPr algn="l" marL="466917" indent="-233459" lvl="1">
              <a:lnSpc>
                <a:spcPts val="3027"/>
              </a:lnSpc>
              <a:buAutoNum type="arabicPeriod" startAt="1"/>
            </a:pPr>
            <a:r>
              <a:rPr lang="en-US" sz="2162">
                <a:solidFill>
                  <a:srgbClr val="000000"/>
                </a:solidFill>
                <a:latin typeface="Helios Extended"/>
                <a:ea typeface="Helios Extended"/>
                <a:cs typeface="Helios Extended"/>
                <a:sym typeface="Helios Extended"/>
              </a:rPr>
              <a:t> Causal chain quality: does the reasoning properly connect causes to effects in a logical sequence?</a:t>
            </a:r>
          </a:p>
          <a:p>
            <a:pPr algn="l" marL="466917" indent="-233459" lvl="1">
              <a:lnSpc>
                <a:spcPts val="3027"/>
              </a:lnSpc>
              <a:buAutoNum type="arabicPeriod" startAt="1"/>
            </a:pPr>
            <a:r>
              <a:rPr lang="en-US" sz="2162">
                <a:solidFill>
                  <a:srgbClr val="000000"/>
                </a:solidFill>
                <a:latin typeface="Helios Extended"/>
                <a:ea typeface="Helios Extended"/>
                <a:cs typeface="Helios Extended"/>
                <a:sym typeface="Helios Extended"/>
              </a:rPr>
              <a:t> Drug specificity: does it name specific enzymes, receptors, or transporters for each drug?</a:t>
            </a:r>
          </a:p>
          <a:p>
            <a:pPr algn="l" marL="466917" indent="-233459" lvl="1">
              <a:lnSpc>
                <a:spcPts val="3027"/>
              </a:lnSpc>
              <a:buAutoNum type="arabicPeriod" startAt="1"/>
            </a:pPr>
            <a:r>
              <a:rPr lang="en-US" sz="2162">
                <a:solidFill>
                  <a:srgbClr val="000000"/>
                </a:solidFill>
                <a:latin typeface="Helios Extended"/>
                <a:ea typeface="Helios Extended"/>
                <a:cs typeface="Helios Extended"/>
                <a:sym typeface="Helios Extended"/>
              </a:rPr>
              <a:t>Teaching value: does the explanation convey reasoning that applies beyond the specific example?</a:t>
            </a:r>
          </a:p>
          <a:p>
            <a:pPr algn="l" marL="466917" indent="-233459" lvl="1">
              <a:lnSpc>
                <a:spcPts val="3027"/>
              </a:lnSpc>
              <a:buAutoNum type="arabicPeriod" startAt="1"/>
            </a:pPr>
            <a:r>
              <a:rPr lang="en-US" sz="2162">
                <a:solidFill>
                  <a:srgbClr val="000000"/>
                </a:solidFill>
                <a:latin typeface="Helios Extended"/>
                <a:ea typeface="Helios Extended"/>
                <a:cs typeface="Helios Extended"/>
                <a:sym typeface="Helios Extended"/>
              </a:rPr>
              <a:t>Factual errors: hallucinations? (1 = major errors, 5 = none)</a:t>
            </a:r>
          </a:p>
        </p:txBody>
      </p:sp>
      <p:grpSp>
        <p:nvGrpSpPr>
          <p:cNvPr name="Group 116" id="116"/>
          <p:cNvGrpSpPr/>
          <p:nvPr/>
        </p:nvGrpSpPr>
        <p:grpSpPr>
          <a:xfrm rot="0">
            <a:off x="11966567" y="4634865"/>
            <a:ext cx="2430023" cy="1055908"/>
            <a:chOff x="0" y="0"/>
            <a:chExt cx="3240030" cy="1407877"/>
          </a:xfrm>
        </p:grpSpPr>
        <p:sp>
          <p:nvSpPr>
            <p:cNvPr name="Freeform 117" id="117"/>
            <p:cNvSpPr/>
            <p:nvPr/>
          </p:nvSpPr>
          <p:spPr>
            <a:xfrm flipH="false" flipV="false" rot="0">
              <a:off x="0" y="0"/>
              <a:ext cx="3240031" cy="1407877"/>
            </a:xfrm>
            <a:custGeom>
              <a:avLst/>
              <a:gdLst/>
              <a:ahLst/>
              <a:cxnLst/>
              <a:rect r="r" b="b" t="t" l="l"/>
              <a:pathLst>
                <a:path h="1407877" w="3240031">
                  <a:moveTo>
                    <a:pt x="0" y="0"/>
                  </a:moveTo>
                  <a:lnTo>
                    <a:pt x="3240031" y="0"/>
                  </a:lnTo>
                  <a:lnTo>
                    <a:pt x="3240031" y="1407877"/>
                  </a:lnTo>
                  <a:lnTo>
                    <a:pt x="0" y="1407877"/>
                  </a:lnTo>
                  <a:close/>
                </a:path>
              </a:pathLst>
            </a:custGeom>
            <a:blipFill>
              <a:blip r:embed="rId3">
                <a:alphaModFix amt="0"/>
              </a:blip>
              <a:stretch>
                <a:fillRect l="-22060" t="0" r="-13123" b="-21237"/>
              </a:stretch>
            </a:blipFill>
          </p:spPr>
        </p:sp>
        <p:sp>
          <p:nvSpPr>
            <p:cNvPr name="TextBox 118" id="118"/>
            <p:cNvSpPr txBox="true"/>
            <p:nvPr/>
          </p:nvSpPr>
          <p:spPr>
            <a:xfrm>
              <a:off x="0" y="-19050"/>
              <a:ext cx="3240030" cy="1426927"/>
            </a:xfrm>
            <a:prstGeom prst="rect">
              <a:avLst/>
            </a:prstGeom>
          </p:spPr>
          <p:txBody>
            <a:bodyPr anchor="ctr" rtlCol="false" tIns="0" lIns="0" bIns="0" rIns="0"/>
            <a:lstStyle/>
            <a:p>
              <a:pPr algn="ctr">
                <a:lnSpc>
                  <a:spcPts val="2639"/>
                </a:lnSpc>
              </a:pPr>
              <a:r>
                <a:rPr lang="en-US" sz="2199" b="true">
                  <a:solidFill>
                    <a:srgbClr val="000000"/>
                  </a:solidFill>
                  <a:latin typeface="Helios Extended Bold"/>
                  <a:ea typeface="Helios Extended Bold"/>
                  <a:cs typeface="Helios Extended Bold"/>
                  <a:sym typeface="Helios Extended Bold"/>
                </a:rPr>
                <a:t>Phase 2:</a:t>
              </a:r>
            </a:p>
            <a:p>
              <a:pPr algn="ctr">
                <a:lnSpc>
                  <a:spcPts val="2640"/>
                </a:lnSpc>
              </a:pPr>
              <a:r>
                <a:rPr lang="en-US" b="true" sz="2200">
                  <a:solidFill>
                    <a:srgbClr val="000000"/>
                  </a:solidFill>
                  <a:latin typeface="Helios Extended Bold"/>
                  <a:ea typeface="Helios Extended Bold"/>
                  <a:cs typeface="Helios Extended Bold"/>
                  <a:sym typeface="Helios Extended Bold"/>
                </a:rPr>
                <a:t>Reasoning</a:t>
              </a:r>
            </a:p>
          </p:txBody>
        </p:sp>
      </p:grpSp>
      <p:grpSp>
        <p:nvGrpSpPr>
          <p:cNvPr name="Group 119" id="119"/>
          <p:cNvGrpSpPr/>
          <p:nvPr/>
        </p:nvGrpSpPr>
        <p:grpSpPr>
          <a:xfrm rot="0">
            <a:off x="11376591" y="4838459"/>
            <a:ext cx="804672" cy="731520"/>
            <a:chOff x="0" y="0"/>
            <a:chExt cx="1072896" cy="975360"/>
          </a:xfrm>
        </p:grpSpPr>
        <p:sp>
          <p:nvSpPr>
            <p:cNvPr name="Freeform 120" id="120"/>
            <p:cNvSpPr/>
            <p:nvPr/>
          </p:nvSpPr>
          <p:spPr>
            <a:xfrm flipH="false" flipV="false" rot="0">
              <a:off x="0" y="0"/>
              <a:ext cx="1072896" cy="975360"/>
            </a:xfrm>
            <a:custGeom>
              <a:avLst/>
              <a:gdLst/>
              <a:ahLst/>
              <a:cxnLst/>
              <a:rect r="r" b="b" t="t" l="l"/>
              <a:pathLst>
                <a:path h="975360" w="1072896">
                  <a:moveTo>
                    <a:pt x="0" y="0"/>
                  </a:moveTo>
                  <a:lnTo>
                    <a:pt x="1072896" y="0"/>
                  </a:lnTo>
                  <a:lnTo>
                    <a:pt x="1072896" y="975360"/>
                  </a:lnTo>
                  <a:lnTo>
                    <a:pt x="0" y="975360"/>
                  </a:lnTo>
                  <a:close/>
                </a:path>
              </a:pathLst>
            </a:custGeom>
            <a:blipFill>
              <a:blip r:embed="rId3">
                <a:alphaModFix amt="0"/>
              </a:blip>
              <a:stretch>
                <a:fillRect l="-66639" t="0" r="-66639" b="0"/>
              </a:stretch>
            </a:blipFill>
          </p:spPr>
        </p:sp>
        <p:sp>
          <p:nvSpPr>
            <p:cNvPr name="TextBox 121" id="121"/>
            <p:cNvSpPr txBox="true"/>
            <p:nvPr/>
          </p:nvSpPr>
          <p:spPr>
            <a:xfrm>
              <a:off x="0" y="-19050"/>
              <a:ext cx="1072896" cy="994410"/>
            </a:xfrm>
            <a:prstGeom prst="rect">
              <a:avLst/>
            </a:prstGeom>
          </p:spPr>
          <p:txBody>
            <a:bodyPr anchor="ctr" rtlCol="false" tIns="0" lIns="0" bIns="0" rIns="0"/>
            <a:lstStyle/>
            <a:p>
              <a:pPr algn="ctr">
                <a:lnSpc>
                  <a:spcPts val="3840"/>
                </a:lnSpc>
              </a:pPr>
              <a:r>
                <a:rPr lang="en-US" b="true" sz="3200">
                  <a:solidFill>
                    <a:srgbClr val="000000"/>
                  </a:solidFill>
                  <a:latin typeface="Helios Extended Bold"/>
                  <a:ea typeface="Helios Extended Bold"/>
                  <a:cs typeface="Helios Extended Bold"/>
                  <a:sym typeface="Helios Extended Bold"/>
                </a:rPr>
                <a:t>→</a:t>
              </a:r>
            </a:p>
          </p:txBody>
        </p:sp>
      </p:grpSp>
      <p:grpSp>
        <p:nvGrpSpPr>
          <p:cNvPr name="Group 122" id="122"/>
          <p:cNvGrpSpPr/>
          <p:nvPr/>
        </p:nvGrpSpPr>
        <p:grpSpPr>
          <a:xfrm rot="0">
            <a:off x="10270167" y="3691890"/>
            <a:ext cx="2668900" cy="1061354"/>
            <a:chOff x="0" y="0"/>
            <a:chExt cx="3558534" cy="1415139"/>
          </a:xfrm>
        </p:grpSpPr>
        <p:sp>
          <p:nvSpPr>
            <p:cNvPr name="Freeform 123" id="123"/>
            <p:cNvSpPr/>
            <p:nvPr/>
          </p:nvSpPr>
          <p:spPr>
            <a:xfrm flipH="false" flipV="false" rot="0">
              <a:off x="0" y="0"/>
              <a:ext cx="3558534" cy="1415139"/>
            </a:xfrm>
            <a:custGeom>
              <a:avLst/>
              <a:gdLst/>
              <a:ahLst/>
              <a:cxnLst/>
              <a:rect r="r" b="b" t="t" l="l"/>
              <a:pathLst>
                <a:path h="1415139" w="3558534">
                  <a:moveTo>
                    <a:pt x="0" y="0"/>
                  </a:moveTo>
                  <a:lnTo>
                    <a:pt x="3558534" y="0"/>
                  </a:lnTo>
                  <a:lnTo>
                    <a:pt x="3558534" y="1415139"/>
                  </a:lnTo>
                  <a:lnTo>
                    <a:pt x="0" y="1415139"/>
                  </a:lnTo>
                  <a:close/>
                </a:path>
              </a:pathLst>
            </a:custGeom>
            <a:blipFill>
              <a:blip r:embed="rId3">
                <a:alphaModFix amt="0"/>
              </a:blip>
              <a:stretch>
                <a:fillRect l="-20085" t="0" r="-2998" b="-20615"/>
              </a:stretch>
            </a:blipFill>
          </p:spPr>
        </p:sp>
        <p:sp>
          <p:nvSpPr>
            <p:cNvPr name="TextBox 124" id="124"/>
            <p:cNvSpPr txBox="true"/>
            <p:nvPr/>
          </p:nvSpPr>
          <p:spPr>
            <a:xfrm>
              <a:off x="0" y="-19050"/>
              <a:ext cx="3558534" cy="1434189"/>
            </a:xfrm>
            <a:prstGeom prst="rect">
              <a:avLst/>
            </a:prstGeom>
          </p:spPr>
          <p:txBody>
            <a:bodyPr anchor="ctr" rtlCol="false" tIns="0" lIns="0" bIns="0" rIns="0"/>
            <a:lstStyle/>
            <a:p>
              <a:pPr algn="ctr">
                <a:lnSpc>
                  <a:spcPts val="2640"/>
                </a:lnSpc>
              </a:pPr>
              <a:r>
                <a:rPr lang="en-US" sz="2200" b="true">
                  <a:solidFill>
                    <a:srgbClr val="000000"/>
                  </a:solidFill>
                  <a:latin typeface="Helios Extended Bold"/>
                  <a:ea typeface="Helios Extended Bold"/>
                  <a:cs typeface="Helios Extended Bold"/>
                  <a:sym typeface="Helios Extended Bold"/>
                </a:rPr>
                <a:t>Student Model</a:t>
              </a:r>
            </a:p>
          </p:txBody>
        </p:sp>
      </p:grpSp>
      <p:sp>
        <p:nvSpPr>
          <p:cNvPr name="TextBox 125" id="12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658368"/>
            <a:ext cx="14264640" cy="1097280"/>
            <a:chOff x="0" y="0"/>
            <a:chExt cx="19019520" cy="1463040"/>
          </a:xfrm>
        </p:grpSpPr>
        <p:sp>
          <p:nvSpPr>
            <p:cNvPr name="Freeform 3" id="3"/>
            <p:cNvSpPr/>
            <p:nvPr/>
          </p:nvSpPr>
          <p:spPr>
            <a:xfrm flipH="false" flipV="false" rot="0">
              <a:off x="0" y="0"/>
              <a:ext cx="19019520" cy="1463040"/>
            </a:xfrm>
            <a:custGeom>
              <a:avLst/>
              <a:gdLst/>
              <a:ahLst/>
              <a:cxnLst/>
              <a:rect r="r" b="b" t="t" l="l"/>
              <a:pathLst>
                <a:path h="1463040" w="19019520">
                  <a:moveTo>
                    <a:pt x="0" y="0"/>
                  </a:moveTo>
                  <a:lnTo>
                    <a:pt x="19019520" y="0"/>
                  </a:lnTo>
                  <a:lnTo>
                    <a:pt x="19019520" y="1463040"/>
                  </a:lnTo>
                  <a:lnTo>
                    <a:pt x="0" y="1463040"/>
                  </a:lnTo>
                  <a:close/>
                </a:path>
              </a:pathLst>
            </a:custGeom>
            <a:blipFill>
              <a:blip r:embed="rId3">
                <a:alphaModFix amt="0"/>
              </a:blip>
              <a:stretch>
                <a:fillRect l="0" t="-203305" r="0" b="-203305"/>
              </a:stretch>
            </a:blipFill>
          </p:spPr>
        </p:sp>
        <p:sp>
          <p:nvSpPr>
            <p:cNvPr name="TextBox 4" id="4"/>
            <p:cNvSpPr txBox="true"/>
            <p:nvPr/>
          </p:nvSpPr>
          <p:spPr>
            <a:xfrm>
              <a:off x="0" y="-47625"/>
              <a:ext cx="19019520" cy="1510665"/>
            </a:xfrm>
            <a:prstGeom prst="rect">
              <a:avLst/>
            </a:prstGeom>
          </p:spPr>
          <p:txBody>
            <a:bodyPr anchor="ctr" rtlCol="false" tIns="0" lIns="0" bIns="0" rIns="0"/>
            <a:lstStyle/>
            <a:p>
              <a:pPr algn="l">
                <a:lnSpc>
                  <a:spcPts val="6240"/>
                </a:lnSpc>
              </a:pPr>
              <a:r>
                <a:rPr lang="en-US" sz="5200" b="true">
                  <a:solidFill>
                    <a:srgbClr val="000000"/>
                  </a:solidFill>
                  <a:latin typeface="Helios Extended Bold"/>
                  <a:ea typeface="Helios Extended Bold"/>
                  <a:cs typeface="Helios Extended Bold"/>
                  <a:sym typeface="Helios Extended Bold"/>
                </a:rPr>
                <a:t>Model Selection</a:t>
              </a:r>
            </a:p>
          </p:txBody>
        </p:sp>
      </p:grpSp>
      <p:grpSp>
        <p:nvGrpSpPr>
          <p:cNvPr name="Group 5" id="5"/>
          <p:cNvGrpSpPr/>
          <p:nvPr/>
        </p:nvGrpSpPr>
        <p:grpSpPr>
          <a:xfrm rot="0">
            <a:off x="15544800" y="365760"/>
            <a:ext cx="2377440" cy="585216"/>
            <a:chOff x="0" y="0"/>
            <a:chExt cx="3169920" cy="780288"/>
          </a:xfrm>
        </p:grpSpPr>
        <p:sp>
          <p:nvSpPr>
            <p:cNvPr name="Freeform 6" id="6"/>
            <p:cNvSpPr/>
            <p:nvPr/>
          </p:nvSpPr>
          <p:spPr>
            <a:xfrm flipH="false" flipV="false" rot="0">
              <a:off x="0" y="0"/>
              <a:ext cx="3169920" cy="780288"/>
            </a:xfrm>
            <a:custGeom>
              <a:avLst/>
              <a:gdLst/>
              <a:ahLst/>
              <a:cxnLst/>
              <a:rect r="r" b="b" t="t" l="l"/>
              <a:pathLst>
                <a:path h="780288" w="3169920">
                  <a:moveTo>
                    <a:pt x="0" y="121920"/>
                  </a:moveTo>
                  <a:cubicBezTo>
                    <a:pt x="0" y="54610"/>
                    <a:pt x="54610" y="0"/>
                    <a:pt x="121920" y="0"/>
                  </a:cubicBezTo>
                  <a:lnTo>
                    <a:pt x="3048000" y="0"/>
                  </a:lnTo>
                  <a:cubicBezTo>
                    <a:pt x="3115310" y="0"/>
                    <a:pt x="3169920" y="54610"/>
                    <a:pt x="3169920" y="121920"/>
                  </a:cubicBezTo>
                  <a:lnTo>
                    <a:pt x="3169920" y="658368"/>
                  </a:lnTo>
                  <a:cubicBezTo>
                    <a:pt x="3169920" y="725678"/>
                    <a:pt x="3115310" y="780288"/>
                    <a:pt x="3048000" y="780288"/>
                  </a:cubicBezTo>
                  <a:lnTo>
                    <a:pt x="121920" y="780288"/>
                  </a:lnTo>
                  <a:cubicBezTo>
                    <a:pt x="54610" y="780288"/>
                    <a:pt x="0" y="725678"/>
                    <a:pt x="0" y="658368"/>
                  </a:cubicBezTo>
                  <a:close/>
                </a:path>
              </a:pathLst>
            </a:custGeom>
            <a:solidFill>
              <a:srgbClr val="3D4D55"/>
            </a:solidFill>
          </p:spPr>
        </p:sp>
      </p:grpSp>
      <p:grpSp>
        <p:nvGrpSpPr>
          <p:cNvPr name="Group 7" id="7"/>
          <p:cNvGrpSpPr/>
          <p:nvPr/>
        </p:nvGrpSpPr>
        <p:grpSpPr>
          <a:xfrm rot="0">
            <a:off x="15544800" y="402336"/>
            <a:ext cx="2377440" cy="512064"/>
            <a:chOff x="0" y="0"/>
            <a:chExt cx="3169920" cy="682752"/>
          </a:xfrm>
        </p:grpSpPr>
        <p:sp>
          <p:nvSpPr>
            <p:cNvPr name="Freeform 8" id="8"/>
            <p:cNvSpPr/>
            <p:nvPr/>
          </p:nvSpPr>
          <p:spPr>
            <a:xfrm flipH="false" flipV="false" rot="0">
              <a:off x="0" y="0"/>
              <a:ext cx="3169920" cy="682752"/>
            </a:xfrm>
            <a:custGeom>
              <a:avLst/>
              <a:gdLst/>
              <a:ahLst/>
              <a:cxnLst/>
              <a:rect r="r" b="b" t="t" l="l"/>
              <a:pathLst>
                <a:path h="682752" w="3169920">
                  <a:moveTo>
                    <a:pt x="0" y="0"/>
                  </a:moveTo>
                  <a:lnTo>
                    <a:pt x="3169920" y="0"/>
                  </a:lnTo>
                  <a:lnTo>
                    <a:pt x="3169920" y="682752"/>
                  </a:lnTo>
                  <a:lnTo>
                    <a:pt x="0" y="682752"/>
                  </a:lnTo>
                  <a:close/>
                </a:path>
              </a:pathLst>
            </a:custGeom>
            <a:blipFill>
              <a:blip r:embed="rId3">
                <a:alphaModFix amt="0"/>
              </a:blip>
              <a:stretch>
                <a:fillRect l="0" t="-40466" r="0" b="-40466"/>
              </a:stretch>
            </a:blipFill>
          </p:spPr>
        </p:sp>
        <p:sp>
          <p:nvSpPr>
            <p:cNvPr name="TextBox 9" id="9"/>
            <p:cNvSpPr txBox="true"/>
            <p:nvPr/>
          </p:nvSpPr>
          <p:spPr>
            <a:xfrm>
              <a:off x="0" y="-9525"/>
              <a:ext cx="3169920" cy="692277"/>
            </a:xfrm>
            <a:prstGeom prst="rect">
              <a:avLst/>
            </a:prstGeom>
          </p:spPr>
          <p:txBody>
            <a:bodyPr anchor="ctr" rtlCol="false" tIns="0" lIns="0" bIns="0" rIns="0"/>
            <a:lstStyle/>
            <a:p>
              <a:pPr algn="ctr">
                <a:lnSpc>
                  <a:spcPts val="2160"/>
                </a:lnSpc>
              </a:pPr>
              <a:r>
                <a:rPr lang="en-US" sz="1800" b="true">
                  <a:solidFill>
                    <a:srgbClr val="FFFFFF"/>
                  </a:solidFill>
                  <a:latin typeface="Helios Extended Bold"/>
                  <a:ea typeface="Helios Extended Bold"/>
                  <a:cs typeface="Helios Extended Bold"/>
                  <a:sym typeface="Helios Extended Bold"/>
                </a:rPr>
                <a:t>3. Methodology</a:t>
              </a:r>
            </a:p>
          </p:txBody>
        </p:sp>
      </p:grpSp>
      <p:grpSp>
        <p:nvGrpSpPr>
          <p:cNvPr name="Group 10" id="10"/>
          <p:cNvGrpSpPr/>
          <p:nvPr/>
        </p:nvGrpSpPr>
        <p:grpSpPr>
          <a:xfrm rot="0">
            <a:off x="675380" y="2269998"/>
            <a:ext cx="2900686" cy="7205070"/>
            <a:chOff x="0" y="0"/>
            <a:chExt cx="3867582" cy="9606760"/>
          </a:xfrm>
        </p:grpSpPr>
        <p:sp>
          <p:nvSpPr>
            <p:cNvPr name="Freeform 11" id="11"/>
            <p:cNvSpPr/>
            <p:nvPr/>
          </p:nvSpPr>
          <p:spPr>
            <a:xfrm flipH="false" flipV="false" rot="0">
              <a:off x="19643" y="28760"/>
              <a:ext cx="3828192" cy="9549089"/>
            </a:xfrm>
            <a:custGeom>
              <a:avLst/>
              <a:gdLst/>
              <a:ahLst/>
              <a:cxnLst/>
              <a:rect r="r" b="b" t="t" l="l"/>
              <a:pathLst>
                <a:path h="9549089" w="3828192">
                  <a:moveTo>
                    <a:pt x="0" y="0"/>
                  </a:moveTo>
                  <a:lnTo>
                    <a:pt x="3828192" y="0"/>
                  </a:lnTo>
                  <a:lnTo>
                    <a:pt x="3828192" y="9549089"/>
                  </a:lnTo>
                  <a:lnTo>
                    <a:pt x="0" y="9549089"/>
                  </a:lnTo>
                  <a:close/>
                </a:path>
              </a:pathLst>
            </a:custGeom>
            <a:solidFill>
              <a:srgbClr val="FFFFFF"/>
            </a:solidFill>
          </p:spPr>
        </p:sp>
        <p:sp>
          <p:nvSpPr>
            <p:cNvPr name="Freeform 12" id="12"/>
            <p:cNvSpPr/>
            <p:nvPr/>
          </p:nvSpPr>
          <p:spPr>
            <a:xfrm flipH="false" flipV="false" rot="0">
              <a:off x="0" y="0"/>
              <a:ext cx="3867479" cy="9606609"/>
            </a:xfrm>
            <a:custGeom>
              <a:avLst/>
              <a:gdLst/>
              <a:ahLst/>
              <a:cxnLst/>
              <a:rect r="r" b="b" t="t" l="l"/>
              <a:pathLst>
                <a:path h="9606609" w="3867479">
                  <a:moveTo>
                    <a:pt x="19643" y="0"/>
                  </a:moveTo>
                  <a:lnTo>
                    <a:pt x="3847835" y="0"/>
                  </a:lnTo>
                  <a:cubicBezTo>
                    <a:pt x="3858765" y="0"/>
                    <a:pt x="3867479" y="12974"/>
                    <a:pt x="3867479" y="28760"/>
                  </a:cubicBezTo>
                  <a:lnTo>
                    <a:pt x="3867479" y="9577849"/>
                  </a:lnTo>
                  <a:cubicBezTo>
                    <a:pt x="3867479" y="9593851"/>
                    <a:pt x="3858617" y="9606609"/>
                    <a:pt x="3847835" y="9606609"/>
                  </a:cubicBezTo>
                  <a:lnTo>
                    <a:pt x="19643" y="9606609"/>
                  </a:lnTo>
                  <a:cubicBezTo>
                    <a:pt x="8714" y="9606609"/>
                    <a:pt x="0" y="9593635"/>
                    <a:pt x="0" y="9577849"/>
                  </a:cubicBezTo>
                  <a:lnTo>
                    <a:pt x="0" y="28760"/>
                  </a:lnTo>
                  <a:cubicBezTo>
                    <a:pt x="0" y="12974"/>
                    <a:pt x="8862" y="0"/>
                    <a:pt x="19643" y="0"/>
                  </a:cubicBezTo>
                  <a:moveTo>
                    <a:pt x="19643" y="57736"/>
                  </a:moveTo>
                  <a:lnTo>
                    <a:pt x="19643" y="28760"/>
                  </a:lnTo>
                  <a:lnTo>
                    <a:pt x="39434" y="28760"/>
                  </a:lnTo>
                  <a:lnTo>
                    <a:pt x="39434" y="9577849"/>
                  </a:lnTo>
                  <a:lnTo>
                    <a:pt x="19643" y="9577849"/>
                  </a:lnTo>
                  <a:lnTo>
                    <a:pt x="19643" y="9549089"/>
                  </a:lnTo>
                  <a:lnTo>
                    <a:pt x="3847835" y="9549089"/>
                  </a:lnTo>
                  <a:lnTo>
                    <a:pt x="3847835" y="9577849"/>
                  </a:lnTo>
                  <a:lnTo>
                    <a:pt x="3828192" y="9577849"/>
                  </a:lnTo>
                  <a:lnTo>
                    <a:pt x="3828192" y="28760"/>
                  </a:lnTo>
                  <a:lnTo>
                    <a:pt x="3847835" y="28760"/>
                  </a:lnTo>
                  <a:lnTo>
                    <a:pt x="3847835" y="57736"/>
                  </a:lnTo>
                  <a:lnTo>
                    <a:pt x="19643" y="57736"/>
                  </a:lnTo>
                  <a:close/>
                </a:path>
              </a:pathLst>
            </a:custGeom>
            <a:solidFill>
              <a:srgbClr val="E2E8F0"/>
            </a:solidFill>
          </p:spPr>
        </p:sp>
      </p:grpSp>
      <p:grpSp>
        <p:nvGrpSpPr>
          <p:cNvPr name="Group 13" id="13"/>
          <p:cNvGrpSpPr/>
          <p:nvPr/>
        </p:nvGrpSpPr>
        <p:grpSpPr>
          <a:xfrm rot="0">
            <a:off x="675380" y="2304489"/>
            <a:ext cx="2900686" cy="822960"/>
            <a:chOff x="0" y="0"/>
            <a:chExt cx="3867582" cy="1097280"/>
          </a:xfrm>
        </p:grpSpPr>
        <p:sp>
          <p:nvSpPr>
            <p:cNvPr name="Freeform 14" id="14"/>
            <p:cNvSpPr/>
            <p:nvPr/>
          </p:nvSpPr>
          <p:spPr>
            <a:xfrm flipH="false" flipV="false" rot="0">
              <a:off x="0" y="0"/>
              <a:ext cx="3867582" cy="1097280"/>
            </a:xfrm>
            <a:custGeom>
              <a:avLst/>
              <a:gdLst/>
              <a:ahLst/>
              <a:cxnLst/>
              <a:rect r="r" b="b" t="t" l="l"/>
              <a:pathLst>
                <a:path h="1097280" w="3867582">
                  <a:moveTo>
                    <a:pt x="0" y="0"/>
                  </a:moveTo>
                  <a:lnTo>
                    <a:pt x="3867582" y="0"/>
                  </a:lnTo>
                  <a:lnTo>
                    <a:pt x="3867582" y="1097280"/>
                  </a:lnTo>
                  <a:lnTo>
                    <a:pt x="0" y="1097280"/>
                  </a:lnTo>
                  <a:close/>
                </a:path>
              </a:pathLst>
            </a:custGeom>
            <a:solidFill>
              <a:srgbClr val="0474B5"/>
            </a:solidFill>
          </p:spPr>
        </p:sp>
      </p:grpSp>
      <p:grpSp>
        <p:nvGrpSpPr>
          <p:cNvPr name="Group 15" id="15"/>
          <p:cNvGrpSpPr/>
          <p:nvPr/>
        </p:nvGrpSpPr>
        <p:grpSpPr>
          <a:xfrm rot="0">
            <a:off x="3976116" y="2269998"/>
            <a:ext cx="3018663" cy="7205070"/>
            <a:chOff x="0" y="0"/>
            <a:chExt cx="4024884" cy="9606760"/>
          </a:xfrm>
        </p:grpSpPr>
        <p:sp>
          <p:nvSpPr>
            <p:cNvPr name="Freeform 16" id="16"/>
            <p:cNvSpPr/>
            <p:nvPr/>
          </p:nvSpPr>
          <p:spPr>
            <a:xfrm flipH="false" flipV="false" rot="0">
              <a:off x="20442" y="28760"/>
              <a:ext cx="3983892" cy="9549089"/>
            </a:xfrm>
            <a:custGeom>
              <a:avLst/>
              <a:gdLst/>
              <a:ahLst/>
              <a:cxnLst/>
              <a:rect r="r" b="b" t="t" l="l"/>
              <a:pathLst>
                <a:path h="9549089" w="3983892">
                  <a:moveTo>
                    <a:pt x="0" y="0"/>
                  </a:moveTo>
                  <a:lnTo>
                    <a:pt x="3983892" y="0"/>
                  </a:lnTo>
                  <a:lnTo>
                    <a:pt x="3983892" y="9549089"/>
                  </a:lnTo>
                  <a:lnTo>
                    <a:pt x="0" y="9549089"/>
                  </a:lnTo>
                  <a:close/>
                </a:path>
              </a:pathLst>
            </a:custGeom>
            <a:solidFill>
              <a:srgbClr val="FFFFFF"/>
            </a:solidFill>
          </p:spPr>
        </p:sp>
        <p:sp>
          <p:nvSpPr>
            <p:cNvPr name="Freeform 17" id="17"/>
            <p:cNvSpPr/>
            <p:nvPr/>
          </p:nvSpPr>
          <p:spPr>
            <a:xfrm flipH="false" flipV="false" rot="0">
              <a:off x="0" y="0"/>
              <a:ext cx="4024777" cy="9606609"/>
            </a:xfrm>
            <a:custGeom>
              <a:avLst/>
              <a:gdLst/>
              <a:ahLst/>
              <a:cxnLst/>
              <a:rect r="r" b="b" t="t" l="l"/>
              <a:pathLst>
                <a:path h="9606609" w="4024777">
                  <a:moveTo>
                    <a:pt x="20442" y="0"/>
                  </a:moveTo>
                  <a:lnTo>
                    <a:pt x="4004334" y="0"/>
                  </a:lnTo>
                  <a:cubicBezTo>
                    <a:pt x="4015708" y="0"/>
                    <a:pt x="4024777" y="12974"/>
                    <a:pt x="4024777" y="28760"/>
                  </a:cubicBezTo>
                  <a:lnTo>
                    <a:pt x="4024777" y="9577849"/>
                  </a:lnTo>
                  <a:cubicBezTo>
                    <a:pt x="4024777" y="9593851"/>
                    <a:pt x="4015555" y="9606609"/>
                    <a:pt x="4004334" y="9606609"/>
                  </a:cubicBezTo>
                  <a:lnTo>
                    <a:pt x="20442" y="9606609"/>
                  </a:lnTo>
                  <a:cubicBezTo>
                    <a:pt x="9068" y="9606609"/>
                    <a:pt x="0" y="9593635"/>
                    <a:pt x="0" y="9577849"/>
                  </a:cubicBezTo>
                  <a:lnTo>
                    <a:pt x="0" y="28760"/>
                  </a:lnTo>
                  <a:cubicBezTo>
                    <a:pt x="0" y="12974"/>
                    <a:pt x="9222" y="0"/>
                    <a:pt x="20442" y="0"/>
                  </a:cubicBezTo>
                  <a:moveTo>
                    <a:pt x="20442" y="57736"/>
                  </a:moveTo>
                  <a:lnTo>
                    <a:pt x="20442" y="28760"/>
                  </a:lnTo>
                  <a:lnTo>
                    <a:pt x="41038" y="28760"/>
                  </a:lnTo>
                  <a:lnTo>
                    <a:pt x="41038" y="9577849"/>
                  </a:lnTo>
                  <a:lnTo>
                    <a:pt x="20442" y="9577849"/>
                  </a:lnTo>
                  <a:lnTo>
                    <a:pt x="20442" y="9549089"/>
                  </a:lnTo>
                  <a:lnTo>
                    <a:pt x="4004334" y="9549089"/>
                  </a:lnTo>
                  <a:lnTo>
                    <a:pt x="4004334" y="9577849"/>
                  </a:lnTo>
                  <a:lnTo>
                    <a:pt x="3983892" y="9577849"/>
                  </a:lnTo>
                  <a:lnTo>
                    <a:pt x="3983892" y="28760"/>
                  </a:lnTo>
                  <a:lnTo>
                    <a:pt x="4004334" y="28760"/>
                  </a:lnTo>
                  <a:lnTo>
                    <a:pt x="4004334" y="57736"/>
                  </a:lnTo>
                  <a:lnTo>
                    <a:pt x="20442" y="57736"/>
                  </a:lnTo>
                  <a:close/>
                </a:path>
              </a:pathLst>
            </a:custGeom>
            <a:solidFill>
              <a:srgbClr val="E2E8F0"/>
            </a:solidFill>
          </p:spPr>
        </p:sp>
      </p:grpSp>
      <p:grpSp>
        <p:nvGrpSpPr>
          <p:cNvPr name="Group 18" id="18"/>
          <p:cNvGrpSpPr/>
          <p:nvPr/>
        </p:nvGrpSpPr>
        <p:grpSpPr>
          <a:xfrm rot="0">
            <a:off x="3976116" y="2269998"/>
            <a:ext cx="3018663" cy="822960"/>
            <a:chOff x="0" y="0"/>
            <a:chExt cx="4024884" cy="1097280"/>
          </a:xfrm>
        </p:grpSpPr>
        <p:sp>
          <p:nvSpPr>
            <p:cNvPr name="Freeform 19" id="19"/>
            <p:cNvSpPr/>
            <p:nvPr/>
          </p:nvSpPr>
          <p:spPr>
            <a:xfrm flipH="false" flipV="false" rot="0">
              <a:off x="0" y="0"/>
              <a:ext cx="4024884" cy="1097280"/>
            </a:xfrm>
            <a:custGeom>
              <a:avLst/>
              <a:gdLst/>
              <a:ahLst/>
              <a:cxnLst/>
              <a:rect r="r" b="b" t="t" l="l"/>
              <a:pathLst>
                <a:path h="1097280" w="4024884">
                  <a:moveTo>
                    <a:pt x="0" y="0"/>
                  </a:moveTo>
                  <a:lnTo>
                    <a:pt x="4024884" y="0"/>
                  </a:lnTo>
                  <a:lnTo>
                    <a:pt x="4024884" y="1097280"/>
                  </a:lnTo>
                  <a:lnTo>
                    <a:pt x="0" y="1097280"/>
                  </a:lnTo>
                  <a:close/>
                </a:path>
              </a:pathLst>
            </a:custGeom>
            <a:solidFill>
              <a:srgbClr val="D97706"/>
            </a:solidFill>
          </p:spPr>
        </p:sp>
      </p:grpSp>
      <p:grpSp>
        <p:nvGrpSpPr>
          <p:cNvPr name="Group 20" id="20"/>
          <p:cNvGrpSpPr/>
          <p:nvPr/>
        </p:nvGrpSpPr>
        <p:grpSpPr>
          <a:xfrm rot="0">
            <a:off x="7328154" y="2304489"/>
            <a:ext cx="3010609" cy="7205070"/>
            <a:chOff x="0" y="0"/>
            <a:chExt cx="4014146" cy="9606760"/>
          </a:xfrm>
        </p:grpSpPr>
        <p:sp>
          <p:nvSpPr>
            <p:cNvPr name="Freeform 21" id="21"/>
            <p:cNvSpPr/>
            <p:nvPr/>
          </p:nvSpPr>
          <p:spPr>
            <a:xfrm flipH="false" flipV="false" rot="0">
              <a:off x="20388" y="28760"/>
              <a:ext cx="3973263" cy="9549089"/>
            </a:xfrm>
            <a:custGeom>
              <a:avLst/>
              <a:gdLst/>
              <a:ahLst/>
              <a:cxnLst/>
              <a:rect r="r" b="b" t="t" l="l"/>
              <a:pathLst>
                <a:path h="9549089" w="3973263">
                  <a:moveTo>
                    <a:pt x="0" y="0"/>
                  </a:moveTo>
                  <a:lnTo>
                    <a:pt x="3973263" y="0"/>
                  </a:lnTo>
                  <a:lnTo>
                    <a:pt x="3973263" y="9549089"/>
                  </a:lnTo>
                  <a:lnTo>
                    <a:pt x="0" y="9549089"/>
                  </a:lnTo>
                  <a:close/>
                </a:path>
              </a:pathLst>
            </a:custGeom>
            <a:solidFill>
              <a:srgbClr val="FFFFFF"/>
            </a:solidFill>
          </p:spPr>
        </p:sp>
        <p:sp>
          <p:nvSpPr>
            <p:cNvPr name="Freeform 22" id="22"/>
            <p:cNvSpPr/>
            <p:nvPr/>
          </p:nvSpPr>
          <p:spPr>
            <a:xfrm flipH="false" flipV="false" rot="0">
              <a:off x="0" y="0"/>
              <a:ext cx="4014039" cy="9606609"/>
            </a:xfrm>
            <a:custGeom>
              <a:avLst/>
              <a:gdLst/>
              <a:ahLst/>
              <a:cxnLst/>
              <a:rect r="r" b="b" t="t" l="l"/>
              <a:pathLst>
                <a:path h="9606609" w="4014039">
                  <a:moveTo>
                    <a:pt x="20388" y="0"/>
                  </a:moveTo>
                  <a:lnTo>
                    <a:pt x="3993651" y="0"/>
                  </a:lnTo>
                  <a:cubicBezTo>
                    <a:pt x="4004995" y="0"/>
                    <a:pt x="4014039" y="12974"/>
                    <a:pt x="4014039" y="28760"/>
                  </a:cubicBezTo>
                  <a:lnTo>
                    <a:pt x="4014039" y="9577849"/>
                  </a:lnTo>
                  <a:cubicBezTo>
                    <a:pt x="4014039" y="9593851"/>
                    <a:pt x="4004841" y="9606609"/>
                    <a:pt x="3993651" y="9606609"/>
                  </a:cubicBezTo>
                  <a:lnTo>
                    <a:pt x="20388" y="9606609"/>
                  </a:lnTo>
                  <a:cubicBezTo>
                    <a:pt x="9044" y="9606609"/>
                    <a:pt x="0" y="9593635"/>
                    <a:pt x="0" y="9577849"/>
                  </a:cubicBezTo>
                  <a:lnTo>
                    <a:pt x="0" y="28760"/>
                  </a:lnTo>
                  <a:cubicBezTo>
                    <a:pt x="0" y="12974"/>
                    <a:pt x="9197" y="0"/>
                    <a:pt x="20388" y="0"/>
                  </a:cubicBezTo>
                  <a:moveTo>
                    <a:pt x="20388" y="57736"/>
                  </a:moveTo>
                  <a:lnTo>
                    <a:pt x="20388" y="28760"/>
                  </a:lnTo>
                  <a:lnTo>
                    <a:pt x="40928" y="28760"/>
                  </a:lnTo>
                  <a:lnTo>
                    <a:pt x="40928" y="9577849"/>
                  </a:lnTo>
                  <a:lnTo>
                    <a:pt x="20388" y="9577849"/>
                  </a:lnTo>
                  <a:lnTo>
                    <a:pt x="20388" y="9549089"/>
                  </a:lnTo>
                  <a:lnTo>
                    <a:pt x="3993651" y="9549089"/>
                  </a:lnTo>
                  <a:lnTo>
                    <a:pt x="3993651" y="9577849"/>
                  </a:lnTo>
                  <a:lnTo>
                    <a:pt x="3973264" y="9577849"/>
                  </a:lnTo>
                  <a:lnTo>
                    <a:pt x="3973264" y="28760"/>
                  </a:lnTo>
                  <a:lnTo>
                    <a:pt x="3993651" y="28760"/>
                  </a:lnTo>
                  <a:lnTo>
                    <a:pt x="3993651" y="57736"/>
                  </a:lnTo>
                  <a:lnTo>
                    <a:pt x="20388" y="57736"/>
                  </a:lnTo>
                  <a:close/>
                </a:path>
              </a:pathLst>
            </a:custGeom>
            <a:solidFill>
              <a:srgbClr val="E2E8F0"/>
            </a:solidFill>
          </p:spPr>
        </p:sp>
      </p:grpSp>
      <p:grpSp>
        <p:nvGrpSpPr>
          <p:cNvPr name="Group 23" id="23"/>
          <p:cNvGrpSpPr/>
          <p:nvPr/>
        </p:nvGrpSpPr>
        <p:grpSpPr>
          <a:xfrm rot="0">
            <a:off x="7328154" y="2269998"/>
            <a:ext cx="3029659" cy="822960"/>
            <a:chOff x="0" y="0"/>
            <a:chExt cx="4039546" cy="1097280"/>
          </a:xfrm>
        </p:grpSpPr>
        <p:sp>
          <p:nvSpPr>
            <p:cNvPr name="Freeform 24" id="24"/>
            <p:cNvSpPr/>
            <p:nvPr/>
          </p:nvSpPr>
          <p:spPr>
            <a:xfrm flipH="false" flipV="false" rot="0">
              <a:off x="0" y="0"/>
              <a:ext cx="4039546" cy="1097280"/>
            </a:xfrm>
            <a:custGeom>
              <a:avLst/>
              <a:gdLst/>
              <a:ahLst/>
              <a:cxnLst/>
              <a:rect r="r" b="b" t="t" l="l"/>
              <a:pathLst>
                <a:path h="1097280" w="4039546">
                  <a:moveTo>
                    <a:pt x="0" y="0"/>
                  </a:moveTo>
                  <a:lnTo>
                    <a:pt x="4039546" y="0"/>
                  </a:lnTo>
                  <a:lnTo>
                    <a:pt x="4039546" y="1097280"/>
                  </a:lnTo>
                  <a:lnTo>
                    <a:pt x="0" y="1097280"/>
                  </a:lnTo>
                  <a:close/>
                </a:path>
              </a:pathLst>
            </a:custGeom>
            <a:solidFill>
              <a:srgbClr val="D97706"/>
            </a:solidFill>
          </p:spPr>
        </p:sp>
      </p:grpSp>
      <p:grpSp>
        <p:nvGrpSpPr>
          <p:cNvPr name="Group 25" id="25"/>
          <p:cNvGrpSpPr/>
          <p:nvPr/>
        </p:nvGrpSpPr>
        <p:grpSpPr>
          <a:xfrm rot="0">
            <a:off x="675380" y="4783099"/>
            <a:ext cx="2900686" cy="1227951"/>
            <a:chOff x="0" y="0"/>
            <a:chExt cx="3325711" cy="1407877"/>
          </a:xfrm>
        </p:grpSpPr>
        <p:sp>
          <p:nvSpPr>
            <p:cNvPr name="Freeform 26" id="26"/>
            <p:cNvSpPr/>
            <p:nvPr/>
          </p:nvSpPr>
          <p:spPr>
            <a:xfrm flipH="false" flipV="false" rot="0">
              <a:off x="16891" y="4215"/>
              <a:ext cx="3291840" cy="1399425"/>
            </a:xfrm>
            <a:custGeom>
              <a:avLst/>
              <a:gdLst/>
              <a:ahLst/>
              <a:cxnLst/>
              <a:rect r="r" b="b" t="t" l="l"/>
              <a:pathLst>
                <a:path h="1399425" w="3291840">
                  <a:moveTo>
                    <a:pt x="0" y="0"/>
                  </a:moveTo>
                  <a:lnTo>
                    <a:pt x="3291840" y="0"/>
                  </a:lnTo>
                  <a:lnTo>
                    <a:pt x="3291840" y="1399425"/>
                  </a:lnTo>
                  <a:lnTo>
                    <a:pt x="0" y="1399425"/>
                  </a:lnTo>
                  <a:close/>
                </a:path>
              </a:pathLst>
            </a:custGeom>
            <a:solidFill>
              <a:srgbClr val="F2F1F1"/>
            </a:solidFill>
          </p:spPr>
        </p:sp>
        <p:sp>
          <p:nvSpPr>
            <p:cNvPr name="Freeform 27" id="27"/>
            <p:cNvSpPr/>
            <p:nvPr/>
          </p:nvSpPr>
          <p:spPr>
            <a:xfrm flipH="false" flipV="false" rot="0">
              <a:off x="0" y="0"/>
              <a:ext cx="3325622" cy="1407855"/>
            </a:xfrm>
            <a:custGeom>
              <a:avLst/>
              <a:gdLst/>
              <a:ahLst/>
              <a:cxnLst/>
              <a:rect r="r" b="b" t="t" l="l"/>
              <a:pathLst>
                <a:path h="1407855" w="3325622">
                  <a:moveTo>
                    <a:pt x="16891" y="0"/>
                  </a:moveTo>
                  <a:lnTo>
                    <a:pt x="3308731" y="0"/>
                  </a:lnTo>
                  <a:cubicBezTo>
                    <a:pt x="3318129" y="0"/>
                    <a:pt x="3325622" y="1901"/>
                    <a:pt x="3325622" y="4215"/>
                  </a:cubicBezTo>
                  <a:lnTo>
                    <a:pt x="3325622" y="1403640"/>
                  </a:lnTo>
                  <a:cubicBezTo>
                    <a:pt x="3325622" y="1405985"/>
                    <a:pt x="3318002" y="1407855"/>
                    <a:pt x="3308731" y="1407855"/>
                  </a:cubicBezTo>
                  <a:lnTo>
                    <a:pt x="16891" y="1407855"/>
                  </a:lnTo>
                  <a:cubicBezTo>
                    <a:pt x="7493" y="1407855"/>
                    <a:pt x="0" y="1405954"/>
                    <a:pt x="0" y="1403640"/>
                  </a:cubicBezTo>
                  <a:lnTo>
                    <a:pt x="0" y="4215"/>
                  </a:lnTo>
                  <a:cubicBezTo>
                    <a:pt x="0" y="1901"/>
                    <a:pt x="7620" y="0"/>
                    <a:pt x="16891" y="0"/>
                  </a:cubicBezTo>
                  <a:moveTo>
                    <a:pt x="16891" y="8461"/>
                  </a:moveTo>
                  <a:lnTo>
                    <a:pt x="16891" y="4215"/>
                  </a:lnTo>
                  <a:lnTo>
                    <a:pt x="33909" y="4215"/>
                  </a:lnTo>
                  <a:lnTo>
                    <a:pt x="33909" y="1403640"/>
                  </a:lnTo>
                  <a:lnTo>
                    <a:pt x="16891" y="1403640"/>
                  </a:lnTo>
                  <a:lnTo>
                    <a:pt x="16891" y="1399426"/>
                  </a:lnTo>
                  <a:lnTo>
                    <a:pt x="3308731" y="1399426"/>
                  </a:lnTo>
                  <a:lnTo>
                    <a:pt x="3308731" y="1403640"/>
                  </a:lnTo>
                  <a:lnTo>
                    <a:pt x="3291840" y="1403640"/>
                  </a:lnTo>
                  <a:lnTo>
                    <a:pt x="3291840" y="4215"/>
                  </a:lnTo>
                  <a:lnTo>
                    <a:pt x="3308731" y="4215"/>
                  </a:lnTo>
                  <a:lnTo>
                    <a:pt x="3308731" y="8461"/>
                  </a:lnTo>
                  <a:lnTo>
                    <a:pt x="16891" y="8461"/>
                  </a:lnTo>
                  <a:close/>
                </a:path>
              </a:pathLst>
            </a:custGeom>
            <a:solidFill>
              <a:srgbClr val="E2E8F0"/>
            </a:solidFill>
          </p:spPr>
        </p:sp>
      </p:grpSp>
      <p:grpSp>
        <p:nvGrpSpPr>
          <p:cNvPr name="Group 28" id="28"/>
          <p:cNvGrpSpPr/>
          <p:nvPr/>
        </p:nvGrpSpPr>
        <p:grpSpPr>
          <a:xfrm rot="0">
            <a:off x="756342" y="4783099"/>
            <a:ext cx="2738761" cy="1280160"/>
            <a:chOff x="0" y="0"/>
            <a:chExt cx="3651682" cy="1706880"/>
          </a:xfrm>
        </p:grpSpPr>
        <p:sp>
          <p:nvSpPr>
            <p:cNvPr name="Freeform 29" id="29"/>
            <p:cNvSpPr/>
            <p:nvPr/>
          </p:nvSpPr>
          <p:spPr>
            <a:xfrm flipH="false" flipV="false" rot="0">
              <a:off x="0" y="0"/>
              <a:ext cx="3651682" cy="1706880"/>
            </a:xfrm>
            <a:custGeom>
              <a:avLst/>
              <a:gdLst/>
              <a:ahLst/>
              <a:cxnLst/>
              <a:rect r="r" b="b" t="t" l="l"/>
              <a:pathLst>
                <a:path h="1706880" w="3651682">
                  <a:moveTo>
                    <a:pt x="0" y="0"/>
                  </a:moveTo>
                  <a:lnTo>
                    <a:pt x="3651682" y="0"/>
                  </a:lnTo>
                  <a:lnTo>
                    <a:pt x="3651682" y="1706880"/>
                  </a:lnTo>
                  <a:lnTo>
                    <a:pt x="0" y="1706880"/>
                  </a:lnTo>
                  <a:close/>
                </a:path>
              </a:pathLst>
            </a:custGeom>
            <a:blipFill>
              <a:blip r:embed="rId3">
                <a:alphaModFix amt="0"/>
              </a:blip>
              <a:stretch>
                <a:fillRect l="-19573" t="0" r="-370" b="0"/>
              </a:stretch>
            </a:blipFill>
          </p:spPr>
        </p:sp>
        <p:sp>
          <p:nvSpPr>
            <p:cNvPr name="TextBox 30" id="30"/>
            <p:cNvSpPr txBox="true"/>
            <p:nvPr/>
          </p:nvSpPr>
          <p:spPr>
            <a:xfrm>
              <a:off x="0" y="-19050"/>
              <a:ext cx="3651682" cy="1725930"/>
            </a:xfrm>
            <a:prstGeom prst="rect">
              <a:avLst/>
            </a:prstGeom>
          </p:spPr>
          <p:txBody>
            <a:bodyPr anchor="ctr" rtlCol="false" tIns="0" lIns="0" bIns="0" rIns="0"/>
            <a:lstStyle/>
            <a:p>
              <a:pPr algn="ctr">
                <a:lnSpc>
                  <a:spcPts val="3479"/>
                </a:lnSpc>
              </a:pPr>
              <a:r>
                <a:rPr lang="en-US" sz="2899">
                  <a:solidFill>
                    <a:srgbClr val="000000"/>
                  </a:solidFill>
                  <a:latin typeface="Helios Extended"/>
                  <a:ea typeface="Helios Extended"/>
                  <a:cs typeface="Helios Extended"/>
                  <a:sym typeface="Helios Extended"/>
                </a:rPr>
                <a:t> L</a:t>
              </a:r>
              <a:r>
                <a:rPr lang="en-US" sz="2899">
                  <a:solidFill>
                    <a:srgbClr val="000000"/>
                  </a:solidFill>
                  <a:latin typeface="Helios Extended"/>
                  <a:ea typeface="Helios Extended"/>
                  <a:cs typeface="Helios Extended"/>
                  <a:sym typeface="Helios Extended"/>
                </a:rPr>
                <a:t>lama-3.3-70B-Instruct </a:t>
              </a:r>
            </a:p>
          </p:txBody>
        </p:sp>
      </p:grpSp>
      <p:grpSp>
        <p:nvGrpSpPr>
          <p:cNvPr name="Group 31" id="31"/>
          <p:cNvGrpSpPr/>
          <p:nvPr/>
        </p:nvGrpSpPr>
        <p:grpSpPr>
          <a:xfrm rot="0">
            <a:off x="10853113" y="2231136"/>
            <a:ext cx="3039724" cy="7243932"/>
            <a:chOff x="0" y="0"/>
            <a:chExt cx="4052966" cy="9658576"/>
          </a:xfrm>
        </p:grpSpPr>
        <p:sp>
          <p:nvSpPr>
            <p:cNvPr name="Freeform 32" id="32"/>
            <p:cNvSpPr/>
            <p:nvPr/>
          </p:nvSpPr>
          <p:spPr>
            <a:xfrm flipH="false" flipV="false" rot="0">
              <a:off x="20585" y="28915"/>
              <a:ext cx="4011688" cy="9600594"/>
            </a:xfrm>
            <a:custGeom>
              <a:avLst/>
              <a:gdLst/>
              <a:ahLst/>
              <a:cxnLst/>
              <a:rect r="r" b="b" t="t" l="l"/>
              <a:pathLst>
                <a:path h="9600594" w="4011688">
                  <a:moveTo>
                    <a:pt x="0" y="0"/>
                  </a:moveTo>
                  <a:lnTo>
                    <a:pt x="4011688" y="0"/>
                  </a:lnTo>
                  <a:lnTo>
                    <a:pt x="4011688" y="9600593"/>
                  </a:lnTo>
                  <a:lnTo>
                    <a:pt x="0" y="9600593"/>
                  </a:lnTo>
                  <a:close/>
                </a:path>
              </a:pathLst>
            </a:custGeom>
            <a:solidFill>
              <a:srgbClr val="FFFFFF"/>
            </a:solidFill>
          </p:spPr>
        </p:sp>
        <p:sp>
          <p:nvSpPr>
            <p:cNvPr name="Freeform 33" id="33"/>
            <p:cNvSpPr/>
            <p:nvPr/>
          </p:nvSpPr>
          <p:spPr>
            <a:xfrm flipH="false" flipV="false" rot="0">
              <a:off x="0" y="0"/>
              <a:ext cx="4052858" cy="9658424"/>
            </a:xfrm>
            <a:custGeom>
              <a:avLst/>
              <a:gdLst/>
              <a:ahLst/>
              <a:cxnLst/>
              <a:rect r="r" b="b" t="t" l="l"/>
              <a:pathLst>
                <a:path h="9658424" w="4052858">
                  <a:moveTo>
                    <a:pt x="20585" y="0"/>
                  </a:moveTo>
                  <a:lnTo>
                    <a:pt x="4032273" y="0"/>
                  </a:lnTo>
                  <a:cubicBezTo>
                    <a:pt x="4043726" y="0"/>
                    <a:pt x="4052858" y="13044"/>
                    <a:pt x="4052858" y="28915"/>
                  </a:cubicBezTo>
                  <a:lnTo>
                    <a:pt x="4052858" y="9629508"/>
                  </a:lnTo>
                  <a:cubicBezTo>
                    <a:pt x="4052858" y="9645597"/>
                    <a:pt x="4043571" y="9658424"/>
                    <a:pt x="4032273" y="9658424"/>
                  </a:cubicBezTo>
                  <a:lnTo>
                    <a:pt x="20585" y="9658424"/>
                  </a:lnTo>
                  <a:cubicBezTo>
                    <a:pt x="9132" y="9658424"/>
                    <a:pt x="0" y="9645379"/>
                    <a:pt x="0" y="9629508"/>
                  </a:cubicBezTo>
                  <a:lnTo>
                    <a:pt x="0" y="28915"/>
                  </a:lnTo>
                  <a:cubicBezTo>
                    <a:pt x="0" y="13044"/>
                    <a:pt x="9286" y="0"/>
                    <a:pt x="20585" y="0"/>
                  </a:cubicBezTo>
                  <a:moveTo>
                    <a:pt x="20585" y="58047"/>
                  </a:moveTo>
                  <a:lnTo>
                    <a:pt x="20585" y="28915"/>
                  </a:lnTo>
                  <a:lnTo>
                    <a:pt x="41324" y="28915"/>
                  </a:lnTo>
                  <a:lnTo>
                    <a:pt x="41324" y="9629508"/>
                  </a:lnTo>
                  <a:lnTo>
                    <a:pt x="20585" y="9629508"/>
                  </a:lnTo>
                  <a:lnTo>
                    <a:pt x="20585" y="9600594"/>
                  </a:lnTo>
                  <a:lnTo>
                    <a:pt x="4032273" y="9600594"/>
                  </a:lnTo>
                  <a:lnTo>
                    <a:pt x="4032273" y="9629508"/>
                  </a:lnTo>
                  <a:lnTo>
                    <a:pt x="4011688" y="9629508"/>
                  </a:lnTo>
                  <a:lnTo>
                    <a:pt x="4011688" y="28915"/>
                  </a:lnTo>
                  <a:lnTo>
                    <a:pt x="4032273" y="28915"/>
                  </a:lnTo>
                  <a:lnTo>
                    <a:pt x="4032273" y="58047"/>
                  </a:lnTo>
                  <a:lnTo>
                    <a:pt x="20585" y="58047"/>
                  </a:lnTo>
                  <a:close/>
                </a:path>
              </a:pathLst>
            </a:custGeom>
            <a:solidFill>
              <a:srgbClr val="E2E8F0"/>
            </a:solidFill>
          </p:spPr>
        </p:sp>
      </p:grpSp>
      <p:grpSp>
        <p:nvGrpSpPr>
          <p:cNvPr name="Group 34" id="34"/>
          <p:cNvGrpSpPr/>
          <p:nvPr/>
        </p:nvGrpSpPr>
        <p:grpSpPr>
          <a:xfrm rot="0">
            <a:off x="10853113" y="2269998"/>
            <a:ext cx="3039724" cy="822960"/>
            <a:chOff x="0" y="0"/>
            <a:chExt cx="4052966" cy="1097280"/>
          </a:xfrm>
        </p:grpSpPr>
        <p:sp>
          <p:nvSpPr>
            <p:cNvPr name="Freeform 35" id="35"/>
            <p:cNvSpPr/>
            <p:nvPr/>
          </p:nvSpPr>
          <p:spPr>
            <a:xfrm flipH="false" flipV="false" rot="0">
              <a:off x="0" y="0"/>
              <a:ext cx="4052966" cy="1097280"/>
            </a:xfrm>
            <a:custGeom>
              <a:avLst/>
              <a:gdLst/>
              <a:ahLst/>
              <a:cxnLst/>
              <a:rect r="r" b="b" t="t" l="l"/>
              <a:pathLst>
                <a:path h="1097280" w="4052966">
                  <a:moveTo>
                    <a:pt x="0" y="0"/>
                  </a:moveTo>
                  <a:lnTo>
                    <a:pt x="4052966" y="0"/>
                  </a:lnTo>
                  <a:lnTo>
                    <a:pt x="4052966" y="1097280"/>
                  </a:lnTo>
                  <a:lnTo>
                    <a:pt x="0" y="1097280"/>
                  </a:lnTo>
                  <a:close/>
                </a:path>
              </a:pathLst>
            </a:custGeom>
            <a:solidFill>
              <a:srgbClr val="D97706"/>
            </a:solidFill>
          </p:spPr>
        </p:sp>
      </p:grpSp>
      <p:grpSp>
        <p:nvGrpSpPr>
          <p:cNvPr name="Group 36" id="36"/>
          <p:cNvGrpSpPr/>
          <p:nvPr/>
        </p:nvGrpSpPr>
        <p:grpSpPr>
          <a:xfrm rot="0">
            <a:off x="4001767" y="4809204"/>
            <a:ext cx="2993012" cy="1227951"/>
            <a:chOff x="0" y="0"/>
            <a:chExt cx="3431565" cy="1407877"/>
          </a:xfrm>
        </p:grpSpPr>
        <p:sp>
          <p:nvSpPr>
            <p:cNvPr name="Freeform 37" id="37"/>
            <p:cNvSpPr/>
            <p:nvPr/>
          </p:nvSpPr>
          <p:spPr>
            <a:xfrm flipH="false" flipV="false" rot="0">
              <a:off x="17429" y="4215"/>
              <a:ext cx="3396616" cy="1399425"/>
            </a:xfrm>
            <a:custGeom>
              <a:avLst/>
              <a:gdLst/>
              <a:ahLst/>
              <a:cxnLst/>
              <a:rect r="r" b="b" t="t" l="l"/>
              <a:pathLst>
                <a:path h="1399425" w="3396616">
                  <a:moveTo>
                    <a:pt x="0" y="0"/>
                  </a:moveTo>
                  <a:lnTo>
                    <a:pt x="3396615" y="0"/>
                  </a:lnTo>
                  <a:lnTo>
                    <a:pt x="3396615" y="1399425"/>
                  </a:lnTo>
                  <a:lnTo>
                    <a:pt x="0" y="1399425"/>
                  </a:lnTo>
                  <a:close/>
                </a:path>
              </a:pathLst>
            </a:custGeom>
            <a:solidFill>
              <a:srgbClr val="F2F1F1"/>
            </a:solidFill>
          </p:spPr>
        </p:sp>
        <p:sp>
          <p:nvSpPr>
            <p:cNvPr name="Freeform 38" id="38"/>
            <p:cNvSpPr/>
            <p:nvPr/>
          </p:nvSpPr>
          <p:spPr>
            <a:xfrm flipH="false" flipV="false" rot="0">
              <a:off x="0" y="0"/>
              <a:ext cx="3431473" cy="1407855"/>
            </a:xfrm>
            <a:custGeom>
              <a:avLst/>
              <a:gdLst/>
              <a:ahLst/>
              <a:cxnLst/>
              <a:rect r="r" b="b" t="t" l="l"/>
              <a:pathLst>
                <a:path h="1407855" w="3431473">
                  <a:moveTo>
                    <a:pt x="17429" y="0"/>
                  </a:moveTo>
                  <a:lnTo>
                    <a:pt x="3414044" y="0"/>
                  </a:lnTo>
                  <a:cubicBezTo>
                    <a:pt x="3423742" y="0"/>
                    <a:pt x="3431473" y="1901"/>
                    <a:pt x="3431473" y="4215"/>
                  </a:cubicBezTo>
                  <a:lnTo>
                    <a:pt x="3431473" y="1403640"/>
                  </a:lnTo>
                  <a:cubicBezTo>
                    <a:pt x="3431473" y="1405985"/>
                    <a:pt x="3423611" y="1407855"/>
                    <a:pt x="3414044" y="1407855"/>
                  </a:cubicBezTo>
                  <a:lnTo>
                    <a:pt x="17429" y="1407855"/>
                  </a:lnTo>
                  <a:cubicBezTo>
                    <a:pt x="7731" y="1407855"/>
                    <a:pt x="0" y="1405954"/>
                    <a:pt x="0" y="1403640"/>
                  </a:cubicBezTo>
                  <a:lnTo>
                    <a:pt x="0" y="4215"/>
                  </a:lnTo>
                  <a:cubicBezTo>
                    <a:pt x="0" y="1901"/>
                    <a:pt x="7863" y="0"/>
                    <a:pt x="17429" y="0"/>
                  </a:cubicBezTo>
                  <a:moveTo>
                    <a:pt x="17429" y="8461"/>
                  </a:moveTo>
                  <a:lnTo>
                    <a:pt x="17429" y="4215"/>
                  </a:lnTo>
                  <a:lnTo>
                    <a:pt x="34988" y="4215"/>
                  </a:lnTo>
                  <a:lnTo>
                    <a:pt x="34988" y="1403640"/>
                  </a:lnTo>
                  <a:lnTo>
                    <a:pt x="17429" y="1403640"/>
                  </a:lnTo>
                  <a:lnTo>
                    <a:pt x="17429" y="1399426"/>
                  </a:lnTo>
                  <a:lnTo>
                    <a:pt x="3414044" y="1399426"/>
                  </a:lnTo>
                  <a:lnTo>
                    <a:pt x="3414044" y="1403640"/>
                  </a:lnTo>
                  <a:lnTo>
                    <a:pt x="3396616" y="1403640"/>
                  </a:lnTo>
                  <a:lnTo>
                    <a:pt x="3396616" y="4215"/>
                  </a:lnTo>
                  <a:lnTo>
                    <a:pt x="3414044" y="4215"/>
                  </a:lnTo>
                  <a:lnTo>
                    <a:pt x="3414044" y="8461"/>
                  </a:lnTo>
                  <a:lnTo>
                    <a:pt x="17429" y="8461"/>
                  </a:lnTo>
                  <a:close/>
                </a:path>
              </a:pathLst>
            </a:custGeom>
            <a:solidFill>
              <a:srgbClr val="E2E8F0"/>
            </a:solidFill>
          </p:spPr>
        </p:sp>
      </p:grpSp>
      <p:grpSp>
        <p:nvGrpSpPr>
          <p:cNvPr name="Group 39" id="39"/>
          <p:cNvGrpSpPr/>
          <p:nvPr/>
        </p:nvGrpSpPr>
        <p:grpSpPr>
          <a:xfrm rot="0">
            <a:off x="7328154" y="4809204"/>
            <a:ext cx="3010609" cy="1227951"/>
            <a:chOff x="0" y="0"/>
            <a:chExt cx="3451740" cy="1407877"/>
          </a:xfrm>
        </p:grpSpPr>
        <p:sp>
          <p:nvSpPr>
            <p:cNvPr name="Freeform 40" id="40"/>
            <p:cNvSpPr/>
            <p:nvPr/>
          </p:nvSpPr>
          <p:spPr>
            <a:xfrm flipH="false" flipV="false" rot="0">
              <a:off x="17531" y="4215"/>
              <a:ext cx="3416586" cy="1399425"/>
            </a:xfrm>
            <a:custGeom>
              <a:avLst/>
              <a:gdLst/>
              <a:ahLst/>
              <a:cxnLst/>
              <a:rect r="r" b="b" t="t" l="l"/>
              <a:pathLst>
                <a:path h="1399425" w="3416586">
                  <a:moveTo>
                    <a:pt x="0" y="0"/>
                  </a:moveTo>
                  <a:lnTo>
                    <a:pt x="3416586" y="0"/>
                  </a:lnTo>
                  <a:lnTo>
                    <a:pt x="3416586" y="1399425"/>
                  </a:lnTo>
                  <a:lnTo>
                    <a:pt x="0" y="1399425"/>
                  </a:lnTo>
                  <a:close/>
                </a:path>
              </a:pathLst>
            </a:custGeom>
            <a:solidFill>
              <a:srgbClr val="F2F1F1"/>
            </a:solidFill>
          </p:spPr>
        </p:sp>
        <p:sp>
          <p:nvSpPr>
            <p:cNvPr name="Freeform 41" id="41"/>
            <p:cNvSpPr/>
            <p:nvPr/>
          </p:nvSpPr>
          <p:spPr>
            <a:xfrm flipH="false" flipV="false" rot="0">
              <a:off x="0" y="0"/>
              <a:ext cx="3451648" cy="1407855"/>
            </a:xfrm>
            <a:custGeom>
              <a:avLst/>
              <a:gdLst/>
              <a:ahLst/>
              <a:cxnLst/>
              <a:rect r="r" b="b" t="t" l="l"/>
              <a:pathLst>
                <a:path h="1407855" w="3451648">
                  <a:moveTo>
                    <a:pt x="17531" y="0"/>
                  </a:moveTo>
                  <a:lnTo>
                    <a:pt x="3434117" y="0"/>
                  </a:lnTo>
                  <a:cubicBezTo>
                    <a:pt x="3443872" y="0"/>
                    <a:pt x="3451648" y="1901"/>
                    <a:pt x="3451648" y="4215"/>
                  </a:cubicBezTo>
                  <a:lnTo>
                    <a:pt x="3451648" y="1403640"/>
                  </a:lnTo>
                  <a:cubicBezTo>
                    <a:pt x="3451648" y="1405985"/>
                    <a:pt x="3443739" y="1407855"/>
                    <a:pt x="3434117" y="1407855"/>
                  </a:cubicBezTo>
                  <a:lnTo>
                    <a:pt x="17531" y="1407855"/>
                  </a:lnTo>
                  <a:cubicBezTo>
                    <a:pt x="7777" y="1407855"/>
                    <a:pt x="0" y="1405954"/>
                    <a:pt x="0" y="1403640"/>
                  </a:cubicBezTo>
                  <a:lnTo>
                    <a:pt x="0" y="4215"/>
                  </a:lnTo>
                  <a:cubicBezTo>
                    <a:pt x="0" y="1901"/>
                    <a:pt x="7909" y="0"/>
                    <a:pt x="17531" y="0"/>
                  </a:cubicBezTo>
                  <a:moveTo>
                    <a:pt x="17531" y="8461"/>
                  </a:moveTo>
                  <a:lnTo>
                    <a:pt x="17531" y="4215"/>
                  </a:lnTo>
                  <a:lnTo>
                    <a:pt x="35194" y="4215"/>
                  </a:lnTo>
                  <a:lnTo>
                    <a:pt x="35194" y="1403640"/>
                  </a:lnTo>
                  <a:lnTo>
                    <a:pt x="17531" y="1403640"/>
                  </a:lnTo>
                  <a:lnTo>
                    <a:pt x="17531" y="1399426"/>
                  </a:lnTo>
                  <a:lnTo>
                    <a:pt x="3434117" y="1399426"/>
                  </a:lnTo>
                  <a:lnTo>
                    <a:pt x="3434117" y="1403640"/>
                  </a:lnTo>
                  <a:lnTo>
                    <a:pt x="3416586" y="1403640"/>
                  </a:lnTo>
                  <a:lnTo>
                    <a:pt x="3416586" y="4215"/>
                  </a:lnTo>
                  <a:lnTo>
                    <a:pt x="3434117" y="4215"/>
                  </a:lnTo>
                  <a:lnTo>
                    <a:pt x="3434117" y="8461"/>
                  </a:lnTo>
                  <a:lnTo>
                    <a:pt x="17531" y="8461"/>
                  </a:lnTo>
                  <a:close/>
                </a:path>
              </a:pathLst>
            </a:custGeom>
            <a:solidFill>
              <a:srgbClr val="E2E8F0"/>
            </a:solidFill>
          </p:spPr>
        </p:sp>
      </p:grpSp>
      <p:grpSp>
        <p:nvGrpSpPr>
          <p:cNvPr name="Group 42" id="42"/>
          <p:cNvGrpSpPr/>
          <p:nvPr/>
        </p:nvGrpSpPr>
        <p:grpSpPr>
          <a:xfrm rot="0">
            <a:off x="10891213" y="4783099"/>
            <a:ext cx="3001624" cy="1227951"/>
            <a:chOff x="0" y="0"/>
            <a:chExt cx="3441439" cy="1407877"/>
          </a:xfrm>
        </p:grpSpPr>
        <p:sp>
          <p:nvSpPr>
            <p:cNvPr name="Freeform 43" id="43"/>
            <p:cNvSpPr/>
            <p:nvPr/>
          </p:nvSpPr>
          <p:spPr>
            <a:xfrm flipH="false" flipV="false" rot="0">
              <a:off x="17479" y="4215"/>
              <a:ext cx="3406389" cy="1399425"/>
            </a:xfrm>
            <a:custGeom>
              <a:avLst/>
              <a:gdLst/>
              <a:ahLst/>
              <a:cxnLst/>
              <a:rect r="r" b="b" t="t" l="l"/>
              <a:pathLst>
                <a:path h="1399425" w="3406389">
                  <a:moveTo>
                    <a:pt x="0" y="0"/>
                  </a:moveTo>
                  <a:lnTo>
                    <a:pt x="3406389" y="0"/>
                  </a:lnTo>
                  <a:lnTo>
                    <a:pt x="3406389" y="1399425"/>
                  </a:lnTo>
                  <a:lnTo>
                    <a:pt x="0" y="1399425"/>
                  </a:lnTo>
                  <a:close/>
                </a:path>
              </a:pathLst>
            </a:custGeom>
            <a:solidFill>
              <a:srgbClr val="F2F1F1"/>
            </a:solidFill>
          </p:spPr>
        </p:sp>
        <p:sp>
          <p:nvSpPr>
            <p:cNvPr name="Freeform 44" id="44"/>
            <p:cNvSpPr/>
            <p:nvPr/>
          </p:nvSpPr>
          <p:spPr>
            <a:xfrm flipH="false" flipV="false" rot="0">
              <a:off x="0" y="0"/>
              <a:ext cx="3441347" cy="1407855"/>
            </a:xfrm>
            <a:custGeom>
              <a:avLst/>
              <a:gdLst/>
              <a:ahLst/>
              <a:cxnLst/>
              <a:rect r="r" b="b" t="t" l="l"/>
              <a:pathLst>
                <a:path h="1407855" w="3441347">
                  <a:moveTo>
                    <a:pt x="17479" y="0"/>
                  </a:moveTo>
                  <a:lnTo>
                    <a:pt x="3423868" y="0"/>
                  </a:lnTo>
                  <a:cubicBezTo>
                    <a:pt x="3433594" y="0"/>
                    <a:pt x="3441347" y="1901"/>
                    <a:pt x="3441347" y="4215"/>
                  </a:cubicBezTo>
                  <a:lnTo>
                    <a:pt x="3441347" y="1403640"/>
                  </a:lnTo>
                  <a:cubicBezTo>
                    <a:pt x="3441347" y="1405985"/>
                    <a:pt x="3433462" y="1407855"/>
                    <a:pt x="3423868" y="1407855"/>
                  </a:cubicBezTo>
                  <a:lnTo>
                    <a:pt x="17479" y="1407855"/>
                  </a:lnTo>
                  <a:cubicBezTo>
                    <a:pt x="7754" y="1407855"/>
                    <a:pt x="0" y="1405954"/>
                    <a:pt x="0" y="1403640"/>
                  </a:cubicBezTo>
                  <a:lnTo>
                    <a:pt x="0" y="4215"/>
                  </a:lnTo>
                  <a:cubicBezTo>
                    <a:pt x="0" y="1901"/>
                    <a:pt x="7885" y="0"/>
                    <a:pt x="17479" y="0"/>
                  </a:cubicBezTo>
                  <a:moveTo>
                    <a:pt x="17479" y="8461"/>
                  </a:moveTo>
                  <a:lnTo>
                    <a:pt x="17479" y="4215"/>
                  </a:lnTo>
                  <a:lnTo>
                    <a:pt x="35089" y="4215"/>
                  </a:lnTo>
                  <a:lnTo>
                    <a:pt x="35089" y="1403640"/>
                  </a:lnTo>
                  <a:lnTo>
                    <a:pt x="17479" y="1403640"/>
                  </a:lnTo>
                  <a:lnTo>
                    <a:pt x="17479" y="1399426"/>
                  </a:lnTo>
                  <a:lnTo>
                    <a:pt x="3423868" y="1399426"/>
                  </a:lnTo>
                  <a:lnTo>
                    <a:pt x="3423868" y="1403640"/>
                  </a:lnTo>
                  <a:lnTo>
                    <a:pt x="3406390" y="1403640"/>
                  </a:lnTo>
                  <a:lnTo>
                    <a:pt x="3406390" y="4215"/>
                  </a:lnTo>
                  <a:lnTo>
                    <a:pt x="3423868" y="4215"/>
                  </a:lnTo>
                  <a:lnTo>
                    <a:pt x="3423868" y="8461"/>
                  </a:lnTo>
                  <a:lnTo>
                    <a:pt x="17479" y="8461"/>
                  </a:lnTo>
                  <a:close/>
                </a:path>
              </a:pathLst>
            </a:custGeom>
            <a:solidFill>
              <a:srgbClr val="E2E8F0"/>
            </a:solidFill>
          </p:spPr>
        </p:sp>
      </p:grpSp>
      <p:grpSp>
        <p:nvGrpSpPr>
          <p:cNvPr name="Group 45" id="45"/>
          <p:cNvGrpSpPr/>
          <p:nvPr/>
        </p:nvGrpSpPr>
        <p:grpSpPr>
          <a:xfrm rot="0">
            <a:off x="14321463" y="4809204"/>
            <a:ext cx="2900686" cy="1227951"/>
            <a:chOff x="0" y="0"/>
            <a:chExt cx="3325711" cy="1407877"/>
          </a:xfrm>
        </p:grpSpPr>
        <p:sp>
          <p:nvSpPr>
            <p:cNvPr name="Freeform 46" id="46"/>
            <p:cNvSpPr/>
            <p:nvPr/>
          </p:nvSpPr>
          <p:spPr>
            <a:xfrm flipH="false" flipV="false" rot="0">
              <a:off x="16891" y="4215"/>
              <a:ext cx="3291840" cy="1399425"/>
            </a:xfrm>
            <a:custGeom>
              <a:avLst/>
              <a:gdLst/>
              <a:ahLst/>
              <a:cxnLst/>
              <a:rect r="r" b="b" t="t" l="l"/>
              <a:pathLst>
                <a:path h="1399425" w="3291840">
                  <a:moveTo>
                    <a:pt x="0" y="0"/>
                  </a:moveTo>
                  <a:lnTo>
                    <a:pt x="3291840" y="0"/>
                  </a:lnTo>
                  <a:lnTo>
                    <a:pt x="3291840" y="1399425"/>
                  </a:lnTo>
                  <a:lnTo>
                    <a:pt x="0" y="1399425"/>
                  </a:lnTo>
                  <a:close/>
                </a:path>
              </a:pathLst>
            </a:custGeom>
            <a:solidFill>
              <a:srgbClr val="F2F1F1"/>
            </a:solidFill>
          </p:spPr>
        </p:sp>
        <p:sp>
          <p:nvSpPr>
            <p:cNvPr name="Freeform 47" id="47"/>
            <p:cNvSpPr/>
            <p:nvPr/>
          </p:nvSpPr>
          <p:spPr>
            <a:xfrm flipH="false" flipV="false" rot="0">
              <a:off x="0" y="0"/>
              <a:ext cx="3325622" cy="1407855"/>
            </a:xfrm>
            <a:custGeom>
              <a:avLst/>
              <a:gdLst/>
              <a:ahLst/>
              <a:cxnLst/>
              <a:rect r="r" b="b" t="t" l="l"/>
              <a:pathLst>
                <a:path h="1407855" w="3325622">
                  <a:moveTo>
                    <a:pt x="16891" y="0"/>
                  </a:moveTo>
                  <a:lnTo>
                    <a:pt x="3308731" y="0"/>
                  </a:lnTo>
                  <a:cubicBezTo>
                    <a:pt x="3318129" y="0"/>
                    <a:pt x="3325622" y="1901"/>
                    <a:pt x="3325622" y="4215"/>
                  </a:cubicBezTo>
                  <a:lnTo>
                    <a:pt x="3325622" y="1403640"/>
                  </a:lnTo>
                  <a:cubicBezTo>
                    <a:pt x="3325622" y="1405985"/>
                    <a:pt x="3318002" y="1407855"/>
                    <a:pt x="3308731" y="1407855"/>
                  </a:cubicBezTo>
                  <a:lnTo>
                    <a:pt x="16891" y="1407855"/>
                  </a:lnTo>
                  <a:cubicBezTo>
                    <a:pt x="7493" y="1407855"/>
                    <a:pt x="0" y="1405954"/>
                    <a:pt x="0" y="1403640"/>
                  </a:cubicBezTo>
                  <a:lnTo>
                    <a:pt x="0" y="4215"/>
                  </a:lnTo>
                  <a:cubicBezTo>
                    <a:pt x="0" y="1901"/>
                    <a:pt x="7620" y="0"/>
                    <a:pt x="16891" y="0"/>
                  </a:cubicBezTo>
                  <a:moveTo>
                    <a:pt x="16891" y="8461"/>
                  </a:moveTo>
                  <a:lnTo>
                    <a:pt x="16891" y="4215"/>
                  </a:lnTo>
                  <a:lnTo>
                    <a:pt x="33909" y="4215"/>
                  </a:lnTo>
                  <a:lnTo>
                    <a:pt x="33909" y="1403640"/>
                  </a:lnTo>
                  <a:lnTo>
                    <a:pt x="16891" y="1403640"/>
                  </a:lnTo>
                  <a:lnTo>
                    <a:pt x="16891" y="1399426"/>
                  </a:lnTo>
                  <a:lnTo>
                    <a:pt x="3308731" y="1399426"/>
                  </a:lnTo>
                  <a:lnTo>
                    <a:pt x="3308731" y="1403640"/>
                  </a:lnTo>
                  <a:lnTo>
                    <a:pt x="3291840" y="1403640"/>
                  </a:lnTo>
                  <a:lnTo>
                    <a:pt x="3291840" y="4215"/>
                  </a:lnTo>
                  <a:lnTo>
                    <a:pt x="3308731" y="4215"/>
                  </a:lnTo>
                  <a:lnTo>
                    <a:pt x="3308731" y="8461"/>
                  </a:lnTo>
                  <a:lnTo>
                    <a:pt x="16891" y="8461"/>
                  </a:lnTo>
                  <a:close/>
                </a:path>
              </a:pathLst>
            </a:custGeom>
            <a:solidFill>
              <a:srgbClr val="E2E8F0"/>
            </a:solidFill>
          </p:spPr>
        </p:sp>
      </p:grpSp>
      <p:grpSp>
        <p:nvGrpSpPr>
          <p:cNvPr name="Group 48" id="48"/>
          <p:cNvGrpSpPr/>
          <p:nvPr/>
        </p:nvGrpSpPr>
        <p:grpSpPr>
          <a:xfrm rot="0">
            <a:off x="10891213" y="4783099"/>
            <a:ext cx="2978298" cy="1280160"/>
            <a:chOff x="0" y="0"/>
            <a:chExt cx="3971064" cy="1706880"/>
          </a:xfrm>
        </p:grpSpPr>
        <p:sp>
          <p:nvSpPr>
            <p:cNvPr name="Freeform 49" id="49"/>
            <p:cNvSpPr/>
            <p:nvPr/>
          </p:nvSpPr>
          <p:spPr>
            <a:xfrm flipH="false" flipV="false" rot="0">
              <a:off x="0" y="0"/>
              <a:ext cx="3971064" cy="1706880"/>
            </a:xfrm>
            <a:custGeom>
              <a:avLst/>
              <a:gdLst/>
              <a:ahLst/>
              <a:cxnLst/>
              <a:rect r="r" b="b" t="t" l="l"/>
              <a:pathLst>
                <a:path h="1706880" w="3971064">
                  <a:moveTo>
                    <a:pt x="0" y="0"/>
                  </a:moveTo>
                  <a:lnTo>
                    <a:pt x="3971064" y="0"/>
                  </a:lnTo>
                  <a:lnTo>
                    <a:pt x="3971064" y="1706880"/>
                  </a:lnTo>
                  <a:lnTo>
                    <a:pt x="0" y="1706880"/>
                  </a:lnTo>
                  <a:close/>
                </a:path>
              </a:pathLst>
            </a:custGeom>
            <a:blipFill>
              <a:blip r:embed="rId3">
                <a:alphaModFix amt="0"/>
              </a:blip>
              <a:stretch>
                <a:fillRect l="-17999" t="0" r="7701" b="0"/>
              </a:stretch>
            </a:blipFill>
          </p:spPr>
        </p:sp>
        <p:sp>
          <p:nvSpPr>
            <p:cNvPr name="TextBox 50" id="50"/>
            <p:cNvSpPr txBox="true"/>
            <p:nvPr/>
          </p:nvSpPr>
          <p:spPr>
            <a:xfrm>
              <a:off x="0" y="-19050"/>
              <a:ext cx="3971064" cy="1725930"/>
            </a:xfrm>
            <a:prstGeom prst="rect">
              <a:avLst/>
            </a:prstGeom>
          </p:spPr>
          <p:txBody>
            <a:bodyPr anchor="ctr" rtlCol="false" tIns="0" lIns="0" bIns="0" rIns="0"/>
            <a:lstStyle/>
            <a:p>
              <a:pPr algn="ctr">
                <a:lnSpc>
                  <a:spcPts val="3479"/>
                </a:lnSpc>
              </a:pPr>
              <a:r>
                <a:rPr lang="en-US" sz="2899">
                  <a:solidFill>
                    <a:srgbClr val="000000"/>
                  </a:solidFill>
                  <a:latin typeface="Helios Extended"/>
                  <a:ea typeface="Helios Extended"/>
                  <a:cs typeface="Helios Extended"/>
                  <a:sym typeface="Helios Extended"/>
                </a:rPr>
                <a:t>Mi</a:t>
              </a:r>
              <a:r>
                <a:rPr lang="en-US" sz="2899">
                  <a:solidFill>
                    <a:srgbClr val="000000"/>
                  </a:solidFill>
                  <a:latin typeface="Helios Extended"/>
                  <a:ea typeface="Helios Extended"/>
                  <a:cs typeface="Helios Extended"/>
                  <a:sym typeface="Helios Extended"/>
                </a:rPr>
                <a:t>stral-Large-Instruct-123B</a:t>
              </a:r>
            </a:p>
          </p:txBody>
        </p:sp>
      </p:grpSp>
      <p:grpSp>
        <p:nvGrpSpPr>
          <p:cNvPr name="Group 51" id="51"/>
          <p:cNvGrpSpPr/>
          <p:nvPr/>
        </p:nvGrpSpPr>
        <p:grpSpPr>
          <a:xfrm rot="0">
            <a:off x="14290365" y="2269998"/>
            <a:ext cx="2968935" cy="7205070"/>
            <a:chOff x="0" y="0"/>
            <a:chExt cx="3958580" cy="9606760"/>
          </a:xfrm>
        </p:grpSpPr>
        <p:sp>
          <p:nvSpPr>
            <p:cNvPr name="Freeform 52" id="52"/>
            <p:cNvSpPr/>
            <p:nvPr/>
          </p:nvSpPr>
          <p:spPr>
            <a:xfrm flipH="false" flipV="false" rot="0">
              <a:off x="20105" y="28760"/>
              <a:ext cx="3918264" cy="9549089"/>
            </a:xfrm>
            <a:custGeom>
              <a:avLst/>
              <a:gdLst/>
              <a:ahLst/>
              <a:cxnLst/>
              <a:rect r="r" b="b" t="t" l="l"/>
              <a:pathLst>
                <a:path h="9549089" w="3918264">
                  <a:moveTo>
                    <a:pt x="0" y="0"/>
                  </a:moveTo>
                  <a:lnTo>
                    <a:pt x="3918264" y="0"/>
                  </a:lnTo>
                  <a:lnTo>
                    <a:pt x="3918264" y="9549089"/>
                  </a:lnTo>
                  <a:lnTo>
                    <a:pt x="0" y="9549089"/>
                  </a:lnTo>
                  <a:close/>
                </a:path>
              </a:pathLst>
            </a:custGeom>
            <a:solidFill>
              <a:srgbClr val="FFFFFF"/>
            </a:solidFill>
          </p:spPr>
        </p:sp>
        <p:sp>
          <p:nvSpPr>
            <p:cNvPr name="Freeform 53" id="53"/>
            <p:cNvSpPr/>
            <p:nvPr/>
          </p:nvSpPr>
          <p:spPr>
            <a:xfrm flipH="false" flipV="false" rot="0">
              <a:off x="0" y="0"/>
              <a:ext cx="3958474" cy="9606609"/>
            </a:xfrm>
            <a:custGeom>
              <a:avLst/>
              <a:gdLst/>
              <a:ahLst/>
              <a:cxnLst/>
              <a:rect r="r" b="b" t="t" l="l"/>
              <a:pathLst>
                <a:path h="9606609" w="3958474">
                  <a:moveTo>
                    <a:pt x="20105" y="0"/>
                  </a:moveTo>
                  <a:lnTo>
                    <a:pt x="3938369" y="0"/>
                  </a:lnTo>
                  <a:cubicBezTo>
                    <a:pt x="3949555" y="0"/>
                    <a:pt x="3958474" y="12974"/>
                    <a:pt x="3958474" y="28760"/>
                  </a:cubicBezTo>
                  <a:lnTo>
                    <a:pt x="3958474" y="9577849"/>
                  </a:lnTo>
                  <a:cubicBezTo>
                    <a:pt x="3958474" y="9593851"/>
                    <a:pt x="3949404" y="9606609"/>
                    <a:pt x="3938369" y="9606609"/>
                  </a:cubicBezTo>
                  <a:lnTo>
                    <a:pt x="20105" y="9606609"/>
                  </a:lnTo>
                  <a:cubicBezTo>
                    <a:pt x="8919" y="9606609"/>
                    <a:pt x="0" y="9593635"/>
                    <a:pt x="0" y="9577849"/>
                  </a:cubicBezTo>
                  <a:lnTo>
                    <a:pt x="0" y="28760"/>
                  </a:lnTo>
                  <a:cubicBezTo>
                    <a:pt x="0" y="12974"/>
                    <a:pt x="9070" y="0"/>
                    <a:pt x="20105" y="0"/>
                  </a:cubicBezTo>
                  <a:moveTo>
                    <a:pt x="20105" y="57736"/>
                  </a:moveTo>
                  <a:lnTo>
                    <a:pt x="20105" y="28760"/>
                  </a:lnTo>
                  <a:lnTo>
                    <a:pt x="40362" y="28760"/>
                  </a:lnTo>
                  <a:lnTo>
                    <a:pt x="40362" y="9577849"/>
                  </a:lnTo>
                  <a:lnTo>
                    <a:pt x="20105" y="9577849"/>
                  </a:lnTo>
                  <a:lnTo>
                    <a:pt x="20105" y="9549089"/>
                  </a:lnTo>
                  <a:lnTo>
                    <a:pt x="3938369" y="9549089"/>
                  </a:lnTo>
                  <a:lnTo>
                    <a:pt x="3938369" y="9577849"/>
                  </a:lnTo>
                  <a:lnTo>
                    <a:pt x="3918264" y="9577849"/>
                  </a:lnTo>
                  <a:lnTo>
                    <a:pt x="3918264" y="28760"/>
                  </a:lnTo>
                  <a:lnTo>
                    <a:pt x="3938369" y="28760"/>
                  </a:lnTo>
                  <a:lnTo>
                    <a:pt x="3938369" y="57736"/>
                  </a:lnTo>
                  <a:lnTo>
                    <a:pt x="20105" y="57736"/>
                  </a:lnTo>
                  <a:close/>
                </a:path>
              </a:pathLst>
            </a:custGeom>
            <a:solidFill>
              <a:srgbClr val="E2E8F0"/>
            </a:solidFill>
          </p:spPr>
        </p:sp>
      </p:grpSp>
      <p:grpSp>
        <p:nvGrpSpPr>
          <p:cNvPr name="Group 54" id="54"/>
          <p:cNvGrpSpPr/>
          <p:nvPr/>
        </p:nvGrpSpPr>
        <p:grpSpPr>
          <a:xfrm rot="0">
            <a:off x="14290365" y="2231136"/>
            <a:ext cx="2968935" cy="822960"/>
            <a:chOff x="0" y="0"/>
            <a:chExt cx="3958580" cy="1097280"/>
          </a:xfrm>
        </p:grpSpPr>
        <p:sp>
          <p:nvSpPr>
            <p:cNvPr name="Freeform 55" id="55"/>
            <p:cNvSpPr/>
            <p:nvPr/>
          </p:nvSpPr>
          <p:spPr>
            <a:xfrm flipH="false" flipV="false" rot="0">
              <a:off x="0" y="0"/>
              <a:ext cx="3958580" cy="1097280"/>
            </a:xfrm>
            <a:custGeom>
              <a:avLst/>
              <a:gdLst/>
              <a:ahLst/>
              <a:cxnLst/>
              <a:rect r="r" b="b" t="t" l="l"/>
              <a:pathLst>
                <a:path h="1097280" w="3958580">
                  <a:moveTo>
                    <a:pt x="0" y="0"/>
                  </a:moveTo>
                  <a:lnTo>
                    <a:pt x="3958580" y="0"/>
                  </a:lnTo>
                  <a:lnTo>
                    <a:pt x="3958580" y="1097280"/>
                  </a:lnTo>
                  <a:lnTo>
                    <a:pt x="0" y="1097280"/>
                  </a:lnTo>
                  <a:close/>
                </a:path>
              </a:pathLst>
            </a:custGeom>
            <a:solidFill>
              <a:srgbClr val="007E41"/>
            </a:solidFill>
          </p:spPr>
        </p:sp>
      </p:grpSp>
      <p:grpSp>
        <p:nvGrpSpPr>
          <p:cNvPr name="Group 56" id="56"/>
          <p:cNvGrpSpPr/>
          <p:nvPr/>
        </p:nvGrpSpPr>
        <p:grpSpPr>
          <a:xfrm rot="0">
            <a:off x="11575741" y="2359152"/>
            <a:ext cx="1594470" cy="694944"/>
            <a:chOff x="0" y="0"/>
            <a:chExt cx="2125960" cy="926592"/>
          </a:xfrm>
        </p:grpSpPr>
        <p:sp>
          <p:nvSpPr>
            <p:cNvPr name="Freeform 57" id="57"/>
            <p:cNvSpPr/>
            <p:nvPr/>
          </p:nvSpPr>
          <p:spPr>
            <a:xfrm flipH="false" flipV="false" rot="0">
              <a:off x="0" y="0"/>
              <a:ext cx="2125960" cy="926592"/>
            </a:xfrm>
            <a:custGeom>
              <a:avLst/>
              <a:gdLst/>
              <a:ahLst/>
              <a:cxnLst/>
              <a:rect r="r" b="b" t="t" l="l"/>
              <a:pathLst>
                <a:path h="926592" w="2125960">
                  <a:moveTo>
                    <a:pt x="0" y="0"/>
                  </a:moveTo>
                  <a:lnTo>
                    <a:pt x="2125960" y="0"/>
                  </a:lnTo>
                  <a:lnTo>
                    <a:pt x="2125960" y="926592"/>
                  </a:lnTo>
                  <a:lnTo>
                    <a:pt x="0" y="926592"/>
                  </a:lnTo>
                  <a:close/>
                </a:path>
              </a:pathLst>
            </a:custGeom>
            <a:blipFill>
              <a:blip r:embed="rId3">
                <a:alphaModFix amt="0"/>
              </a:blip>
              <a:stretch>
                <a:fillRect l="0" t="-19223" r="-54840" b="-19223"/>
              </a:stretch>
            </a:blipFill>
          </p:spPr>
        </p:sp>
        <p:sp>
          <p:nvSpPr>
            <p:cNvPr name="TextBox 58" id="58"/>
            <p:cNvSpPr txBox="true"/>
            <p:nvPr/>
          </p:nvSpPr>
          <p:spPr>
            <a:xfrm>
              <a:off x="0" y="-19050"/>
              <a:ext cx="2125960" cy="945642"/>
            </a:xfrm>
            <a:prstGeom prst="rect">
              <a:avLst/>
            </a:prstGeom>
          </p:spPr>
          <p:txBody>
            <a:bodyPr anchor="ctr" rtlCol="false" tIns="0" lIns="0" bIns="0" rIns="0"/>
            <a:lstStyle/>
            <a:p>
              <a:pPr algn="ctr">
                <a:lnSpc>
                  <a:spcPts val="2999"/>
                </a:lnSpc>
              </a:pPr>
              <a:r>
                <a:rPr lang="en-US" sz="2499" b="true">
                  <a:solidFill>
                    <a:srgbClr val="FFFFFF"/>
                  </a:solidFill>
                  <a:latin typeface="Helios Extended Bold"/>
                  <a:ea typeface="Helios Extended Bold"/>
                  <a:cs typeface="Helios Extended Bold"/>
                  <a:sym typeface="Helios Extended Bold"/>
                </a:rPr>
                <a:t>Judge 3</a:t>
              </a:r>
            </a:p>
          </p:txBody>
        </p:sp>
      </p:grpSp>
      <p:grpSp>
        <p:nvGrpSpPr>
          <p:cNvPr name="Group 59" id="59"/>
          <p:cNvGrpSpPr/>
          <p:nvPr/>
        </p:nvGrpSpPr>
        <p:grpSpPr>
          <a:xfrm rot="0">
            <a:off x="1257696" y="2359152"/>
            <a:ext cx="1594470" cy="694944"/>
            <a:chOff x="0" y="0"/>
            <a:chExt cx="2125960" cy="926592"/>
          </a:xfrm>
        </p:grpSpPr>
        <p:sp>
          <p:nvSpPr>
            <p:cNvPr name="Freeform 60" id="60"/>
            <p:cNvSpPr/>
            <p:nvPr/>
          </p:nvSpPr>
          <p:spPr>
            <a:xfrm flipH="false" flipV="false" rot="0">
              <a:off x="0" y="0"/>
              <a:ext cx="2125960" cy="926592"/>
            </a:xfrm>
            <a:custGeom>
              <a:avLst/>
              <a:gdLst/>
              <a:ahLst/>
              <a:cxnLst/>
              <a:rect r="r" b="b" t="t" l="l"/>
              <a:pathLst>
                <a:path h="926592" w="2125960">
                  <a:moveTo>
                    <a:pt x="0" y="0"/>
                  </a:moveTo>
                  <a:lnTo>
                    <a:pt x="2125960" y="0"/>
                  </a:lnTo>
                  <a:lnTo>
                    <a:pt x="2125960" y="926592"/>
                  </a:lnTo>
                  <a:lnTo>
                    <a:pt x="0" y="926592"/>
                  </a:lnTo>
                  <a:close/>
                </a:path>
              </a:pathLst>
            </a:custGeom>
            <a:blipFill>
              <a:blip r:embed="rId3">
                <a:alphaModFix amt="0"/>
              </a:blip>
              <a:stretch>
                <a:fillRect l="0" t="-19223" r="-54840" b="-19223"/>
              </a:stretch>
            </a:blipFill>
          </p:spPr>
        </p:sp>
        <p:sp>
          <p:nvSpPr>
            <p:cNvPr name="TextBox 61" id="61"/>
            <p:cNvSpPr txBox="true"/>
            <p:nvPr/>
          </p:nvSpPr>
          <p:spPr>
            <a:xfrm>
              <a:off x="0" y="-19050"/>
              <a:ext cx="2125960" cy="945642"/>
            </a:xfrm>
            <a:prstGeom prst="rect">
              <a:avLst/>
            </a:prstGeom>
          </p:spPr>
          <p:txBody>
            <a:bodyPr anchor="ctr" rtlCol="false" tIns="0" lIns="0" bIns="0" rIns="0"/>
            <a:lstStyle/>
            <a:p>
              <a:pPr algn="ctr">
                <a:lnSpc>
                  <a:spcPts val="2999"/>
                </a:lnSpc>
              </a:pPr>
              <a:r>
                <a:rPr lang="en-US" sz="2499" b="true">
                  <a:solidFill>
                    <a:srgbClr val="FFFFFF"/>
                  </a:solidFill>
                  <a:latin typeface="Helios Extended Bold"/>
                  <a:ea typeface="Helios Extended Bold"/>
                  <a:cs typeface="Helios Extended Bold"/>
                  <a:sym typeface="Helios Extended Bold"/>
                </a:rPr>
                <a:t>Teacher</a:t>
              </a:r>
            </a:p>
          </p:txBody>
        </p:sp>
      </p:grpSp>
      <p:grpSp>
        <p:nvGrpSpPr>
          <p:cNvPr name="Group 62" id="62"/>
          <p:cNvGrpSpPr/>
          <p:nvPr/>
        </p:nvGrpSpPr>
        <p:grpSpPr>
          <a:xfrm rot="0">
            <a:off x="4688213" y="2334006"/>
            <a:ext cx="1594470" cy="694944"/>
            <a:chOff x="0" y="0"/>
            <a:chExt cx="2125960" cy="926592"/>
          </a:xfrm>
        </p:grpSpPr>
        <p:sp>
          <p:nvSpPr>
            <p:cNvPr name="Freeform 63" id="63"/>
            <p:cNvSpPr/>
            <p:nvPr/>
          </p:nvSpPr>
          <p:spPr>
            <a:xfrm flipH="false" flipV="false" rot="0">
              <a:off x="0" y="0"/>
              <a:ext cx="2125960" cy="926592"/>
            </a:xfrm>
            <a:custGeom>
              <a:avLst/>
              <a:gdLst/>
              <a:ahLst/>
              <a:cxnLst/>
              <a:rect r="r" b="b" t="t" l="l"/>
              <a:pathLst>
                <a:path h="926592" w="2125960">
                  <a:moveTo>
                    <a:pt x="0" y="0"/>
                  </a:moveTo>
                  <a:lnTo>
                    <a:pt x="2125960" y="0"/>
                  </a:lnTo>
                  <a:lnTo>
                    <a:pt x="2125960" y="926592"/>
                  </a:lnTo>
                  <a:lnTo>
                    <a:pt x="0" y="926592"/>
                  </a:lnTo>
                  <a:close/>
                </a:path>
              </a:pathLst>
            </a:custGeom>
            <a:blipFill>
              <a:blip r:embed="rId3">
                <a:alphaModFix amt="0"/>
              </a:blip>
              <a:stretch>
                <a:fillRect l="0" t="-19223" r="-54840" b="-19223"/>
              </a:stretch>
            </a:blipFill>
          </p:spPr>
        </p:sp>
        <p:sp>
          <p:nvSpPr>
            <p:cNvPr name="TextBox 64" id="64"/>
            <p:cNvSpPr txBox="true"/>
            <p:nvPr/>
          </p:nvSpPr>
          <p:spPr>
            <a:xfrm>
              <a:off x="0" y="-19050"/>
              <a:ext cx="2125960" cy="945642"/>
            </a:xfrm>
            <a:prstGeom prst="rect">
              <a:avLst/>
            </a:prstGeom>
          </p:spPr>
          <p:txBody>
            <a:bodyPr anchor="ctr" rtlCol="false" tIns="0" lIns="0" bIns="0" rIns="0"/>
            <a:lstStyle/>
            <a:p>
              <a:pPr algn="ctr">
                <a:lnSpc>
                  <a:spcPts val="2999"/>
                </a:lnSpc>
              </a:pPr>
              <a:r>
                <a:rPr lang="en-US" sz="2499" b="true">
                  <a:solidFill>
                    <a:srgbClr val="FFFFFF"/>
                  </a:solidFill>
                  <a:latin typeface="Helios Extended Bold"/>
                  <a:ea typeface="Helios Extended Bold"/>
                  <a:cs typeface="Helios Extended Bold"/>
                  <a:sym typeface="Helios Extended Bold"/>
                </a:rPr>
                <a:t>Judge 1</a:t>
              </a:r>
            </a:p>
          </p:txBody>
        </p:sp>
      </p:grpSp>
      <p:grpSp>
        <p:nvGrpSpPr>
          <p:cNvPr name="Group 65" id="65"/>
          <p:cNvGrpSpPr/>
          <p:nvPr/>
        </p:nvGrpSpPr>
        <p:grpSpPr>
          <a:xfrm rot="0">
            <a:off x="8045749" y="2398014"/>
            <a:ext cx="1594470" cy="694944"/>
            <a:chOff x="0" y="0"/>
            <a:chExt cx="2125960" cy="926592"/>
          </a:xfrm>
        </p:grpSpPr>
        <p:sp>
          <p:nvSpPr>
            <p:cNvPr name="Freeform 66" id="66"/>
            <p:cNvSpPr/>
            <p:nvPr/>
          </p:nvSpPr>
          <p:spPr>
            <a:xfrm flipH="false" flipV="false" rot="0">
              <a:off x="0" y="0"/>
              <a:ext cx="2125960" cy="926592"/>
            </a:xfrm>
            <a:custGeom>
              <a:avLst/>
              <a:gdLst/>
              <a:ahLst/>
              <a:cxnLst/>
              <a:rect r="r" b="b" t="t" l="l"/>
              <a:pathLst>
                <a:path h="926592" w="2125960">
                  <a:moveTo>
                    <a:pt x="0" y="0"/>
                  </a:moveTo>
                  <a:lnTo>
                    <a:pt x="2125960" y="0"/>
                  </a:lnTo>
                  <a:lnTo>
                    <a:pt x="2125960" y="926592"/>
                  </a:lnTo>
                  <a:lnTo>
                    <a:pt x="0" y="926592"/>
                  </a:lnTo>
                  <a:close/>
                </a:path>
              </a:pathLst>
            </a:custGeom>
            <a:blipFill>
              <a:blip r:embed="rId3">
                <a:alphaModFix amt="0"/>
              </a:blip>
              <a:stretch>
                <a:fillRect l="0" t="-19223" r="-54840" b="-19223"/>
              </a:stretch>
            </a:blipFill>
          </p:spPr>
        </p:sp>
        <p:sp>
          <p:nvSpPr>
            <p:cNvPr name="TextBox 67" id="67"/>
            <p:cNvSpPr txBox="true"/>
            <p:nvPr/>
          </p:nvSpPr>
          <p:spPr>
            <a:xfrm>
              <a:off x="0" y="-19050"/>
              <a:ext cx="2125960" cy="945642"/>
            </a:xfrm>
            <a:prstGeom prst="rect">
              <a:avLst/>
            </a:prstGeom>
          </p:spPr>
          <p:txBody>
            <a:bodyPr anchor="ctr" rtlCol="false" tIns="0" lIns="0" bIns="0" rIns="0"/>
            <a:lstStyle/>
            <a:p>
              <a:pPr algn="ctr">
                <a:lnSpc>
                  <a:spcPts val="2999"/>
                </a:lnSpc>
              </a:pPr>
              <a:r>
                <a:rPr lang="en-US" sz="2499" b="true">
                  <a:solidFill>
                    <a:srgbClr val="FFFFFF"/>
                  </a:solidFill>
                  <a:latin typeface="Helios Extended Bold"/>
                  <a:ea typeface="Helios Extended Bold"/>
                  <a:cs typeface="Helios Extended Bold"/>
                  <a:sym typeface="Helios Extended Bold"/>
                </a:rPr>
                <a:t>Judge 2</a:t>
              </a:r>
            </a:p>
          </p:txBody>
        </p:sp>
      </p:grpSp>
      <p:grpSp>
        <p:nvGrpSpPr>
          <p:cNvPr name="Group 68" id="68"/>
          <p:cNvGrpSpPr/>
          <p:nvPr/>
        </p:nvGrpSpPr>
        <p:grpSpPr>
          <a:xfrm rot="0">
            <a:off x="14997738" y="2304489"/>
            <a:ext cx="1594470" cy="694944"/>
            <a:chOff x="0" y="0"/>
            <a:chExt cx="2125960" cy="926592"/>
          </a:xfrm>
        </p:grpSpPr>
        <p:sp>
          <p:nvSpPr>
            <p:cNvPr name="Freeform 69" id="69"/>
            <p:cNvSpPr/>
            <p:nvPr/>
          </p:nvSpPr>
          <p:spPr>
            <a:xfrm flipH="false" flipV="false" rot="0">
              <a:off x="0" y="0"/>
              <a:ext cx="2125960" cy="926592"/>
            </a:xfrm>
            <a:custGeom>
              <a:avLst/>
              <a:gdLst/>
              <a:ahLst/>
              <a:cxnLst/>
              <a:rect r="r" b="b" t="t" l="l"/>
              <a:pathLst>
                <a:path h="926592" w="2125960">
                  <a:moveTo>
                    <a:pt x="0" y="0"/>
                  </a:moveTo>
                  <a:lnTo>
                    <a:pt x="2125960" y="0"/>
                  </a:lnTo>
                  <a:lnTo>
                    <a:pt x="2125960" y="926592"/>
                  </a:lnTo>
                  <a:lnTo>
                    <a:pt x="0" y="926592"/>
                  </a:lnTo>
                  <a:close/>
                </a:path>
              </a:pathLst>
            </a:custGeom>
            <a:blipFill>
              <a:blip r:embed="rId3">
                <a:alphaModFix amt="0"/>
              </a:blip>
              <a:stretch>
                <a:fillRect l="0" t="-19223" r="-54840" b="-19223"/>
              </a:stretch>
            </a:blipFill>
          </p:spPr>
        </p:sp>
        <p:sp>
          <p:nvSpPr>
            <p:cNvPr name="TextBox 70" id="70"/>
            <p:cNvSpPr txBox="true"/>
            <p:nvPr/>
          </p:nvSpPr>
          <p:spPr>
            <a:xfrm>
              <a:off x="0" y="-19050"/>
              <a:ext cx="2125960" cy="945642"/>
            </a:xfrm>
            <a:prstGeom prst="rect">
              <a:avLst/>
            </a:prstGeom>
          </p:spPr>
          <p:txBody>
            <a:bodyPr anchor="ctr" rtlCol="false" tIns="0" lIns="0" bIns="0" rIns="0"/>
            <a:lstStyle/>
            <a:p>
              <a:pPr algn="ctr">
                <a:lnSpc>
                  <a:spcPts val="2999"/>
                </a:lnSpc>
              </a:pPr>
              <a:r>
                <a:rPr lang="en-US" sz="2499" b="true">
                  <a:solidFill>
                    <a:srgbClr val="FFFFFF"/>
                  </a:solidFill>
                  <a:latin typeface="Helios Extended Bold"/>
                  <a:ea typeface="Helios Extended Bold"/>
                  <a:cs typeface="Helios Extended Bold"/>
                  <a:sym typeface="Helios Extended Bold"/>
                </a:rPr>
                <a:t>Student</a:t>
              </a:r>
            </a:p>
          </p:txBody>
        </p:sp>
      </p:grpSp>
      <p:grpSp>
        <p:nvGrpSpPr>
          <p:cNvPr name="Group 71" id="71"/>
          <p:cNvGrpSpPr/>
          <p:nvPr/>
        </p:nvGrpSpPr>
        <p:grpSpPr>
          <a:xfrm rot="0">
            <a:off x="4009454" y="4809204"/>
            <a:ext cx="2951988" cy="1280160"/>
            <a:chOff x="0" y="0"/>
            <a:chExt cx="3935984" cy="1706880"/>
          </a:xfrm>
        </p:grpSpPr>
        <p:sp>
          <p:nvSpPr>
            <p:cNvPr name="Freeform 72" id="72"/>
            <p:cNvSpPr/>
            <p:nvPr/>
          </p:nvSpPr>
          <p:spPr>
            <a:xfrm flipH="false" flipV="false" rot="0">
              <a:off x="0" y="0"/>
              <a:ext cx="3935984" cy="1706880"/>
            </a:xfrm>
            <a:custGeom>
              <a:avLst/>
              <a:gdLst/>
              <a:ahLst/>
              <a:cxnLst/>
              <a:rect r="r" b="b" t="t" l="l"/>
              <a:pathLst>
                <a:path h="1706880" w="3935984">
                  <a:moveTo>
                    <a:pt x="0" y="0"/>
                  </a:moveTo>
                  <a:lnTo>
                    <a:pt x="3935984" y="0"/>
                  </a:lnTo>
                  <a:lnTo>
                    <a:pt x="3935984" y="1706880"/>
                  </a:lnTo>
                  <a:lnTo>
                    <a:pt x="0" y="1706880"/>
                  </a:lnTo>
                  <a:close/>
                </a:path>
              </a:pathLst>
            </a:custGeom>
            <a:blipFill>
              <a:blip r:embed="rId3">
                <a:alphaModFix amt="0"/>
              </a:blip>
              <a:stretch>
                <a:fillRect l="-18159" t="0" r="6879" b="0"/>
              </a:stretch>
            </a:blipFill>
          </p:spPr>
        </p:sp>
        <p:sp>
          <p:nvSpPr>
            <p:cNvPr name="TextBox 73" id="73"/>
            <p:cNvSpPr txBox="true"/>
            <p:nvPr/>
          </p:nvSpPr>
          <p:spPr>
            <a:xfrm>
              <a:off x="0" y="-19050"/>
              <a:ext cx="3935984" cy="1725930"/>
            </a:xfrm>
            <a:prstGeom prst="rect">
              <a:avLst/>
            </a:prstGeom>
          </p:spPr>
          <p:txBody>
            <a:bodyPr anchor="ctr" rtlCol="false" tIns="0" lIns="0" bIns="0" rIns="0"/>
            <a:lstStyle/>
            <a:p>
              <a:pPr algn="ctr">
                <a:lnSpc>
                  <a:spcPts val="3479"/>
                </a:lnSpc>
              </a:pPr>
              <a:r>
                <a:rPr lang="en-US" sz="2899">
                  <a:solidFill>
                    <a:srgbClr val="000000"/>
                  </a:solidFill>
                  <a:latin typeface="Helios Extended"/>
                  <a:ea typeface="Helios Extended"/>
                  <a:cs typeface="Helios Extended"/>
                  <a:sym typeface="Helios Extended"/>
                </a:rPr>
                <a:t>Qwen2</a:t>
              </a:r>
              <a:r>
                <a:rPr lang="en-US" sz="2899">
                  <a:solidFill>
                    <a:srgbClr val="000000"/>
                  </a:solidFill>
                  <a:latin typeface="Helios Extended"/>
                  <a:ea typeface="Helios Extended"/>
                  <a:cs typeface="Helios Extended"/>
                  <a:sym typeface="Helios Extended"/>
                </a:rPr>
                <a:t>.5-72B-Instruct</a:t>
              </a:r>
            </a:p>
          </p:txBody>
        </p:sp>
      </p:grpSp>
      <p:grpSp>
        <p:nvGrpSpPr>
          <p:cNvPr name="Group 74" id="74"/>
          <p:cNvGrpSpPr/>
          <p:nvPr/>
        </p:nvGrpSpPr>
        <p:grpSpPr>
          <a:xfrm rot="0">
            <a:off x="7442454" y="4783099"/>
            <a:ext cx="2896309" cy="1280160"/>
            <a:chOff x="0" y="0"/>
            <a:chExt cx="3861746" cy="1706880"/>
          </a:xfrm>
        </p:grpSpPr>
        <p:sp>
          <p:nvSpPr>
            <p:cNvPr name="Freeform 75" id="75"/>
            <p:cNvSpPr/>
            <p:nvPr/>
          </p:nvSpPr>
          <p:spPr>
            <a:xfrm flipH="false" flipV="false" rot="0">
              <a:off x="0" y="0"/>
              <a:ext cx="3861746" cy="1706880"/>
            </a:xfrm>
            <a:custGeom>
              <a:avLst/>
              <a:gdLst/>
              <a:ahLst/>
              <a:cxnLst/>
              <a:rect r="r" b="b" t="t" l="l"/>
              <a:pathLst>
                <a:path h="1706880" w="3861746">
                  <a:moveTo>
                    <a:pt x="0" y="0"/>
                  </a:moveTo>
                  <a:lnTo>
                    <a:pt x="3861746" y="0"/>
                  </a:lnTo>
                  <a:lnTo>
                    <a:pt x="3861746" y="1706880"/>
                  </a:lnTo>
                  <a:lnTo>
                    <a:pt x="0" y="1706880"/>
                  </a:lnTo>
                  <a:close/>
                </a:path>
              </a:pathLst>
            </a:custGeom>
            <a:blipFill>
              <a:blip r:embed="rId3">
                <a:alphaModFix amt="0"/>
              </a:blip>
              <a:stretch>
                <a:fillRect l="-18508" t="0" r="5089" b="0"/>
              </a:stretch>
            </a:blipFill>
          </p:spPr>
        </p:sp>
        <p:sp>
          <p:nvSpPr>
            <p:cNvPr name="TextBox 76" id="76"/>
            <p:cNvSpPr txBox="true"/>
            <p:nvPr/>
          </p:nvSpPr>
          <p:spPr>
            <a:xfrm>
              <a:off x="0" y="-19050"/>
              <a:ext cx="3861746" cy="1725930"/>
            </a:xfrm>
            <a:prstGeom prst="rect">
              <a:avLst/>
            </a:prstGeom>
          </p:spPr>
          <p:txBody>
            <a:bodyPr anchor="ctr" rtlCol="false" tIns="0" lIns="0" bIns="0" rIns="0"/>
            <a:lstStyle/>
            <a:p>
              <a:pPr algn="ctr">
                <a:lnSpc>
                  <a:spcPts val="3479"/>
                </a:lnSpc>
              </a:pPr>
              <a:r>
                <a:rPr lang="en-US" sz="2899">
                  <a:solidFill>
                    <a:srgbClr val="000000"/>
                  </a:solidFill>
                  <a:latin typeface="Helios Extended"/>
                  <a:ea typeface="Helios Extended"/>
                  <a:cs typeface="Helios Extended"/>
                  <a:sym typeface="Helios Extended"/>
                </a:rPr>
                <a:t>DeepSeek-R1-3</a:t>
              </a:r>
              <a:r>
                <a:rPr lang="en-US" sz="2899">
                  <a:solidFill>
                    <a:srgbClr val="000000"/>
                  </a:solidFill>
                  <a:latin typeface="Helios Extended"/>
                  <a:ea typeface="Helios Extended"/>
                  <a:cs typeface="Helios Extended"/>
                  <a:sym typeface="Helios Extended"/>
                </a:rPr>
                <a:t>2B </a:t>
              </a:r>
            </a:p>
          </p:txBody>
        </p:sp>
      </p:grpSp>
      <p:grpSp>
        <p:nvGrpSpPr>
          <p:cNvPr name="Group 77" id="77"/>
          <p:cNvGrpSpPr/>
          <p:nvPr/>
        </p:nvGrpSpPr>
        <p:grpSpPr>
          <a:xfrm rot="0">
            <a:off x="14321463" y="4809204"/>
            <a:ext cx="2937837" cy="1227951"/>
            <a:chOff x="0" y="0"/>
            <a:chExt cx="3368305" cy="1407877"/>
          </a:xfrm>
        </p:grpSpPr>
        <p:sp>
          <p:nvSpPr>
            <p:cNvPr name="Freeform 78" id="78"/>
            <p:cNvSpPr/>
            <p:nvPr/>
          </p:nvSpPr>
          <p:spPr>
            <a:xfrm flipH="false" flipV="false" rot="0">
              <a:off x="17107" y="4215"/>
              <a:ext cx="3334001" cy="1399425"/>
            </a:xfrm>
            <a:custGeom>
              <a:avLst/>
              <a:gdLst/>
              <a:ahLst/>
              <a:cxnLst/>
              <a:rect r="r" b="b" t="t" l="l"/>
              <a:pathLst>
                <a:path h="1399425" w="3334001">
                  <a:moveTo>
                    <a:pt x="0" y="0"/>
                  </a:moveTo>
                  <a:lnTo>
                    <a:pt x="3334001" y="0"/>
                  </a:lnTo>
                  <a:lnTo>
                    <a:pt x="3334001" y="1399425"/>
                  </a:lnTo>
                  <a:lnTo>
                    <a:pt x="0" y="1399425"/>
                  </a:lnTo>
                  <a:close/>
                </a:path>
              </a:pathLst>
            </a:custGeom>
            <a:solidFill>
              <a:srgbClr val="F2F1F1"/>
            </a:solidFill>
          </p:spPr>
        </p:sp>
        <p:sp>
          <p:nvSpPr>
            <p:cNvPr name="Freeform 79" id="79"/>
            <p:cNvSpPr/>
            <p:nvPr/>
          </p:nvSpPr>
          <p:spPr>
            <a:xfrm flipH="false" flipV="false" rot="0">
              <a:off x="0" y="0"/>
              <a:ext cx="3368216" cy="1407855"/>
            </a:xfrm>
            <a:custGeom>
              <a:avLst/>
              <a:gdLst/>
              <a:ahLst/>
              <a:cxnLst/>
              <a:rect r="r" b="b" t="t" l="l"/>
              <a:pathLst>
                <a:path h="1407855" w="3368216">
                  <a:moveTo>
                    <a:pt x="17107" y="0"/>
                  </a:moveTo>
                  <a:lnTo>
                    <a:pt x="3351108" y="0"/>
                  </a:lnTo>
                  <a:cubicBezTo>
                    <a:pt x="3360627" y="0"/>
                    <a:pt x="3368216" y="1901"/>
                    <a:pt x="3368216" y="4215"/>
                  </a:cubicBezTo>
                  <a:lnTo>
                    <a:pt x="3368216" y="1403640"/>
                  </a:lnTo>
                  <a:cubicBezTo>
                    <a:pt x="3368216" y="1405985"/>
                    <a:pt x="3360498" y="1407855"/>
                    <a:pt x="3351108" y="1407855"/>
                  </a:cubicBezTo>
                  <a:lnTo>
                    <a:pt x="17107" y="1407855"/>
                  </a:lnTo>
                  <a:cubicBezTo>
                    <a:pt x="7589" y="1407855"/>
                    <a:pt x="0" y="1405954"/>
                    <a:pt x="0" y="1403640"/>
                  </a:cubicBezTo>
                  <a:lnTo>
                    <a:pt x="0" y="4215"/>
                  </a:lnTo>
                  <a:cubicBezTo>
                    <a:pt x="0" y="1901"/>
                    <a:pt x="7718" y="0"/>
                    <a:pt x="17107" y="0"/>
                  </a:cubicBezTo>
                  <a:moveTo>
                    <a:pt x="17107" y="8461"/>
                  </a:moveTo>
                  <a:lnTo>
                    <a:pt x="17107" y="4215"/>
                  </a:lnTo>
                  <a:lnTo>
                    <a:pt x="34343" y="4215"/>
                  </a:lnTo>
                  <a:lnTo>
                    <a:pt x="34343" y="1403640"/>
                  </a:lnTo>
                  <a:lnTo>
                    <a:pt x="17107" y="1403640"/>
                  </a:lnTo>
                  <a:lnTo>
                    <a:pt x="17107" y="1399426"/>
                  </a:lnTo>
                  <a:lnTo>
                    <a:pt x="3351108" y="1399426"/>
                  </a:lnTo>
                  <a:lnTo>
                    <a:pt x="3351108" y="1403640"/>
                  </a:lnTo>
                  <a:lnTo>
                    <a:pt x="3334001" y="1403640"/>
                  </a:lnTo>
                  <a:lnTo>
                    <a:pt x="3334001" y="4215"/>
                  </a:lnTo>
                  <a:lnTo>
                    <a:pt x="3351108" y="4215"/>
                  </a:lnTo>
                  <a:lnTo>
                    <a:pt x="3351108" y="8461"/>
                  </a:lnTo>
                  <a:lnTo>
                    <a:pt x="17107" y="8461"/>
                  </a:lnTo>
                  <a:close/>
                </a:path>
              </a:pathLst>
            </a:custGeom>
            <a:solidFill>
              <a:srgbClr val="E2E8F0"/>
            </a:solidFill>
          </p:spPr>
        </p:sp>
      </p:grpSp>
      <p:grpSp>
        <p:nvGrpSpPr>
          <p:cNvPr name="Group 80" id="80"/>
          <p:cNvGrpSpPr/>
          <p:nvPr/>
        </p:nvGrpSpPr>
        <p:grpSpPr>
          <a:xfrm rot="0">
            <a:off x="14407188" y="4783099"/>
            <a:ext cx="2737025" cy="1280160"/>
            <a:chOff x="0" y="0"/>
            <a:chExt cx="3649367" cy="1706880"/>
          </a:xfrm>
        </p:grpSpPr>
        <p:sp>
          <p:nvSpPr>
            <p:cNvPr name="Freeform 81" id="81"/>
            <p:cNvSpPr/>
            <p:nvPr/>
          </p:nvSpPr>
          <p:spPr>
            <a:xfrm flipH="false" flipV="false" rot="0">
              <a:off x="0" y="0"/>
              <a:ext cx="3649368" cy="1706880"/>
            </a:xfrm>
            <a:custGeom>
              <a:avLst/>
              <a:gdLst/>
              <a:ahLst/>
              <a:cxnLst/>
              <a:rect r="r" b="b" t="t" l="l"/>
              <a:pathLst>
                <a:path h="1706880" w="3649368">
                  <a:moveTo>
                    <a:pt x="0" y="0"/>
                  </a:moveTo>
                  <a:lnTo>
                    <a:pt x="3649368" y="0"/>
                  </a:lnTo>
                  <a:lnTo>
                    <a:pt x="3649368" y="1706880"/>
                  </a:lnTo>
                  <a:lnTo>
                    <a:pt x="0" y="1706880"/>
                  </a:lnTo>
                  <a:close/>
                </a:path>
              </a:pathLst>
            </a:custGeom>
            <a:blipFill>
              <a:blip r:embed="rId3">
                <a:alphaModFix amt="0"/>
              </a:blip>
              <a:stretch>
                <a:fillRect l="-19585" t="0" r="-434" b="0"/>
              </a:stretch>
            </a:blipFill>
          </p:spPr>
        </p:sp>
        <p:sp>
          <p:nvSpPr>
            <p:cNvPr name="TextBox 82" id="82"/>
            <p:cNvSpPr txBox="true"/>
            <p:nvPr/>
          </p:nvSpPr>
          <p:spPr>
            <a:xfrm>
              <a:off x="0" y="-19050"/>
              <a:ext cx="3649367" cy="1725930"/>
            </a:xfrm>
            <a:prstGeom prst="rect">
              <a:avLst/>
            </a:prstGeom>
          </p:spPr>
          <p:txBody>
            <a:bodyPr anchor="ctr" rtlCol="false" tIns="0" lIns="0" bIns="0" rIns="0"/>
            <a:lstStyle/>
            <a:p>
              <a:pPr algn="ctr">
                <a:lnSpc>
                  <a:spcPts val="3479"/>
                </a:lnSpc>
              </a:pPr>
              <a:r>
                <a:rPr lang="en-US" sz="2899">
                  <a:solidFill>
                    <a:srgbClr val="000000"/>
                  </a:solidFill>
                  <a:latin typeface="Helios Extended"/>
                  <a:ea typeface="Helios Extended"/>
                  <a:cs typeface="Helios Extended"/>
                  <a:sym typeface="Helios Extended"/>
                </a:rPr>
                <a:t> Qw</a:t>
              </a:r>
              <a:r>
                <a:rPr lang="en-US" sz="2899">
                  <a:solidFill>
                    <a:srgbClr val="000000"/>
                  </a:solidFill>
                  <a:latin typeface="Helios Extended"/>
                  <a:ea typeface="Helios Extended"/>
                  <a:cs typeface="Helios Extended"/>
                  <a:sym typeface="Helios Extended"/>
                </a:rPr>
                <a:t>en2.5-7B Instruct</a:t>
              </a:r>
            </a:p>
          </p:txBody>
        </p:sp>
      </p:grpSp>
      <p:grpSp>
        <p:nvGrpSpPr>
          <p:cNvPr name="Group 83" id="83"/>
          <p:cNvGrpSpPr/>
          <p:nvPr/>
        </p:nvGrpSpPr>
        <p:grpSpPr>
          <a:xfrm rot="0">
            <a:off x="870642" y="6867669"/>
            <a:ext cx="2705424" cy="1280160"/>
            <a:chOff x="0" y="0"/>
            <a:chExt cx="3607232" cy="1706880"/>
          </a:xfrm>
        </p:grpSpPr>
        <p:sp>
          <p:nvSpPr>
            <p:cNvPr name="Freeform 84" id="84"/>
            <p:cNvSpPr/>
            <p:nvPr/>
          </p:nvSpPr>
          <p:spPr>
            <a:xfrm flipH="false" flipV="false" rot="0">
              <a:off x="0" y="0"/>
              <a:ext cx="3607232" cy="1706880"/>
            </a:xfrm>
            <a:custGeom>
              <a:avLst/>
              <a:gdLst/>
              <a:ahLst/>
              <a:cxnLst/>
              <a:rect r="r" b="b" t="t" l="l"/>
              <a:pathLst>
                <a:path h="1706880" w="3607232">
                  <a:moveTo>
                    <a:pt x="0" y="0"/>
                  </a:moveTo>
                  <a:lnTo>
                    <a:pt x="3607232" y="0"/>
                  </a:lnTo>
                  <a:lnTo>
                    <a:pt x="3607232" y="1706880"/>
                  </a:lnTo>
                  <a:lnTo>
                    <a:pt x="0" y="1706880"/>
                  </a:lnTo>
                  <a:close/>
                </a:path>
              </a:pathLst>
            </a:custGeom>
            <a:blipFill>
              <a:blip r:embed="rId3">
                <a:alphaModFix amt="0"/>
              </a:blip>
              <a:stretch>
                <a:fillRect l="-19814" t="0" r="-1607" b="0"/>
              </a:stretch>
            </a:blipFill>
          </p:spPr>
        </p:sp>
        <p:sp>
          <p:nvSpPr>
            <p:cNvPr name="TextBox 85" id="85"/>
            <p:cNvSpPr txBox="true"/>
            <p:nvPr/>
          </p:nvSpPr>
          <p:spPr>
            <a:xfrm>
              <a:off x="0" y="-28575"/>
              <a:ext cx="3607232" cy="1735455"/>
            </a:xfrm>
            <a:prstGeom prst="rect">
              <a:avLst/>
            </a:prstGeom>
          </p:spPr>
          <p:txBody>
            <a:bodyPr anchor="ctr" rtlCol="false" tIns="0" lIns="0" bIns="0" rIns="0"/>
            <a:lstStyle/>
            <a:p>
              <a:pPr algn="l">
                <a:lnSpc>
                  <a:spcPts val="2400"/>
                </a:lnSpc>
              </a:pPr>
              <a:r>
                <a:rPr lang="en-US" sz="2000">
                  <a:solidFill>
                    <a:srgbClr val="000000"/>
                  </a:solidFill>
                  <a:latin typeface="Helios Extended"/>
                  <a:ea typeface="Helios Extended"/>
                  <a:cs typeface="Helios Extended"/>
                  <a:sym typeface="Helios Extended"/>
                </a:rPr>
                <a:t>Large token length</a:t>
              </a:r>
            </a:p>
            <a:p>
              <a:pPr algn="l">
                <a:lnSpc>
                  <a:spcPts val="2400"/>
                </a:lnSpc>
              </a:pPr>
              <a:r>
                <a:rPr lang="en-US" sz="2000">
                  <a:solidFill>
                    <a:srgbClr val="000000"/>
                  </a:solidFill>
                  <a:latin typeface="Helios Extended"/>
                  <a:ea typeface="Helios Extended"/>
                  <a:cs typeface="Helios Extended"/>
                  <a:sym typeface="Helios Extended"/>
                </a:rPr>
                <a:t>9 shot prompting</a:t>
              </a:r>
            </a:p>
          </p:txBody>
        </p:sp>
      </p:grpSp>
      <p:grpSp>
        <p:nvGrpSpPr>
          <p:cNvPr name="Group 86" id="86"/>
          <p:cNvGrpSpPr/>
          <p:nvPr/>
        </p:nvGrpSpPr>
        <p:grpSpPr>
          <a:xfrm rot="0">
            <a:off x="4256018" y="6867669"/>
            <a:ext cx="2491111" cy="1280160"/>
            <a:chOff x="0" y="0"/>
            <a:chExt cx="3321482" cy="1706880"/>
          </a:xfrm>
        </p:grpSpPr>
        <p:sp>
          <p:nvSpPr>
            <p:cNvPr name="Freeform 87" id="87"/>
            <p:cNvSpPr/>
            <p:nvPr/>
          </p:nvSpPr>
          <p:spPr>
            <a:xfrm flipH="false" flipV="false" rot="0">
              <a:off x="0" y="0"/>
              <a:ext cx="3321482" cy="1706880"/>
            </a:xfrm>
            <a:custGeom>
              <a:avLst/>
              <a:gdLst/>
              <a:ahLst/>
              <a:cxnLst/>
              <a:rect r="r" b="b" t="t" l="l"/>
              <a:pathLst>
                <a:path h="1706880" w="3321482">
                  <a:moveTo>
                    <a:pt x="0" y="0"/>
                  </a:moveTo>
                  <a:lnTo>
                    <a:pt x="3321482" y="0"/>
                  </a:lnTo>
                  <a:lnTo>
                    <a:pt x="3321482" y="1706880"/>
                  </a:lnTo>
                  <a:lnTo>
                    <a:pt x="0" y="1706880"/>
                  </a:lnTo>
                  <a:close/>
                </a:path>
              </a:pathLst>
            </a:custGeom>
            <a:blipFill>
              <a:blip r:embed="rId3">
                <a:alphaModFix amt="0"/>
              </a:blip>
              <a:stretch>
                <a:fillRect l="-21519" t="0" r="-10348" b="0"/>
              </a:stretch>
            </a:blipFill>
          </p:spPr>
        </p:sp>
        <p:sp>
          <p:nvSpPr>
            <p:cNvPr name="TextBox 88" id="88"/>
            <p:cNvSpPr txBox="true"/>
            <p:nvPr/>
          </p:nvSpPr>
          <p:spPr>
            <a:xfrm>
              <a:off x="0" y="-28575"/>
              <a:ext cx="3321482" cy="1735455"/>
            </a:xfrm>
            <a:prstGeom prst="rect">
              <a:avLst/>
            </a:prstGeom>
          </p:spPr>
          <p:txBody>
            <a:bodyPr anchor="ctr" rtlCol="false" tIns="0" lIns="0" bIns="0" rIns="0"/>
            <a:lstStyle/>
            <a:p>
              <a:pPr algn="l">
                <a:lnSpc>
                  <a:spcPts val="2400"/>
                </a:lnSpc>
              </a:pPr>
              <a:r>
                <a:rPr lang="en-US" sz="2000">
                  <a:solidFill>
                    <a:srgbClr val="000000"/>
                  </a:solidFill>
                  <a:latin typeface="Helios Extended"/>
                  <a:ea typeface="Helios Extended"/>
                  <a:cs typeface="Helios Extended"/>
                  <a:sym typeface="Helios Extended"/>
                </a:rPr>
                <a:t>General scientific</a:t>
              </a:r>
            </a:p>
          </p:txBody>
        </p:sp>
      </p:grpSp>
      <p:grpSp>
        <p:nvGrpSpPr>
          <p:cNvPr name="Group 89" id="89"/>
          <p:cNvGrpSpPr/>
          <p:nvPr/>
        </p:nvGrpSpPr>
        <p:grpSpPr>
          <a:xfrm rot="0">
            <a:off x="7668865" y="6867669"/>
            <a:ext cx="2603223" cy="1280160"/>
            <a:chOff x="0" y="0"/>
            <a:chExt cx="3470964" cy="1706880"/>
          </a:xfrm>
        </p:grpSpPr>
        <p:sp>
          <p:nvSpPr>
            <p:cNvPr name="Freeform 90" id="90"/>
            <p:cNvSpPr/>
            <p:nvPr/>
          </p:nvSpPr>
          <p:spPr>
            <a:xfrm flipH="false" flipV="false" rot="0">
              <a:off x="0" y="0"/>
              <a:ext cx="3470964" cy="1706880"/>
            </a:xfrm>
            <a:custGeom>
              <a:avLst/>
              <a:gdLst/>
              <a:ahLst/>
              <a:cxnLst/>
              <a:rect r="r" b="b" t="t" l="l"/>
              <a:pathLst>
                <a:path h="1706880" w="3470964">
                  <a:moveTo>
                    <a:pt x="0" y="0"/>
                  </a:moveTo>
                  <a:lnTo>
                    <a:pt x="3470964" y="0"/>
                  </a:lnTo>
                  <a:lnTo>
                    <a:pt x="3470964" y="1706880"/>
                  </a:lnTo>
                  <a:lnTo>
                    <a:pt x="0" y="1706880"/>
                  </a:lnTo>
                  <a:close/>
                </a:path>
              </a:pathLst>
            </a:custGeom>
            <a:blipFill>
              <a:blip r:embed="rId3">
                <a:alphaModFix amt="0"/>
              </a:blip>
              <a:stretch>
                <a:fillRect l="-20592" t="0" r="-5596" b="0"/>
              </a:stretch>
            </a:blipFill>
          </p:spPr>
        </p:sp>
        <p:sp>
          <p:nvSpPr>
            <p:cNvPr name="TextBox 91" id="91"/>
            <p:cNvSpPr txBox="true"/>
            <p:nvPr/>
          </p:nvSpPr>
          <p:spPr>
            <a:xfrm>
              <a:off x="0" y="-28575"/>
              <a:ext cx="3470964" cy="1735455"/>
            </a:xfrm>
            <a:prstGeom prst="rect">
              <a:avLst/>
            </a:prstGeom>
          </p:spPr>
          <p:txBody>
            <a:bodyPr anchor="ctr" rtlCol="false" tIns="0" lIns="0" bIns="0" rIns="0"/>
            <a:lstStyle/>
            <a:p>
              <a:pPr algn="l">
                <a:lnSpc>
                  <a:spcPts val="2400"/>
                </a:lnSpc>
              </a:pPr>
              <a:r>
                <a:rPr lang="en-US" sz="2000">
                  <a:solidFill>
                    <a:srgbClr val="000000"/>
                  </a:solidFill>
                  <a:latin typeface="Helios Extended"/>
                  <a:ea typeface="Helios Extended"/>
                  <a:cs typeface="Helios Extended"/>
                  <a:sym typeface="Helios Extended"/>
                </a:rPr>
                <a:t>Logical reasoning</a:t>
              </a:r>
            </a:p>
          </p:txBody>
        </p:sp>
      </p:grpSp>
      <p:grpSp>
        <p:nvGrpSpPr>
          <p:cNvPr name="Group 92" id="92"/>
          <p:cNvGrpSpPr/>
          <p:nvPr/>
        </p:nvGrpSpPr>
        <p:grpSpPr>
          <a:xfrm rot="0">
            <a:off x="11100763" y="6867669"/>
            <a:ext cx="2499017" cy="1280160"/>
            <a:chOff x="0" y="0"/>
            <a:chExt cx="3332023" cy="1706880"/>
          </a:xfrm>
        </p:grpSpPr>
        <p:sp>
          <p:nvSpPr>
            <p:cNvPr name="Freeform 93" id="93"/>
            <p:cNvSpPr/>
            <p:nvPr/>
          </p:nvSpPr>
          <p:spPr>
            <a:xfrm flipH="false" flipV="false" rot="0">
              <a:off x="0" y="0"/>
              <a:ext cx="3332023" cy="1706880"/>
            </a:xfrm>
            <a:custGeom>
              <a:avLst/>
              <a:gdLst/>
              <a:ahLst/>
              <a:cxnLst/>
              <a:rect r="r" b="b" t="t" l="l"/>
              <a:pathLst>
                <a:path h="1706880" w="3332023">
                  <a:moveTo>
                    <a:pt x="0" y="0"/>
                  </a:moveTo>
                  <a:lnTo>
                    <a:pt x="3332023" y="0"/>
                  </a:lnTo>
                  <a:lnTo>
                    <a:pt x="3332023" y="1706880"/>
                  </a:lnTo>
                  <a:lnTo>
                    <a:pt x="0" y="1706880"/>
                  </a:lnTo>
                  <a:close/>
                </a:path>
              </a:pathLst>
            </a:custGeom>
            <a:blipFill>
              <a:blip r:embed="rId3">
                <a:alphaModFix amt="0"/>
              </a:blip>
              <a:stretch>
                <a:fillRect l="-21451" t="0" r="-9999" b="0"/>
              </a:stretch>
            </a:blipFill>
          </p:spPr>
        </p:sp>
        <p:sp>
          <p:nvSpPr>
            <p:cNvPr name="TextBox 94" id="94"/>
            <p:cNvSpPr txBox="true"/>
            <p:nvPr/>
          </p:nvSpPr>
          <p:spPr>
            <a:xfrm>
              <a:off x="0" y="-28575"/>
              <a:ext cx="3332023" cy="1735455"/>
            </a:xfrm>
            <a:prstGeom prst="rect">
              <a:avLst/>
            </a:prstGeom>
          </p:spPr>
          <p:txBody>
            <a:bodyPr anchor="ctr" rtlCol="false" tIns="0" lIns="0" bIns="0" rIns="0"/>
            <a:lstStyle/>
            <a:p>
              <a:pPr algn="l">
                <a:lnSpc>
                  <a:spcPts val="2400"/>
                </a:lnSpc>
              </a:pPr>
              <a:r>
                <a:rPr lang="en-US" sz="2000">
                  <a:solidFill>
                    <a:srgbClr val="000000"/>
                  </a:solidFill>
                  <a:latin typeface="Helios Extended"/>
                  <a:ea typeface="Helios Extended"/>
                  <a:cs typeface="Helios Extended"/>
                  <a:sym typeface="Helios Extended"/>
                </a:rPr>
                <a:t>Third perspective</a:t>
              </a:r>
            </a:p>
          </p:txBody>
        </p:sp>
      </p:grpSp>
      <p:grpSp>
        <p:nvGrpSpPr>
          <p:cNvPr name="Group 95" id="95"/>
          <p:cNvGrpSpPr/>
          <p:nvPr/>
        </p:nvGrpSpPr>
        <p:grpSpPr>
          <a:xfrm rot="0">
            <a:off x="14405452" y="6867669"/>
            <a:ext cx="2738761" cy="1280160"/>
            <a:chOff x="0" y="0"/>
            <a:chExt cx="3651682" cy="1706880"/>
          </a:xfrm>
        </p:grpSpPr>
        <p:sp>
          <p:nvSpPr>
            <p:cNvPr name="Freeform 96" id="96"/>
            <p:cNvSpPr/>
            <p:nvPr/>
          </p:nvSpPr>
          <p:spPr>
            <a:xfrm flipH="false" flipV="false" rot="0">
              <a:off x="0" y="0"/>
              <a:ext cx="3651682" cy="1706880"/>
            </a:xfrm>
            <a:custGeom>
              <a:avLst/>
              <a:gdLst/>
              <a:ahLst/>
              <a:cxnLst/>
              <a:rect r="r" b="b" t="t" l="l"/>
              <a:pathLst>
                <a:path h="1706880" w="3651682">
                  <a:moveTo>
                    <a:pt x="0" y="0"/>
                  </a:moveTo>
                  <a:lnTo>
                    <a:pt x="3651682" y="0"/>
                  </a:lnTo>
                  <a:lnTo>
                    <a:pt x="3651682" y="1706880"/>
                  </a:lnTo>
                  <a:lnTo>
                    <a:pt x="0" y="1706880"/>
                  </a:lnTo>
                  <a:close/>
                </a:path>
              </a:pathLst>
            </a:custGeom>
            <a:blipFill>
              <a:blip r:embed="rId3">
                <a:alphaModFix amt="0"/>
              </a:blip>
              <a:stretch>
                <a:fillRect l="-19573" t="0" r="-370" b="0"/>
              </a:stretch>
            </a:blipFill>
          </p:spPr>
        </p:sp>
        <p:sp>
          <p:nvSpPr>
            <p:cNvPr name="TextBox 97" id="97"/>
            <p:cNvSpPr txBox="true"/>
            <p:nvPr/>
          </p:nvSpPr>
          <p:spPr>
            <a:xfrm>
              <a:off x="0" y="-28575"/>
              <a:ext cx="3651682" cy="1735455"/>
            </a:xfrm>
            <a:prstGeom prst="rect">
              <a:avLst/>
            </a:prstGeom>
          </p:spPr>
          <p:txBody>
            <a:bodyPr anchor="ctr" rtlCol="false" tIns="0" lIns="0" bIns="0" rIns="0"/>
            <a:lstStyle/>
            <a:p>
              <a:pPr algn="ctr">
                <a:lnSpc>
                  <a:spcPts val="2400"/>
                </a:lnSpc>
              </a:pPr>
              <a:r>
                <a:rPr lang="en-US" sz="2000">
                  <a:solidFill>
                    <a:srgbClr val="000000"/>
                  </a:solidFill>
                  <a:latin typeface="Helios Extended"/>
                  <a:ea typeface="Helios Extended"/>
                  <a:cs typeface="Helios Extended"/>
                  <a:sym typeface="Helios Extended"/>
                </a:rPr>
                <a:t>Capability vs deployability</a:t>
              </a:r>
            </a:p>
            <a:p>
              <a:pPr algn="ctr">
                <a:lnSpc>
                  <a:spcPts val="2400"/>
                </a:lnSpc>
              </a:pPr>
              <a:r>
                <a:rPr lang="en-US" sz="2000">
                  <a:solidFill>
                    <a:srgbClr val="000000"/>
                  </a:solidFill>
                  <a:latin typeface="Helios Extended"/>
                  <a:ea typeface="Helios Extended"/>
                  <a:cs typeface="Helios Extended"/>
                  <a:sym typeface="Helios Extended"/>
                </a:rPr>
                <a:t>Fine tune LoRA</a:t>
              </a:r>
            </a:p>
          </p:txBody>
        </p:sp>
      </p:grpSp>
      <p:sp>
        <p:nvSpPr>
          <p:cNvPr name="TextBox 98" id="9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35938" y="109728"/>
            <a:ext cx="14264640" cy="1097280"/>
            <a:chOff x="0" y="0"/>
            <a:chExt cx="19019520" cy="1463040"/>
          </a:xfrm>
        </p:grpSpPr>
        <p:sp>
          <p:nvSpPr>
            <p:cNvPr name="Freeform 3" id="3"/>
            <p:cNvSpPr/>
            <p:nvPr/>
          </p:nvSpPr>
          <p:spPr>
            <a:xfrm flipH="false" flipV="false" rot="0">
              <a:off x="0" y="0"/>
              <a:ext cx="19019520" cy="1463040"/>
            </a:xfrm>
            <a:custGeom>
              <a:avLst/>
              <a:gdLst/>
              <a:ahLst/>
              <a:cxnLst/>
              <a:rect r="r" b="b" t="t" l="l"/>
              <a:pathLst>
                <a:path h="1463040" w="19019520">
                  <a:moveTo>
                    <a:pt x="0" y="0"/>
                  </a:moveTo>
                  <a:lnTo>
                    <a:pt x="19019520" y="0"/>
                  </a:lnTo>
                  <a:lnTo>
                    <a:pt x="19019520" y="1463040"/>
                  </a:lnTo>
                  <a:lnTo>
                    <a:pt x="0" y="1463040"/>
                  </a:lnTo>
                  <a:close/>
                </a:path>
              </a:pathLst>
            </a:custGeom>
            <a:blipFill>
              <a:blip r:embed="rId3">
                <a:alphaModFix amt="0"/>
              </a:blip>
              <a:stretch>
                <a:fillRect l="0" t="-203305" r="0" b="-203305"/>
              </a:stretch>
            </a:blipFill>
          </p:spPr>
        </p:sp>
        <p:sp>
          <p:nvSpPr>
            <p:cNvPr name="TextBox 4" id="4"/>
            <p:cNvSpPr txBox="true"/>
            <p:nvPr/>
          </p:nvSpPr>
          <p:spPr>
            <a:xfrm>
              <a:off x="0" y="-47625"/>
              <a:ext cx="19019520" cy="1510665"/>
            </a:xfrm>
            <a:prstGeom prst="rect">
              <a:avLst/>
            </a:prstGeom>
          </p:spPr>
          <p:txBody>
            <a:bodyPr anchor="ctr" rtlCol="false" tIns="0" lIns="0" bIns="0" rIns="0"/>
            <a:lstStyle/>
            <a:p>
              <a:pPr algn="l">
                <a:lnSpc>
                  <a:spcPts val="6240"/>
                </a:lnSpc>
              </a:pPr>
              <a:r>
                <a:rPr lang="en-US" b="true" sz="5200">
                  <a:solidFill>
                    <a:srgbClr val="000000"/>
                  </a:solidFill>
                  <a:latin typeface="Helios Extended Bold"/>
                  <a:ea typeface="Helios Extended Bold"/>
                  <a:cs typeface="Helios Extended Bold"/>
                  <a:sym typeface="Helios Extended Bold"/>
                </a:rPr>
                <a:t>Experimental Setup</a:t>
              </a:r>
            </a:p>
          </p:txBody>
        </p:sp>
      </p:grpSp>
      <p:grpSp>
        <p:nvGrpSpPr>
          <p:cNvPr name="Group 5" id="5"/>
          <p:cNvGrpSpPr/>
          <p:nvPr/>
        </p:nvGrpSpPr>
        <p:grpSpPr>
          <a:xfrm rot="0">
            <a:off x="15544800" y="365760"/>
            <a:ext cx="2377440" cy="585216"/>
            <a:chOff x="0" y="0"/>
            <a:chExt cx="3169920" cy="780288"/>
          </a:xfrm>
        </p:grpSpPr>
        <p:sp>
          <p:nvSpPr>
            <p:cNvPr name="Freeform 6" id="6"/>
            <p:cNvSpPr/>
            <p:nvPr/>
          </p:nvSpPr>
          <p:spPr>
            <a:xfrm flipH="false" flipV="false" rot="0">
              <a:off x="0" y="0"/>
              <a:ext cx="3169920" cy="780288"/>
            </a:xfrm>
            <a:custGeom>
              <a:avLst/>
              <a:gdLst/>
              <a:ahLst/>
              <a:cxnLst/>
              <a:rect r="r" b="b" t="t" l="l"/>
              <a:pathLst>
                <a:path h="780288" w="3169920">
                  <a:moveTo>
                    <a:pt x="0" y="121920"/>
                  </a:moveTo>
                  <a:cubicBezTo>
                    <a:pt x="0" y="54610"/>
                    <a:pt x="54610" y="0"/>
                    <a:pt x="121920" y="0"/>
                  </a:cubicBezTo>
                  <a:lnTo>
                    <a:pt x="3048000" y="0"/>
                  </a:lnTo>
                  <a:cubicBezTo>
                    <a:pt x="3115310" y="0"/>
                    <a:pt x="3169920" y="54610"/>
                    <a:pt x="3169920" y="121920"/>
                  </a:cubicBezTo>
                  <a:lnTo>
                    <a:pt x="3169920" y="658368"/>
                  </a:lnTo>
                  <a:cubicBezTo>
                    <a:pt x="3169920" y="725678"/>
                    <a:pt x="3115310" y="780288"/>
                    <a:pt x="3048000" y="780288"/>
                  </a:cubicBezTo>
                  <a:lnTo>
                    <a:pt x="121920" y="780288"/>
                  </a:lnTo>
                  <a:cubicBezTo>
                    <a:pt x="54610" y="780288"/>
                    <a:pt x="0" y="725678"/>
                    <a:pt x="0" y="658368"/>
                  </a:cubicBezTo>
                  <a:close/>
                </a:path>
              </a:pathLst>
            </a:custGeom>
            <a:solidFill>
              <a:srgbClr val="3D4D55"/>
            </a:solidFill>
          </p:spPr>
        </p:sp>
      </p:grpSp>
      <p:grpSp>
        <p:nvGrpSpPr>
          <p:cNvPr name="Group 7" id="7"/>
          <p:cNvGrpSpPr/>
          <p:nvPr/>
        </p:nvGrpSpPr>
        <p:grpSpPr>
          <a:xfrm rot="0">
            <a:off x="15544800" y="402336"/>
            <a:ext cx="2377440" cy="512064"/>
            <a:chOff x="0" y="0"/>
            <a:chExt cx="3169920" cy="682752"/>
          </a:xfrm>
        </p:grpSpPr>
        <p:sp>
          <p:nvSpPr>
            <p:cNvPr name="Freeform 8" id="8"/>
            <p:cNvSpPr/>
            <p:nvPr/>
          </p:nvSpPr>
          <p:spPr>
            <a:xfrm flipH="false" flipV="false" rot="0">
              <a:off x="0" y="0"/>
              <a:ext cx="3169920" cy="682752"/>
            </a:xfrm>
            <a:custGeom>
              <a:avLst/>
              <a:gdLst/>
              <a:ahLst/>
              <a:cxnLst/>
              <a:rect r="r" b="b" t="t" l="l"/>
              <a:pathLst>
                <a:path h="682752" w="3169920">
                  <a:moveTo>
                    <a:pt x="0" y="0"/>
                  </a:moveTo>
                  <a:lnTo>
                    <a:pt x="3169920" y="0"/>
                  </a:lnTo>
                  <a:lnTo>
                    <a:pt x="3169920" y="682752"/>
                  </a:lnTo>
                  <a:lnTo>
                    <a:pt x="0" y="682752"/>
                  </a:lnTo>
                  <a:close/>
                </a:path>
              </a:pathLst>
            </a:custGeom>
            <a:blipFill>
              <a:blip r:embed="rId3">
                <a:alphaModFix amt="0"/>
              </a:blip>
              <a:stretch>
                <a:fillRect l="0" t="-40466" r="0" b="-40466"/>
              </a:stretch>
            </a:blipFill>
          </p:spPr>
        </p:sp>
        <p:sp>
          <p:nvSpPr>
            <p:cNvPr name="TextBox 9" id="9"/>
            <p:cNvSpPr txBox="true"/>
            <p:nvPr/>
          </p:nvSpPr>
          <p:spPr>
            <a:xfrm>
              <a:off x="0" y="-9525"/>
              <a:ext cx="3169920" cy="692277"/>
            </a:xfrm>
            <a:prstGeom prst="rect">
              <a:avLst/>
            </a:prstGeom>
          </p:spPr>
          <p:txBody>
            <a:bodyPr anchor="ctr" rtlCol="false" tIns="0" lIns="0" bIns="0" rIns="0"/>
            <a:lstStyle/>
            <a:p>
              <a:pPr algn="ctr">
                <a:lnSpc>
                  <a:spcPts val="2160"/>
                </a:lnSpc>
              </a:pPr>
              <a:r>
                <a:rPr lang="en-US" sz="1800" b="true">
                  <a:solidFill>
                    <a:srgbClr val="FFFFFF"/>
                  </a:solidFill>
                  <a:latin typeface="Helios Extended Bold"/>
                  <a:ea typeface="Helios Extended Bold"/>
                  <a:cs typeface="Helios Extended Bold"/>
                  <a:sym typeface="Helios Extended Bold"/>
                </a:rPr>
                <a:t>3. Methodology</a:t>
              </a:r>
            </a:p>
          </p:txBody>
        </p:sp>
      </p:grpSp>
      <p:grpSp>
        <p:nvGrpSpPr>
          <p:cNvPr name="Group 10" id="10"/>
          <p:cNvGrpSpPr/>
          <p:nvPr/>
        </p:nvGrpSpPr>
        <p:grpSpPr>
          <a:xfrm rot="0">
            <a:off x="535938" y="2394767"/>
            <a:ext cx="17216123" cy="1159259"/>
            <a:chOff x="0" y="0"/>
            <a:chExt cx="22954831" cy="1545679"/>
          </a:xfrm>
        </p:grpSpPr>
        <p:sp>
          <p:nvSpPr>
            <p:cNvPr name="Freeform 11" id="11"/>
            <p:cNvSpPr/>
            <p:nvPr/>
          </p:nvSpPr>
          <p:spPr>
            <a:xfrm flipH="false" flipV="false" rot="0">
              <a:off x="16891" y="16891"/>
              <a:ext cx="22920960" cy="1511808"/>
            </a:xfrm>
            <a:custGeom>
              <a:avLst/>
              <a:gdLst/>
              <a:ahLst/>
              <a:cxnLst/>
              <a:rect r="r" b="b" t="t" l="l"/>
              <a:pathLst>
                <a:path h="1511808" w="22920960">
                  <a:moveTo>
                    <a:pt x="0" y="0"/>
                  </a:moveTo>
                  <a:lnTo>
                    <a:pt x="22920960" y="0"/>
                  </a:lnTo>
                  <a:lnTo>
                    <a:pt x="22920960" y="1511808"/>
                  </a:lnTo>
                  <a:lnTo>
                    <a:pt x="0" y="1511808"/>
                  </a:lnTo>
                  <a:close/>
                </a:path>
              </a:pathLst>
            </a:custGeom>
            <a:solidFill>
              <a:srgbClr val="F2F1F1"/>
            </a:solidFill>
          </p:spPr>
        </p:sp>
        <p:sp>
          <p:nvSpPr>
            <p:cNvPr name="Freeform 12" id="12"/>
            <p:cNvSpPr/>
            <p:nvPr/>
          </p:nvSpPr>
          <p:spPr>
            <a:xfrm flipH="false" flipV="false" rot="0">
              <a:off x="0" y="0"/>
              <a:ext cx="22954743" cy="1545590"/>
            </a:xfrm>
            <a:custGeom>
              <a:avLst/>
              <a:gdLst/>
              <a:ahLst/>
              <a:cxnLst/>
              <a:rect r="r" b="b" t="t" l="l"/>
              <a:pathLst>
                <a:path h="1545590" w="22954743">
                  <a:moveTo>
                    <a:pt x="16891" y="0"/>
                  </a:moveTo>
                  <a:lnTo>
                    <a:pt x="22937851" y="0"/>
                  </a:lnTo>
                  <a:cubicBezTo>
                    <a:pt x="22947249" y="0"/>
                    <a:pt x="22954743" y="7620"/>
                    <a:pt x="22954743" y="16891"/>
                  </a:cubicBezTo>
                  <a:lnTo>
                    <a:pt x="22954743" y="1528699"/>
                  </a:lnTo>
                  <a:cubicBezTo>
                    <a:pt x="22954743" y="1538097"/>
                    <a:pt x="22947123" y="1545590"/>
                    <a:pt x="2293785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2937851" y="1511808"/>
                  </a:lnTo>
                  <a:lnTo>
                    <a:pt x="22937851" y="1528699"/>
                  </a:lnTo>
                  <a:lnTo>
                    <a:pt x="22920961" y="1528699"/>
                  </a:lnTo>
                  <a:lnTo>
                    <a:pt x="22920961" y="16891"/>
                  </a:lnTo>
                  <a:lnTo>
                    <a:pt x="22937851" y="16891"/>
                  </a:lnTo>
                  <a:lnTo>
                    <a:pt x="22937851" y="33909"/>
                  </a:lnTo>
                  <a:lnTo>
                    <a:pt x="16891" y="33909"/>
                  </a:lnTo>
                  <a:close/>
                </a:path>
              </a:pathLst>
            </a:custGeom>
            <a:solidFill>
              <a:srgbClr val="E2E8F0"/>
            </a:solidFill>
          </p:spPr>
        </p:sp>
      </p:grpSp>
      <p:grpSp>
        <p:nvGrpSpPr>
          <p:cNvPr name="Group 13" id="13"/>
          <p:cNvGrpSpPr/>
          <p:nvPr/>
        </p:nvGrpSpPr>
        <p:grpSpPr>
          <a:xfrm rot="0">
            <a:off x="548635" y="2407464"/>
            <a:ext cx="219456" cy="1133856"/>
            <a:chOff x="0" y="0"/>
            <a:chExt cx="292608" cy="1511808"/>
          </a:xfrm>
        </p:grpSpPr>
        <p:sp>
          <p:nvSpPr>
            <p:cNvPr name="Freeform 14" id="14"/>
            <p:cNvSpPr/>
            <p:nvPr/>
          </p:nvSpPr>
          <p:spPr>
            <a:xfrm flipH="false" flipV="false" rot="0">
              <a:off x="0" y="0"/>
              <a:ext cx="292608" cy="1511808"/>
            </a:xfrm>
            <a:custGeom>
              <a:avLst/>
              <a:gdLst/>
              <a:ahLst/>
              <a:cxnLst/>
              <a:rect r="r" b="b" t="t" l="l"/>
              <a:pathLst>
                <a:path h="1511808" w="292608">
                  <a:moveTo>
                    <a:pt x="0" y="0"/>
                  </a:moveTo>
                  <a:lnTo>
                    <a:pt x="292608" y="0"/>
                  </a:lnTo>
                  <a:lnTo>
                    <a:pt x="292608" y="1511808"/>
                  </a:lnTo>
                  <a:lnTo>
                    <a:pt x="0" y="1511808"/>
                  </a:lnTo>
                  <a:close/>
                </a:path>
              </a:pathLst>
            </a:custGeom>
            <a:solidFill>
              <a:srgbClr val="3D4D55"/>
            </a:solidFill>
          </p:spPr>
        </p:sp>
      </p:grpSp>
      <p:grpSp>
        <p:nvGrpSpPr>
          <p:cNvPr name="Group 15" id="15"/>
          <p:cNvGrpSpPr/>
          <p:nvPr/>
        </p:nvGrpSpPr>
        <p:grpSpPr>
          <a:xfrm rot="0">
            <a:off x="1005835" y="2773224"/>
            <a:ext cx="2468880" cy="572485"/>
            <a:chOff x="0" y="0"/>
            <a:chExt cx="3291840" cy="763314"/>
          </a:xfrm>
        </p:grpSpPr>
        <p:sp>
          <p:nvSpPr>
            <p:cNvPr name="Freeform 16" id="16"/>
            <p:cNvSpPr/>
            <p:nvPr/>
          </p:nvSpPr>
          <p:spPr>
            <a:xfrm flipH="false" flipV="false" rot="0">
              <a:off x="0" y="0"/>
              <a:ext cx="3291840" cy="763314"/>
            </a:xfrm>
            <a:custGeom>
              <a:avLst/>
              <a:gdLst/>
              <a:ahLst/>
              <a:cxnLst/>
              <a:rect r="r" b="b" t="t" l="l"/>
              <a:pathLst>
                <a:path h="763314" w="3291840">
                  <a:moveTo>
                    <a:pt x="0" y="0"/>
                  </a:moveTo>
                  <a:lnTo>
                    <a:pt x="3291840" y="0"/>
                  </a:lnTo>
                  <a:lnTo>
                    <a:pt x="3291840" y="763314"/>
                  </a:lnTo>
                  <a:lnTo>
                    <a:pt x="0" y="763314"/>
                  </a:lnTo>
                  <a:close/>
                </a:path>
              </a:pathLst>
            </a:custGeom>
            <a:solidFill>
              <a:srgbClr val="1A1A2E">
                <a:alpha val="0"/>
              </a:srgbClr>
            </a:solidFill>
          </p:spPr>
        </p:sp>
        <p:sp>
          <p:nvSpPr>
            <p:cNvPr name="TextBox 17" id="17"/>
            <p:cNvSpPr txBox="true"/>
            <p:nvPr/>
          </p:nvSpPr>
          <p:spPr>
            <a:xfrm>
              <a:off x="0" y="-57150"/>
              <a:ext cx="3291840" cy="820464"/>
            </a:xfrm>
            <a:prstGeom prst="rect">
              <a:avLst/>
            </a:prstGeom>
          </p:spPr>
          <p:txBody>
            <a:bodyPr anchor="ctr" rtlCol="false" tIns="0" lIns="0" bIns="0" rIns="0"/>
            <a:lstStyle/>
            <a:p>
              <a:pPr algn="l">
                <a:lnSpc>
                  <a:spcPts val="3479"/>
                </a:lnSpc>
              </a:pPr>
              <a:r>
                <a:rPr lang="en-US" sz="2899" b="true">
                  <a:solidFill>
                    <a:srgbClr val="000000"/>
                  </a:solidFill>
                  <a:latin typeface="Consolas Bold"/>
                  <a:ea typeface="Consolas Bold"/>
                  <a:cs typeface="Consolas Bold"/>
                  <a:sym typeface="Consolas Bold"/>
                </a:rPr>
                <a:t>Condition_</a:t>
              </a:r>
              <a:r>
                <a:rPr lang="en-US" b="true" sz="2899">
                  <a:solidFill>
                    <a:srgbClr val="000000"/>
                  </a:solidFill>
                  <a:latin typeface="Consolas Bold"/>
                  <a:ea typeface="Consolas Bold"/>
                  <a:cs typeface="Consolas Bold"/>
                  <a:sym typeface="Consolas Bold"/>
                </a:rPr>
                <a:t>B</a:t>
              </a:r>
            </a:p>
          </p:txBody>
        </p:sp>
      </p:grpSp>
      <p:grpSp>
        <p:nvGrpSpPr>
          <p:cNvPr name="Group 18" id="18"/>
          <p:cNvGrpSpPr/>
          <p:nvPr/>
        </p:nvGrpSpPr>
        <p:grpSpPr>
          <a:xfrm rot="0">
            <a:off x="5486395" y="2474272"/>
            <a:ext cx="10241280" cy="1000249"/>
            <a:chOff x="0" y="0"/>
            <a:chExt cx="13655040" cy="1333665"/>
          </a:xfrm>
        </p:grpSpPr>
        <p:sp>
          <p:nvSpPr>
            <p:cNvPr name="Freeform 19" id="19"/>
            <p:cNvSpPr/>
            <p:nvPr/>
          </p:nvSpPr>
          <p:spPr>
            <a:xfrm flipH="false" flipV="false" rot="0">
              <a:off x="0" y="0"/>
              <a:ext cx="13655039" cy="1333665"/>
            </a:xfrm>
            <a:custGeom>
              <a:avLst/>
              <a:gdLst/>
              <a:ahLst/>
              <a:cxnLst/>
              <a:rect r="r" b="b" t="t" l="l"/>
              <a:pathLst>
                <a:path h="1333665" w="13655039">
                  <a:moveTo>
                    <a:pt x="0" y="0"/>
                  </a:moveTo>
                  <a:lnTo>
                    <a:pt x="13655039" y="0"/>
                  </a:lnTo>
                  <a:lnTo>
                    <a:pt x="13655039" y="1333665"/>
                  </a:lnTo>
                  <a:lnTo>
                    <a:pt x="0" y="1333665"/>
                  </a:lnTo>
                  <a:close/>
                </a:path>
              </a:pathLst>
            </a:custGeom>
            <a:blipFill>
              <a:blip r:embed="rId3">
                <a:alphaModFix amt="0"/>
              </a:blip>
              <a:stretch>
                <a:fillRect l="0" t="-161106" r="0" b="-137897"/>
              </a:stretch>
            </a:blipFill>
          </p:spPr>
        </p:sp>
        <p:sp>
          <p:nvSpPr>
            <p:cNvPr name="TextBox 20" id="20"/>
            <p:cNvSpPr txBox="true"/>
            <p:nvPr/>
          </p:nvSpPr>
          <p:spPr>
            <a:xfrm>
              <a:off x="0" y="-19050"/>
              <a:ext cx="13655040" cy="1352715"/>
            </a:xfrm>
            <a:prstGeom prst="rect">
              <a:avLst/>
            </a:prstGeom>
          </p:spPr>
          <p:txBody>
            <a:bodyPr anchor="ctr" rtlCol="false" tIns="0" lIns="0" bIns="0" rIns="0"/>
            <a:lstStyle/>
            <a:p>
              <a:pPr algn="l">
                <a:lnSpc>
                  <a:spcPts val="2640"/>
                </a:lnSpc>
              </a:pPr>
              <a:r>
                <a:rPr lang="en-US" sz="2200">
                  <a:solidFill>
                    <a:srgbClr val="000000"/>
                  </a:solidFill>
                  <a:latin typeface="Helios Extended"/>
                  <a:ea typeface="Helios Extended"/>
                  <a:cs typeface="Helios Extended"/>
                  <a:sym typeface="Helios Extended"/>
                </a:rPr>
                <a:t>Phase 1: </a:t>
              </a:r>
              <a:r>
                <a:rPr lang="en-US" sz="2200">
                  <a:solidFill>
                    <a:srgbClr val="000000"/>
                  </a:solidFill>
                  <a:latin typeface="Helios Extended"/>
                  <a:ea typeface="Helios Extended"/>
                  <a:cs typeface="Helios Extended"/>
                  <a:sym typeface="Helios Extended"/>
                </a:rPr>
                <a:t>Labels only</a:t>
              </a:r>
            </a:p>
          </p:txBody>
        </p:sp>
      </p:grpSp>
      <p:grpSp>
        <p:nvGrpSpPr>
          <p:cNvPr name="Group 21" id="21"/>
          <p:cNvGrpSpPr/>
          <p:nvPr/>
        </p:nvGrpSpPr>
        <p:grpSpPr>
          <a:xfrm rot="0">
            <a:off x="16001995" y="2700072"/>
            <a:ext cx="1554480" cy="512064"/>
            <a:chOff x="0" y="0"/>
            <a:chExt cx="2072640" cy="682752"/>
          </a:xfrm>
        </p:grpSpPr>
        <p:sp>
          <p:nvSpPr>
            <p:cNvPr name="Freeform 22" id="22"/>
            <p:cNvSpPr/>
            <p:nvPr/>
          </p:nvSpPr>
          <p:spPr>
            <a:xfrm flipH="false" flipV="false" rot="0">
              <a:off x="0" y="0"/>
              <a:ext cx="2072640" cy="682752"/>
            </a:xfrm>
            <a:custGeom>
              <a:avLst/>
              <a:gdLst/>
              <a:ahLst/>
              <a:cxnLst/>
              <a:rect r="r" b="b" t="t" l="l"/>
              <a:pathLst>
                <a:path h="682752" w="2072640">
                  <a:moveTo>
                    <a:pt x="0" y="97536"/>
                  </a:moveTo>
                  <a:cubicBezTo>
                    <a:pt x="0" y="43688"/>
                    <a:pt x="43688" y="0"/>
                    <a:pt x="97536" y="0"/>
                  </a:cubicBezTo>
                  <a:lnTo>
                    <a:pt x="1975104" y="0"/>
                  </a:lnTo>
                  <a:cubicBezTo>
                    <a:pt x="2028952" y="0"/>
                    <a:pt x="2072640" y="43688"/>
                    <a:pt x="2072640" y="97536"/>
                  </a:cubicBezTo>
                  <a:lnTo>
                    <a:pt x="2072640" y="585216"/>
                  </a:lnTo>
                  <a:cubicBezTo>
                    <a:pt x="2072640" y="639064"/>
                    <a:pt x="2028952" y="682752"/>
                    <a:pt x="1975104" y="682752"/>
                  </a:cubicBezTo>
                  <a:lnTo>
                    <a:pt x="97536" y="682752"/>
                  </a:lnTo>
                  <a:cubicBezTo>
                    <a:pt x="43688" y="682752"/>
                    <a:pt x="0" y="639064"/>
                    <a:pt x="0" y="585216"/>
                  </a:cubicBezTo>
                  <a:close/>
                </a:path>
              </a:pathLst>
            </a:custGeom>
            <a:solidFill>
              <a:srgbClr val="000000"/>
            </a:solidFill>
          </p:spPr>
        </p:sp>
      </p:grpSp>
      <p:grpSp>
        <p:nvGrpSpPr>
          <p:cNvPr name="Group 23" id="23"/>
          <p:cNvGrpSpPr/>
          <p:nvPr/>
        </p:nvGrpSpPr>
        <p:grpSpPr>
          <a:xfrm rot="0">
            <a:off x="16001995" y="2736648"/>
            <a:ext cx="1554480" cy="438912"/>
            <a:chOff x="0" y="0"/>
            <a:chExt cx="2072640" cy="585216"/>
          </a:xfrm>
        </p:grpSpPr>
        <p:sp>
          <p:nvSpPr>
            <p:cNvPr name="Freeform 24" id="24"/>
            <p:cNvSpPr/>
            <p:nvPr/>
          </p:nvSpPr>
          <p:spPr>
            <a:xfrm flipH="false" flipV="false" rot="0">
              <a:off x="0" y="0"/>
              <a:ext cx="2072640" cy="585216"/>
            </a:xfrm>
            <a:custGeom>
              <a:avLst/>
              <a:gdLst/>
              <a:ahLst/>
              <a:cxnLst/>
              <a:rect r="r" b="b" t="t" l="l"/>
              <a:pathLst>
                <a:path h="585216" w="2072640">
                  <a:moveTo>
                    <a:pt x="0" y="0"/>
                  </a:moveTo>
                  <a:lnTo>
                    <a:pt x="2072640" y="0"/>
                  </a:lnTo>
                  <a:lnTo>
                    <a:pt x="2072640" y="585216"/>
                  </a:lnTo>
                  <a:lnTo>
                    <a:pt x="0" y="585216"/>
                  </a:lnTo>
                  <a:close/>
                </a:path>
              </a:pathLst>
            </a:custGeom>
            <a:blipFill>
              <a:blip r:embed="rId3">
                <a:alphaModFix amt="0"/>
              </a:blip>
              <a:stretch>
                <a:fillRect l="0" t="-19009" r="0" b="-19009"/>
              </a:stretch>
            </a:blipFill>
          </p:spPr>
        </p:sp>
        <p:sp>
          <p:nvSpPr>
            <p:cNvPr name="TextBox 25" id="25"/>
            <p:cNvSpPr txBox="true"/>
            <p:nvPr/>
          </p:nvSpPr>
          <p:spPr>
            <a:xfrm>
              <a:off x="0" y="-19050"/>
              <a:ext cx="2072640" cy="604266"/>
            </a:xfrm>
            <a:prstGeom prst="rect">
              <a:avLst/>
            </a:prstGeom>
          </p:spPr>
          <p:txBody>
            <a:bodyPr anchor="ctr" rtlCol="false" tIns="0" lIns="0" bIns="0" rIns="0"/>
            <a:lstStyle/>
            <a:p>
              <a:pPr algn="ctr">
                <a:lnSpc>
                  <a:spcPts val="2039"/>
                </a:lnSpc>
              </a:pPr>
              <a:r>
                <a:rPr lang="en-US" sz="1700" b="true">
                  <a:solidFill>
                    <a:srgbClr val="FFFFFF"/>
                  </a:solidFill>
                  <a:latin typeface="Helios Extended Bold"/>
                  <a:ea typeface="Helios Extended Bold"/>
                  <a:cs typeface="Helios Extended Bold"/>
                  <a:sym typeface="Helios Extended Bold"/>
                </a:rPr>
                <a:t>Baseline</a:t>
              </a:r>
            </a:p>
          </p:txBody>
        </p:sp>
      </p:grpSp>
      <p:grpSp>
        <p:nvGrpSpPr>
          <p:cNvPr name="Group 26" id="26"/>
          <p:cNvGrpSpPr/>
          <p:nvPr/>
        </p:nvGrpSpPr>
        <p:grpSpPr>
          <a:xfrm rot="0">
            <a:off x="535938" y="3748079"/>
            <a:ext cx="17216123" cy="1159259"/>
            <a:chOff x="0" y="0"/>
            <a:chExt cx="22954831" cy="1545679"/>
          </a:xfrm>
        </p:grpSpPr>
        <p:sp>
          <p:nvSpPr>
            <p:cNvPr name="Freeform 27" id="27"/>
            <p:cNvSpPr/>
            <p:nvPr/>
          </p:nvSpPr>
          <p:spPr>
            <a:xfrm flipH="false" flipV="false" rot="0">
              <a:off x="16891" y="16891"/>
              <a:ext cx="22920960" cy="1511808"/>
            </a:xfrm>
            <a:custGeom>
              <a:avLst/>
              <a:gdLst/>
              <a:ahLst/>
              <a:cxnLst/>
              <a:rect r="r" b="b" t="t" l="l"/>
              <a:pathLst>
                <a:path h="1511808" w="22920960">
                  <a:moveTo>
                    <a:pt x="0" y="0"/>
                  </a:moveTo>
                  <a:lnTo>
                    <a:pt x="22920960" y="0"/>
                  </a:lnTo>
                  <a:lnTo>
                    <a:pt x="22920960" y="1511808"/>
                  </a:lnTo>
                  <a:lnTo>
                    <a:pt x="0" y="1511808"/>
                  </a:lnTo>
                  <a:close/>
                </a:path>
              </a:pathLst>
            </a:custGeom>
            <a:solidFill>
              <a:srgbClr val="F2F1F1"/>
            </a:solidFill>
          </p:spPr>
        </p:sp>
        <p:sp>
          <p:nvSpPr>
            <p:cNvPr name="Freeform 28" id="28"/>
            <p:cNvSpPr/>
            <p:nvPr/>
          </p:nvSpPr>
          <p:spPr>
            <a:xfrm flipH="false" flipV="false" rot="0">
              <a:off x="0" y="0"/>
              <a:ext cx="22954743" cy="1545590"/>
            </a:xfrm>
            <a:custGeom>
              <a:avLst/>
              <a:gdLst/>
              <a:ahLst/>
              <a:cxnLst/>
              <a:rect r="r" b="b" t="t" l="l"/>
              <a:pathLst>
                <a:path h="1545590" w="22954743">
                  <a:moveTo>
                    <a:pt x="16891" y="0"/>
                  </a:moveTo>
                  <a:lnTo>
                    <a:pt x="22937851" y="0"/>
                  </a:lnTo>
                  <a:cubicBezTo>
                    <a:pt x="22947249" y="0"/>
                    <a:pt x="22954743" y="7620"/>
                    <a:pt x="22954743" y="16891"/>
                  </a:cubicBezTo>
                  <a:lnTo>
                    <a:pt x="22954743" y="1528699"/>
                  </a:lnTo>
                  <a:cubicBezTo>
                    <a:pt x="22954743" y="1538097"/>
                    <a:pt x="22947123" y="1545590"/>
                    <a:pt x="2293785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2937851" y="1511808"/>
                  </a:lnTo>
                  <a:lnTo>
                    <a:pt x="22937851" y="1528699"/>
                  </a:lnTo>
                  <a:lnTo>
                    <a:pt x="22920961" y="1528699"/>
                  </a:lnTo>
                  <a:lnTo>
                    <a:pt x="22920961" y="16891"/>
                  </a:lnTo>
                  <a:lnTo>
                    <a:pt x="22937851" y="16891"/>
                  </a:lnTo>
                  <a:lnTo>
                    <a:pt x="22937851" y="33909"/>
                  </a:lnTo>
                  <a:lnTo>
                    <a:pt x="16891" y="33909"/>
                  </a:lnTo>
                  <a:close/>
                </a:path>
              </a:pathLst>
            </a:custGeom>
            <a:solidFill>
              <a:srgbClr val="E2E8F0"/>
            </a:solidFill>
          </p:spPr>
        </p:sp>
      </p:grpSp>
      <p:grpSp>
        <p:nvGrpSpPr>
          <p:cNvPr name="Group 29" id="29"/>
          <p:cNvGrpSpPr/>
          <p:nvPr/>
        </p:nvGrpSpPr>
        <p:grpSpPr>
          <a:xfrm rot="0">
            <a:off x="548635" y="3760776"/>
            <a:ext cx="219456" cy="1133856"/>
            <a:chOff x="0" y="0"/>
            <a:chExt cx="292608" cy="1511808"/>
          </a:xfrm>
        </p:grpSpPr>
        <p:sp>
          <p:nvSpPr>
            <p:cNvPr name="Freeform 30" id="30"/>
            <p:cNvSpPr/>
            <p:nvPr/>
          </p:nvSpPr>
          <p:spPr>
            <a:xfrm flipH="false" flipV="false" rot="0">
              <a:off x="0" y="0"/>
              <a:ext cx="292608" cy="1511808"/>
            </a:xfrm>
            <a:custGeom>
              <a:avLst/>
              <a:gdLst/>
              <a:ahLst/>
              <a:cxnLst/>
              <a:rect r="r" b="b" t="t" l="l"/>
              <a:pathLst>
                <a:path h="1511808" w="292608">
                  <a:moveTo>
                    <a:pt x="0" y="0"/>
                  </a:moveTo>
                  <a:lnTo>
                    <a:pt x="292608" y="0"/>
                  </a:lnTo>
                  <a:lnTo>
                    <a:pt x="292608" y="1511808"/>
                  </a:lnTo>
                  <a:lnTo>
                    <a:pt x="0" y="1511808"/>
                  </a:lnTo>
                  <a:close/>
                </a:path>
              </a:pathLst>
            </a:custGeom>
            <a:solidFill>
              <a:srgbClr val="3D4D55"/>
            </a:solidFill>
          </p:spPr>
        </p:sp>
      </p:grpSp>
      <p:grpSp>
        <p:nvGrpSpPr>
          <p:cNvPr name="Group 31" id="31"/>
          <p:cNvGrpSpPr/>
          <p:nvPr/>
        </p:nvGrpSpPr>
        <p:grpSpPr>
          <a:xfrm rot="0">
            <a:off x="1005835" y="3833928"/>
            <a:ext cx="2468880" cy="572486"/>
            <a:chOff x="0" y="0"/>
            <a:chExt cx="3291840" cy="763315"/>
          </a:xfrm>
        </p:grpSpPr>
        <p:sp>
          <p:nvSpPr>
            <p:cNvPr name="Freeform 32" id="32"/>
            <p:cNvSpPr/>
            <p:nvPr/>
          </p:nvSpPr>
          <p:spPr>
            <a:xfrm flipH="false" flipV="false" rot="0">
              <a:off x="0" y="0"/>
              <a:ext cx="3291840" cy="763315"/>
            </a:xfrm>
            <a:custGeom>
              <a:avLst/>
              <a:gdLst/>
              <a:ahLst/>
              <a:cxnLst/>
              <a:rect r="r" b="b" t="t" l="l"/>
              <a:pathLst>
                <a:path h="763315" w="3291840">
                  <a:moveTo>
                    <a:pt x="0" y="0"/>
                  </a:moveTo>
                  <a:lnTo>
                    <a:pt x="3291840" y="0"/>
                  </a:lnTo>
                  <a:lnTo>
                    <a:pt x="3291840" y="763315"/>
                  </a:lnTo>
                  <a:lnTo>
                    <a:pt x="0" y="763315"/>
                  </a:lnTo>
                  <a:close/>
                </a:path>
              </a:pathLst>
            </a:custGeom>
            <a:blipFill>
              <a:blip r:embed="rId3">
                <a:alphaModFix amt="0"/>
              </a:blip>
              <a:stretch>
                <a:fillRect l="0" t="-42502" r="0" b="-25558"/>
              </a:stretch>
            </a:blipFill>
          </p:spPr>
        </p:sp>
        <p:sp>
          <p:nvSpPr>
            <p:cNvPr name="TextBox 33" id="33"/>
            <p:cNvSpPr txBox="true"/>
            <p:nvPr/>
          </p:nvSpPr>
          <p:spPr>
            <a:xfrm>
              <a:off x="0" y="-57150"/>
              <a:ext cx="3291840" cy="820465"/>
            </a:xfrm>
            <a:prstGeom prst="rect">
              <a:avLst/>
            </a:prstGeom>
          </p:spPr>
          <p:txBody>
            <a:bodyPr anchor="ctr" rtlCol="false" tIns="0" lIns="0" bIns="0" rIns="0"/>
            <a:lstStyle/>
            <a:p>
              <a:pPr algn="l">
                <a:lnSpc>
                  <a:spcPts val="3480"/>
                </a:lnSpc>
              </a:pPr>
              <a:r>
                <a:rPr lang="en-US" b="true" sz="2900">
                  <a:solidFill>
                    <a:srgbClr val="000000"/>
                  </a:solidFill>
                  <a:latin typeface="Consolas Bold"/>
                  <a:ea typeface="Consolas Bold"/>
                  <a:cs typeface="Consolas Bold"/>
                  <a:sym typeface="Consolas Bold"/>
                </a:rPr>
                <a:t>C_naive</a:t>
              </a:r>
            </a:p>
          </p:txBody>
        </p:sp>
      </p:grpSp>
      <p:grpSp>
        <p:nvGrpSpPr>
          <p:cNvPr name="Group 34" id="34"/>
          <p:cNvGrpSpPr/>
          <p:nvPr/>
        </p:nvGrpSpPr>
        <p:grpSpPr>
          <a:xfrm rot="0">
            <a:off x="1005835" y="4345992"/>
            <a:ext cx="4023360" cy="457200"/>
            <a:chOff x="0" y="0"/>
            <a:chExt cx="5364480" cy="609600"/>
          </a:xfrm>
        </p:grpSpPr>
        <p:sp>
          <p:nvSpPr>
            <p:cNvPr name="Freeform 35" id="35"/>
            <p:cNvSpPr/>
            <p:nvPr/>
          </p:nvSpPr>
          <p:spPr>
            <a:xfrm flipH="false" flipV="false" rot="0">
              <a:off x="0" y="0"/>
              <a:ext cx="5364480" cy="609600"/>
            </a:xfrm>
            <a:custGeom>
              <a:avLst/>
              <a:gdLst/>
              <a:ahLst/>
              <a:cxnLst/>
              <a:rect r="r" b="b" t="t" l="l"/>
              <a:pathLst>
                <a:path h="609600" w="5364480">
                  <a:moveTo>
                    <a:pt x="0" y="0"/>
                  </a:moveTo>
                  <a:lnTo>
                    <a:pt x="5364480" y="0"/>
                  </a:lnTo>
                  <a:lnTo>
                    <a:pt x="5364480" y="609600"/>
                  </a:lnTo>
                  <a:lnTo>
                    <a:pt x="0" y="609600"/>
                  </a:lnTo>
                  <a:close/>
                </a:path>
              </a:pathLst>
            </a:custGeom>
            <a:blipFill>
              <a:blip r:embed="rId3">
                <a:alphaModFix amt="0"/>
              </a:blip>
              <a:stretch>
                <a:fillRect l="0" t="-121468" r="0" b="-121468"/>
              </a:stretch>
            </a:blipFill>
          </p:spPr>
        </p:sp>
        <p:sp>
          <p:nvSpPr>
            <p:cNvPr name="TextBox 36" id="36"/>
            <p:cNvSpPr txBox="true"/>
            <p:nvPr/>
          </p:nvSpPr>
          <p:spPr>
            <a:xfrm>
              <a:off x="0" y="-19050"/>
              <a:ext cx="5364480" cy="628650"/>
            </a:xfrm>
            <a:prstGeom prst="rect">
              <a:avLst/>
            </a:prstGeom>
          </p:spPr>
          <p:txBody>
            <a:bodyPr anchor="ctr" rtlCol="false" tIns="0" lIns="0" bIns="0" rIns="0"/>
            <a:lstStyle/>
            <a:p>
              <a:pPr algn="l">
                <a:lnSpc>
                  <a:spcPts val="2280"/>
                </a:lnSpc>
              </a:pPr>
              <a:r>
                <a:rPr lang="en-US" sz="1900">
                  <a:solidFill>
                    <a:srgbClr val="000000"/>
                  </a:solidFill>
                  <a:latin typeface="Helios Extended"/>
                  <a:ea typeface="Helios Extended"/>
                  <a:cs typeface="Helios Extended"/>
                  <a:sym typeface="Helios Extended"/>
                </a:rPr>
                <a:t>Naive CoT Distillation</a:t>
              </a:r>
            </a:p>
          </p:txBody>
        </p:sp>
      </p:grpSp>
      <p:grpSp>
        <p:nvGrpSpPr>
          <p:cNvPr name="Group 37" id="37"/>
          <p:cNvGrpSpPr/>
          <p:nvPr/>
        </p:nvGrpSpPr>
        <p:grpSpPr>
          <a:xfrm rot="0">
            <a:off x="5486395" y="3980232"/>
            <a:ext cx="10241280" cy="768096"/>
            <a:chOff x="0" y="0"/>
            <a:chExt cx="13655040" cy="1024128"/>
          </a:xfrm>
        </p:grpSpPr>
        <p:sp>
          <p:nvSpPr>
            <p:cNvPr name="Freeform 38" id="38"/>
            <p:cNvSpPr/>
            <p:nvPr/>
          </p:nvSpPr>
          <p:spPr>
            <a:xfrm flipH="false" flipV="false" rot="0">
              <a:off x="0" y="0"/>
              <a:ext cx="13655039" cy="1024128"/>
            </a:xfrm>
            <a:custGeom>
              <a:avLst/>
              <a:gdLst/>
              <a:ahLst/>
              <a:cxnLst/>
              <a:rect r="r" b="b" t="t" l="l"/>
              <a:pathLst>
                <a:path h="1024128" w="13655039">
                  <a:moveTo>
                    <a:pt x="0" y="0"/>
                  </a:moveTo>
                  <a:lnTo>
                    <a:pt x="13655039" y="0"/>
                  </a:lnTo>
                  <a:lnTo>
                    <a:pt x="13655039" y="1024128"/>
                  </a:lnTo>
                  <a:lnTo>
                    <a:pt x="0" y="1024128"/>
                  </a:lnTo>
                  <a:close/>
                </a:path>
              </a:pathLst>
            </a:custGeom>
            <a:blipFill>
              <a:blip r:embed="rId3">
                <a:alphaModFix amt="0"/>
              </a:blip>
              <a:stretch>
                <a:fillRect l="0" t="-209800" r="0" b="-209800"/>
              </a:stretch>
            </a:blipFill>
          </p:spPr>
        </p:sp>
        <p:sp>
          <p:nvSpPr>
            <p:cNvPr name="TextBox 39" id="39"/>
            <p:cNvSpPr txBox="true"/>
            <p:nvPr/>
          </p:nvSpPr>
          <p:spPr>
            <a:xfrm>
              <a:off x="0" y="-19050"/>
              <a:ext cx="13655040" cy="1043178"/>
            </a:xfrm>
            <a:prstGeom prst="rect">
              <a:avLst/>
            </a:prstGeom>
          </p:spPr>
          <p:txBody>
            <a:bodyPr anchor="ctr" rtlCol="false" tIns="0" lIns="0" bIns="0" rIns="0"/>
            <a:lstStyle/>
            <a:p>
              <a:pPr algn="l">
                <a:lnSpc>
                  <a:spcPts val="2640"/>
                </a:lnSpc>
              </a:pPr>
              <a:r>
                <a:rPr lang="en-US" sz="2200">
                  <a:solidFill>
                    <a:srgbClr val="000000"/>
                  </a:solidFill>
                  <a:latin typeface="Helios Extended"/>
                  <a:ea typeface="Helios Extended"/>
                  <a:cs typeface="Helios Extended"/>
                  <a:sym typeface="Helios Extended"/>
                </a:rPr>
                <a:t>Phase 2: </a:t>
              </a:r>
              <a:r>
                <a:rPr lang="en-US" sz="2200">
                  <a:solidFill>
                    <a:srgbClr val="000000"/>
                  </a:solidFill>
                  <a:latin typeface="Helios Extended"/>
                  <a:ea typeface="Helios Extended"/>
                  <a:cs typeface="Helios Extended"/>
                  <a:sym typeface="Helios Extended"/>
                </a:rPr>
                <a:t>Full-length CoT from scratch — exposes token gradient imbalance failure</a:t>
              </a:r>
            </a:p>
          </p:txBody>
        </p:sp>
      </p:grpSp>
      <p:grpSp>
        <p:nvGrpSpPr>
          <p:cNvPr name="Group 40" id="40"/>
          <p:cNvGrpSpPr/>
          <p:nvPr/>
        </p:nvGrpSpPr>
        <p:grpSpPr>
          <a:xfrm rot="0">
            <a:off x="16001995" y="4053384"/>
            <a:ext cx="1554480" cy="512064"/>
            <a:chOff x="0" y="0"/>
            <a:chExt cx="2072640" cy="682752"/>
          </a:xfrm>
        </p:grpSpPr>
        <p:sp>
          <p:nvSpPr>
            <p:cNvPr name="Freeform 41" id="41"/>
            <p:cNvSpPr/>
            <p:nvPr/>
          </p:nvSpPr>
          <p:spPr>
            <a:xfrm flipH="false" flipV="false" rot="0">
              <a:off x="0" y="0"/>
              <a:ext cx="2072640" cy="682752"/>
            </a:xfrm>
            <a:custGeom>
              <a:avLst/>
              <a:gdLst/>
              <a:ahLst/>
              <a:cxnLst/>
              <a:rect r="r" b="b" t="t" l="l"/>
              <a:pathLst>
                <a:path h="682752" w="2072640">
                  <a:moveTo>
                    <a:pt x="0" y="97536"/>
                  </a:moveTo>
                  <a:cubicBezTo>
                    <a:pt x="0" y="43688"/>
                    <a:pt x="43688" y="0"/>
                    <a:pt x="97536" y="0"/>
                  </a:cubicBezTo>
                  <a:lnTo>
                    <a:pt x="1975104" y="0"/>
                  </a:lnTo>
                  <a:cubicBezTo>
                    <a:pt x="2028952" y="0"/>
                    <a:pt x="2072640" y="43688"/>
                    <a:pt x="2072640" y="97536"/>
                  </a:cubicBezTo>
                  <a:lnTo>
                    <a:pt x="2072640" y="585216"/>
                  </a:lnTo>
                  <a:cubicBezTo>
                    <a:pt x="2072640" y="639064"/>
                    <a:pt x="2028952" y="682752"/>
                    <a:pt x="1975104" y="682752"/>
                  </a:cubicBezTo>
                  <a:lnTo>
                    <a:pt x="97536" y="682752"/>
                  </a:lnTo>
                  <a:cubicBezTo>
                    <a:pt x="43688" y="682752"/>
                    <a:pt x="0" y="639064"/>
                    <a:pt x="0" y="585216"/>
                  </a:cubicBezTo>
                  <a:close/>
                </a:path>
              </a:pathLst>
            </a:custGeom>
            <a:solidFill>
              <a:srgbClr val="1A1A2E"/>
            </a:solidFill>
          </p:spPr>
        </p:sp>
      </p:grpSp>
      <p:grpSp>
        <p:nvGrpSpPr>
          <p:cNvPr name="Group 42" id="42"/>
          <p:cNvGrpSpPr/>
          <p:nvPr/>
        </p:nvGrpSpPr>
        <p:grpSpPr>
          <a:xfrm rot="0">
            <a:off x="16001995" y="4089960"/>
            <a:ext cx="1554480" cy="438912"/>
            <a:chOff x="0" y="0"/>
            <a:chExt cx="2072640" cy="585216"/>
          </a:xfrm>
        </p:grpSpPr>
        <p:sp>
          <p:nvSpPr>
            <p:cNvPr name="Freeform 43" id="43"/>
            <p:cNvSpPr/>
            <p:nvPr/>
          </p:nvSpPr>
          <p:spPr>
            <a:xfrm flipH="false" flipV="false" rot="0">
              <a:off x="0" y="0"/>
              <a:ext cx="2072640" cy="585216"/>
            </a:xfrm>
            <a:custGeom>
              <a:avLst/>
              <a:gdLst/>
              <a:ahLst/>
              <a:cxnLst/>
              <a:rect r="r" b="b" t="t" l="l"/>
              <a:pathLst>
                <a:path h="585216" w="2072640">
                  <a:moveTo>
                    <a:pt x="0" y="0"/>
                  </a:moveTo>
                  <a:lnTo>
                    <a:pt x="2072640" y="0"/>
                  </a:lnTo>
                  <a:lnTo>
                    <a:pt x="2072640" y="585216"/>
                  </a:lnTo>
                  <a:lnTo>
                    <a:pt x="0" y="585216"/>
                  </a:lnTo>
                  <a:close/>
                </a:path>
              </a:pathLst>
            </a:custGeom>
            <a:solidFill>
              <a:srgbClr val="1A1A2E">
                <a:alpha val="0"/>
              </a:srgbClr>
            </a:solidFill>
          </p:spPr>
        </p:sp>
        <p:sp>
          <p:nvSpPr>
            <p:cNvPr name="TextBox 44" id="44"/>
            <p:cNvSpPr txBox="true"/>
            <p:nvPr/>
          </p:nvSpPr>
          <p:spPr>
            <a:xfrm>
              <a:off x="0" y="-19050"/>
              <a:ext cx="2072640" cy="604266"/>
            </a:xfrm>
            <a:prstGeom prst="rect">
              <a:avLst/>
            </a:prstGeom>
          </p:spPr>
          <p:txBody>
            <a:bodyPr anchor="ctr" rtlCol="false" tIns="0" lIns="0" bIns="0" rIns="0"/>
            <a:lstStyle/>
            <a:p>
              <a:pPr algn="ctr">
                <a:lnSpc>
                  <a:spcPts val="2039"/>
                </a:lnSpc>
              </a:pPr>
              <a:r>
                <a:rPr lang="en-US" sz="1700" b="true">
                  <a:solidFill>
                    <a:srgbClr val="FFFFFF"/>
                  </a:solidFill>
                  <a:latin typeface="Helios Extended Bold"/>
                  <a:ea typeface="Helios Extended Bold"/>
                  <a:cs typeface="Helios Extended Bold"/>
                  <a:sym typeface="Helios Extended Bold"/>
                </a:rPr>
                <a:t>Ablation</a:t>
              </a:r>
            </a:p>
          </p:txBody>
        </p:sp>
      </p:grpSp>
      <p:grpSp>
        <p:nvGrpSpPr>
          <p:cNvPr name="Group 45" id="45"/>
          <p:cNvGrpSpPr/>
          <p:nvPr/>
        </p:nvGrpSpPr>
        <p:grpSpPr>
          <a:xfrm rot="0">
            <a:off x="535938" y="5101391"/>
            <a:ext cx="17216123" cy="1159259"/>
            <a:chOff x="0" y="0"/>
            <a:chExt cx="22954831" cy="1545679"/>
          </a:xfrm>
        </p:grpSpPr>
        <p:sp>
          <p:nvSpPr>
            <p:cNvPr name="Freeform 46" id="46"/>
            <p:cNvSpPr/>
            <p:nvPr/>
          </p:nvSpPr>
          <p:spPr>
            <a:xfrm flipH="false" flipV="false" rot="0">
              <a:off x="16891" y="16891"/>
              <a:ext cx="22920960" cy="1511808"/>
            </a:xfrm>
            <a:custGeom>
              <a:avLst/>
              <a:gdLst/>
              <a:ahLst/>
              <a:cxnLst/>
              <a:rect r="r" b="b" t="t" l="l"/>
              <a:pathLst>
                <a:path h="1511808" w="22920960">
                  <a:moveTo>
                    <a:pt x="0" y="0"/>
                  </a:moveTo>
                  <a:lnTo>
                    <a:pt x="22920960" y="0"/>
                  </a:lnTo>
                  <a:lnTo>
                    <a:pt x="22920960" y="1511808"/>
                  </a:lnTo>
                  <a:lnTo>
                    <a:pt x="0" y="1511808"/>
                  </a:lnTo>
                  <a:close/>
                </a:path>
              </a:pathLst>
            </a:custGeom>
            <a:solidFill>
              <a:srgbClr val="F2F1F1"/>
            </a:solidFill>
          </p:spPr>
        </p:sp>
        <p:sp>
          <p:nvSpPr>
            <p:cNvPr name="Freeform 47" id="47"/>
            <p:cNvSpPr/>
            <p:nvPr/>
          </p:nvSpPr>
          <p:spPr>
            <a:xfrm flipH="false" flipV="false" rot="0">
              <a:off x="0" y="0"/>
              <a:ext cx="22954743" cy="1545590"/>
            </a:xfrm>
            <a:custGeom>
              <a:avLst/>
              <a:gdLst/>
              <a:ahLst/>
              <a:cxnLst/>
              <a:rect r="r" b="b" t="t" l="l"/>
              <a:pathLst>
                <a:path h="1545590" w="22954743">
                  <a:moveTo>
                    <a:pt x="16891" y="0"/>
                  </a:moveTo>
                  <a:lnTo>
                    <a:pt x="22937851" y="0"/>
                  </a:lnTo>
                  <a:cubicBezTo>
                    <a:pt x="22947249" y="0"/>
                    <a:pt x="22954743" y="7620"/>
                    <a:pt x="22954743" y="16891"/>
                  </a:cubicBezTo>
                  <a:lnTo>
                    <a:pt x="22954743" y="1528699"/>
                  </a:lnTo>
                  <a:cubicBezTo>
                    <a:pt x="22954743" y="1538097"/>
                    <a:pt x="22947123" y="1545590"/>
                    <a:pt x="2293785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2937851" y="1511808"/>
                  </a:lnTo>
                  <a:lnTo>
                    <a:pt x="22937851" y="1528699"/>
                  </a:lnTo>
                  <a:lnTo>
                    <a:pt x="22920961" y="1528699"/>
                  </a:lnTo>
                  <a:lnTo>
                    <a:pt x="22920961" y="16891"/>
                  </a:lnTo>
                  <a:lnTo>
                    <a:pt x="22937851" y="16891"/>
                  </a:lnTo>
                  <a:lnTo>
                    <a:pt x="22937851" y="33909"/>
                  </a:lnTo>
                  <a:lnTo>
                    <a:pt x="16891" y="33909"/>
                  </a:lnTo>
                  <a:close/>
                </a:path>
              </a:pathLst>
            </a:custGeom>
            <a:solidFill>
              <a:srgbClr val="E2E8F0"/>
            </a:solidFill>
          </p:spPr>
        </p:sp>
      </p:grpSp>
      <p:grpSp>
        <p:nvGrpSpPr>
          <p:cNvPr name="Group 48" id="48"/>
          <p:cNvGrpSpPr/>
          <p:nvPr/>
        </p:nvGrpSpPr>
        <p:grpSpPr>
          <a:xfrm rot="0">
            <a:off x="548635" y="5114088"/>
            <a:ext cx="219456" cy="1133856"/>
            <a:chOff x="0" y="0"/>
            <a:chExt cx="292608" cy="1511808"/>
          </a:xfrm>
        </p:grpSpPr>
        <p:sp>
          <p:nvSpPr>
            <p:cNvPr name="Freeform 49" id="49"/>
            <p:cNvSpPr/>
            <p:nvPr/>
          </p:nvSpPr>
          <p:spPr>
            <a:xfrm flipH="false" flipV="false" rot="0">
              <a:off x="0" y="0"/>
              <a:ext cx="292608" cy="1511808"/>
            </a:xfrm>
            <a:custGeom>
              <a:avLst/>
              <a:gdLst/>
              <a:ahLst/>
              <a:cxnLst/>
              <a:rect r="r" b="b" t="t" l="l"/>
              <a:pathLst>
                <a:path h="1511808" w="292608">
                  <a:moveTo>
                    <a:pt x="0" y="0"/>
                  </a:moveTo>
                  <a:lnTo>
                    <a:pt x="292608" y="0"/>
                  </a:lnTo>
                  <a:lnTo>
                    <a:pt x="292608" y="1511808"/>
                  </a:lnTo>
                  <a:lnTo>
                    <a:pt x="0" y="1511808"/>
                  </a:lnTo>
                  <a:close/>
                </a:path>
              </a:pathLst>
            </a:custGeom>
            <a:solidFill>
              <a:srgbClr val="3D4D55"/>
            </a:solidFill>
          </p:spPr>
        </p:sp>
      </p:grpSp>
      <p:grpSp>
        <p:nvGrpSpPr>
          <p:cNvPr name="Group 50" id="50"/>
          <p:cNvGrpSpPr/>
          <p:nvPr/>
        </p:nvGrpSpPr>
        <p:grpSpPr>
          <a:xfrm rot="0">
            <a:off x="1005835" y="5187240"/>
            <a:ext cx="2468880" cy="572486"/>
            <a:chOff x="0" y="0"/>
            <a:chExt cx="3291840" cy="763315"/>
          </a:xfrm>
        </p:grpSpPr>
        <p:sp>
          <p:nvSpPr>
            <p:cNvPr name="Freeform 51" id="51"/>
            <p:cNvSpPr/>
            <p:nvPr/>
          </p:nvSpPr>
          <p:spPr>
            <a:xfrm flipH="false" flipV="false" rot="0">
              <a:off x="0" y="0"/>
              <a:ext cx="3291840" cy="763315"/>
            </a:xfrm>
            <a:custGeom>
              <a:avLst/>
              <a:gdLst/>
              <a:ahLst/>
              <a:cxnLst/>
              <a:rect r="r" b="b" t="t" l="l"/>
              <a:pathLst>
                <a:path h="763315" w="3291840">
                  <a:moveTo>
                    <a:pt x="0" y="0"/>
                  </a:moveTo>
                  <a:lnTo>
                    <a:pt x="3291840" y="0"/>
                  </a:lnTo>
                  <a:lnTo>
                    <a:pt x="3291840" y="763315"/>
                  </a:lnTo>
                  <a:lnTo>
                    <a:pt x="0" y="763315"/>
                  </a:lnTo>
                  <a:close/>
                </a:path>
              </a:pathLst>
            </a:custGeom>
            <a:blipFill>
              <a:blip r:embed="rId3">
                <a:alphaModFix amt="0"/>
              </a:blip>
              <a:stretch>
                <a:fillRect l="0" t="-42502" r="0" b="-25558"/>
              </a:stretch>
            </a:blipFill>
          </p:spPr>
        </p:sp>
        <p:sp>
          <p:nvSpPr>
            <p:cNvPr name="TextBox 52" id="52"/>
            <p:cNvSpPr txBox="true"/>
            <p:nvPr/>
          </p:nvSpPr>
          <p:spPr>
            <a:xfrm>
              <a:off x="0" y="-57150"/>
              <a:ext cx="3291840" cy="820465"/>
            </a:xfrm>
            <a:prstGeom prst="rect">
              <a:avLst/>
            </a:prstGeom>
          </p:spPr>
          <p:txBody>
            <a:bodyPr anchor="ctr" rtlCol="false" tIns="0" lIns="0" bIns="0" rIns="0"/>
            <a:lstStyle/>
            <a:p>
              <a:pPr algn="l">
                <a:lnSpc>
                  <a:spcPts val="3480"/>
                </a:lnSpc>
              </a:pPr>
              <a:r>
                <a:rPr lang="en-US" b="true" sz="2900">
                  <a:solidFill>
                    <a:srgbClr val="000000"/>
                  </a:solidFill>
                  <a:latin typeface="Consolas Bold"/>
                  <a:ea typeface="Consolas Bold"/>
                  <a:cs typeface="Consolas Bold"/>
                  <a:sym typeface="Consolas Bold"/>
                </a:rPr>
                <a:t>C_seq</a:t>
              </a:r>
            </a:p>
          </p:txBody>
        </p:sp>
      </p:grpSp>
      <p:grpSp>
        <p:nvGrpSpPr>
          <p:cNvPr name="Group 53" id="53"/>
          <p:cNvGrpSpPr/>
          <p:nvPr/>
        </p:nvGrpSpPr>
        <p:grpSpPr>
          <a:xfrm rot="0">
            <a:off x="1005835" y="5699304"/>
            <a:ext cx="4023360" cy="457200"/>
            <a:chOff x="0" y="0"/>
            <a:chExt cx="5364480" cy="609600"/>
          </a:xfrm>
        </p:grpSpPr>
        <p:sp>
          <p:nvSpPr>
            <p:cNvPr name="Freeform 54" id="54"/>
            <p:cNvSpPr/>
            <p:nvPr/>
          </p:nvSpPr>
          <p:spPr>
            <a:xfrm flipH="false" flipV="false" rot="0">
              <a:off x="0" y="0"/>
              <a:ext cx="5364480" cy="609600"/>
            </a:xfrm>
            <a:custGeom>
              <a:avLst/>
              <a:gdLst/>
              <a:ahLst/>
              <a:cxnLst/>
              <a:rect r="r" b="b" t="t" l="l"/>
              <a:pathLst>
                <a:path h="609600" w="5364480">
                  <a:moveTo>
                    <a:pt x="0" y="0"/>
                  </a:moveTo>
                  <a:lnTo>
                    <a:pt x="5364480" y="0"/>
                  </a:lnTo>
                  <a:lnTo>
                    <a:pt x="5364480" y="609600"/>
                  </a:lnTo>
                  <a:lnTo>
                    <a:pt x="0" y="609600"/>
                  </a:lnTo>
                  <a:close/>
                </a:path>
              </a:pathLst>
            </a:custGeom>
            <a:blipFill>
              <a:blip r:embed="rId3">
                <a:alphaModFix amt="0"/>
              </a:blip>
              <a:stretch>
                <a:fillRect l="0" t="-121468" r="0" b="-121468"/>
              </a:stretch>
            </a:blipFill>
          </p:spPr>
        </p:sp>
        <p:sp>
          <p:nvSpPr>
            <p:cNvPr name="TextBox 55" id="55"/>
            <p:cNvSpPr txBox="true"/>
            <p:nvPr/>
          </p:nvSpPr>
          <p:spPr>
            <a:xfrm>
              <a:off x="0" y="-19050"/>
              <a:ext cx="5364480" cy="628650"/>
            </a:xfrm>
            <a:prstGeom prst="rect">
              <a:avLst/>
            </a:prstGeom>
          </p:spPr>
          <p:txBody>
            <a:bodyPr anchor="ctr" rtlCol="false" tIns="0" lIns="0" bIns="0" rIns="0"/>
            <a:lstStyle/>
            <a:p>
              <a:pPr algn="l">
                <a:lnSpc>
                  <a:spcPts val="2280"/>
                </a:lnSpc>
              </a:pPr>
              <a:r>
                <a:rPr lang="en-US" sz="1900">
                  <a:solidFill>
                    <a:srgbClr val="000000"/>
                  </a:solidFill>
                  <a:latin typeface="Helios Extended"/>
                  <a:ea typeface="Helios Extended"/>
                  <a:cs typeface="Helios Extended"/>
                  <a:sym typeface="Helios Extended"/>
                </a:rPr>
                <a:t>Sequential Curriculum</a:t>
              </a:r>
            </a:p>
          </p:txBody>
        </p:sp>
      </p:grpSp>
      <p:grpSp>
        <p:nvGrpSpPr>
          <p:cNvPr name="Group 56" id="56"/>
          <p:cNvGrpSpPr/>
          <p:nvPr/>
        </p:nvGrpSpPr>
        <p:grpSpPr>
          <a:xfrm rot="0">
            <a:off x="5486395" y="5333544"/>
            <a:ext cx="10241280" cy="768096"/>
            <a:chOff x="0" y="0"/>
            <a:chExt cx="13655040" cy="1024128"/>
          </a:xfrm>
        </p:grpSpPr>
        <p:sp>
          <p:nvSpPr>
            <p:cNvPr name="Freeform 57" id="57"/>
            <p:cNvSpPr/>
            <p:nvPr/>
          </p:nvSpPr>
          <p:spPr>
            <a:xfrm flipH="false" flipV="false" rot="0">
              <a:off x="0" y="0"/>
              <a:ext cx="13655039" cy="1024128"/>
            </a:xfrm>
            <a:custGeom>
              <a:avLst/>
              <a:gdLst/>
              <a:ahLst/>
              <a:cxnLst/>
              <a:rect r="r" b="b" t="t" l="l"/>
              <a:pathLst>
                <a:path h="1024128" w="13655039">
                  <a:moveTo>
                    <a:pt x="0" y="0"/>
                  </a:moveTo>
                  <a:lnTo>
                    <a:pt x="13655039" y="0"/>
                  </a:lnTo>
                  <a:lnTo>
                    <a:pt x="13655039" y="1024128"/>
                  </a:lnTo>
                  <a:lnTo>
                    <a:pt x="0" y="1024128"/>
                  </a:lnTo>
                  <a:close/>
                </a:path>
              </a:pathLst>
            </a:custGeom>
            <a:blipFill>
              <a:blip r:embed="rId3">
                <a:alphaModFix amt="0"/>
              </a:blip>
              <a:stretch>
                <a:fillRect l="0" t="-209800" r="0" b="-209800"/>
              </a:stretch>
            </a:blipFill>
          </p:spPr>
        </p:sp>
        <p:sp>
          <p:nvSpPr>
            <p:cNvPr name="TextBox 58" id="58"/>
            <p:cNvSpPr txBox="true"/>
            <p:nvPr/>
          </p:nvSpPr>
          <p:spPr>
            <a:xfrm>
              <a:off x="0" y="-19050"/>
              <a:ext cx="13655040" cy="1043178"/>
            </a:xfrm>
            <a:prstGeom prst="rect">
              <a:avLst/>
            </a:prstGeom>
          </p:spPr>
          <p:txBody>
            <a:bodyPr anchor="ctr" rtlCol="false" tIns="0" lIns="0" bIns="0" rIns="0"/>
            <a:lstStyle/>
            <a:p>
              <a:pPr algn="l">
                <a:lnSpc>
                  <a:spcPts val="2640"/>
                </a:lnSpc>
              </a:pPr>
              <a:r>
                <a:rPr lang="en-US" sz="2200">
                  <a:solidFill>
                    <a:srgbClr val="000000"/>
                  </a:solidFill>
                  <a:latin typeface="Helios Extended"/>
                  <a:ea typeface="Helios Extended"/>
                  <a:cs typeface="Helios Extended"/>
                  <a:sym typeface="Helios Extended"/>
                </a:rPr>
                <a:t>Phase 1 labels + Phase 2 CoT at 4× reduced LR</a:t>
              </a:r>
            </a:p>
          </p:txBody>
        </p:sp>
      </p:grpSp>
      <p:grpSp>
        <p:nvGrpSpPr>
          <p:cNvPr name="Group 59" id="59"/>
          <p:cNvGrpSpPr/>
          <p:nvPr/>
        </p:nvGrpSpPr>
        <p:grpSpPr>
          <a:xfrm rot="0">
            <a:off x="16001995" y="5406696"/>
            <a:ext cx="1554480" cy="512064"/>
            <a:chOff x="0" y="0"/>
            <a:chExt cx="2072640" cy="682752"/>
          </a:xfrm>
        </p:grpSpPr>
        <p:sp>
          <p:nvSpPr>
            <p:cNvPr name="Freeform 60" id="60"/>
            <p:cNvSpPr/>
            <p:nvPr/>
          </p:nvSpPr>
          <p:spPr>
            <a:xfrm flipH="false" flipV="false" rot="0">
              <a:off x="0" y="0"/>
              <a:ext cx="2072640" cy="682752"/>
            </a:xfrm>
            <a:custGeom>
              <a:avLst/>
              <a:gdLst/>
              <a:ahLst/>
              <a:cxnLst/>
              <a:rect r="r" b="b" t="t" l="l"/>
              <a:pathLst>
                <a:path h="682752" w="2072640">
                  <a:moveTo>
                    <a:pt x="0" y="97536"/>
                  </a:moveTo>
                  <a:cubicBezTo>
                    <a:pt x="0" y="43688"/>
                    <a:pt x="43688" y="0"/>
                    <a:pt x="97536" y="0"/>
                  </a:cubicBezTo>
                  <a:lnTo>
                    <a:pt x="1975104" y="0"/>
                  </a:lnTo>
                  <a:cubicBezTo>
                    <a:pt x="2028952" y="0"/>
                    <a:pt x="2072640" y="43688"/>
                    <a:pt x="2072640" y="97536"/>
                  </a:cubicBezTo>
                  <a:lnTo>
                    <a:pt x="2072640" y="585216"/>
                  </a:lnTo>
                  <a:cubicBezTo>
                    <a:pt x="2072640" y="639064"/>
                    <a:pt x="2028952" y="682752"/>
                    <a:pt x="1975104" y="682752"/>
                  </a:cubicBezTo>
                  <a:lnTo>
                    <a:pt x="97536" y="682752"/>
                  </a:lnTo>
                  <a:cubicBezTo>
                    <a:pt x="43688" y="682752"/>
                    <a:pt x="0" y="639064"/>
                    <a:pt x="0" y="585216"/>
                  </a:cubicBezTo>
                  <a:close/>
                </a:path>
              </a:pathLst>
            </a:custGeom>
            <a:solidFill>
              <a:srgbClr val="1A1A2E"/>
            </a:solidFill>
          </p:spPr>
        </p:sp>
      </p:grpSp>
      <p:grpSp>
        <p:nvGrpSpPr>
          <p:cNvPr name="Group 61" id="61"/>
          <p:cNvGrpSpPr/>
          <p:nvPr/>
        </p:nvGrpSpPr>
        <p:grpSpPr>
          <a:xfrm rot="0">
            <a:off x="16001995" y="5443272"/>
            <a:ext cx="1554480" cy="438912"/>
            <a:chOff x="0" y="0"/>
            <a:chExt cx="2072640" cy="585216"/>
          </a:xfrm>
        </p:grpSpPr>
        <p:sp>
          <p:nvSpPr>
            <p:cNvPr name="Freeform 62" id="62"/>
            <p:cNvSpPr/>
            <p:nvPr/>
          </p:nvSpPr>
          <p:spPr>
            <a:xfrm flipH="false" flipV="false" rot="0">
              <a:off x="0" y="0"/>
              <a:ext cx="2072640" cy="585216"/>
            </a:xfrm>
            <a:custGeom>
              <a:avLst/>
              <a:gdLst/>
              <a:ahLst/>
              <a:cxnLst/>
              <a:rect r="r" b="b" t="t" l="l"/>
              <a:pathLst>
                <a:path h="585216" w="2072640">
                  <a:moveTo>
                    <a:pt x="0" y="0"/>
                  </a:moveTo>
                  <a:lnTo>
                    <a:pt x="2072640" y="0"/>
                  </a:lnTo>
                  <a:lnTo>
                    <a:pt x="2072640" y="585216"/>
                  </a:lnTo>
                  <a:lnTo>
                    <a:pt x="0" y="585216"/>
                  </a:lnTo>
                  <a:close/>
                </a:path>
              </a:pathLst>
            </a:custGeom>
            <a:blipFill>
              <a:blip r:embed="rId3">
                <a:alphaModFix amt="0"/>
              </a:blip>
              <a:stretch>
                <a:fillRect l="0" t="-19009" r="0" b="-19009"/>
              </a:stretch>
            </a:blipFill>
          </p:spPr>
        </p:sp>
        <p:sp>
          <p:nvSpPr>
            <p:cNvPr name="TextBox 63" id="63"/>
            <p:cNvSpPr txBox="true"/>
            <p:nvPr/>
          </p:nvSpPr>
          <p:spPr>
            <a:xfrm>
              <a:off x="0" y="-19050"/>
              <a:ext cx="2072640" cy="604266"/>
            </a:xfrm>
            <a:prstGeom prst="rect">
              <a:avLst/>
            </a:prstGeom>
          </p:spPr>
          <p:txBody>
            <a:bodyPr anchor="ctr" rtlCol="false" tIns="0" lIns="0" bIns="0" rIns="0"/>
            <a:lstStyle/>
            <a:p>
              <a:pPr algn="ctr">
                <a:lnSpc>
                  <a:spcPts val="2039"/>
                </a:lnSpc>
              </a:pPr>
              <a:r>
                <a:rPr lang="en-US" sz="1700" b="true">
                  <a:solidFill>
                    <a:srgbClr val="FFFFFF"/>
                  </a:solidFill>
                  <a:latin typeface="Helios Extended Bold"/>
                  <a:ea typeface="Helios Extended Bold"/>
                  <a:cs typeface="Helios Extended Bold"/>
                  <a:sym typeface="Helios Extended Bold"/>
                </a:rPr>
                <a:t>Primary</a:t>
              </a:r>
            </a:p>
          </p:txBody>
        </p:sp>
      </p:grpSp>
      <p:grpSp>
        <p:nvGrpSpPr>
          <p:cNvPr name="Group 64" id="64"/>
          <p:cNvGrpSpPr/>
          <p:nvPr/>
        </p:nvGrpSpPr>
        <p:grpSpPr>
          <a:xfrm rot="0">
            <a:off x="535938" y="6454703"/>
            <a:ext cx="17216123" cy="1159259"/>
            <a:chOff x="0" y="0"/>
            <a:chExt cx="22954831" cy="1545679"/>
          </a:xfrm>
        </p:grpSpPr>
        <p:sp>
          <p:nvSpPr>
            <p:cNvPr name="Freeform 65" id="65"/>
            <p:cNvSpPr/>
            <p:nvPr/>
          </p:nvSpPr>
          <p:spPr>
            <a:xfrm flipH="false" flipV="false" rot="0">
              <a:off x="16891" y="16891"/>
              <a:ext cx="22920960" cy="1511808"/>
            </a:xfrm>
            <a:custGeom>
              <a:avLst/>
              <a:gdLst/>
              <a:ahLst/>
              <a:cxnLst/>
              <a:rect r="r" b="b" t="t" l="l"/>
              <a:pathLst>
                <a:path h="1511808" w="22920960">
                  <a:moveTo>
                    <a:pt x="0" y="0"/>
                  </a:moveTo>
                  <a:lnTo>
                    <a:pt x="22920960" y="0"/>
                  </a:lnTo>
                  <a:lnTo>
                    <a:pt x="22920960" y="1511808"/>
                  </a:lnTo>
                  <a:lnTo>
                    <a:pt x="0" y="1511808"/>
                  </a:lnTo>
                  <a:close/>
                </a:path>
              </a:pathLst>
            </a:custGeom>
            <a:solidFill>
              <a:srgbClr val="F2F1F1"/>
            </a:solidFill>
          </p:spPr>
        </p:sp>
        <p:sp>
          <p:nvSpPr>
            <p:cNvPr name="Freeform 66" id="66"/>
            <p:cNvSpPr/>
            <p:nvPr/>
          </p:nvSpPr>
          <p:spPr>
            <a:xfrm flipH="false" flipV="false" rot="0">
              <a:off x="0" y="0"/>
              <a:ext cx="22954743" cy="1545590"/>
            </a:xfrm>
            <a:custGeom>
              <a:avLst/>
              <a:gdLst/>
              <a:ahLst/>
              <a:cxnLst/>
              <a:rect r="r" b="b" t="t" l="l"/>
              <a:pathLst>
                <a:path h="1545590" w="22954743">
                  <a:moveTo>
                    <a:pt x="16891" y="0"/>
                  </a:moveTo>
                  <a:lnTo>
                    <a:pt x="22937851" y="0"/>
                  </a:lnTo>
                  <a:cubicBezTo>
                    <a:pt x="22947249" y="0"/>
                    <a:pt x="22954743" y="7620"/>
                    <a:pt x="22954743" y="16891"/>
                  </a:cubicBezTo>
                  <a:lnTo>
                    <a:pt x="22954743" y="1528699"/>
                  </a:lnTo>
                  <a:cubicBezTo>
                    <a:pt x="22954743" y="1538097"/>
                    <a:pt x="22947123" y="1545590"/>
                    <a:pt x="2293785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2937851" y="1511808"/>
                  </a:lnTo>
                  <a:lnTo>
                    <a:pt x="22937851" y="1528699"/>
                  </a:lnTo>
                  <a:lnTo>
                    <a:pt x="22920961" y="1528699"/>
                  </a:lnTo>
                  <a:lnTo>
                    <a:pt x="22920961" y="16891"/>
                  </a:lnTo>
                  <a:lnTo>
                    <a:pt x="22937851" y="16891"/>
                  </a:lnTo>
                  <a:lnTo>
                    <a:pt x="22937851" y="33909"/>
                  </a:lnTo>
                  <a:lnTo>
                    <a:pt x="16891" y="33909"/>
                  </a:lnTo>
                  <a:close/>
                </a:path>
              </a:pathLst>
            </a:custGeom>
            <a:solidFill>
              <a:srgbClr val="E2E8F0"/>
            </a:solidFill>
          </p:spPr>
        </p:sp>
      </p:grpSp>
      <p:grpSp>
        <p:nvGrpSpPr>
          <p:cNvPr name="Group 67" id="67"/>
          <p:cNvGrpSpPr/>
          <p:nvPr/>
        </p:nvGrpSpPr>
        <p:grpSpPr>
          <a:xfrm rot="0">
            <a:off x="548635" y="6467400"/>
            <a:ext cx="219456" cy="1133856"/>
            <a:chOff x="0" y="0"/>
            <a:chExt cx="292608" cy="1511808"/>
          </a:xfrm>
        </p:grpSpPr>
        <p:sp>
          <p:nvSpPr>
            <p:cNvPr name="Freeform 68" id="68"/>
            <p:cNvSpPr/>
            <p:nvPr/>
          </p:nvSpPr>
          <p:spPr>
            <a:xfrm flipH="false" flipV="false" rot="0">
              <a:off x="0" y="0"/>
              <a:ext cx="292608" cy="1511808"/>
            </a:xfrm>
            <a:custGeom>
              <a:avLst/>
              <a:gdLst/>
              <a:ahLst/>
              <a:cxnLst/>
              <a:rect r="r" b="b" t="t" l="l"/>
              <a:pathLst>
                <a:path h="1511808" w="292608">
                  <a:moveTo>
                    <a:pt x="0" y="0"/>
                  </a:moveTo>
                  <a:lnTo>
                    <a:pt x="292608" y="0"/>
                  </a:lnTo>
                  <a:lnTo>
                    <a:pt x="292608" y="1511808"/>
                  </a:lnTo>
                  <a:lnTo>
                    <a:pt x="0" y="1511808"/>
                  </a:lnTo>
                  <a:close/>
                </a:path>
              </a:pathLst>
            </a:custGeom>
            <a:solidFill>
              <a:srgbClr val="3D4D55"/>
            </a:solidFill>
          </p:spPr>
        </p:sp>
      </p:grpSp>
      <p:grpSp>
        <p:nvGrpSpPr>
          <p:cNvPr name="Group 69" id="69"/>
          <p:cNvGrpSpPr/>
          <p:nvPr/>
        </p:nvGrpSpPr>
        <p:grpSpPr>
          <a:xfrm rot="0">
            <a:off x="1005835" y="6540552"/>
            <a:ext cx="2468880" cy="572486"/>
            <a:chOff x="0" y="0"/>
            <a:chExt cx="3291840" cy="763315"/>
          </a:xfrm>
        </p:grpSpPr>
        <p:sp>
          <p:nvSpPr>
            <p:cNvPr name="Freeform 70" id="70"/>
            <p:cNvSpPr/>
            <p:nvPr/>
          </p:nvSpPr>
          <p:spPr>
            <a:xfrm flipH="false" flipV="false" rot="0">
              <a:off x="0" y="0"/>
              <a:ext cx="3291840" cy="763315"/>
            </a:xfrm>
            <a:custGeom>
              <a:avLst/>
              <a:gdLst/>
              <a:ahLst/>
              <a:cxnLst/>
              <a:rect r="r" b="b" t="t" l="l"/>
              <a:pathLst>
                <a:path h="763315" w="3291840">
                  <a:moveTo>
                    <a:pt x="0" y="0"/>
                  </a:moveTo>
                  <a:lnTo>
                    <a:pt x="3291840" y="0"/>
                  </a:lnTo>
                  <a:lnTo>
                    <a:pt x="3291840" y="763315"/>
                  </a:lnTo>
                  <a:lnTo>
                    <a:pt x="0" y="763315"/>
                  </a:lnTo>
                  <a:close/>
                </a:path>
              </a:pathLst>
            </a:custGeom>
            <a:blipFill>
              <a:blip r:embed="rId3">
                <a:alphaModFix amt="0"/>
              </a:blip>
              <a:stretch>
                <a:fillRect l="0" t="-42502" r="0" b="-25558"/>
              </a:stretch>
            </a:blipFill>
          </p:spPr>
        </p:sp>
        <p:sp>
          <p:nvSpPr>
            <p:cNvPr name="TextBox 71" id="71"/>
            <p:cNvSpPr txBox="true"/>
            <p:nvPr/>
          </p:nvSpPr>
          <p:spPr>
            <a:xfrm>
              <a:off x="0" y="-57150"/>
              <a:ext cx="3291840" cy="820465"/>
            </a:xfrm>
            <a:prstGeom prst="rect">
              <a:avLst/>
            </a:prstGeom>
          </p:spPr>
          <p:txBody>
            <a:bodyPr anchor="ctr" rtlCol="false" tIns="0" lIns="0" bIns="0" rIns="0"/>
            <a:lstStyle/>
            <a:p>
              <a:pPr algn="l">
                <a:lnSpc>
                  <a:spcPts val="3480"/>
                </a:lnSpc>
              </a:pPr>
              <a:r>
                <a:rPr lang="en-US" b="true" sz="2900">
                  <a:solidFill>
                    <a:srgbClr val="000000"/>
                  </a:solidFill>
                  <a:latin typeface="Consolas Bold"/>
                  <a:ea typeface="Consolas Bold"/>
                  <a:cs typeface="Consolas Bold"/>
                  <a:sym typeface="Consolas Bold"/>
                </a:rPr>
                <a:t>C_mix</a:t>
              </a:r>
            </a:p>
          </p:txBody>
        </p:sp>
      </p:grpSp>
      <p:grpSp>
        <p:nvGrpSpPr>
          <p:cNvPr name="Group 72" id="72"/>
          <p:cNvGrpSpPr/>
          <p:nvPr/>
        </p:nvGrpSpPr>
        <p:grpSpPr>
          <a:xfrm rot="0">
            <a:off x="1005835" y="7052616"/>
            <a:ext cx="4023360" cy="457200"/>
            <a:chOff x="0" y="0"/>
            <a:chExt cx="5364480" cy="609600"/>
          </a:xfrm>
        </p:grpSpPr>
        <p:sp>
          <p:nvSpPr>
            <p:cNvPr name="Freeform 73" id="73"/>
            <p:cNvSpPr/>
            <p:nvPr/>
          </p:nvSpPr>
          <p:spPr>
            <a:xfrm flipH="false" flipV="false" rot="0">
              <a:off x="0" y="0"/>
              <a:ext cx="5364480" cy="609600"/>
            </a:xfrm>
            <a:custGeom>
              <a:avLst/>
              <a:gdLst/>
              <a:ahLst/>
              <a:cxnLst/>
              <a:rect r="r" b="b" t="t" l="l"/>
              <a:pathLst>
                <a:path h="609600" w="5364480">
                  <a:moveTo>
                    <a:pt x="0" y="0"/>
                  </a:moveTo>
                  <a:lnTo>
                    <a:pt x="5364480" y="0"/>
                  </a:lnTo>
                  <a:lnTo>
                    <a:pt x="5364480" y="609600"/>
                  </a:lnTo>
                  <a:lnTo>
                    <a:pt x="0" y="609600"/>
                  </a:lnTo>
                  <a:close/>
                </a:path>
              </a:pathLst>
            </a:custGeom>
            <a:blipFill>
              <a:blip r:embed="rId3">
                <a:alphaModFix amt="0"/>
              </a:blip>
              <a:stretch>
                <a:fillRect l="0" t="-121468" r="0" b="-121468"/>
              </a:stretch>
            </a:blipFill>
          </p:spPr>
        </p:sp>
        <p:sp>
          <p:nvSpPr>
            <p:cNvPr name="TextBox 74" id="74"/>
            <p:cNvSpPr txBox="true"/>
            <p:nvPr/>
          </p:nvSpPr>
          <p:spPr>
            <a:xfrm>
              <a:off x="0" y="-19050"/>
              <a:ext cx="5364480" cy="628650"/>
            </a:xfrm>
            <a:prstGeom prst="rect">
              <a:avLst/>
            </a:prstGeom>
          </p:spPr>
          <p:txBody>
            <a:bodyPr anchor="ctr" rtlCol="false" tIns="0" lIns="0" bIns="0" rIns="0"/>
            <a:lstStyle/>
            <a:p>
              <a:pPr algn="l">
                <a:lnSpc>
                  <a:spcPts val="2280"/>
                </a:lnSpc>
              </a:pPr>
              <a:r>
                <a:rPr lang="en-US" sz="1900">
                  <a:solidFill>
                    <a:srgbClr val="000000"/>
                  </a:solidFill>
                  <a:latin typeface="Helios Extended"/>
                  <a:ea typeface="Helios Extended"/>
                  <a:cs typeface="Helios Extended"/>
                  <a:sym typeface="Helios Extended"/>
                </a:rPr>
                <a:t>Mixed Interleaved</a:t>
              </a:r>
            </a:p>
          </p:txBody>
        </p:sp>
      </p:grpSp>
      <p:grpSp>
        <p:nvGrpSpPr>
          <p:cNvPr name="Group 75" id="75"/>
          <p:cNvGrpSpPr/>
          <p:nvPr/>
        </p:nvGrpSpPr>
        <p:grpSpPr>
          <a:xfrm rot="0">
            <a:off x="5486395" y="6686856"/>
            <a:ext cx="10241280" cy="768096"/>
            <a:chOff x="0" y="0"/>
            <a:chExt cx="13655040" cy="1024128"/>
          </a:xfrm>
        </p:grpSpPr>
        <p:sp>
          <p:nvSpPr>
            <p:cNvPr name="Freeform 76" id="76"/>
            <p:cNvSpPr/>
            <p:nvPr/>
          </p:nvSpPr>
          <p:spPr>
            <a:xfrm flipH="false" flipV="false" rot="0">
              <a:off x="0" y="0"/>
              <a:ext cx="13655039" cy="1024128"/>
            </a:xfrm>
            <a:custGeom>
              <a:avLst/>
              <a:gdLst/>
              <a:ahLst/>
              <a:cxnLst/>
              <a:rect r="r" b="b" t="t" l="l"/>
              <a:pathLst>
                <a:path h="1024128" w="13655039">
                  <a:moveTo>
                    <a:pt x="0" y="0"/>
                  </a:moveTo>
                  <a:lnTo>
                    <a:pt x="13655039" y="0"/>
                  </a:lnTo>
                  <a:lnTo>
                    <a:pt x="13655039" y="1024128"/>
                  </a:lnTo>
                  <a:lnTo>
                    <a:pt x="0" y="1024128"/>
                  </a:lnTo>
                  <a:close/>
                </a:path>
              </a:pathLst>
            </a:custGeom>
            <a:blipFill>
              <a:blip r:embed="rId3">
                <a:alphaModFix amt="0"/>
              </a:blip>
              <a:stretch>
                <a:fillRect l="0" t="-209800" r="0" b="-209800"/>
              </a:stretch>
            </a:blipFill>
          </p:spPr>
        </p:sp>
        <p:sp>
          <p:nvSpPr>
            <p:cNvPr name="TextBox 77" id="77"/>
            <p:cNvSpPr txBox="true"/>
            <p:nvPr/>
          </p:nvSpPr>
          <p:spPr>
            <a:xfrm>
              <a:off x="0" y="-19050"/>
              <a:ext cx="13655040" cy="1043178"/>
            </a:xfrm>
            <a:prstGeom prst="rect">
              <a:avLst/>
            </a:prstGeom>
          </p:spPr>
          <p:txBody>
            <a:bodyPr anchor="ctr" rtlCol="false" tIns="0" lIns="0" bIns="0" rIns="0"/>
            <a:lstStyle/>
            <a:p>
              <a:pPr algn="l">
                <a:lnSpc>
                  <a:spcPts val="2640"/>
                </a:lnSpc>
              </a:pPr>
              <a:r>
                <a:rPr lang="en-US" sz="2200">
                  <a:solidFill>
                    <a:srgbClr val="000000"/>
                  </a:solidFill>
                  <a:latin typeface="Helios Extended"/>
                  <a:ea typeface="Helios Extended"/>
                  <a:cs typeface="Helios Extended"/>
                  <a:sym typeface="Helios Extended"/>
                </a:rPr>
                <a:t>50/50 labels + CoT in single run </a:t>
              </a:r>
            </a:p>
          </p:txBody>
        </p:sp>
      </p:grpSp>
      <p:grpSp>
        <p:nvGrpSpPr>
          <p:cNvPr name="Group 78" id="78"/>
          <p:cNvGrpSpPr/>
          <p:nvPr/>
        </p:nvGrpSpPr>
        <p:grpSpPr>
          <a:xfrm rot="0">
            <a:off x="16001995" y="6760008"/>
            <a:ext cx="1554480" cy="512064"/>
            <a:chOff x="0" y="0"/>
            <a:chExt cx="2072640" cy="682752"/>
          </a:xfrm>
        </p:grpSpPr>
        <p:sp>
          <p:nvSpPr>
            <p:cNvPr name="Freeform 79" id="79"/>
            <p:cNvSpPr/>
            <p:nvPr/>
          </p:nvSpPr>
          <p:spPr>
            <a:xfrm flipH="false" flipV="false" rot="0">
              <a:off x="0" y="0"/>
              <a:ext cx="2072640" cy="682752"/>
            </a:xfrm>
            <a:custGeom>
              <a:avLst/>
              <a:gdLst/>
              <a:ahLst/>
              <a:cxnLst/>
              <a:rect r="r" b="b" t="t" l="l"/>
              <a:pathLst>
                <a:path h="682752" w="2072640">
                  <a:moveTo>
                    <a:pt x="0" y="97536"/>
                  </a:moveTo>
                  <a:cubicBezTo>
                    <a:pt x="0" y="43688"/>
                    <a:pt x="43688" y="0"/>
                    <a:pt x="97536" y="0"/>
                  </a:cubicBezTo>
                  <a:lnTo>
                    <a:pt x="1975104" y="0"/>
                  </a:lnTo>
                  <a:cubicBezTo>
                    <a:pt x="2028952" y="0"/>
                    <a:pt x="2072640" y="43688"/>
                    <a:pt x="2072640" y="97536"/>
                  </a:cubicBezTo>
                  <a:lnTo>
                    <a:pt x="2072640" y="585216"/>
                  </a:lnTo>
                  <a:cubicBezTo>
                    <a:pt x="2072640" y="639064"/>
                    <a:pt x="2028952" y="682752"/>
                    <a:pt x="1975104" y="682752"/>
                  </a:cubicBezTo>
                  <a:lnTo>
                    <a:pt x="97536" y="682752"/>
                  </a:lnTo>
                  <a:cubicBezTo>
                    <a:pt x="43688" y="682752"/>
                    <a:pt x="0" y="639064"/>
                    <a:pt x="0" y="585216"/>
                  </a:cubicBezTo>
                  <a:close/>
                </a:path>
              </a:pathLst>
            </a:custGeom>
            <a:solidFill>
              <a:srgbClr val="1A1A2E"/>
            </a:solidFill>
          </p:spPr>
        </p:sp>
      </p:grpSp>
      <p:grpSp>
        <p:nvGrpSpPr>
          <p:cNvPr name="Group 80" id="80"/>
          <p:cNvGrpSpPr/>
          <p:nvPr/>
        </p:nvGrpSpPr>
        <p:grpSpPr>
          <a:xfrm rot="0">
            <a:off x="16001995" y="6796584"/>
            <a:ext cx="1554480" cy="438912"/>
            <a:chOff x="0" y="0"/>
            <a:chExt cx="2072640" cy="585216"/>
          </a:xfrm>
        </p:grpSpPr>
        <p:sp>
          <p:nvSpPr>
            <p:cNvPr name="Freeform 81" id="81"/>
            <p:cNvSpPr/>
            <p:nvPr/>
          </p:nvSpPr>
          <p:spPr>
            <a:xfrm flipH="false" flipV="false" rot="0">
              <a:off x="0" y="0"/>
              <a:ext cx="2072640" cy="585216"/>
            </a:xfrm>
            <a:custGeom>
              <a:avLst/>
              <a:gdLst/>
              <a:ahLst/>
              <a:cxnLst/>
              <a:rect r="r" b="b" t="t" l="l"/>
              <a:pathLst>
                <a:path h="585216" w="2072640">
                  <a:moveTo>
                    <a:pt x="0" y="0"/>
                  </a:moveTo>
                  <a:lnTo>
                    <a:pt x="2072640" y="0"/>
                  </a:lnTo>
                  <a:lnTo>
                    <a:pt x="2072640" y="585216"/>
                  </a:lnTo>
                  <a:lnTo>
                    <a:pt x="0" y="585216"/>
                  </a:lnTo>
                  <a:close/>
                </a:path>
              </a:pathLst>
            </a:custGeom>
            <a:blipFill>
              <a:blip r:embed="rId3">
                <a:alphaModFix amt="0"/>
              </a:blip>
              <a:stretch>
                <a:fillRect l="0" t="-19009" r="0" b="-19009"/>
              </a:stretch>
            </a:blipFill>
          </p:spPr>
        </p:sp>
        <p:sp>
          <p:nvSpPr>
            <p:cNvPr name="TextBox 82" id="82"/>
            <p:cNvSpPr txBox="true"/>
            <p:nvPr/>
          </p:nvSpPr>
          <p:spPr>
            <a:xfrm>
              <a:off x="0" y="-19050"/>
              <a:ext cx="2072640" cy="604266"/>
            </a:xfrm>
            <a:prstGeom prst="rect">
              <a:avLst/>
            </a:prstGeom>
          </p:spPr>
          <p:txBody>
            <a:bodyPr anchor="ctr" rtlCol="false" tIns="0" lIns="0" bIns="0" rIns="0"/>
            <a:lstStyle/>
            <a:p>
              <a:pPr algn="ctr">
                <a:lnSpc>
                  <a:spcPts val="2039"/>
                </a:lnSpc>
              </a:pPr>
              <a:r>
                <a:rPr lang="en-US" sz="1700" b="true">
                  <a:solidFill>
                    <a:srgbClr val="FFFFFF"/>
                  </a:solidFill>
                  <a:latin typeface="Helios Extended Bold"/>
                  <a:ea typeface="Helios Extended Bold"/>
                  <a:cs typeface="Helios Extended Bold"/>
                  <a:sym typeface="Helios Extended Bold"/>
                </a:rPr>
                <a:t>Ablation</a:t>
              </a:r>
            </a:p>
          </p:txBody>
        </p:sp>
      </p:grpSp>
      <p:sp>
        <p:nvSpPr>
          <p:cNvPr name="TextBox 83" id="8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90050"/>
            <a:ext cx="11155680" cy="1097280"/>
            <a:chOff x="0" y="0"/>
            <a:chExt cx="14874240" cy="1463040"/>
          </a:xfrm>
        </p:grpSpPr>
        <p:sp>
          <p:nvSpPr>
            <p:cNvPr name="Freeform 3" id="3"/>
            <p:cNvSpPr/>
            <p:nvPr/>
          </p:nvSpPr>
          <p:spPr>
            <a:xfrm flipH="false" flipV="false" rot="0">
              <a:off x="0" y="0"/>
              <a:ext cx="14874239" cy="1463040"/>
            </a:xfrm>
            <a:custGeom>
              <a:avLst/>
              <a:gdLst/>
              <a:ahLst/>
              <a:cxnLst/>
              <a:rect r="r" b="b" t="t" l="l"/>
              <a:pathLst>
                <a:path h="1463040" w="14874239">
                  <a:moveTo>
                    <a:pt x="0" y="0"/>
                  </a:moveTo>
                  <a:lnTo>
                    <a:pt x="14874239" y="0"/>
                  </a:lnTo>
                  <a:lnTo>
                    <a:pt x="14874239" y="1463040"/>
                  </a:lnTo>
                  <a:lnTo>
                    <a:pt x="0" y="1463040"/>
                  </a:lnTo>
                  <a:close/>
                </a:path>
              </a:pathLst>
            </a:custGeom>
            <a:blipFill>
              <a:blip r:embed="rId3">
                <a:alphaModFix amt="0"/>
              </a:blip>
              <a:stretch>
                <a:fillRect l="0" t="-203305" r="-27868" b="-203305"/>
              </a:stretch>
            </a:blipFill>
          </p:spPr>
        </p:sp>
        <p:sp>
          <p:nvSpPr>
            <p:cNvPr name="TextBox 4" id="4"/>
            <p:cNvSpPr txBox="true"/>
            <p:nvPr/>
          </p:nvSpPr>
          <p:spPr>
            <a:xfrm>
              <a:off x="0" y="-47625"/>
              <a:ext cx="14874240" cy="1510665"/>
            </a:xfrm>
            <a:prstGeom prst="rect">
              <a:avLst/>
            </a:prstGeom>
          </p:spPr>
          <p:txBody>
            <a:bodyPr anchor="ctr" rtlCol="false" tIns="0" lIns="0" bIns="0" rIns="0"/>
            <a:lstStyle/>
            <a:p>
              <a:pPr algn="l">
                <a:lnSpc>
                  <a:spcPts val="6240"/>
                </a:lnSpc>
              </a:pPr>
              <a:r>
                <a:rPr lang="en-US" b="true" sz="5200">
                  <a:solidFill>
                    <a:srgbClr val="000000"/>
                  </a:solidFill>
                  <a:latin typeface="Helios Extended Bold"/>
                  <a:ea typeface="Helios Extended Bold"/>
                  <a:cs typeface="Helios Extended Bold"/>
                  <a:sym typeface="Helios Extended Bold"/>
                </a:rPr>
                <a:t>Classification Performance</a:t>
              </a:r>
            </a:p>
          </p:txBody>
        </p:sp>
      </p:grpSp>
      <p:grpSp>
        <p:nvGrpSpPr>
          <p:cNvPr name="Group 5" id="5"/>
          <p:cNvGrpSpPr/>
          <p:nvPr/>
        </p:nvGrpSpPr>
        <p:grpSpPr>
          <a:xfrm rot="0">
            <a:off x="15544800" y="365760"/>
            <a:ext cx="2377440" cy="585216"/>
            <a:chOff x="0" y="0"/>
            <a:chExt cx="3169920" cy="780288"/>
          </a:xfrm>
        </p:grpSpPr>
        <p:sp>
          <p:nvSpPr>
            <p:cNvPr name="Freeform 6" id="6"/>
            <p:cNvSpPr/>
            <p:nvPr/>
          </p:nvSpPr>
          <p:spPr>
            <a:xfrm flipH="false" flipV="false" rot="0">
              <a:off x="0" y="0"/>
              <a:ext cx="3169920" cy="780288"/>
            </a:xfrm>
            <a:custGeom>
              <a:avLst/>
              <a:gdLst/>
              <a:ahLst/>
              <a:cxnLst/>
              <a:rect r="r" b="b" t="t" l="l"/>
              <a:pathLst>
                <a:path h="780288" w="3169920">
                  <a:moveTo>
                    <a:pt x="0" y="121920"/>
                  </a:moveTo>
                  <a:cubicBezTo>
                    <a:pt x="0" y="54610"/>
                    <a:pt x="54610" y="0"/>
                    <a:pt x="121920" y="0"/>
                  </a:cubicBezTo>
                  <a:lnTo>
                    <a:pt x="3048000" y="0"/>
                  </a:lnTo>
                  <a:cubicBezTo>
                    <a:pt x="3115310" y="0"/>
                    <a:pt x="3169920" y="54610"/>
                    <a:pt x="3169920" y="121920"/>
                  </a:cubicBezTo>
                  <a:lnTo>
                    <a:pt x="3169920" y="658368"/>
                  </a:lnTo>
                  <a:cubicBezTo>
                    <a:pt x="3169920" y="725678"/>
                    <a:pt x="3115310" y="780288"/>
                    <a:pt x="3048000" y="780288"/>
                  </a:cubicBezTo>
                  <a:lnTo>
                    <a:pt x="121920" y="780288"/>
                  </a:lnTo>
                  <a:cubicBezTo>
                    <a:pt x="54610" y="780288"/>
                    <a:pt x="0" y="725678"/>
                    <a:pt x="0" y="658368"/>
                  </a:cubicBezTo>
                  <a:close/>
                </a:path>
              </a:pathLst>
            </a:custGeom>
            <a:solidFill>
              <a:srgbClr val="3D4D55"/>
            </a:solidFill>
          </p:spPr>
        </p:sp>
      </p:grpSp>
      <p:grpSp>
        <p:nvGrpSpPr>
          <p:cNvPr name="Group 7" id="7"/>
          <p:cNvGrpSpPr/>
          <p:nvPr/>
        </p:nvGrpSpPr>
        <p:grpSpPr>
          <a:xfrm rot="0">
            <a:off x="15544800" y="402336"/>
            <a:ext cx="2377440" cy="512064"/>
            <a:chOff x="0" y="0"/>
            <a:chExt cx="3169920" cy="682752"/>
          </a:xfrm>
        </p:grpSpPr>
        <p:sp>
          <p:nvSpPr>
            <p:cNvPr name="Freeform 8" id="8"/>
            <p:cNvSpPr/>
            <p:nvPr/>
          </p:nvSpPr>
          <p:spPr>
            <a:xfrm flipH="false" flipV="false" rot="0">
              <a:off x="0" y="0"/>
              <a:ext cx="3169920" cy="682752"/>
            </a:xfrm>
            <a:custGeom>
              <a:avLst/>
              <a:gdLst/>
              <a:ahLst/>
              <a:cxnLst/>
              <a:rect r="r" b="b" t="t" l="l"/>
              <a:pathLst>
                <a:path h="682752" w="3169920">
                  <a:moveTo>
                    <a:pt x="0" y="0"/>
                  </a:moveTo>
                  <a:lnTo>
                    <a:pt x="3169920" y="0"/>
                  </a:lnTo>
                  <a:lnTo>
                    <a:pt x="3169920" y="682752"/>
                  </a:lnTo>
                  <a:lnTo>
                    <a:pt x="0" y="682752"/>
                  </a:lnTo>
                  <a:close/>
                </a:path>
              </a:pathLst>
            </a:custGeom>
            <a:blipFill>
              <a:blip r:embed="rId3">
                <a:alphaModFix amt="0"/>
              </a:blip>
              <a:stretch>
                <a:fillRect l="0" t="-40466" r="0" b="-40466"/>
              </a:stretch>
            </a:blipFill>
          </p:spPr>
        </p:sp>
        <p:sp>
          <p:nvSpPr>
            <p:cNvPr name="TextBox 9" id="9"/>
            <p:cNvSpPr txBox="true"/>
            <p:nvPr/>
          </p:nvSpPr>
          <p:spPr>
            <a:xfrm>
              <a:off x="0" y="-9525"/>
              <a:ext cx="3169920" cy="692277"/>
            </a:xfrm>
            <a:prstGeom prst="rect">
              <a:avLst/>
            </a:prstGeom>
          </p:spPr>
          <p:txBody>
            <a:bodyPr anchor="ctr" rtlCol="false" tIns="0" lIns="0" bIns="0" rIns="0"/>
            <a:lstStyle/>
            <a:p>
              <a:pPr algn="ctr">
                <a:lnSpc>
                  <a:spcPts val="2160"/>
                </a:lnSpc>
              </a:pPr>
              <a:r>
                <a:rPr lang="en-US" sz="1800" b="true">
                  <a:solidFill>
                    <a:srgbClr val="FFFFFF"/>
                  </a:solidFill>
                  <a:latin typeface="Helios Extended Bold"/>
                  <a:ea typeface="Helios Extended Bold"/>
                  <a:cs typeface="Helios Extended Bold"/>
                  <a:sym typeface="Helios Extended Bold"/>
                </a:rPr>
                <a:t>4. Results</a:t>
              </a:r>
            </a:p>
          </p:txBody>
        </p:sp>
      </p:grpSp>
      <p:grpSp>
        <p:nvGrpSpPr>
          <p:cNvPr name="Group 10" id="10"/>
          <p:cNvGrpSpPr/>
          <p:nvPr/>
        </p:nvGrpSpPr>
        <p:grpSpPr>
          <a:xfrm rot="0">
            <a:off x="1028700" y="6157153"/>
            <a:ext cx="16230600" cy="527771"/>
            <a:chOff x="0" y="0"/>
            <a:chExt cx="22278456" cy="724429"/>
          </a:xfrm>
        </p:grpSpPr>
        <p:sp>
          <p:nvSpPr>
            <p:cNvPr name="Freeform 11" id="11"/>
            <p:cNvSpPr/>
            <p:nvPr/>
          </p:nvSpPr>
          <p:spPr>
            <a:xfrm flipH="false" flipV="false" rot="0">
              <a:off x="16393" y="12740"/>
              <a:ext cx="22245583" cy="698882"/>
            </a:xfrm>
            <a:custGeom>
              <a:avLst/>
              <a:gdLst/>
              <a:ahLst/>
              <a:cxnLst/>
              <a:rect r="r" b="b" t="t" l="l"/>
              <a:pathLst>
                <a:path h="698882" w="22245583">
                  <a:moveTo>
                    <a:pt x="0" y="0"/>
                  </a:moveTo>
                  <a:lnTo>
                    <a:pt x="22245583" y="0"/>
                  </a:lnTo>
                  <a:lnTo>
                    <a:pt x="22245583" y="698882"/>
                  </a:lnTo>
                  <a:lnTo>
                    <a:pt x="0" y="698882"/>
                  </a:lnTo>
                  <a:close/>
                </a:path>
              </a:pathLst>
            </a:custGeom>
            <a:solidFill>
              <a:srgbClr val="D1D9E0"/>
            </a:solidFill>
          </p:spPr>
        </p:sp>
        <p:sp>
          <p:nvSpPr>
            <p:cNvPr name="Freeform 12" id="12"/>
            <p:cNvSpPr/>
            <p:nvPr/>
          </p:nvSpPr>
          <p:spPr>
            <a:xfrm flipH="false" flipV="false" rot="0">
              <a:off x="0" y="0"/>
              <a:ext cx="22278370" cy="724364"/>
            </a:xfrm>
            <a:custGeom>
              <a:avLst/>
              <a:gdLst/>
              <a:ahLst/>
              <a:cxnLst/>
              <a:rect r="r" b="b" t="t" l="l"/>
              <a:pathLst>
                <a:path h="724364" w="22278370">
                  <a:moveTo>
                    <a:pt x="16393" y="0"/>
                  </a:moveTo>
                  <a:lnTo>
                    <a:pt x="22261976" y="0"/>
                  </a:lnTo>
                  <a:cubicBezTo>
                    <a:pt x="22271098" y="0"/>
                    <a:pt x="22278370" y="5747"/>
                    <a:pt x="22278370" y="12740"/>
                  </a:cubicBezTo>
                  <a:lnTo>
                    <a:pt x="22278370" y="711622"/>
                  </a:lnTo>
                  <a:cubicBezTo>
                    <a:pt x="22278370" y="718711"/>
                    <a:pt x="22270975" y="724362"/>
                    <a:pt x="22261976" y="724362"/>
                  </a:cubicBezTo>
                  <a:lnTo>
                    <a:pt x="16393" y="724362"/>
                  </a:lnTo>
                  <a:cubicBezTo>
                    <a:pt x="7395" y="724467"/>
                    <a:pt x="0" y="718711"/>
                    <a:pt x="0" y="711622"/>
                  </a:cubicBezTo>
                  <a:lnTo>
                    <a:pt x="0" y="12740"/>
                  </a:lnTo>
                  <a:cubicBezTo>
                    <a:pt x="0" y="5747"/>
                    <a:pt x="7395" y="0"/>
                    <a:pt x="16393" y="0"/>
                  </a:cubicBezTo>
                  <a:moveTo>
                    <a:pt x="16393" y="25576"/>
                  </a:moveTo>
                  <a:lnTo>
                    <a:pt x="16393" y="12740"/>
                  </a:lnTo>
                  <a:lnTo>
                    <a:pt x="32910" y="12740"/>
                  </a:lnTo>
                  <a:lnTo>
                    <a:pt x="32910" y="711622"/>
                  </a:lnTo>
                  <a:lnTo>
                    <a:pt x="16393" y="711622"/>
                  </a:lnTo>
                  <a:lnTo>
                    <a:pt x="16393" y="698882"/>
                  </a:lnTo>
                  <a:lnTo>
                    <a:pt x="22261976" y="698882"/>
                  </a:lnTo>
                  <a:lnTo>
                    <a:pt x="22261976" y="711622"/>
                  </a:lnTo>
                  <a:lnTo>
                    <a:pt x="22245585" y="711622"/>
                  </a:lnTo>
                  <a:lnTo>
                    <a:pt x="22245585" y="12740"/>
                  </a:lnTo>
                  <a:lnTo>
                    <a:pt x="22261976" y="12740"/>
                  </a:lnTo>
                  <a:lnTo>
                    <a:pt x="22261976" y="25576"/>
                  </a:lnTo>
                  <a:lnTo>
                    <a:pt x="16393" y="25576"/>
                  </a:lnTo>
                  <a:close/>
                </a:path>
              </a:pathLst>
            </a:custGeom>
            <a:solidFill>
              <a:srgbClr val="F2F1F1"/>
            </a:solidFill>
          </p:spPr>
        </p:sp>
      </p:grpSp>
      <p:grpSp>
        <p:nvGrpSpPr>
          <p:cNvPr name="Group 13" id="13"/>
          <p:cNvGrpSpPr/>
          <p:nvPr/>
        </p:nvGrpSpPr>
        <p:grpSpPr>
          <a:xfrm rot="0">
            <a:off x="1345341" y="6109995"/>
            <a:ext cx="15913959" cy="720347"/>
            <a:chOff x="0" y="0"/>
            <a:chExt cx="21218612" cy="960463"/>
          </a:xfrm>
        </p:grpSpPr>
        <p:sp>
          <p:nvSpPr>
            <p:cNvPr name="Freeform 14" id="14"/>
            <p:cNvSpPr/>
            <p:nvPr/>
          </p:nvSpPr>
          <p:spPr>
            <a:xfrm flipH="false" flipV="false" rot="0">
              <a:off x="0" y="0"/>
              <a:ext cx="21218612" cy="960463"/>
            </a:xfrm>
            <a:custGeom>
              <a:avLst/>
              <a:gdLst/>
              <a:ahLst/>
              <a:cxnLst/>
              <a:rect r="r" b="b" t="t" l="l"/>
              <a:pathLst>
                <a:path h="960463" w="21218612">
                  <a:moveTo>
                    <a:pt x="0" y="0"/>
                  </a:moveTo>
                  <a:lnTo>
                    <a:pt x="21218612" y="0"/>
                  </a:lnTo>
                  <a:lnTo>
                    <a:pt x="21218612" y="960463"/>
                  </a:lnTo>
                  <a:lnTo>
                    <a:pt x="0" y="960463"/>
                  </a:lnTo>
                  <a:close/>
                </a:path>
              </a:pathLst>
            </a:custGeom>
            <a:blipFill>
              <a:blip r:embed="rId3">
                <a:alphaModFix amt="0"/>
              </a:blip>
              <a:stretch>
                <a:fillRect l="0" t="-412078" r="-4575" b="-388241"/>
              </a:stretch>
            </a:blipFill>
          </p:spPr>
        </p:sp>
        <p:sp>
          <p:nvSpPr>
            <p:cNvPr name="TextBox 15" id="15"/>
            <p:cNvSpPr txBox="true"/>
            <p:nvPr/>
          </p:nvSpPr>
          <p:spPr>
            <a:xfrm>
              <a:off x="0" y="-28575"/>
              <a:ext cx="21218612" cy="989038"/>
            </a:xfrm>
            <a:prstGeom prst="rect">
              <a:avLst/>
            </a:prstGeom>
          </p:spPr>
          <p:txBody>
            <a:bodyPr anchor="ctr" rtlCol="false" tIns="0" lIns="0" bIns="0" rIns="0"/>
            <a:lstStyle/>
            <a:p>
              <a:pPr algn="l">
                <a:lnSpc>
                  <a:spcPts val="2400"/>
                </a:lnSpc>
              </a:pPr>
              <a:r>
                <a:rPr lang="en-US" sz="2000">
                  <a:solidFill>
                    <a:srgbClr val="000000"/>
                  </a:solidFill>
                  <a:latin typeface="Helios Extended"/>
                  <a:ea typeface="Helios Extended"/>
                  <a:cs typeface="Helios Extended"/>
                  <a:sym typeface="Helios Extended"/>
                </a:rPr>
                <a:t>B (Label-Only) ⟶ 85/86 classes predicted + ~15.8 words (classification statement) </a:t>
              </a:r>
            </a:p>
          </p:txBody>
        </p:sp>
      </p:grpSp>
      <p:graphicFrame>
        <p:nvGraphicFramePr>
          <p:cNvPr name="Table 16" id="16"/>
          <p:cNvGraphicFramePr>
            <a:graphicFrameLocks noGrp="true"/>
          </p:cNvGraphicFramePr>
          <p:nvPr/>
        </p:nvGraphicFramePr>
        <p:xfrm>
          <a:off x="1028700" y="1392105"/>
          <a:ext cx="16230600" cy="4394041"/>
        </p:xfrm>
        <a:graphic>
          <a:graphicData uri="http://schemas.openxmlformats.org/drawingml/2006/table">
            <a:tbl>
              <a:tblPr/>
              <a:tblGrid>
                <a:gridCol w="5651431"/>
                <a:gridCol w="3880343"/>
                <a:gridCol w="3917384"/>
                <a:gridCol w="2781441"/>
              </a:tblGrid>
              <a:tr h="681467">
                <a:tc>
                  <a:txBody>
                    <a:bodyPr anchor="t" rtlCol="false"/>
                    <a:lstStyle/>
                    <a:p>
                      <a:pPr algn="ctr">
                        <a:lnSpc>
                          <a:spcPts val="2879"/>
                        </a:lnSpc>
                        <a:defRPr/>
                      </a:pPr>
                      <a:r>
                        <a:rPr lang="en-US" sz="2400" b="true">
                          <a:solidFill>
                            <a:srgbClr val="FFFFFF"/>
                          </a:solidFill>
                          <a:latin typeface="Helios Extended Bold"/>
                          <a:ea typeface="Helios Extended Bold"/>
                          <a:cs typeface="Helios Extended Bold"/>
                          <a:sym typeface="Helios Extended Bold"/>
                        </a:rPr>
                        <a:t>Condition</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3D4D55"/>
                    </a:solidFill>
                  </a:tcPr>
                </a:tc>
                <a:tc>
                  <a:txBody>
                    <a:bodyPr anchor="t" rtlCol="false"/>
                    <a:lstStyle/>
                    <a:p>
                      <a:pPr algn="ctr">
                        <a:lnSpc>
                          <a:spcPts val="2879"/>
                        </a:lnSpc>
                        <a:defRPr/>
                      </a:pPr>
                      <a:r>
                        <a:rPr lang="en-US" sz="2400" b="true">
                          <a:solidFill>
                            <a:srgbClr val="FFFFFF"/>
                          </a:solidFill>
                          <a:latin typeface="Helios Extended Bold"/>
                          <a:ea typeface="Helios Extended Bold"/>
                          <a:cs typeface="Helios Extended Bold"/>
                          <a:sym typeface="Helios Extended Bold"/>
                        </a:rPr>
                        <a:t>Macro F1</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3D4D55"/>
                    </a:solidFill>
                  </a:tcPr>
                </a:tc>
                <a:tc>
                  <a:txBody>
                    <a:bodyPr anchor="t" rtlCol="false"/>
                    <a:lstStyle/>
                    <a:p>
                      <a:pPr algn="ctr">
                        <a:lnSpc>
                          <a:spcPts val="2879"/>
                        </a:lnSpc>
                        <a:defRPr/>
                      </a:pPr>
                      <a:r>
                        <a:rPr lang="en-US" sz="2400" b="true">
                          <a:solidFill>
                            <a:srgbClr val="FFFFFF"/>
                          </a:solidFill>
                          <a:latin typeface="Helios Extended Bold"/>
                          <a:ea typeface="Helios Extended Bold"/>
                          <a:cs typeface="Helios Extended Bold"/>
                          <a:sym typeface="Helios Extended Bold"/>
                        </a:rPr>
                        <a:t>Micro F1</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3D4D55"/>
                    </a:solidFill>
                  </a:tcPr>
                </a:tc>
                <a:tc>
                  <a:txBody>
                    <a:bodyPr anchor="t" rtlCol="false"/>
                    <a:lstStyle/>
                    <a:p>
                      <a:pPr algn="ctr">
                        <a:lnSpc>
                          <a:spcPts val="2879"/>
                        </a:lnSpc>
                        <a:defRPr/>
                      </a:pPr>
                      <a:r>
                        <a:rPr lang="en-US" sz="2400" b="true">
                          <a:solidFill>
                            <a:srgbClr val="FFFFFF"/>
                          </a:solidFill>
                          <a:latin typeface="Helios Extended Bold"/>
                          <a:ea typeface="Helios Extended Bold"/>
                          <a:cs typeface="Helios Extended Bold"/>
                          <a:sym typeface="Helios Extended Bold"/>
                        </a:rPr>
                        <a:t>CoT</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3D4D55"/>
                    </a:solidFill>
                  </a:tcPr>
                </a:tc>
              </a:tr>
              <a:tr h="923253">
                <a:tc>
                  <a:txBody>
                    <a:bodyPr anchor="t" rtlCol="false"/>
                    <a:lstStyle/>
                    <a:p>
                      <a:pPr algn="ctr">
                        <a:lnSpc>
                          <a:spcPts val="2879"/>
                        </a:lnSpc>
                        <a:defRPr/>
                      </a:pPr>
                      <a:r>
                        <a:rPr lang="en-US" sz="2400">
                          <a:solidFill>
                            <a:srgbClr val="000000"/>
                          </a:solidFill>
                          <a:latin typeface="Helios Extended"/>
                          <a:ea typeface="Helios Extended"/>
                          <a:cs typeface="Helios Extended"/>
                          <a:sym typeface="Helios Extended"/>
                        </a:rPr>
                        <a:t>B (Label-Only)</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ctr">
                        <a:lnSpc>
                          <a:spcPts val="2879"/>
                        </a:lnSpc>
                        <a:defRPr/>
                      </a:pPr>
                      <a:r>
                        <a:rPr lang="en-US" sz="2400">
                          <a:solidFill>
                            <a:srgbClr val="00BF63"/>
                          </a:solidFill>
                          <a:latin typeface="Helios Extended"/>
                          <a:ea typeface="Helios Extended"/>
                          <a:cs typeface="Helios Extended"/>
                          <a:sym typeface="Helios Extended"/>
                        </a:rPr>
                        <a:t>0.9196</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ctr">
                        <a:lnSpc>
                          <a:spcPts val="2879"/>
                        </a:lnSpc>
                        <a:defRPr/>
                      </a:pPr>
                      <a:r>
                        <a:rPr lang="en-US" sz="2400">
                          <a:solidFill>
                            <a:srgbClr val="00BF63"/>
                          </a:solidFill>
                          <a:latin typeface="Helios Extended"/>
                          <a:ea typeface="Helios Extended"/>
                          <a:cs typeface="Helios Extended"/>
                          <a:sym typeface="Helios Extended"/>
                        </a:rPr>
                        <a:t>0.9344 </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2879"/>
                        </a:lnSpc>
                        <a:defRPr/>
                      </a:pP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r>
              <a:tr h="875533">
                <a:tc>
                  <a:txBody>
                    <a:bodyPr anchor="t" rtlCol="false"/>
                    <a:lstStyle/>
                    <a:p>
                      <a:pPr algn="ctr">
                        <a:lnSpc>
                          <a:spcPts val="2879"/>
                        </a:lnSpc>
                        <a:defRPr/>
                      </a:pPr>
                      <a:r>
                        <a:rPr lang="en-US" sz="2400">
                          <a:solidFill>
                            <a:srgbClr val="000000"/>
                          </a:solidFill>
                          <a:latin typeface="Helios Extended"/>
                          <a:ea typeface="Helios Extended"/>
                          <a:cs typeface="Helios Extended"/>
                          <a:sym typeface="Helios Extended"/>
                        </a:rPr>
                        <a:t>C_naive</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ctr">
                        <a:lnSpc>
                          <a:spcPts val="2879"/>
                        </a:lnSpc>
                        <a:defRPr/>
                      </a:pPr>
                      <a:r>
                        <a:rPr lang="en-US" sz="2400">
                          <a:solidFill>
                            <a:srgbClr val="E22323"/>
                          </a:solidFill>
                          <a:latin typeface="Helios Extended"/>
                          <a:ea typeface="Helios Extended"/>
                          <a:cs typeface="Helios Extended"/>
                          <a:sym typeface="Helios Extended"/>
                        </a:rPr>
                        <a:t>0.5542</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ctr">
                        <a:lnSpc>
                          <a:spcPts val="2879"/>
                        </a:lnSpc>
                        <a:defRPr/>
                      </a:pPr>
                      <a:r>
                        <a:rPr lang="en-US" sz="2400">
                          <a:solidFill>
                            <a:srgbClr val="E22323"/>
                          </a:solidFill>
                          <a:latin typeface="Helios Extended"/>
                          <a:ea typeface="Helios Extended"/>
                          <a:cs typeface="Helios Extended"/>
                          <a:sym typeface="Helios Extended"/>
                        </a:rPr>
                        <a:t>0.7018</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l">
                        <a:lnSpc>
                          <a:spcPts val="2879"/>
                        </a:lnSpc>
                        <a:defRPr/>
                      </a:pP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r>
              <a:tr h="1025384">
                <a:tc>
                  <a:txBody>
                    <a:bodyPr anchor="t" rtlCol="false"/>
                    <a:lstStyle/>
                    <a:p>
                      <a:pPr algn="ctr">
                        <a:lnSpc>
                          <a:spcPts val="2879"/>
                        </a:lnSpc>
                        <a:defRPr/>
                      </a:pPr>
                      <a:r>
                        <a:rPr lang="en-US" sz="2400">
                          <a:solidFill>
                            <a:srgbClr val="000000"/>
                          </a:solidFill>
                          <a:latin typeface="Helios Extended"/>
                          <a:ea typeface="Helios Extended"/>
                          <a:cs typeface="Helios Extended"/>
                          <a:sym typeface="Helios Extended"/>
                        </a:rPr>
                        <a:t>C_seq</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ctr">
                        <a:lnSpc>
                          <a:spcPts val="2879"/>
                        </a:lnSpc>
                        <a:defRPr/>
                      </a:pPr>
                      <a:r>
                        <a:rPr lang="en-US" sz="2400">
                          <a:solidFill>
                            <a:srgbClr val="7ED957"/>
                          </a:solidFill>
                          <a:latin typeface="Helios Extended"/>
                          <a:ea typeface="Helios Extended"/>
                          <a:cs typeface="Helios Extended"/>
                          <a:sym typeface="Helios Extended"/>
                        </a:rPr>
                        <a:t>0.8475</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ctr">
                        <a:lnSpc>
                          <a:spcPts val="2879"/>
                        </a:lnSpc>
                        <a:defRPr/>
                      </a:pPr>
                      <a:r>
                        <a:rPr lang="en-US" sz="2400">
                          <a:solidFill>
                            <a:srgbClr val="7ED957"/>
                          </a:solidFill>
                          <a:latin typeface="Helios Extended"/>
                          <a:ea typeface="Helios Extended"/>
                          <a:cs typeface="Helios Extended"/>
                          <a:sym typeface="Helios Extended"/>
                        </a:rPr>
                        <a:t>0.8596</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c>
                  <a:txBody>
                    <a:bodyPr anchor="t" rtlCol="false"/>
                    <a:lstStyle/>
                    <a:p>
                      <a:pPr algn="l">
                        <a:lnSpc>
                          <a:spcPts val="2879"/>
                        </a:lnSpc>
                        <a:defRPr/>
                      </a:pP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FFFFF"/>
                    </a:solidFill>
                  </a:tcPr>
                </a:tc>
              </a:tr>
              <a:tr h="888404">
                <a:tc>
                  <a:txBody>
                    <a:bodyPr anchor="t" rtlCol="false"/>
                    <a:lstStyle/>
                    <a:p>
                      <a:pPr algn="ctr">
                        <a:lnSpc>
                          <a:spcPts val="2879"/>
                        </a:lnSpc>
                        <a:defRPr/>
                      </a:pPr>
                      <a:r>
                        <a:rPr lang="en-US" sz="2400">
                          <a:solidFill>
                            <a:srgbClr val="000000"/>
                          </a:solidFill>
                          <a:latin typeface="Helios Extended"/>
                          <a:ea typeface="Helios Extended"/>
                          <a:cs typeface="Helios Extended"/>
                          <a:sym typeface="Helios Extended"/>
                        </a:rPr>
                        <a:t>C_mix</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ctr">
                        <a:lnSpc>
                          <a:spcPts val="2879"/>
                        </a:lnSpc>
                        <a:defRPr/>
                      </a:pPr>
                      <a:r>
                        <a:rPr lang="en-US" sz="2400">
                          <a:solidFill>
                            <a:srgbClr val="FF751F"/>
                          </a:solidFill>
                          <a:latin typeface="Helios Extended"/>
                          <a:ea typeface="Helios Extended"/>
                          <a:cs typeface="Helios Extended"/>
                          <a:sym typeface="Helios Extended"/>
                        </a:rPr>
                        <a:t>0.6715</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ctr">
                        <a:lnSpc>
                          <a:spcPts val="2879"/>
                        </a:lnSpc>
                        <a:defRPr/>
                      </a:pPr>
                      <a:r>
                        <a:rPr lang="en-US" sz="2400">
                          <a:solidFill>
                            <a:srgbClr val="FF751F"/>
                          </a:solidFill>
                          <a:latin typeface="Helios Extended"/>
                          <a:ea typeface="Helios Extended"/>
                          <a:cs typeface="Helios Extended"/>
                          <a:sym typeface="Helios Extended"/>
                        </a:rPr>
                        <a:t>0.7849 </a:t>
                      </a: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c>
                  <a:txBody>
                    <a:bodyPr anchor="t" rtlCol="false"/>
                    <a:lstStyle/>
                    <a:p>
                      <a:pPr algn="l">
                        <a:lnSpc>
                          <a:spcPts val="2879"/>
                        </a:lnSpc>
                        <a:defRPr/>
                      </a:pPr>
                      <a:endParaRPr lang="en-US" sz="1100"/>
                    </a:p>
                  </a:txBody>
                  <a:tcPr marL="91440" marR="91440" marT="91440" marB="91440" anchor="ctr">
                    <a:lnL cmpd="sng" algn="ctr" cap="flat" w="6350">
                      <a:solidFill>
                        <a:srgbClr val="D1D9E0"/>
                      </a:solidFill>
                      <a:prstDash val="solid"/>
                      <a:round/>
                      <a:headEnd type="none" w="med" len="med"/>
                      <a:tailEnd type="none" w="med" len="med"/>
                    </a:lnL>
                    <a:lnR cmpd="sng" algn="ctr" cap="flat" w="6350">
                      <a:solidFill>
                        <a:srgbClr val="D1D9E0"/>
                      </a:solidFill>
                      <a:prstDash val="solid"/>
                      <a:round/>
                      <a:headEnd type="none" w="med" len="med"/>
                      <a:tailEnd type="none" w="med" len="med"/>
                    </a:lnR>
                    <a:lnT cmpd="sng" algn="ctr" cap="flat" w="6350">
                      <a:solidFill>
                        <a:srgbClr val="D1D9E0"/>
                      </a:solidFill>
                      <a:prstDash val="solid"/>
                      <a:round/>
                      <a:headEnd type="none" w="med" len="med"/>
                      <a:tailEnd type="none" w="med" len="med"/>
                    </a:lnT>
                    <a:lnB cmpd="sng" algn="ctr" cap="flat" w="6350">
                      <a:solidFill>
                        <a:srgbClr val="D1D9E0"/>
                      </a:solidFill>
                      <a:prstDash val="solid"/>
                      <a:round/>
                      <a:headEnd type="none" w="med" len="med"/>
                      <a:tailEnd type="none" w="med" len="med"/>
                    </a:lnB>
                    <a:solidFill>
                      <a:srgbClr val="F2F1F1"/>
                    </a:solidFill>
                  </a:tcPr>
                </a:tc>
              </a:tr>
            </a:tbl>
          </a:graphicData>
        </a:graphic>
      </p:graphicFrame>
      <p:sp>
        <p:nvSpPr>
          <p:cNvPr name="Freeform 17" id="17"/>
          <p:cNvSpPr/>
          <p:nvPr/>
        </p:nvSpPr>
        <p:spPr>
          <a:xfrm flipH="false" flipV="false" rot="0">
            <a:off x="15544800" y="2252026"/>
            <a:ext cx="616187" cy="596020"/>
          </a:xfrm>
          <a:custGeom>
            <a:avLst/>
            <a:gdLst/>
            <a:ahLst/>
            <a:cxnLst/>
            <a:rect r="r" b="b" t="t" l="l"/>
            <a:pathLst>
              <a:path h="596020" w="616187">
                <a:moveTo>
                  <a:pt x="0" y="0"/>
                </a:moveTo>
                <a:lnTo>
                  <a:pt x="616187" y="0"/>
                </a:lnTo>
                <a:lnTo>
                  <a:pt x="616187" y="596020"/>
                </a:lnTo>
                <a:lnTo>
                  <a:pt x="0" y="5960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0">
            <a:off x="1028700" y="7021881"/>
            <a:ext cx="16230600" cy="527771"/>
            <a:chOff x="0" y="0"/>
            <a:chExt cx="22278456" cy="724429"/>
          </a:xfrm>
        </p:grpSpPr>
        <p:sp>
          <p:nvSpPr>
            <p:cNvPr name="Freeform 19" id="19"/>
            <p:cNvSpPr/>
            <p:nvPr/>
          </p:nvSpPr>
          <p:spPr>
            <a:xfrm flipH="false" flipV="false" rot="0">
              <a:off x="16393" y="12740"/>
              <a:ext cx="22245583" cy="698882"/>
            </a:xfrm>
            <a:custGeom>
              <a:avLst/>
              <a:gdLst/>
              <a:ahLst/>
              <a:cxnLst/>
              <a:rect r="r" b="b" t="t" l="l"/>
              <a:pathLst>
                <a:path h="698882" w="22245583">
                  <a:moveTo>
                    <a:pt x="0" y="0"/>
                  </a:moveTo>
                  <a:lnTo>
                    <a:pt x="22245583" y="0"/>
                  </a:lnTo>
                  <a:lnTo>
                    <a:pt x="22245583" y="698882"/>
                  </a:lnTo>
                  <a:lnTo>
                    <a:pt x="0" y="698882"/>
                  </a:lnTo>
                  <a:close/>
                </a:path>
              </a:pathLst>
            </a:custGeom>
            <a:solidFill>
              <a:srgbClr val="D1D9E0"/>
            </a:solidFill>
          </p:spPr>
        </p:sp>
        <p:sp>
          <p:nvSpPr>
            <p:cNvPr name="Freeform 20" id="20"/>
            <p:cNvSpPr/>
            <p:nvPr/>
          </p:nvSpPr>
          <p:spPr>
            <a:xfrm flipH="false" flipV="false" rot="0">
              <a:off x="0" y="0"/>
              <a:ext cx="22278370" cy="724364"/>
            </a:xfrm>
            <a:custGeom>
              <a:avLst/>
              <a:gdLst/>
              <a:ahLst/>
              <a:cxnLst/>
              <a:rect r="r" b="b" t="t" l="l"/>
              <a:pathLst>
                <a:path h="724364" w="22278370">
                  <a:moveTo>
                    <a:pt x="16393" y="0"/>
                  </a:moveTo>
                  <a:lnTo>
                    <a:pt x="22261976" y="0"/>
                  </a:lnTo>
                  <a:cubicBezTo>
                    <a:pt x="22271098" y="0"/>
                    <a:pt x="22278370" y="5747"/>
                    <a:pt x="22278370" y="12740"/>
                  </a:cubicBezTo>
                  <a:lnTo>
                    <a:pt x="22278370" y="711622"/>
                  </a:lnTo>
                  <a:cubicBezTo>
                    <a:pt x="22278370" y="718711"/>
                    <a:pt x="22270975" y="724362"/>
                    <a:pt x="22261976" y="724362"/>
                  </a:cubicBezTo>
                  <a:lnTo>
                    <a:pt x="16393" y="724362"/>
                  </a:lnTo>
                  <a:cubicBezTo>
                    <a:pt x="7395" y="724467"/>
                    <a:pt x="0" y="718711"/>
                    <a:pt x="0" y="711622"/>
                  </a:cubicBezTo>
                  <a:lnTo>
                    <a:pt x="0" y="12740"/>
                  </a:lnTo>
                  <a:cubicBezTo>
                    <a:pt x="0" y="5747"/>
                    <a:pt x="7395" y="0"/>
                    <a:pt x="16393" y="0"/>
                  </a:cubicBezTo>
                  <a:moveTo>
                    <a:pt x="16393" y="25576"/>
                  </a:moveTo>
                  <a:lnTo>
                    <a:pt x="16393" y="12740"/>
                  </a:lnTo>
                  <a:lnTo>
                    <a:pt x="32910" y="12740"/>
                  </a:lnTo>
                  <a:lnTo>
                    <a:pt x="32910" y="711622"/>
                  </a:lnTo>
                  <a:lnTo>
                    <a:pt x="16393" y="711622"/>
                  </a:lnTo>
                  <a:lnTo>
                    <a:pt x="16393" y="698882"/>
                  </a:lnTo>
                  <a:lnTo>
                    <a:pt x="22261976" y="698882"/>
                  </a:lnTo>
                  <a:lnTo>
                    <a:pt x="22261976" y="711622"/>
                  </a:lnTo>
                  <a:lnTo>
                    <a:pt x="22245585" y="711622"/>
                  </a:lnTo>
                  <a:lnTo>
                    <a:pt x="22245585" y="12740"/>
                  </a:lnTo>
                  <a:lnTo>
                    <a:pt x="22261976" y="12740"/>
                  </a:lnTo>
                  <a:lnTo>
                    <a:pt x="22261976" y="25576"/>
                  </a:lnTo>
                  <a:lnTo>
                    <a:pt x="16393" y="25576"/>
                  </a:lnTo>
                  <a:close/>
                </a:path>
              </a:pathLst>
            </a:custGeom>
            <a:solidFill>
              <a:srgbClr val="F2F1F1"/>
            </a:solidFill>
          </p:spPr>
        </p:sp>
      </p:grpSp>
      <p:grpSp>
        <p:nvGrpSpPr>
          <p:cNvPr name="Group 21" id="21"/>
          <p:cNvGrpSpPr/>
          <p:nvPr/>
        </p:nvGrpSpPr>
        <p:grpSpPr>
          <a:xfrm rot="0">
            <a:off x="1028700" y="7798095"/>
            <a:ext cx="16230600" cy="527771"/>
            <a:chOff x="0" y="0"/>
            <a:chExt cx="22278456" cy="724429"/>
          </a:xfrm>
        </p:grpSpPr>
        <p:sp>
          <p:nvSpPr>
            <p:cNvPr name="Freeform 22" id="22"/>
            <p:cNvSpPr/>
            <p:nvPr/>
          </p:nvSpPr>
          <p:spPr>
            <a:xfrm flipH="false" flipV="false" rot="0">
              <a:off x="16393" y="12740"/>
              <a:ext cx="22245583" cy="698882"/>
            </a:xfrm>
            <a:custGeom>
              <a:avLst/>
              <a:gdLst/>
              <a:ahLst/>
              <a:cxnLst/>
              <a:rect r="r" b="b" t="t" l="l"/>
              <a:pathLst>
                <a:path h="698882" w="22245583">
                  <a:moveTo>
                    <a:pt x="0" y="0"/>
                  </a:moveTo>
                  <a:lnTo>
                    <a:pt x="22245583" y="0"/>
                  </a:lnTo>
                  <a:lnTo>
                    <a:pt x="22245583" y="698882"/>
                  </a:lnTo>
                  <a:lnTo>
                    <a:pt x="0" y="698882"/>
                  </a:lnTo>
                  <a:close/>
                </a:path>
              </a:pathLst>
            </a:custGeom>
            <a:solidFill>
              <a:srgbClr val="D1D9E0"/>
            </a:solidFill>
          </p:spPr>
        </p:sp>
        <p:sp>
          <p:nvSpPr>
            <p:cNvPr name="Freeform 23" id="23"/>
            <p:cNvSpPr/>
            <p:nvPr/>
          </p:nvSpPr>
          <p:spPr>
            <a:xfrm flipH="false" flipV="false" rot="0">
              <a:off x="0" y="0"/>
              <a:ext cx="22278370" cy="724364"/>
            </a:xfrm>
            <a:custGeom>
              <a:avLst/>
              <a:gdLst/>
              <a:ahLst/>
              <a:cxnLst/>
              <a:rect r="r" b="b" t="t" l="l"/>
              <a:pathLst>
                <a:path h="724364" w="22278370">
                  <a:moveTo>
                    <a:pt x="16393" y="0"/>
                  </a:moveTo>
                  <a:lnTo>
                    <a:pt x="22261976" y="0"/>
                  </a:lnTo>
                  <a:cubicBezTo>
                    <a:pt x="22271098" y="0"/>
                    <a:pt x="22278370" y="5747"/>
                    <a:pt x="22278370" y="12740"/>
                  </a:cubicBezTo>
                  <a:lnTo>
                    <a:pt x="22278370" y="711622"/>
                  </a:lnTo>
                  <a:cubicBezTo>
                    <a:pt x="22278370" y="718711"/>
                    <a:pt x="22270975" y="724362"/>
                    <a:pt x="22261976" y="724362"/>
                  </a:cubicBezTo>
                  <a:lnTo>
                    <a:pt x="16393" y="724362"/>
                  </a:lnTo>
                  <a:cubicBezTo>
                    <a:pt x="7395" y="724467"/>
                    <a:pt x="0" y="718711"/>
                    <a:pt x="0" y="711622"/>
                  </a:cubicBezTo>
                  <a:lnTo>
                    <a:pt x="0" y="12740"/>
                  </a:lnTo>
                  <a:cubicBezTo>
                    <a:pt x="0" y="5747"/>
                    <a:pt x="7395" y="0"/>
                    <a:pt x="16393" y="0"/>
                  </a:cubicBezTo>
                  <a:moveTo>
                    <a:pt x="16393" y="25576"/>
                  </a:moveTo>
                  <a:lnTo>
                    <a:pt x="16393" y="12740"/>
                  </a:lnTo>
                  <a:lnTo>
                    <a:pt x="32910" y="12740"/>
                  </a:lnTo>
                  <a:lnTo>
                    <a:pt x="32910" y="711622"/>
                  </a:lnTo>
                  <a:lnTo>
                    <a:pt x="16393" y="711622"/>
                  </a:lnTo>
                  <a:lnTo>
                    <a:pt x="16393" y="698882"/>
                  </a:lnTo>
                  <a:lnTo>
                    <a:pt x="22261976" y="698882"/>
                  </a:lnTo>
                  <a:lnTo>
                    <a:pt x="22261976" y="711622"/>
                  </a:lnTo>
                  <a:lnTo>
                    <a:pt x="22245585" y="711622"/>
                  </a:lnTo>
                  <a:lnTo>
                    <a:pt x="22245585" y="12740"/>
                  </a:lnTo>
                  <a:lnTo>
                    <a:pt x="22261976" y="12740"/>
                  </a:lnTo>
                  <a:lnTo>
                    <a:pt x="22261976" y="25576"/>
                  </a:lnTo>
                  <a:lnTo>
                    <a:pt x="16393" y="25576"/>
                  </a:lnTo>
                  <a:close/>
                </a:path>
              </a:pathLst>
            </a:custGeom>
            <a:solidFill>
              <a:srgbClr val="F2F1F1"/>
            </a:solidFill>
          </p:spPr>
        </p:sp>
      </p:grpSp>
      <p:grpSp>
        <p:nvGrpSpPr>
          <p:cNvPr name="Group 24" id="24"/>
          <p:cNvGrpSpPr/>
          <p:nvPr/>
        </p:nvGrpSpPr>
        <p:grpSpPr>
          <a:xfrm rot="0">
            <a:off x="1028700" y="8626228"/>
            <a:ext cx="16230600" cy="527771"/>
            <a:chOff x="0" y="0"/>
            <a:chExt cx="22278456" cy="724429"/>
          </a:xfrm>
        </p:grpSpPr>
        <p:sp>
          <p:nvSpPr>
            <p:cNvPr name="Freeform 25" id="25"/>
            <p:cNvSpPr/>
            <p:nvPr/>
          </p:nvSpPr>
          <p:spPr>
            <a:xfrm flipH="false" flipV="false" rot="0">
              <a:off x="16393" y="12740"/>
              <a:ext cx="22245583" cy="698882"/>
            </a:xfrm>
            <a:custGeom>
              <a:avLst/>
              <a:gdLst/>
              <a:ahLst/>
              <a:cxnLst/>
              <a:rect r="r" b="b" t="t" l="l"/>
              <a:pathLst>
                <a:path h="698882" w="22245583">
                  <a:moveTo>
                    <a:pt x="0" y="0"/>
                  </a:moveTo>
                  <a:lnTo>
                    <a:pt x="22245583" y="0"/>
                  </a:lnTo>
                  <a:lnTo>
                    <a:pt x="22245583" y="698882"/>
                  </a:lnTo>
                  <a:lnTo>
                    <a:pt x="0" y="698882"/>
                  </a:lnTo>
                  <a:close/>
                </a:path>
              </a:pathLst>
            </a:custGeom>
            <a:solidFill>
              <a:srgbClr val="D1D9E0"/>
            </a:solidFill>
          </p:spPr>
        </p:sp>
        <p:sp>
          <p:nvSpPr>
            <p:cNvPr name="Freeform 26" id="26"/>
            <p:cNvSpPr/>
            <p:nvPr/>
          </p:nvSpPr>
          <p:spPr>
            <a:xfrm flipH="false" flipV="false" rot="0">
              <a:off x="0" y="0"/>
              <a:ext cx="22278370" cy="724364"/>
            </a:xfrm>
            <a:custGeom>
              <a:avLst/>
              <a:gdLst/>
              <a:ahLst/>
              <a:cxnLst/>
              <a:rect r="r" b="b" t="t" l="l"/>
              <a:pathLst>
                <a:path h="724364" w="22278370">
                  <a:moveTo>
                    <a:pt x="16393" y="0"/>
                  </a:moveTo>
                  <a:lnTo>
                    <a:pt x="22261976" y="0"/>
                  </a:lnTo>
                  <a:cubicBezTo>
                    <a:pt x="22271098" y="0"/>
                    <a:pt x="22278370" y="5747"/>
                    <a:pt x="22278370" y="12740"/>
                  </a:cubicBezTo>
                  <a:lnTo>
                    <a:pt x="22278370" y="711622"/>
                  </a:lnTo>
                  <a:cubicBezTo>
                    <a:pt x="22278370" y="718711"/>
                    <a:pt x="22270975" y="724362"/>
                    <a:pt x="22261976" y="724362"/>
                  </a:cubicBezTo>
                  <a:lnTo>
                    <a:pt x="16393" y="724362"/>
                  </a:lnTo>
                  <a:cubicBezTo>
                    <a:pt x="7395" y="724467"/>
                    <a:pt x="0" y="718711"/>
                    <a:pt x="0" y="711622"/>
                  </a:cubicBezTo>
                  <a:lnTo>
                    <a:pt x="0" y="12740"/>
                  </a:lnTo>
                  <a:cubicBezTo>
                    <a:pt x="0" y="5747"/>
                    <a:pt x="7395" y="0"/>
                    <a:pt x="16393" y="0"/>
                  </a:cubicBezTo>
                  <a:moveTo>
                    <a:pt x="16393" y="25576"/>
                  </a:moveTo>
                  <a:lnTo>
                    <a:pt x="16393" y="12740"/>
                  </a:lnTo>
                  <a:lnTo>
                    <a:pt x="32910" y="12740"/>
                  </a:lnTo>
                  <a:lnTo>
                    <a:pt x="32910" y="711622"/>
                  </a:lnTo>
                  <a:lnTo>
                    <a:pt x="16393" y="711622"/>
                  </a:lnTo>
                  <a:lnTo>
                    <a:pt x="16393" y="698882"/>
                  </a:lnTo>
                  <a:lnTo>
                    <a:pt x="22261976" y="698882"/>
                  </a:lnTo>
                  <a:lnTo>
                    <a:pt x="22261976" y="711622"/>
                  </a:lnTo>
                  <a:lnTo>
                    <a:pt x="22245585" y="711622"/>
                  </a:lnTo>
                  <a:lnTo>
                    <a:pt x="22245585" y="12740"/>
                  </a:lnTo>
                  <a:lnTo>
                    <a:pt x="22261976" y="12740"/>
                  </a:lnTo>
                  <a:lnTo>
                    <a:pt x="22261976" y="25576"/>
                  </a:lnTo>
                  <a:lnTo>
                    <a:pt x="16393" y="25576"/>
                  </a:lnTo>
                  <a:close/>
                </a:path>
              </a:pathLst>
            </a:custGeom>
            <a:solidFill>
              <a:srgbClr val="F2F1F1"/>
            </a:solidFill>
          </p:spPr>
        </p:sp>
      </p:grpSp>
      <p:grpSp>
        <p:nvGrpSpPr>
          <p:cNvPr name="Group 27" id="27"/>
          <p:cNvGrpSpPr/>
          <p:nvPr/>
        </p:nvGrpSpPr>
        <p:grpSpPr>
          <a:xfrm rot="0">
            <a:off x="1345341" y="6962187"/>
            <a:ext cx="15019257" cy="720347"/>
            <a:chOff x="0" y="0"/>
            <a:chExt cx="20025675" cy="960463"/>
          </a:xfrm>
        </p:grpSpPr>
        <p:sp>
          <p:nvSpPr>
            <p:cNvPr name="Freeform 28" id="28"/>
            <p:cNvSpPr/>
            <p:nvPr/>
          </p:nvSpPr>
          <p:spPr>
            <a:xfrm flipH="false" flipV="false" rot="0">
              <a:off x="0" y="0"/>
              <a:ext cx="20025675" cy="960463"/>
            </a:xfrm>
            <a:custGeom>
              <a:avLst/>
              <a:gdLst/>
              <a:ahLst/>
              <a:cxnLst/>
              <a:rect r="r" b="b" t="t" l="l"/>
              <a:pathLst>
                <a:path h="960463" w="20025675">
                  <a:moveTo>
                    <a:pt x="0" y="0"/>
                  </a:moveTo>
                  <a:lnTo>
                    <a:pt x="20025675" y="0"/>
                  </a:lnTo>
                  <a:lnTo>
                    <a:pt x="20025675" y="960463"/>
                  </a:lnTo>
                  <a:lnTo>
                    <a:pt x="0" y="960463"/>
                  </a:lnTo>
                  <a:close/>
                </a:path>
              </a:pathLst>
            </a:custGeom>
            <a:blipFill>
              <a:blip r:embed="rId3">
                <a:alphaModFix amt="0"/>
              </a:blip>
              <a:stretch>
                <a:fillRect l="0" t="-412078" r="-10804" b="-388241"/>
              </a:stretch>
            </a:blipFill>
          </p:spPr>
        </p:sp>
        <p:sp>
          <p:nvSpPr>
            <p:cNvPr name="TextBox 29" id="29"/>
            <p:cNvSpPr txBox="true"/>
            <p:nvPr/>
          </p:nvSpPr>
          <p:spPr>
            <a:xfrm>
              <a:off x="0" y="-28575"/>
              <a:ext cx="20025675" cy="989038"/>
            </a:xfrm>
            <a:prstGeom prst="rect">
              <a:avLst/>
            </a:prstGeom>
          </p:spPr>
          <p:txBody>
            <a:bodyPr anchor="ctr" rtlCol="false" tIns="0" lIns="0" bIns="0" rIns="0"/>
            <a:lstStyle/>
            <a:p>
              <a:pPr algn="l">
                <a:lnSpc>
                  <a:spcPts val="2400"/>
                </a:lnSpc>
              </a:pPr>
              <a:r>
                <a:rPr lang="en-US" sz="2000">
                  <a:solidFill>
                    <a:srgbClr val="000000"/>
                  </a:solidFill>
                  <a:latin typeface="Helios Extended"/>
                  <a:ea typeface="Helios Extended"/>
                  <a:cs typeface="Helios Extended"/>
                  <a:sym typeface="Helios Extended"/>
                </a:rPr>
                <a:t>C_naive ⟶ failed classification (</a:t>
              </a:r>
              <a:r>
                <a:rPr lang="en-US" sz="2000">
                  <a:solidFill>
                    <a:srgbClr val="E22323"/>
                  </a:solidFill>
                  <a:latin typeface="Helios Extended"/>
                  <a:ea typeface="Helios Extended"/>
                  <a:cs typeface="Helios Extended"/>
                  <a:sym typeface="Helios Extended"/>
                </a:rPr>
                <a:t>39.8 percentage point ↓</a:t>
              </a:r>
              <a:r>
                <a:rPr lang="en-US" sz="2000">
                  <a:solidFill>
                    <a:srgbClr val="000000"/>
                  </a:solidFill>
                  <a:latin typeface="Helios Extended"/>
                  <a:ea typeface="Helios Extended"/>
                  <a:cs typeface="Helios Extended"/>
                  <a:sym typeface="Helios Extended"/>
                </a:rPr>
                <a:t> ) + ~214 words (coherent reasoning )</a:t>
              </a:r>
            </a:p>
          </p:txBody>
        </p:sp>
      </p:grpSp>
      <p:grpSp>
        <p:nvGrpSpPr>
          <p:cNvPr name="Group 30" id="30"/>
          <p:cNvGrpSpPr/>
          <p:nvPr/>
        </p:nvGrpSpPr>
        <p:grpSpPr>
          <a:xfrm rot="0">
            <a:off x="1345341" y="7701807"/>
            <a:ext cx="8099140" cy="720347"/>
            <a:chOff x="0" y="0"/>
            <a:chExt cx="10798854" cy="960463"/>
          </a:xfrm>
        </p:grpSpPr>
        <p:sp>
          <p:nvSpPr>
            <p:cNvPr name="Freeform 31" id="31"/>
            <p:cNvSpPr/>
            <p:nvPr/>
          </p:nvSpPr>
          <p:spPr>
            <a:xfrm flipH="false" flipV="false" rot="0">
              <a:off x="0" y="0"/>
              <a:ext cx="10798854" cy="960463"/>
            </a:xfrm>
            <a:custGeom>
              <a:avLst/>
              <a:gdLst/>
              <a:ahLst/>
              <a:cxnLst/>
              <a:rect r="r" b="b" t="t" l="l"/>
              <a:pathLst>
                <a:path h="960463" w="10798854">
                  <a:moveTo>
                    <a:pt x="0" y="0"/>
                  </a:moveTo>
                  <a:lnTo>
                    <a:pt x="10798854" y="0"/>
                  </a:lnTo>
                  <a:lnTo>
                    <a:pt x="10798854" y="960463"/>
                  </a:lnTo>
                  <a:lnTo>
                    <a:pt x="0" y="960463"/>
                  </a:lnTo>
                  <a:close/>
                </a:path>
              </a:pathLst>
            </a:custGeom>
            <a:blipFill>
              <a:blip r:embed="rId3">
                <a:alphaModFix amt="0"/>
              </a:blip>
              <a:stretch>
                <a:fillRect l="0" t="-412078" r="-105479" b="-388241"/>
              </a:stretch>
            </a:blipFill>
          </p:spPr>
        </p:sp>
        <p:sp>
          <p:nvSpPr>
            <p:cNvPr name="TextBox 32" id="32"/>
            <p:cNvSpPr txBox="true"/>
            <p:nvPr/>
          </p:nvSpPr>
          <p:spPr>
            <a:xfrm>
              <a:off x="0" y="-28575"/>
              <a:ext cx="10798854" cy="989038"/>
            </a:xfrm>
            <a:prstGeom prst="rect">
              <a:avLst/>
            </a:prstGeom>
          </p:spPr>
          <p:txBody>
            <a:bodyPr anchor="ctr" rtlCol="false" tIns="0" lIns="0" bIns="0" rIns="0"/>
            <a:lstStyle/>
            <a:p>
              <a:pPr algn="l">
                <a:lnSpc>
                  <a:spcPts val="2400"/>
                </a:lnSpc>
              </a:pPr>
              <a:r>
                <a:rPr lang="en-US" sz="2000">
                  <a:solidFill>
                    <a:srgbClr val="000000"/>
                  </a:solidFill>
                  <a:latin typeface="Helios Extended"/>
                  <a:ea typeface="Helios Extended"/>
                  <a:cs typeface="Helios Extended"/>
                  <a:sym typeface="Helios Extended"/>
                </a:rPr>
                <a:t>C_seq ⟶ Good classification + Insufficient reasoning </a:t>
              </a:r>
            </a:p>
          </p:txBody>
        </p:sp>
      </p:grpSp>
      <p:grpSp>
        <p:nvGrpSpPr>
          <p:cNvPr name="Group 33" id="33"/>
          <p:cNvGrpSpPr/>
          <p:nvPr/>
        </p:nvGrpSpPr>
        <p:grpSpPr>
          <a:xfrm rot="0">
            <a:off x="1345341" y="8529940"/>
            <a:ext cx="7105310" cy="720347"/>
            <a:chOff x="0" y="0"/>
            <a:chExt cx="9473747" cy="960463"/>
          </a:xfrm>
        </p:grpSpPr>
        <p:sp>
          <p:nvSpPr>
            <p:cNvPr name="Freeform 34" id="34"/>
            <p:cNvSpPr/>
            <p:nvPr/>
          </p:nvSpPr>
          <p:spPr>
            <a:xfrm flipH="false" flipV="false" rot="0">
              <a:off x="0" y="0"/>
              <a:ext cx="9473747" cy="960463"/>
            </a:xfrm>
            <a:custGeom>
              <a:avLst/>
              <a:gdLst/>
              <a:ahLst/>
              <a:cxnLst/>
              <a:rect r="r" b="b" t="t" l="l"/>
              <a:pathLst>
                <a:path h="960463" w="9473747">
                  <a:moveTo>
                    <a:pt x="0" y="0"/>
                  </a:moveTo>
                  <a:lnTo>
                    <a:pt x="9473747" y="0"/>
                  </a:lnTo>
                  <a:lnTo>
                    <a:pt x="9473747" y="960463"/>
                  </a:lnTo>
                  <a:lnTo>
                    <a:pt x="0" y="960463"/>
                  </a:lnTo>
                  <a:close/>
                </a:path>
              </a:pathLst>
            </a:custGeom>
            <a:blipFill>
              <a:blip r:embed="rId3">
                <a:alphaModFix amt="0"/>
              </a:blip>
              <a:stretch>
                <a:fillRect l="0" t="-412078" r="-134220" b="-388241"/>
              </a:stretch>
            </a:blipFill>
          </p:spPr>
        </p:sp>
        <p:sp>
          <p:nvSpPr>
            <p:cNvPr name="TextBox 35" id="35"/>
            <p:cNvSpPr txBox="true"/>
            <p:nvPr/>
          </p:nvSpPr>
          <p:spPr>
            <a:xfrm>
              <a:off x="0" y="-28575"/>
              <a:ext cx="9473747" cy="989038"/>
            </a:xfrm>
            <a:prstGeom prst="rect">
              <a:avLst/>
            </a:prstGeom>
          </p:spPr>
          <p:txBody>
            <a:bodyPr anchor="ctr" rtlCol="false" tIns="0" lIns="0" bIns="0" rIns="0"/>
            <a:lstStyle/>
            <a:p>
              <a:pPr algn="l">
                <a:lnSpc>
                  <a:spcPts val="2400"/>
                </a:lnSpc>
              </a:pPr>
              <a:r>
                <a:rPr lang="en-US" sz="2000">
                  <a:solidFill>
                    <a:srgbClr val="000000"/>
                  </a:solidFill>
                  <a:latin typeface="Helios Extended"/>
                  <a:ea typeface="Helios Extended"/>
                  <a:cs typeface="Helios Extended"/>
                  <a:sym typeface="Helios Extended"/>
                </a:rPr>
                <a:t>C_mix ⟶ Mix creates confilct; C_seq better </a:t>
              </a:r>
            </a:p>
          </p:txBody>
        </p:sp>
      </p:grpSp>
      <p:sp>
        <p:nvSpPr>
          <p:cNvPr name="Freeform 36" id="36"/>
          <p:cNvSpPr/>
          <p:nvPr/>
        </p:nvSpPr>
        <p:spPr>
          <a:xfrm flipH="false" flipV="false" rot="0">
            <a:off x="15442995" y="5143500"/>
            <a:ext cx="819797" cy="614848"/>
          </a:xfrm>
          <a:custGeom>
            <a:avLst/>
            <a:gdLst/>
            <a:ahLst/>
            <a:cxnLst/>
            <a:rect r="r" b="b" t="t" l="l"/>
            <a:pathLst>
              <a:path h="614848" w="819797">
                <a:moveTo>
                  <a:pt x="0" y="0"/>
                </a:moveTo>
                <a:lnTo>
                  <a:pt x="819797" y="0"/>
                </a:lnTo>
                <a:lnTo>
                  <a:pt x="819797" y="614848"/>
                </a:lnTo>
                <a:lnTo>
                  <a:pt x="0" y="6148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false" flipV="false" rot="0">
            <a:off x="15442995" y="4195277"/>
            <a:ext cx="819797" cy="614848"/>
          </a:xfrm>
          <a:custGeom>
            <a:avLst/>
            <a:gdLst/>
            <a:ahLst/>
            <a:cxnLst/>
            <a:rect r="r" b="b" t="t" l="l"/>
            <a:pathLst>
              <a:path h="614848" w="819797">
                <a:moveTo>
                  <a:pt x="0" y="0"/>
                </a:moveTo>
                <a:lnTo>
                  <a:pt x="819797" y="0"/>
                </a:lnTo>
                <a:lnTo>
                  <a:pt x="819797" y="614848"/>
                </a:lnTo>
                <a:lnTo>
                  <a:pt x="0" y="6148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8" id="38"/>
          <p:cNvSpPr/>
          <p:nvPr/>
        </p:nvSpPr>
        <p:spPr>
          <a:xfrm flipH="false" flipV="false" rot="0">
            <a:off x="15442995" y="3257100"/>
            <a:ext cx="819797" cy="614848"/>
          </a:xfrm>
          <a:custGeom>
            <a:avLst/>
            <a:gdLst/>
            <a:ahLst/>
            <a:cxnLst/>
            <a:rect r="r" b="b" t="t" l="l"/>
            <a:pathLst>
              <a:path h="614848" w="819797">
                <a:moveTo>
                  <a:pt x="0" y="0"/>
                </a:moveTo>
                <a:lnTo>
                  <a:pt x="819797" y="0"/>
                </a:lnTo>
                <a:lnTo>
                  <a:pt x="819797" y="614848"/>
                </a:lnTo>
                <a:lnTo>
                  <a:pt x="0" y="6148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9" id="3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35943" y="297818"/>
            <a:ext cx="14264640" cy="1097280"/>
            <a:chOff x="0" y="0"/>
            <a:chExt cx="19019520" cy="1463040"/>
          </a:xfrm>
        </p:grpSpPr>
        <p:sp>
          <p:nvSpPr>
            <p:cNvPr name="Freeform 3" id="3"/>
            <p:cNvSpPr/>
            <p:nvPr/>
          </p:nvSpPr>
          <p:spPr>
            <a:xfrm flipH="false" flipV="false" rot="0">
              <a:off x="0" y="0"/>
              <a:ext cx="19019520" cy="1463040"/>
            </a:xfrm>
            <a:custGeom>
              <a:avLst/>
              <a:gdLst/>
              <a:ahLst/>
              <a:cxnLst/>
              <a:rect r="r" b="b" t="t" l="l"/>
              <a:pathLst>
                <a:path h="1463040" w="19019520">
                  <a:moveTo>
                    <a:pt x="0" y="0"/>
                  </a:moveTo>
                  <a:lnTo>
                    <a:pt x="19019520" y="0"/>
                  </a:lnTo>
                  <a:lnTo>
                    <a:pt x="19019520" y="1463040"/>
                  </a:lnTo>
                  <a:lnTo>
                    <a:pt x="0" y="1463040"/>
                  </a:lnTo>
                  <a:close/>
                </a:path>
              </a:pathLst>
            </a:custGeom>
            <a:blipFill>
              <a:blip r:embed="rId3">
                <a:alphaModFix amt="0"/>
              </a:blip>
              <a:stretch>
                <a:fillRect l="0" t="-203305" r="0" b="-203305"/>
              </a:stretch>
            </a:blipFill>
          </p:spPr>
        </p:sp>
        <p:sp>
          <p:nvSpPr>
            <p:cNvPr name="TextBox 4" id="4"/>
            <p:cNvSpPr txBox="true"/>
            <p:nvPr/>
          </p:nvSpPr>
          <p:spPr>
            <a:xfrm>
              <a:off x="0" y="-47625"/>
              <a:ext cx="19019520" cy="1510665"/>
            </a:xfrm>
            <a:prstGeom prst="rect">
              <a:avLst/>
            </a:prstGeom>
          </p:spPr>
          <p:txBody>
            <a:bodyPr anchor="ctr" rtlCol="false" tIns="0" lIns="0" bIns="0" rIns="0"/>
            <a:lstStyle/>
            <a:p>
              <a:pPr algn="l">
                <a:lnSpc>
                  <a:spcPts val="6240"/>
                </a:lnSpc>
              </a:pPr>
              <a:r>
                <a:rPr lang="en-US" b="true" sz="5200">
                  <a:solidFill>
                    <a:srgbClr val="000000"/>
                  </a:solidFill>
                  <a:latin typeface="Helios Extended Bold"/>
                  <a:ea typeface="Helios Extended Bold"/>
                  <a:cs typeface="Helios Extended Bold"/>
                  <a:sym typeface="Helios Extended Bold"/>
                </a:rPr>
                <a:t>Error Analysis: Where C_seq Fails</a:t>
              </a:r>
            </a:p>
          </p:txBody>
        </p:sp>
      </p:grpSp>
      <p:grpSp>
        <p:nvGrpSpPr>
          <p:cNvPr name="Group 5" id="5"/>
          <p:cNvGrpSpPr/>
          <p:nvPr/>
        </p:nvGrpSpPr>
        <p:grpSpPr>
          <a:xfrm rot="0">
            <a:off x="15544800" y="365760"/>
            <a:ext cx="2377440" cy="585216"/>
            <a:chOff x="0" y="0"/>
            <a:chExt cx="3169920" cy="780288"/>
          </a:xfrm>
        </p:grpSpPr>
        <p:sp>
          <p:nvSpPr>
            <p:cNvPr name="Freeform 6" id="6"/>
            <p:cNvSpPr/>
            <p:nvPr/>
          </p:nvSpPr>
          <p:spPr>
            <a:xfrm flipH="false" flipV="false" rot="0">
              <a:off x="0" y="0"/>
              <a:ext cx="3169920" cy="780288"/>
            </a:xfrm>
            <a:custGeom>
              <a:avLst/>
              <a:gdLst/>
              <a:ahLst/>
              <a:cxnLst/>
              <a:rect r="r" b="b" t="t" l="l"/>
              <a:pathLst>
                <a:path h="780288" w="3169920">
                  <a:moveTo>
                    <a:pt x="0" y="121920"/>
                  </a:moveTo>
                  <a:cubicBezTo>
                    <a:pt x="0" y="54610"/>
                    <a:pt x="54610" y="0"/>
                    <a:pt x="121920" y="0"/>
                  </a:cubicBezTo>
                  <a:lnTo>
                    <a:pt x="3048000" y="0"/>
                  </a:lnTo>
                  <a:cubicBezTo>
                    <a:pt x="3115310" y="0"/>
                    <a:pt x="3169920" y="54610"/>
                    <a:pt x="3169920" y="121920"/>
                  </a:cubicBezTo>
                  <a:lnTo>
                    <a:pt x="3169920" y="658368"/>
                  </a:lnTo>
                  <a:cubicBezTo>
                    <a:pt x="3169920" y="725678"/>
                    <a:pt x="3115310" y="780288"/>
                    <a:pt x="3048000" y="780288"/>
                  </a:cubicBezTo>
                  <a:lnTo>
                    <a:pt x="121920" y="780288"/>
                  </a:lnTo>
                  <a:cubicBezTo>
                    <a:pt x="54610" y="780288"/>
                    <a:pt x="0" y="725678"/>
                    <a:pt x="0" y="658368"/>
                  </a:cubicBezTo>
                  <a:close/>
                </a:path>
              </a:pathLst>
            </a:custGeom>
            <a:solidFill>
              <a:srgbClr val="3D4D55"/>
            </a:solidFill>
          </p:spPr>
        </p:sp>
      </p:grpSp>
      <p:grpSp>
        <p:nvGrpSpPr>
          <p:cNvPr name="Group 7" id="7"/>
          <p:cNvGrpSpPr/>
          <p:nvPr/>
        </p:nvGrpSpPr>
        <p:grpSpPr>
          <a:xfrm rot="0">
            <a:off x="15544800" y="402336"/>
            <a:ext cx="2377440" cy="512064"/>
            <a:chOff x="0" y="0"/>
            <a:chExt cx="3169920" cy="682752"/>
          </a:xfrm>
        </p:grpSpPr>
        <p:sp>
          <p:nvSpPr>
            <p:cNvPr name="Freeform 8" id="8"/>
            <p:cNvSpPr/>
            <p:nvPr/>
          </p:nvSpPr>
          <p:spPr>
            <a:xfrm flipH="false" flipV="false" rot="0">
              <a:off x="0" y="0"/>
              <a:ext cx="3169920" cy="682752"/>
            </a:xfrm>
            <a:custGeom>
              <a:avLst/>
              <a:gdLst/>
              <a:ahLst/>
              <a:cxnLst/>
              <a:rect r="r" b="b" t="t" l="l"/>
              <a:pathLst>
                <a:path h="682752" w="3169920">
                  <a:moveTo>
                    <a:pt x="0" y="0"/>
                  </a:moveTo>
                  <a:lnTo>
                    <a:pt x="3169920" y="0"/>
                  </a:lnTo>
                  <a:lnTo>
                    <a:pt x="3169920" y="682752"/>
                  </a:lnTo>
                  <a:lnTo>
                    <a:pt x="0" y="682752"/>
                  </a:lnTo>
                  <a:close/>
                </a:path>
              </a:pathLst>
            </a:custGeom>
            <a:blipFill>
              <a:blip r:embed="rId3">
                <a:alphaModFix amt="0"/>
              </a:blip>
              <a:stretch>
                <a:fillRect l="0" t="-40466" r="0" b="-40466"/>
              </a:stretch>
            </a:blipFill>
          </p:spPr>
        </p:sp>
        <p:sp>
          <p:nvSpPr>
            <p:cNvPr name="TextBox 9" id="9"/>
            <p:cNvSpPr txBox="true"/>
            <p:nvPr/>
          </p:nvSpPr>
          <p:spPr>
            <a:xfrm>
              <a:off x="0" y="-9525"/>
              <a:ext cx="3169920" cy="692277"/>
            </a:xfrm>
            <a:prstGeom prst="rect">
              <a:avLst/>
            </a:prstGeom>
          </p:spPr>
          <p:txBody>
            <a:bodyPr anchor="ctr" rtlCol="false" tIns="0" lIns="0" bIns="0" rIns="0"/>
            <a:lstStyle/>
            <a:p>
              <a:pPr algn="ctr">
                <a:lnSpc>
                  <a:spcPts val="2160"/>
                </a:lnSpc>
              </a:pPr>
              <a:r>
                <a:rPr lang="en-US" sz="1800" b="true">
                  <a:solidFill>
                    <a:srgbClr val="FFFFFF"/>
                  </a:solidFill>
                  <a:latin typeface="Helios Extended Bold"/>
                  <a:ea typeface="Helios Extended Bold"/>
                  <a:cs typeface="Helios Extended Bold"/>
                  <a:sym typeface="Helios Extended Bold"/>
                </a:rPr>
                <a:t>4. Results</a:t>
              </a:r>
            </a:p>
          </p:txBody>
        </p:sp>
      </p:grpSp>
      <p:grpSp>
        <p:nvGrpSpPr>
          <p:cNvPr name="Group 10" id="10"/>
          <p:cNvGrpSpPr/>
          <p:nvPr/>
        </p:nvGrpSpPr>
        <p:grpSpPr>
          <a:xfrm rot="0">
            <a:off x="535943" y="1633223"/>
            <a:ext cx="7889243" cy="7980683"/>
            <a:chOff x="0" y="0"/>
            <a:chExt cx="10518991" cy="10640911"/>
          </a:xfrm>
        </p:grpSpPr>
        <p:sp>
          <p:nvSpPr>
            <p:cNvPr name="Freeform 11" id="11"/>
            <p:cNvSpPr/>
            <p:nvPr/>
          </p:nvSpPr>
          <p:spPr>
            <a:xfrm flipH="false" flipV="false" rot="0">
              <a:off x="16891" y="16891"/>
              <a:ext cx="10485120" cy="10607040"/>
            </a:xfrm>
            <a:custGeom>
              <a:avLst/>
              <a:gdLst/>
              <a:ahLst/>
              <a:cxnLst/>
              <a:rect r="r" b="b" t="t" l="l"/>
              <a:pathLst>
                <a:path h="10607040" w="10485120">
                  <a:moveTo>
                    <a:pt x="0" y="0"/>
                  </a:moveTo>
                  <a:lnTo>
                    <a:pt x="10485120" y="0"/>
                  </a:lnTo>
                  <a:lnTo>
                    <a:pt x="10485120" y="10607040"/>
                  </a:lnTo>
                  <a:lnTo>
                    <a:pt x="0" y="10607040"/>
                  </a:lnTo>
                  <a:close/>
                </a:path>
              </a:pathLst>
            </a:custGeom>
            <a:solidFill>
              <a:srgbClr val="F2F1F1"/>
            </a:solidFill>
          </p:spPr>
        </p:sp>
        <p:sp>
          <p:nvSpPr>
            <p:cNvPr name="Freeform 12" id="12"/>
            <p:cNvSpPr/>
            <p:nvPr/>
          </p:nvSpPr>
          <p:spPr>
            <a:xfrm flipH="false" flipV="false" rot="0">
              <a:off x="0" y="0"/>
              <a:ext cx="10518901" cy="10640822"/>
            </a:xfrm>
            <a:custGeom>
              <a:avLst/>
              <a:gdLst/>
              <a:ahLst/>
              <a:cxnLst/>
              <a:rect r="r" b="b" t="t" l="l"/>
              <a:pathLst>
                <a:path h="10640822" w="10518901">
                  <a:moveTo>
                    <a:pt x="16891" y="0"/>
                  </a:moveTo>
                  <a:lnTo>
                    <a:pt x="10502011" y="0"/>
                  </a:lnTo>
                  <a:cubicBezTo>
                    <a:pt x="10511409" y="0"/>
                    <a:pt x="10518901" y="7620"/>
                    <a:pt x="10518901" y="16891"/>
                  </a:cubicBezTo>
                  <a:lnTo>
                    <a:pt x="10518901" y="10623931"/>
                  </a:lnTo>
                  <a:cubicBezTo>
                    <a:pt x="10518901" y="10633329"/>
                    <a:pt x="10511282" y="10640822"/>
                    <a:pt x="10502011" y="10640822"/>
                  </a:cubicBezTo>
                  <a:lnTo>
                    <a:pt x="16891" y="10640822"/>
                  </a:lnTo>
                  <a:cubicBezTo>
                    <a:pt x="7493" y="10640822"/>
                    <a:pt x="0" y="10633202"/>
                    <a:pt x="0" y="10623931"/>
                  </a:cubicBezTo>
                  <a:lnTo>
                    <a:pt x="0" y="16891"/>
                  </a:lnTo>
                  <a:cubicBezTo>
                    <a:pt x="0" y="7620"/>
                    <a:pt x="7620" y="0"/>
                    <a:pt x="16891" y="0"/>
                  </a:cubicBezTo>
                  <a:moveTo>
                    <a:pt x="16891" y="33909"/>
                  </a:moveTo>
                  <a:lnTo>
                    <a:pt x="16891" y="16891"/>
                  </a:lnTo>
                  <a:lnTo>
                    <a:pt x="33909" y="16891"/>
                  </a:lnTo>
                  <a:lnTo>
                    <a:pt x="33909" y="10623931"/>
                  </a:lnTo>
                  <a:lnTo>
                    <a:pt x="16891" y="10623931"/>
                  </a:lnTo>
                  <a:lnTo>
                    <a:pt x="16891" y="10607040"/>
                  </a:lnTo>
                  <a:lnTo>
                    <a:pt x="10502011" y="10607040"/>
                  </a:lnTo>
                  <a:lnTo>
                    <a:pt x="10502011" y="10623931"/>
                  </a:lnTo>
                  <a:lnTo>
                    <a:pt x="10485120" y="10623931"/>
                  </a:lnTo>
                  <a:lnTo>
                    <a:pt x="10485120" y="16891"/>
                  </a:lnTo>
                  <a:lnTo>
                    <a:pt x="10502011" y="16891"/>
                  </a:lnTo>
                  <a:lnTo>
                    <a:pt x="10502011" y="33909"/>
                  </a:lnTo>
                  <a:lnTo>
                    <a:pt x="16891" y="33909"/>
                  </a:lnTo>
                  <a:close/>
                </a:path>
              </a:pathLst>
            </a:custGeom>
            <a:solidFill>
              <a:srgbClr val="E2E8F0"/>
            </a:solidFill>
          </p:spPr>
        </p:sp>
      </p:grpSp>
      <p:grpSp>
        <p:nvGrpSpPr>
          <p:cNvPr name="Group 13" id="13"/>
          <p:cNvGrpSpPr/>
          <p:nvPr/>
        </p:nvGrpSpPr>
        <p:grpSpPr>
          <a:xfrm rot="0">
            <a:off x="548640" y="1645920"/>
            <a:ext cx="7863840" cy="182880"/>
            <a:chOff x="0" y="0"/>
            <a:chExt cx="10485120" cy="243840"/>
          </a:xfrm>
        </p:grpSpPr>
        <p:sp>
          <p:nvSpPr>
            <p:cNvPr name="Freeform 14" id="14"/>
            <p:cNvSpPr/>
            <p:nvPr/>
          </p:nvSpPr>
          <p:spPr>
            <a:xfrm flipH="false" flipV="false" rot="0">
              <a:off x="0" y="0"/>
              <a:ext cx="10485120" cy="243840"/>
            </a:xfrm>
            <a:custGeom>
              <a:avLst/>
              <a:gdLst/>
              <a:ahLst/>
              <a:cxnLst/>
              <a:rect r="r" b="b" t="t" l="l"/>
              <a:pathLst>
                <a:path h="243840" w="10485120">
                  <a:moveTo>
                    <a:pt x="0" y="0"/>
                  </a:moveTo>
                  <a:lnTo>
                    <a:pt x="10485120" y="0"/>
                  </a:lnTo>
                  <a:lnTo>
                    <a:pt x="10485120" y="243840"/>
                  </a:lnTo>
                  <a:lnTo>
                    <a:pt x="0" y="243840"/>
                  </a:lnTo>
                  <a:close/>
                </a:path>
              </a:pathLst>
            </a:custGeom>
            <a:solidFill>
              <a:srgbClr val="3D4D55"/>
            </a:solidFill>
          </p:spPr>
        </p:sp>
      </p:grpSp>
      <p:grpSp>
        <p:nvGrpSpPr>
          <p:cNvPr name="Group 15" id="15"/>
          <p:cNvGrpSpPr/>
          <p:nvPr/>
        </p:nvGrpSpPr>
        <p:grpSpPr>
          <a:xfrm rot="0">
            <a:off x="822960" y="1865376"/>
            <a:ext cx="7315200" cy="768096"/>
            <a:chOff x="0" y="0"/>
            <a:chExt cx="9753600" cy="1024128"/>
          </a:xfrm>
        </p:grpSpPr>
        <p:sp>
          <p:nvSpPr>
            <p:cNvPr name="Freeform 16" id="16"/>
            <p:cNvSpPr/>
            <p:nvPr/>
          </p:nvSpPr>
          <p:spPr>
            <a:xfrm flipH="false" flipV="false" rot="0">
              <a:off x="0" y="0"/>
              <a:ext cx="9753600" cy="1024128"/>
            </a:xfrm>
            <a:custGeom>
              <a:avLst/>
              <a:gdLst/>
              <a:ahLst/>
              <a:cxnLst/>
              <a:rect r="r" b="b" t="t" l="l"/>
              <a:pathLst>
                <a:path h="1024128" w="9753600">
                  <a:moveTo>
                    <a:pt x="0" y="0"/>
                  </a:moveTo>
                  <a:lnTo>
                    <a:pt x="9753600" y="0"/>
                  </a:lnTo>
                  <a:lnTo>
                    <a:pt x="9753600" y="1024128"/>
                  </a:lnTo>
                  <a:lnTo>
                    <a:pt x="0" y="1024128"/>
                  </a:lnTo>
                  <a:close/>
                </a:path>
              </a:pathLst>
            </a:custGeom>
            <a:blipFill>
              <a:blip r:embed="rId3">
                <a:alphaModFix amt="0"/>
              </a:blip>
              <a:stretch>
                <a:fillRect l="0" t="-135571" r="0" b="-135571"/>
              </a:stretch>
            </a:blipFill>
          </p:spPr>
        </p:sp>
        <p:sp>
          <p:nvSpPr>
            <p:cNvPr name="TextBox 17" id="17"/>
            <p:cNvSpPr txBox="true"/>
            <p:nvPr/>
          </p:nvSpPr>
          <p:spPr>
            <a:xfrm>
              <a:off x="0" y="-19050"/>
              <a:ext cx="9753600" cy="1043178"/>
            </a:xfrm>
            <a:prstGeom prst="rect">
              <a:avLst/>
            </a:prstGeom>
          </p:spPr>
          <p:txBody>
            <a:bodyPr anchor="ctr" rtlCol="false" tIns="0" lIns="0" bIns="0" rIns="0"/>
            <a:lstStyle/>
            <a:p>
              <a:pPr algn="l">
                <a:lnSpc>
                  <a:spcPts val="2879"/>
                </a:lnSpc>
              </a:pPr>
              <a:r>
                <a:rPr lang="en-US" b="true" sz="2400">
                  <a:solidFill>
                    <a:srgbClr val="000000"/>
                  </a:solidFill>
                  <a:latin typeface="Helios Extended Bold"/>
                  <a:ea typeface="Helios Extended Bold"/>
                  <a:cs typeface="Helios Extended Bold"/>
                  <a:sym typeface="Helios Extended Bold"/>
                </a:rPr>
                <a:t>B vs C_seq Pairwise Disagreement</a:t>
              </a:r>
            </a:p>
          </p:txBody>
        </p:sp>
      </p:grpSp>
      <p:grpSp>
        <p:nvGrpSpPr>
          <p:cNvPr name="Group 18" id="18"/>
          <p:cNvGrpSpPr/>
          <p:nvPr/>
        </p:nvGrpSpPr>
        <p:grpSpPr>
          <a:xfrm rot="0">
            <a:off x="822960" y="2889504"/>
            <a:ext cx="5120640" cy="731520"/>
            <a:chOff x="0" y="0"/>
            <a:chExt cx="6827520" cy="975360"/>
          </a:xfrm>
        </p:grpSpPr>
        <p:sp>
          <p:nvSpPr>
            <p:cNvPr name="Freeform 19" id="19"/>
            <p:cNvSpPr/>
            <p:nvPr/>
          </p:nvSpPr>
          <p:spPr>
            <a:xfrm flipH="false" flipV="false" rot="0">
              <a:off x="0" y="0"/>
              <a:ext cx="6827520" cy="975360"/>
            </a:xfrm>
            <a:custGeom>
              <a:avLst/>
              <a:gdLst/>
              <a:ahLst/>
              <a:cxnLst/>
              <a:rect r="r" b="b" t="t" l="l"/>
              <a:pathLst>
                <a:path h="975360" w="6827520">
                  <a:moveTo>
                    <a:pt x="0" y="0"/>
                  </a:moveTo>
                  <a:lnTo>
                    <a:pt x="6827520" y="0"/>
                  </a:lnTo>
                  <a:lnTo>
                    <a:pt x="6827520" y="975360"/>
                  </a:lnTo>
                  <a:lnTo>
                    <a:pt x="0" y="975360"/>
                  </a:lnTo>
                  <a:close/>
                </a:path>
              </a:pathLst>
            </a:custGeom>
            <a:blipFill>
              <a:blip r:embed="rId3">
                <a:alphaModFix amt="0"/>
              </a:blip>
              <a:stretch>
                <a:fillRect l="0" t="-86395" r="0" b="-86395"/>
              </a:stretch>
            </a:blipFill>
          </p:spPr>
        </p:sp>
        <p:sp>
          <p:nvSpPr>
            <p:cNvPr name="TextBox 20" id="20"/>
            <p:cNvSpPr txBox="true"/>
            <p:nvPr/>
          </p:nvSpPr>
          <p:spPr>
            <a:xfrm>
              <a:off x="0" y="-19050"/>
              <a:ext cx="6827520" cy="994410"/>
            </a:xfrm>
            <a:prstGeom prst="rect">
              <a:avLst/>
            </a:prstGeom>
          </p:spPr>
          <p:txBody>
            <a:bodyPr anchor="ctr" rtlCol="false" tIns="0" lIns="0" bIns="0" rIns="0"/>
            <a:lstStyle/>
            <a:p>
              <a:pPr algn="l">
                <a:lnSpc>
                  <a:spcPts val="2640"/>
                </a:lnSpc>
              </a:pPr>
              <a:r>
                <a:rPr lang="en-US" sz="2200">
                  <a:solidFill>
                    <a:srgbClr val="000000"/>
                  </a:solidFill>
                  <a:latin typeface="Helios Extended"/>
                  <a:ea typeface="Helios Extended"/>
                  <a:cs typeface="Helios Extended"/>
                  <a:sym typeface="Helios Extended"/>
                </a:rPr>
                <a:t>B correct, C_seq wrong</a:t>
              </a:r>
            </a:p>
          </p:txBody>
        </p:sp>
      </p:grpSp>
      <p:grpSp>
        <p:nvGrpSpPr>
          <p:cNvPr name="Group 21" id="21"/>
          <p:cNvGrpSpPr/>
          <p:nvPr/>
        </p:nvGrpSpPr>
        <p:grpSpPr>
          <a:xfrm rot="0">
            <a:off x="6035040" y="2889504"/>
            <a:ext cx="2011680" cy="731520"/>
            <a:chOff x="0" y="0"/>
            <a:chExt cx="2682240" cy="975360"/>
          </a:xfrm>
        </p:grpSpPr>
        <p:sp>
          <p:nvSpPr>
            <p:cNvPr name="Freeform 22" id="22"/>
            <p:cNvSpPr/>
            <p:nvPr/>
          </p:nvSpPr>
          <p:spPr>
            <a:xfrm flipH="false" flipV="false" rot="0">
              <a:off x="0" y="0"/>
              <a:ext cx="2682240" cy="975360"/>
            </a:xfrm>
            <a:custGeom>
              <a:avLst/>
              <a:gdLst/>
              <a:ahLst/>
              <a:cxnLst/>
              <a:rect r="r" b="b" t="t" l="l"/>
              <a:pathLst>
                <a:path h="975360" w="2682240">
                  <a:moveTo>
                    <a:pt x="0" y="0"/>
                  </a:moveTo>
                  <a:lnTo>
                    <a:pt x="2682240" y="0"/>
                  </a:lnTo>
                  <a:lnTo>
                    <a:pt x="2682240" y="975360"/>
                  </a:lnTo>
                  <a:lnTo>
                    <a:pt x="0" y="975360"/>
                  </a:lnTo>
                  <a:close/>
                </a:path>
              </a:pathLst>
            </a:custGeom>
            <a:solidFill>
              <a:srgbClr val="1A1A2E">
                <a:alpha val="0"/>
              </a:srgbClr>
            </a:solidFill>
          </p:spPr>
        </p:sp>
        <p:sp>
          <p:nvSpPr>
            <p:cNvPr name="TextBox 23" id="23"/>
            <p:cNvSpPr txBox="true"/>
            <p:nvPr/>
          </p:nvSpPr>
          <p:spPr>
            <a:xfrm>
              <a:off x="0" y="-19050"/>
              <a:ext cx="2682240" cy="994410"/>
            </a:xfrm>
            <a:prstGeom prst="rect">
              <a:avLst/>
            </a:prstGeom>
          </p:spPr>
          <p:txBody>
            <a:bodyPr anchor="ctr" rtlCol="false" tIns="0" lIns="0" bIns="0" rIns="0"/>
            <a:lstStyle/>
            <a:p>
              <a:pPr algn="r">
                <a:lnSpc>
                  <a:spcPts val="3359"/>
                </a:lnSpc>
              </a:pPr>
              <a:r>
                <a:rPr lang="en-US" b="true" sz="2799">
                  <a:solidFill>
                    <a:srgbClr val="000000"/>
                  </a:solidFill>
                  <a:latin typeface="Helios Extended Bold"/>
                  <a:ea typeface="Helios Extended Bold"/>
                  <a:cs typeface="Helios Extended Bold"/>
                  <a:sym typeface="Helios Extended Bold"/>
                </a:rPr>
                <a:t>3,704</a:t>
              </a:r>
            </a:p>
          </p:txBody>
        </p:sp>
      </p:grpSp>
      <p:grpSp>
        <p:nvGrpSpPr>
          <p:cNvPr name="Group 24" id="24"/>
          <p:cNvGrpSpPr/>
          <p:nvPr/>
        </p:nvGrpSpPr>
        <p:grpSpPr>
          <a:xfrm rot="0">
            <a:off x="822960" y="3913632"/>
            <a:ext cx="5120640" cy="731520"/>
            <a:chOff x="0" y="0"/>
            <a:chExt cx="6827520" cy="975360"/>
          </a:xfrm>
        </p:grpSpPr>
        <p:sp>
          <p:nvSpPr>
            <p:cNvPr name="Freeform 25" id="25"/>
            <p:cNvSpPr/>
            <p:nvPr/>
          </p:nvSpPr>
          <p:spPr>
            <a:xfrm flipH="false" flipV="false" rot="0">
              <a:off x="0" y="0"/>
              <a:ext cx="6827520" cy="975360"/>
            </a:xfrm>
            <a:custGeom>
              <a:avLst/>
              <a:gdLst/>
              <a:ahLst/>
              <a:cxnLst/>
              <a:rect r="r" b="b" t="t" l="l"/>
              <a:pathLst>
                <a:path h="975360" w="6827520">
                  <a:moveTo>
                    <a:pt x="0" y="0"/>
                  </a:moveTo>
                  <a:lnTo>
                    <a:pt x="6827520" y="0"/>
                  </a:lnTo>
                  <a:lnTo>
                    <a:pt x="6827520" y="975360"/>
                  </a:lnTo>
                  <a:lnTo>
                    <a:pt x="0" y="975360"/>
                  </a:lnTo>
                  <a:close/>
                </a:path>
              </a:pathLst>
            </a:custGeom>
            <a:blipFill>
              <a:blip r:embed="rId3">
                <a:alphaModFix amt="0"/>
              </a:blip>
              <a:stretch>
                <a:fillRect l="0" t="-86395" r="0" b="-86395"/>
              </a:stretch>
            </a:blipFill>
          </p:spPr>
        </p:sp>
        <p:sp>
          <p:nvSpPr>
            <p:cNvPr name="TextBox 26" id="26"/>
            <p:cNvSpPr txBox="true"/>
            <p:nvPr/>
          </p:nvSpPr>
          <p:spPr>
            <a:xfrm>
              <a:off x="0" y="-19050"/>
              <a:ext cx="6827520" cy="994410"/>
            </a:xfrm>
            <a:prstGeom prst="rect">
              <a:avLst/>
            </a:prstGeom>
          </p:spPr>
          <p:txBody>
            <a:bodyPr anchor="ctr" rtlCol="false" tIns="0" lIns="0" bIns="0" rIns="0"/>
            <a:lstStyle/>
            <a:p>
              <a:pPr algn="l">
                <a:lnSpc>
                  <a:spcPts val="2640"/>
                </a:lnSpc>
              </a:pPr>
              <a:r>
                <a:rPr lang="en-US" sz="2200">
                  <a:solidFill>
                    <a:srgbClr val="000000"/>
                  </a:solidFill>
                  <a:latin typeface="Helios Extended"/>
                  <a:ea typeface="Helios Extended"/>
                  <a:cs typeface="Helios Extended"/>
                  <a:sym typeface="Helios Extended"/>
                </a:rPr>
                <a:t>B wrong, C_seq correct</a:t>
              </a:r>
            </a:p>
          </p:txBody>
        </p:sp>
      </p:grpSp>
      <p:grpSp>
        <p:nvGrpSpPr>
          <p:cNvPr name="Group 27" id="27"/>
          <p:cNvGrpSpPr/>
          <p:nvPr/>
        </p:nvGrpSpPr>
        <p:grpSpPr>
          <a:xfrm rot="0">
            <a:off x="6035040" y="3913632"/>
            <a:ext cx="2011680" cy="731520"/>
            <a:chOff x="0" y="0"/>
            <a:chExt cx="2682240" cy="975360"/>
          </a:xfrm>
        </p:grpSpPr>
        <p:sp>
          <p:nvSpPr>
            <p:cNvPr name="Freeform 28" id="28"/>
            <p:cNvSpPr/>
            <p:nvPr/>
          </p:nvSpPr>
          <p:spPr>
            <a:xfrm flipH="false" flipV="false" rot="0">
              <a:off x="0" y="0"/>
              <a:ext cx="2682240" cy="975360"/>
            </a:xfrm>
            <a:custGeom>
              <a:avLst/>
              <a:gdLst/>
              <a:ahLst/>
              <a:cxnLst/>
              <a:rect r="r" b="b" t="t" l="l"/>
              <a:pathLst>
                <a:path h="975360" w="2682240">
                  <a:moveTo>
                    <a:pt x="0" y="0"/>
                  </a:moveTo>
                  <a:lnTo>
                    <a:pt x="2682240" y="0"/>
                  </a:lnTo>
                  <a:lnTo>
                    <a:pt x="2682240" y="975360"/>
                  </a:lnTo>
                  <a:lnTo>
                    <a:pt x="0" y="975360"/>
                  </a:lnTo>
                  <a:close/>
                </a:path>
              </a:pathLst>
            </a:custGeom>
            <a:blipFill>
              <a:blip r:embed="rId3">
                <a:alphaModFix amt="0"/>
              </a:blip>
              <a:stretch>
                <a:fillRect l="0" t="-3583" r="0" b="-3583"/>
              </a:stretch>
            </a:blipFill>
          </p:spPr>
        </p:sp>
        <p:sp>
          <p:nvSpPr>
            <p:cNvPr name="TextBox 29" id="29"/>
            <p:cNvSpPr txBox="true"/>
            <p:nvPr/>
          </p:nvSpPr>
          <p:spPr>
            <a:xfrm>
              <a:off x="0" y="-19050"/>
              <a:ext cx="2682240" cy="994410"/>
            </a:xfrm>
            <a:prstGeom prst="rect">
              <a:avLst/>
            </a:prstGeom>
          </p:spPr>
          <p:txBody>
            <a:bodyPr anchor="ctr" rtlCol="false" tIns="0" lIns="0" bIns="0" rIns="0"/>
            <a:lstStyle/>
            <a:p>
              <a:pPr algn="r">
                <a:lnSpc>
                  <a:spcPts val="3359"/>
                </a:lnSpc>
              </a:pPr>
              <a:r>
                <a:rPr lang="en-US" b="true" sz="2799">
                  <a:solidFill>
                    <a:srgbClr val="000000"/>
                  </a:solidFill>
                  <a:latin typeface="Helios Extended Bold"/>
                  <a:ea typeface="Helios Extended Bold"/>
                  <a:cs typeface="Helios Extended Bold"/>
                  <a:sym typeface="Helios Extended Bold"/>
                </a:rPr>
                <a:t>831</a:t>
              </a:r>
            </a:p>
          </p:txBody>
        </p:sp>
      </p:grpSp>
      <p:grpSp>
        <p:nvGrpSpPr>
          <p:cNvPr name="Group 30" id="30"/>
          <p:cNvGrpSpPr/>
          <p:nvPr/>
        </p:nvGrpSpPr>
        <p:grpSpPr>
          <a:xfrm rot="0">
            <a:off x="822960" y="4937760"/>
            <a:ext cx="5120640" cy="731520"/>
            <a:chOff x="0" y="0"/>
            <a:chExt cx="6827520" cy="975360"/>
          </a:xfrm>
        </p:grpSpPr>
        <p:sp>
          <p:nvSpPr>
            <p:cNvPr name="Freeform 31" id="31"/>
            <p:cNvSpPr/>
            <p:nvPr/>
          </p:nvSpPr>
          <p:spPr>
            <a:xfrm flipH="false" flipV="false" rot="0">
              <a:off x="0" y="0"/>
              <a:ext cx="6827520" cy="975360"/>
            </a:xfrm>
            <a:custGeom>
              <a:avLst/>
              <a:gdLst/>
              <a:ahLst/>
              <a:cxnLst/>
              <a:rect r="r" b="b" t="t" l="l"/>
              <a:pathLst>
                <a:path h="975360" w="6827520">
                  <a:moveTo>
                    <a:pt x="0" y="0"/>
                  </a:moveTo>
                  <a:lnTo>
                    <a:pt x="6827520" y="0"/>
                  </a:lnTo>
                  <a:lnTo>
                    <a:pt x="6827520" y="975360"/>
                  </a:lnTo>
                  <a:lnTo>
                    <a:pt x="0" y="975360"/>
                  </a:lnTo>
                  <a:close/>
                </a:path>
              </a:pathLst>
            </a:custGeom>
            <a:blipFill>
              <a:blip r:embed="rId3">
                <a:alphaModFix amt="0"/>
              </a:blip>
              <a:stretch>
                <a:fillRect l="0" t="-86395" r="0" b="-86395"/>
              </a:stretch>
            </a:blipFill>
          </p:spPr>
        </p:sp>
        <p:sp>
          <p:nvSpPr>
            <p:cNvPr name="TextBox 32" id="32"/>
            <p:cNvSpPr txBox="true"/>
            <p:nvPr/>
          </p:nvSpPr>
          <p:spPr>
            <a:xfrm>
              <a:off x="0" y="-19050"/>
              <a:ext cx="6827520" cy="994410"/>
            </a:xfrm>
            <a:prstGeom prst="rect">
              <a:avLst/>
            </a:prstGeom>
          </p:spPr>
          <p:txBody>
            <a:bodyPr anchor="ctr" rtlCol="false" tIns="0" lIns="0" bIns="0" rIns="0"/>
            <a:lstStyle/>
            <a:p>
              <a:pPr algn="l">
                <a:lnSpc>
                  <a:spcPts val="2640"/>
                </a:lnSpc>
              </a:pPr>
              <a:r>
                <a:rPr lang="en-US" sz="2200">
                  <a:solidFill>
                    <a:srgbClr val="000000"/>
                  </a:solidFill>
                  <a:latin typeface="Helios Extended"/>
                  <a:ea typeface="Helios Extended"/>
                  <a:cs typeface="Helios Extended"/>
                  <a:sym typeface="Helios Extended"/>
                </a:rPr>
                <a:t>Both correct</a:t>
              </a:r>
            </a:p>
          </p:txBody>
        </p:sp>
      </p:grpSp>
      <p:grpSp>
        <p:nvGrpSpPr>
          <p:cNvPr name="Group 33" id="33"/>
          <p:cNvGrpSpPr/>
          <p:nvPr/>
        </p:nvGrpSpPr>
        <p:grpSpPr>
          <a:xfrm rot="0">
            <a:off x="6035040" y="4937760"/>
            <a:ext cx="2011680" cy="731520"/>
            <a:chOff x="0" y="0"/>
            <a:chExt cx="2682240" cy="975360"/>
          </a:xfrm>
        </p:grpSpPr>
        <p:sp>
          <p:nvSpPr>
            <p:cNvPr name="Freeform 34" id="34"/>
            <p:cNvSpPr/>
            <p:nvPr/>
          </p:nvSpPr>
          <p:spPr>
            <a:xfrm flipH="false" flipV="false" rot="0">
              <a:off x="0" y="0"/>
              <a:ext cx="2682240" cy="975360"/>
            </a:xfrm>
            <a:custGeom>
              <a:avLst/>
              <a:gdLst/>
              <a:ahLst/>
              <a:cxnLst/>
              <a:rect r="r" b="b" t="t" l="l"/>
              <a:pathLst>
                <a:path h="975360" w="2682240">
                  <a:moveTo>
                    <a:pt x="0" y="0"/>
                  </a:moveTo>
                  <a:lnTo>
                    <a:pt x="2682240" y="0"/>
                  </a:lnTo>
                  <a:lnTo>
                    <a:pt x="2682240" y="975360"/>
                  </a:lnTo>
                  <a:lnTo>
                    <a:pt x="0" y="975360"/>
                  </a:lnTo>
                  <a:close/>
                </a:path>
              </a:pathLst>
            </a:custGeom>
            <a:blipFill>
              <a:blip r:embed="rId3">
                <a:alphaModFix amt="0"/>
              </a:blip>
              <a:stretch>
                <a:fillRect l="0" t="-3583" r="0" b="-3583"/>
              </a:stretch>
            </a:blipFill>
          </p:spPr>
        </p:sp>
        <p:sp>
          <p:nvSpPr>
            <p:cNvPr name="TextBox 35" id="35"/>
            <p:cNvSpPr txBox="true"/>
            <p:nvPr/>
          </p:nvSpPr>
          <p:spPr>
            <a:xfrm>
              <a:off x="0" y="-19050"/>
              <a:ext cx="2682240" cy="994410"/>
            </a:xfrm>
            <a:prstGeom prst="rect">
              <a:avLst/>
            </a:prstGeom>
          </p:spPr>
          <p:txBody>
            <a:bodyPr anchor="ctr" rtlCol="false" tIns="0" lIns="0" bIns="0" rIns="0"/>
            <a:lstStyle/>
            <a:p>
              <a:pPr algn="r">
                <a:lnSpc>
                  <a:spcPts val="3359"/>
                </a:lnSpc>
              </a:pPr>
              <a:r>
                <a:rPr lang="en-US" b="true" sz="2799">
                  <a:solidFill>
                    <a:srgbClr val="007E41"/>
                  </a:solidFill>
                  <a:latin typeface="Helios Extended Bold"/>
                  <a:ea typeface="Helios Extended Bold"/>
                  <a:cs typeface="Helios Extended Bold"/>
                  <a:sym typeface="Helios Extended Bold"/>
                </a:rPr>
                <a:t>32,138</a:t>
              </a:r>
            </a:p>
          </p:txBody>
        </p:sp>
      </p:grpSp>
      <p:grpSp>
        <p:nvGrpSpPr>
          <p:cNvPr name="Group 36" id="36"/>
          <p:cNvGrpSpPr/>
          <p:nvPr/>
        </p:nvGrpSpPr>
        <p:grpSpPr>
          <a:xfrm rot="0">
            <a:off x="822960" y="5961888"/>
            <a:ext cx="5120640" cy="731520"/>
            <a:chOff x="0" y="0"/>
            <a:chExt cx="6827520" cy="975360"/>
          </a:xfrm>
        </p:grpSpPr>
        <p:sp>
          <p:nvSpPr>
            <p:cNvPr name="Freeform 37" id="37"/>
            <p:cNvSpPr/>
            <p:nvPr/>
          </p:nvSpPr>
          <p:spPr>
            <a:xfrm flipH="false" flipV="false" rot="0">
              <a:off x="0" y="0"/>
              <a:ext cx="6827520" cy="975360"/>
            </a:xfrm>
            <a:custGeom>
              <a:avLst/>
              <a:gdLst/>
              <a:ahLst/>
              <a:cxnLst/>
              <a:rect r="r" b="b" t="t" l="l"/>
              <a:pathLst>
                <a:path h="975360" w="6827520">
                  <a:moveTo>
                    <a:pt x="0" y="0"/>
                  </a:moveTo>
                  <a:lnTo>
                    <a:pt x="6827520" y="0"/>
                  </a:lnTo>
                  <a:lnTo>
                    <a:pt x="6827520" y="975360"/>
                  </a:lnTo>
                  <a:lnTo>
                    <a:pt x="0" y="975360"/>
                  </a:lnTo>
                  <a:close/>
                </a:path>
              </a:pathLst>
            </a:custGeom>
            <a:blipFill>
              <a:blip r:embed="rId3">
                <a:alphaModFix amt="0"/>
              </a:blip>
              <a:stretch>
                <a:fillRect l="0" t="-86395" r="0" b="-86395"/>
              </a:stretch>
            </a:blipFill>
          </p:spPr>
        </p:sp>
        <p:sp>
          <p:nvSpPr>
            <p:cNvPr name="TextBox 38" id="38"/>
            <p:cNvSpPr txBox="true"/>
            <p:nvPr/>
          </p:nvSpPr>
          <p:spPr>
            <a:xfrm>
              <a:off x="0" y="-19050"/>
              <a:ext cx="6827520" cy="994410"/>
            </a:xfrm>
            <a:prstGeom prst="rect">
              <a:avLst/>
            </a:prstGeom>
          </p:spPr>
          <p:txBody>
            <a:bodyPr anchor="ctr" rtlCol="false" tIns="0" lIns="0" bIns="0" rIns="0"/>
            <a:lstStyle/>
            <a:p>
              <a:pPr algn="l">
                <a:lnSpc>
                  <a:spcPts val="2640"/>
                </a:lnSpc>
              </a:pPr>
              <a:r>
                <a:rPr lang="en-US" sz="2200">
                  <a:solidFill>
                    <a:srgbClr val="000000"/>
                  </a:solidFill>
                  <a:latin typeface="Helios Extended"/>
                  <a:ea typeface="Helios Extended"/>
                  <a:cs typeface="Helios Extended"/>
                  <a:sym typeface="Helios Extended"/>
                </a:rPr>
                <a:t>Both wrong</a:t>
              </a:r>
            </a:p>
          </p:txBody>
        </p:sp>
      </p:grpSp>
      <p:grpSp>
        <p:nvGrpSpPr>
          <p:cNvPr name="Group 39" id="39"/>
          <p:cNvGrpSpPr/>
          <p:nvPr/>
        </p:nvGrpSpPr>
        <p:grpSpPr>
          <a:xfrm rot="0">
            <a:off x="6035040" y="5961888"/>
            <a:ext cx="2011680" cy="731520"/>
            <a:chOff x="0" y="0"/>
            <a:chExt cx="2682240" cy="975360"/>
          </a:xfrm>
        </p:grpSpPr>
        <p:sp>
          <p:nvSpPr>
            <p:cNvPr name="Freeform 40" id="40"/>
            <p:cNvSpPr/>
            <p:nvPr/>
          </p:nvSpPr>
          <p:spPr>
            <a:xfrm flipH="false" flipV="false" rot="0">
              <a:off x="0" y="0"/>
              <a:ext cx="2682240" cy="975360"/>
            </a:xfrm>
            <a:custGeom>
              <a:avLst/>
              <a:gdLst/>
              <a:ahLst/>
              <a:cxnLst/>
              <a:rect r="r" b="b" t="t" l="l"/>
              <a:pathLst>
                <a:path h="975360" w="2682240">
                  <a:moveTo>
                    <a:pt x="0" y="0"/>
                  </a:moveTo>
                  <a:lnTo>
                    <a:pt x="2682240" y="0"/>
                  </a:lnTo>
                  <a:lnTo>
                    <a:pt x="2682240" y="975360"/>
                  </a:lnTo>
                  <a:lnTo>
                    <a:pt x="0" y="975360"/>
                  </a:lnTo>
                  <a:close/>
                </a:path>
              </a:pathLst>
            </a:custGeom>
            <a:blipFill>
              <a:blip r:embed="rId3">
                <a:alphaModFix amt="0"/>
              </a:blip>
              <a:stretch>
                <a:fillRect l="0" t="-3583" r="0" b="-3583"/>
              </a:stretch>
            </a:blipFill>
          </p:spPr>
        </p:sp>
        <p:sp>
          <p:nvSpPr>
            <p:cNvPr name="TextBox 41" id="41"/>
            <p:cNvSpPr txBox="true"/>
            <p:nvPr/>
          </p:nvSpPr>
          <p:spPr>
            <a:xfrm>
              <a:off x="0" y="-19050"/>
              <a:ext cx="2682240" cy="994410"/>
            </a:xfrm>
            <a:prstGeom prst="rect">
              <a:avLst/>
            </a:prstGeom>
          </p:spPr>
          <p:txBody>
            <a:bodyPr anchor="ctr" rtlCol="false" tIns="0" lIns="0" bIns="0" rIns="0"/>
            <a:lstStyle/>
            <a:p>
              <a:pPr algn="r">
                <a:lnSpc>
                  <a:spcPts val="3359"/>
                </a:lnSpc>
              </a:pPr>
              <a:r>
                <a:rPr lang="en-US" b="true" sz="2799">
                  <a:solidFill>
                    <a:srgbClr val="E22323"/>
                  </a:solidFill>
                  <a:latin typeface="Helios Extended Bold"/>
                  <a:ea typeface="Helios Extended Bold"/>
                  <a:cs typeface="Helios Extended Bold"/>
                  <a:sym typeface="Helios Extended Bold"/>
                </a:rPr>
                <a:t>1,679</a:t>
              </a:r>
            </a:p>
          </p:txBody>
        </p:sp>
      </p:grpSp>
      <p:grpSp>
        <p:nvGrpSpPr>
          <p:cNvPr name="Group 42" id="42"/>
          <p:cNvGrpSpPr/>
          <p:nvPr/>
        </p:nvGrpSpPr>
        <p:grpSpPr>
          <a:xfrm rot="0">
            <a:off x="810263" y="6863591"/>
            <a:ext cx="7157723" cy="25403"/>
            <a:chOff x="0" y="0"/>
            <a:chExt cx="9543631" cy="33871"/>
          </a:xfrm>
        </p:grpSpPr>
        <p:sp>
          <p:nvSpPr>
            <p:cNvPr name="Freeform 43" id="43"/>
            <p:cNvSpPr/>
            <p:nvPr/>
          </p:nvSpPr>
          <p:spPr>
            <a:xfrm flipH="false" flipV="false" rot="0">
              <a:off x="16891" y="0"/>
              <a:ext cx="9509760" cy="33909"/>
            </a:xfrm>
            <a:custGeom>
              <a:avLst/>
              <a:gdLst/>
              <a:ahLst/>
              <a:cxnLst/>
              <a:rect r="r" b="b" t="t" l="l"/>
              <a:pathLst>
                <a:path h="33909" w="9509760">
                  <a:moveTo>
                    <a:pt x="0" y="0"/>
                  </a:moveTo>
                  <a:lnTo>
                    <a:pt x="9509760" y="0"/>
                  </a:lnTo>
                  <a:lnTo>
                    <a:pt x="9509760" y="33909"/>
                  </a:lnTo>
                  <a:lnTo>
                    <a:pt x="0" y="33909"/>
                  </a:lnTo>
                  <a:close/>
                </a:path>
              </a:pathLst>
            </a:custGeom>
            <a:solidFill>
              <a:srgbClr val="CBD5E0"/>
            </a:solidFill>
          </p:spPr>
        </p:sp>
      </p:grpSp>
      <p:grpSp>
        <p:nvGrpSpPr>
          <p:cNvPr name="Group 44" id="44"/>
          <p:cNvGrpSpPr/>
          <p:nvPr/>
        </p:nvGrpSpPr>
        <p:grpSpPr>
          <a:xfrm rot="0">
            <a:off x="822960" y="6986016"/>
            <a:ext cx="5120640" cy="731520"/>
            <a:chOff x="0" y="0"/>
            <a:chExt cx="6827520" cy="975360"/>
          </a:xfrm>
        </p:grpSpPr>
        <p:sp>
          <p:nvSpPr>
            <p:cNvPr name="Freeform 45" id="45"/>
            <p:cNvSpPr/>
            <p:nvPr/>
          </p:nvSpPr>
          <p:spPr>
            <a:xfrm flipH="false" flipV="false" rot="0">
              <a:off x="0" y="0"/>
              <a:ext cx="6827520" cy="975360"/>
            </a:xfrm>
            <a:custGeom>
              <a:avLst/>
              <a:gdLst/>
              <a:ahLst/>
              <a:cxnLst/>
              <a:rect r="r" b="b" t="t" l="l"/>
              <a:pathLst>
                <a:path h="975360" w="6827520">
                  <a:moveTo>
                    <a:pt x="0" y="0"/>
                  </a:moveTo>
                  <a:lnTo>
                    <a:pt x="6827520" y="0"/>
                  </a:lnTo>
                  <a:lnTo>
                    <a:pt x="6827520" y="975360"/>
                  </a:lnTo>
                  <a:lnTo>
                    <a:pt x="0" y="975360"/>
                  </a:lnTo>
                  <a:close/>
                </a:path>
              </a:pathLst>
            </a:custGeom>
            <a:blipFill>
              <a:blip r:embed="rId3">
                <a:alphaModFix amt="0"/>
              </a:blip>
              <a:stretch>
                <a:fillRect l="0" t="-86395" r="0" b="-86395"/>
              </a:stretch>
            </a:blipFill>
          </p:spPr>
        </p:sp>
        <p:sp>
          <p:nvSpPr>
            <p:cNvPr name="TextBox 46" id="46"/>
            <p:cNvSpPr txBox="true"/>
            <p:nvPr/>
          </p:nvSpPr>
          <p:spPr>
            <a:xfrm>
              <a:off x="0" y="-19050"/>
              <a:ext cx="6827520" cy="994410"/>
            </a:xfrm>
            <a:prstGeom prst="rect">
              <a:avLst/>
            </a:prstGeom>
          </p:spPr>
          <p:txBody>
            <a:bodyPr anchor="ctr" rtlCol="false" tIns="0" lIns="0" bIns="0" rIns="0"/>
            <a:lstStyle/>
            <a:p>
              <a:pPr algn="l">
                <a:lnSpc>
                  <a:spcPts val="2640"/>
                </a:lnSpc>
              </a:pPr>
              <a:r>
                <a:rPr lang="en-US" sz="2200">
                  <a:solidFill>
                    <a:srgbClr val="000000"/>
                  </a:solidFill>
                  <a:latin typeface="Helios Extended"/>
                  <a:ea typeface="Helios Extended"/>
                  <a:cs typeface="Helios Extended"/>
                  <a:sym typeface="Helios Extended"/>
                </a:rPr>
                <a:t>Net loss (C_seq vs B)</a:t>
              </a:r>
            </a:p>
          </p:txBody>
        </p:sp>
      </p:grpSp>
      <p:grpSp>
        <p:nvGrpSpPr>
          <p:cNvPr name="Group 47" id="47"/>
          <p:cNvGrpSpPr/>
          <p:nvPr/>
        </p:nvGrpSpPr>
        <p:grpSpPr>
          <a:xfrm rot="0">
            <a:off x="6035040" y="6986016"/>
            <a:ext cx="2011680" cy="731520"/>
            <a:chOff x="0" y="0"/>
            <a:chExt cx="2682240" cy="975360"/>
          </a:xfrm>
        </p:grpSpPr>
        <p:sp>
          <p:nvSpPr>
            <p:cNvPr name="Freeform 48" id="48"/>
            <p:cNvSpPr/>
            <p:nvPr/>
          </p:nvSpPr>
          <p:spPr>
            <a:xfrm flipH="false" flipV="false" rot="0">
              <a:off x="0" y="0"/>
              <a:ext cx="2682240" cy="975360"/>
            </a:xfrm>
            <a:custGeom>
              <a:avLst/>
              <a:gdLst/>
              <a:ahLst/>
              <a:cxnLst/>
              <a:rect r="r" b="b" t="t" l="l"/>
              <a:pathLst>
                <a:path h="975360" w="2682240">
                  <a:moveTo>
                    <a:pt x="0" y="0"/>
                  </a:moveTo>
                  <a:lnTo>
                    <a:pt x="2682240" y="0"/>
                  </a:lnTo>
                  <a:lnTo>
                    <a:pt x="2682240" y="975360"/>
                  </a:lnTo>
                  <a:lnTo>
                    <a:pt x="0" y="975360"/>
                  </a:lnTo>
                  <a:close/>
                </a:path>
              </a:pathLst>
            </a:custGeom>
            <a:blipFill>
              <a:blip r:embed="rId3">
                <a:alphaModFix amt="0"/>
              </a:blip>
              <a:stretch>
                <a:fillRect l="0" t="-3583" r="0" b="-3583"/>
              </a:stretch>
            </a:blipFill>
          </p:spPr>
        </p:sp>
        <p:sp>
          <p:nvSpPr>
            <p:cNvPr name="TextBox 49" id="49"/>
            <p:cNvSpPr txBox="true"/>
            <p:nvPr/>
          </p:nvSpPr>
          <p:spPr>
            <a:xfrm>
              <a:off x="0" y="-19050"/>
              <a:ext cx="2682240" cy="994410"/>
            </a:xfrm>
            <a:prstGeom prst="rect">
              <a:avLst/>
            </a:prstGeom>
          </p:spPr>
          <p:txBody>
            <a:bodyPr anchor="ctr" rtlCol="false" tIns="0" lIns="0" bIns="0" rIns="0"/>
            <a:lstStyle/>
            <a:p>
              <a:pPr algn="r">
                <a:lnSpc>
                  <a:spcPts val="3359"/>
                </a:lnSpc>
              </a:pPr>
              <a:r>
                <a:rPr lang="en-US" b="true" sz="2799">
                  <a:solidFill>
                    <a:srgbClr val="E22323"/>
                  </a:solidFill>
                  <a:latin typeface="Helios Extended Bold"/>
                  <a:ea typeface="Helios Extended Bold"/>
                  <a:cs typeface="Helios Extended Bold"/>
                  <a:sym typeface="Helios Extended Bold"/>
                </a:rPr>
                <a:t>−2,873</a:t>
              </a:r>
            </a:p>
          </p:txBody>
        </p:sp>
      </p:grpSp>
      <p:grpSp>
        <p:nvGrpSpPr>
          <p:cNvPr name="Group 50" id="50"/>
          <p:cNvGrpSpPr/>
          <p:nvPr/>
        </p:nvGrpSpPr>
        <p:grpSpPr>
          <a:xfrm rot="0">
            <a:off x="9131303" y="1633223"/>
            <a:ext cx="8620763" cy="7980683"/>
            <a:chOff x="0" y="0"/>
            <a:chExt cx="11494351" cy="10640911"/>
          </a:xfrm>
        </p:grpSpPr>
        <p:sp>
          <p:nvSpPr>
            <p:cNvPr name="Freeform 51" id="51"/>
            <p:cNvSpPr/>
            <p:nvPr/>
          </p:nvSpPr>
          <p:spPr>
            <a:xfrm flipH="false" flipV="false" rot="0">
              <a:off x="16891" y="16891"/>
              <a:ext cx="11460481" cy="10607040"/>
            </a:xfrm>
            <a:custGeom>
              <a:avLst/>
              <a:gdLst/>
              <a:ahLst/>
              <a:cxnLst/>
              <a:rect r="r" b="b" t="t" l="l"/>
              <a:pathLst>
                <a:path h="10607040" w="11460481">
                  <a:moveTo>
                    <a:pt x="0" y="0"/>
                  </a:moveTo>
                  <a:lnTo>
                    <a:pt x="11460481" y="0"/>
                  </a:lnTo>
                  <a:lnTo>
                    <a:pt x="11460481" y="10607040"/>
                  </a:lnTo>
                  <a:lnTo>
                    <a:pt x="0" y="10607040"/>
                  </a:lnTo>
                  <a:close/>
                </a:path>
              </a:pathLst>
            </a:custGeom>
            <a:solidFill>
              <a:srgbClr val="F2F1F1"/>
            </a:solidFill>
          </p:spPr>
        </p:sp>
        <p:sp>
          <p:nvSpPr>
            <p:cNvPr name="Freeform 52" id="52"/>
            <p:cNvSpPr/>
            <p:nvPr/>
          </p:nvSpPr>
          <p:spPr>
            <a:xfrm flipH="false" flipV="false" rot="0">
              <a:off x="0" y="0"/>
              <a:ext cx="11494262" cy="10640822"/>
            </a:xfrm>
            <a:custGeom>
              <a:avLst/>
              <a:gdLst/>
              <a:ahLst/>
              <a:cxnLst/>
              <a:rect r="r" b="b" t="t" l="l"/>
              <a:pathLst>
                <a:path h="10640822" w="11494262">
                  <a:moveTo>
                    <a:pt x="16891" y="0"/>
                  </a:moveTo>
                  <a:lnTo>
                    <a:pt x="11477372" y="0"/>
                  </a:lnTo>
                  <a:cubicBezTo>
                    <a:pt x="11486769" y="0"/>
                    <a:pt x="11494262" y="7620"/>
                    <a:pt x="11494262" y="16891"/>
                  </a:cubicBezTo>
                  <a:lnTo>
                    <a:pt x="11494262" y="10623931"/>
                  </a:lnTo>
                  <a:cubicBezTo>
                    <a:pt x="11494262" y="10633329"/>
                    <a:pt x="11486642" y="10640822"/>
                    <a:pt x="11477372" y="10640822"/>
                  </a:cubicBezTo>
                  <a:lnTo>
                    <a:pt x="16891" y="10640822"/>
                  </a:lnTo>
                  <a:cubicBezTo>
                    <a:pt x="7493" y="10640822"/>
                    <a:pt x="0" y="10633202"/>
                    <a:pt x="0" y="10623931"/>
                  </a:cubicBezTo>
                  <a:lnTo>
                    <a:pt x="0" y="16891"/>
                  </a:lnTo>
                  <a:cubicBezTo>
                    <a:pt x="0" y="7620"/>
                    <a:pt x="7620" y="0"/>
                    <a:pt x="16891" y="0"/>
                  </a:cubicBezTo>
                  <a:moveTo>
                    <a:pt x="16891" y="33909"/>
                  </a:moveTo>
                  <a:lnTo>
                    <a:pt x="16891" y="16891"/>
                  </a:lnTo>
                  <a:lnTo>
                    <a:pt x="33909" y="16891"/>
                  </a:lnTo>
                  <a:lnTo>
                    <a:pt x="33909" y="10623931"/>
                  </a:lnTo>
                  <a:lnTo>
                    <a:pt x="16891" y="10623931"/>
                  </a:lnTo>
                  <a:lnTo>
                    <a:pt x="16891" y="10607040"/>
                  </a:lnTo>
                  <a:lnTo>
                    <a:pt x="11477372" y="10607040"/>
                  </a:lnTo>
                  <a:lnTo>
                    <a:pt x="11477372" y="10623931"/>
                  </a:lnTo>
                  <a:lnTo>
                    <a:pt x="11460480" y="10623931"/>
                  </a:lnTo>
                  <a:lnTo>
                    <a:pt x="11460480" y="16891"/>
                  </a:lnTo>
                  <a:lnTo>
                    <a:pt x="11477372" y="16891"/>
                  </a:lnTo>
                  <a:lnTo>
                    <a:pt x="11477372" y="33909"/>
                  </a:lnTo>
                  <a:lnTo>
                    <a:pt x="16891" y="33909"/>
                  </a:lnTo>
                  <a:close/>
                </a:path>
              </a:pathLst>
            </a:custGeom>
            <a:solidFill>
              <a:srgbClr val="E2E8F0"/>
            </a:solidFill>
          </p:spPr>
        </p:sp>
      </p:grpSp>
      <p:grpSp>
        <p:nvGrpSpPr>
          <p:cNvPr name="Group 53" id="53"/>
          <p:cNvGrpSpPr/>
          <p:nvPr/>
        </p:nvGrpSpPr>
        <p:grpSpPr>
          <a:xfrm rot="0">
            <a:off x="9144000" y="1645920"/>
            <a:ext cx="8595360" cy="182880"/>
            <a:chOff x="0" y="0"/>
            <a:chExt cx="11460480" cy="243840"/>
          </a:xfrm>
        </p:grpSpPr>
        <p:sp>
          <p:nvSpPr>
            <p:cNvPr name="Freeform 54" id="54"/>
            <p:cNvSpPr/>
            <p:nvPr/>
          </p:nvSpPr>
          <p:spPr>
            <a:xfrm flipH="false" flipV="false" rot="0">
              <a:off x="0" y="0"/>
              <a:ext cx="11460480" cy="243840"/>
            </a:xfrm>
            <a:custGeom>
              <a:avLst/>
              <a:gdLst/>
              <a:ahLst/>
              <a:cxnLst/>
              <a:rect r="r" b="b" t="t" l="l"/>
              <a:pathLst>
                <a:path h="243840" w="11460480">
                  <a:moveTo>
                    <a:pt x="0" y="0"/>
                  </a:moveTo>
                  <a:lnTo>
                    <a:pt x="11460480" y="0"/>
                  </a:lnTo>
                  <a:lnTo>
                    <a:pt x="11460480" y="243840"/>
                  </a:lnTo>
                  <a:lnTo>
                    <a:pt x="0" y="243840"/>
                  </a:lnTo>
                  <a:close/>
                </a:path>
              </a:pathLst>
            </a:custGeom>
            <a:solidFill>
              <a:srgbClr val="3D4D55"/>
            </a:solidFill>
          </p:spPr>
        </p:sp>
      </p:grpSp>
      <p:grpSp>
        <p:nvGrpSpPr>
          <p:cNvPr name="Group 55" id="55"/>
          <p:cNvGrpSpPr/>
          <p:nvPr/>
        </p:nvGrpSpPr>
        <p:grpSpPr>
          <a:xfrm rot="0">
            <a:off x="9418320" y="1865376"/>
            <a:ext cx="8046720" cy="768096"/>
            <a:chOff x="0" y="0"/>
            <a:chExt cx="10728960" cy="1024128"/>
          </a:xfrm>
        </p:grpSpPr>
        <p:sp>
          <p:nvSpPr>
            <p:cNvPr name="Freeform 56" id="56"/>
            <p:cNvSpPr/>
            <p:nvPr/>
          </p:nvSpPr>
          <p:spPr>
            <a:xfrm flipH="false" flipV="false" rot="0">
              <a:off x="0" y="0"/>
              <a:ext cx="10728960" cy="1024128"/>
            </a:xfrm>
            <a:custGeom>
              <a:avLst/>
              <a:gdLst/>
              <a:ahLst/>
              <a:cxnLst/>
              <a:rect r="r" b="b" t="t" l="l"/>
              <a:pathLst>
                <a:path h="1024128" w="10728960">
                  <a:moveTo>
                    <a:pt x="0" y="0"/>
                  </a:moveTo>
                  <a:lnTo>
                    <a:pt x="10728960" y="0"/>
                  </a:lnTo>
                  <a:lnTo>
                    <a:pt x="10728960" y="1024128"/>
                  </a:lnTo>
                  <a:lnTo>
                    <a:pt x="0" y="1024128"/>
                  </a:lnTo>
                  <a:close/>
                </a:path>
              </a:pathLst>
            </a:custGeom>
            <a:blipFill>
              <a:blip r:embed="rId3">
                <a:alphaModFix amt="0"/>
              </a:blip>
              <a:stretch>
                <a:fillRect l="0" t="-154128" r="0" b="-154128"/>
              </a:stretch>
            </a:blipFill>
          </p:spPr>
        </p:sp>
        <p:sp>
          <p:nvSpPr>
            <p:cNvPr name="TextBox 57" id="57"/>
            <p:cNvSpPr txBox="true"/>
            <p:nvPr/>
          </p:nvSpPr>
          <p:spPr>
            <a:xfrm>
              <a:off x="0" y="-19050"/>
              <a:ext cx="10728960" cy="1043178"/>
            </a:xfrm>
            <a:prstGeom prst="rect">
              <a:avLst/>
            </a:prstGeom>
          </p:spPr>
          <p:txBody>
            <a:bodyPr anchor="ctr" rtlCol="false" tIns="0" lIns="0" bIns="0" rIns="0"/>
            <a:lstStyle/>
            <a:p>
              <a:pPr algn="l">
                <a:lnSpc>
                  <a:spcPts val="2879"/>
                </a:lnSpc>
              </a:pPr>
              <a:r>
                <a:rPr lang="en-US" b="true" sz="2400">
                  <a:solidFill>
                    <a:srgbClr val="000000"/>
                  </a:solidFill>
                  <a:latin typeface="Helios Extended Bold"/>
                  <a:ea typeface="Helios Extended Bold"/>
                  <a:cs typeface="Helios Extended Bold"/>
                  <a:sym typeface="Helios Extended Bold"/>
                </a:rPr>
                <a:t>Top Confusion Pairs</a:t>
              </a:r>
            </a:p>
          </p:txBody>
        </p:sp>
      </p:grpSp>
      <p:grpSp>
        <p:nvGrpSpPr>
          <p:cNvPr name="Group 58" id="58"/>
          <p:cNvGrpSpPr/>
          <p:nvPr/>
        </p:nvGrpSpPr>
        <p:grpSpPr>
          <a:xfrm rot="0">
            <a:off x="9418320" y="2633472"/>
            <a:ext cx="8046720" cy="731520"/>
            <a:chOff x="0" y="0"/>
            <a:chExt cx="10728960" cy="975360"/>
          </a:xfrm>
        </p:grpSpPr>
        <p:sp>
          <p:nvSpPr>
            <p:cNvPr name="Freeform 59" id="59"/>
            <p:cNvSpPr/>
            <p:nvPr/>
          </p:nvSpPr>
          <p:spPr>
            <a:xfrm flipH="false" flipV="false" rot="0">
              <a:off x="0" y="0"/>
              <a:ext cx="10728960" cy="975360"/>
            </a:xfrm>
            <a:custGeom>
              <a:avLst/>
              <a:gdLst/>
              <a:ahLst/>
              <a:cxnLst/>
              <a:rect r="r" b="b" t="t" l="l"/>
              <a:pathLst>
                <a:path h="975360" w="10728960">
                  <a:moveTo>
                    <a:pt x="0" y="0"/>
                  </a:moveTo>
                  <a:lnTo>
                    <a:pt x="10728960" y="0"/>
                  </a:lnTo>
                  <a:lnTo>
                    <a:pt x="10728960" y="975360"/>
                  </a:lnTo>
                  <a:lnTo>
                    <a:pt x="0" y="975360"/>
                  </a:lnTo>
                  <a:close/>
                </a:path>
              </a:pathLst>
            </a:custGeom>
            <a:blipFill>
              <a:blip r:embed="rId3">
                <a:alphaModFix amt="0"/>
              </a:blip>
              <a:stretch>
                <a:fillRect l="0" t="-164335" r="0" b="-164335"/>
              </a:stretch>
            </a:blipFill>
          </p:spPr>
        </p:sp>
        <p:sp>
          <p:nvSpPr>
            <p:cNvPr name="TextBox 60" id="60"/>
            <p:cNvSpPr txBox="true"/>
            <p:nvPr/>
          </p:nvSpPr>
          <p:spPr>
            <a:xfrm>
              <a:off x="0" y="-28575"/>
              <a:ext cx="10728960" cy="1003935"/>
            </a:xfrm>
            <a:prstGeom prst="rect">
              <a:avLst/>
            </a:prstGeom>
          </p:spPr>
          <p:txBody>
            <a:bodyPr anchor="ctr" rtlCol="false" tIns="0" lIns="0" bIns="0" rIns="0"/>
            <a:lstStyle/>
            <a:p>
              <a:pPr algn="l">
                <a:lnSpc>
                  <a:spcPts val="2400"/>
                </a:lnSpc>
              </a:pPr>
              <a:r>
                <a:rPr lang="en-US" sz="2000" i="true">
                  <a:solidFill>
                    <a:srgbClr val="000000"/>
                  </a:solidFill>
                  <a:latin typeface="Helios Extended Italics"/>
                  <a:ea typeface="Helios Extended Italics"/>
                  <a:cs typeface="Helios Extended Italics"/>
                  <a:sym typeface="Helios Extended Italics"/>
                </a:rPr>
                <a:t>All concentrate in CYP450-mechanism classes — overlapping enzyme pathways cause over-elaboration</a:t>
              </a:r>
            </a:p>
          </p:txBody>
        </p:sp>
      </p:grpSp>
      <p:grpSp>
        <p:nvGrpSpPr>
          <p:cNvPr name="Group 61" id="61"/>
          <p:cNvGrpSpPr/>
          <p:nvPr/>
        </p:nvGrpSpPr>
        <p:grpSpPr>
          <a:xfrm rot="0">
            <a:off x="9418320" y="3621024"/>
            <a:ext cx="3108960" cy="512064"/>
            <a:chOff x="0" y="0"/>
            <a:chExt cx="4145280" cy="682752"/>
          </a:xfrm>
        </p:grpSpPr>
        <p:sp>
          <p:nvSpPr>
            <p:cNvPr name="Freeform 62" id="62"/>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63" id="63"/>
            <p:cNvSpPr txBox="true"/>
            <p:nvPr/>
          </p:nvSpPr>
          <p:spPr>
            <a:xfrm>
              <a:off x="0" y="-47625"/>
              <a:ext cx="4145280" cy="730377"/>
            </a:xfrm>
            <a:prstGeom prst="rect">
              <a:avLst/>
            </a:prstGeom>
          </p:spPr>
          <p:txBody>
            <a:bodyPr anchor="ctr" rtlCol="false" tIns="0" lIns="0" bIns="0" rIns="0"/>
            <a:lstStyle/>
            <a:p>
              <a:pPr algn="l">
                <a:lnSpc>
                  <a:spcPts val="2520"/>
                </a:lnSpc>
              </a:pPr>
              <a:r>
                <a:rPr lang="en-US" b="true" sz="2100">
                  <a:solidFill>
                    <a:srgbClr val="000000"/>
                  </a:solidFill>
                  <a:latin typeface="Consolas Bold"/>
                  <a:ea typeface="Consolas Bold"/>
                  <a:cs typeface="Consolas Bold"/>
                  <a:sym typeface="Consolas Bold"/>
                </a:rPr>
                <a:t>Y=47 → Y=73</a:t>
              </a:r>
            </a:p>
          </p:txBody>
        </p:sp>
      </p:grpSp>
      <p:grpSp>
        <p:nvGrpSpPr>
          <p:cNvPr name="Group 64" id="64"/>
          <p:cNvGrpSpPr/>
          <p:nvPr/>
        </p:nvGrpSpPr>
        <p:grpSpPr>
          <a:xfrm rot="0">
            <a:off x="9418320" y="4114800"/>
            <a:ext cx="3108960" cy="402336"/>
            <a:chOff x="0" y="0"/>
            <a:chExt cx="4145280" cy="536448"/>
          </a:xfrm>
        </p:grpSpPr>
        <p:sp>
          <p:nvSpPr>
            <p:cNvPr name="Freeform 65" id="65"/>
            <p:cNvSpPr/>
            <p:nvPr/>
          </p:nvSpPr>
          <p:spPr>
            <a:xfrm flipH="false" flipV="false" rot="0">
              <a:off x="0" y="0"/>
              <a:ext cx="4145280" cy="536448"/>
            </a:xfrm>
            <a:custGeom>
              <a:avLst/>
              <a:gdLst/>
              <a:ahLst/>
              <a:cxnLst/>
              <a:rect r="r" b="b" t="t" l="l"/>
              <a:pathLst>
                <a:path h="536448" w="4145280">
                  <a:moveTo>
                    <a:pt x="0" y="0"/>
                  </a:moveTo>
                  <a:lnTo>
                    <a:pt x="4145280" y="0"/>
                  </a:lnTo>
                  <a:lnTo>
                    <a:pt x="4145280" y="536448"/>
                  </a:lnTo>
                  <a:lnTo>
                    <a:pt x="0" y="536448"/>
                  </a:lnTo>
                  <a:close/>
                </a:path>
              </a:pathLst>
            </a:custGeom>
            <a:blipFill>
              <a:blip r:embed="rId3">
                <a:alphaModFix amt="0"/>
              </a:blip>
              <a:stretch>
                <a:fillRect l="0" t="-100566" r="0" b="-100566"/>
              </a:stretch>
            </a:blipFill>
          </p:spPr>
        </p:sp>
        <p:sp>
          <p:nvSpPr>
            <p:cNvPr name="TextBox 66" id="66"/>
            <p:cNvSpPr txBox="true"/>
            <p:nvPr/>
          </p:nvSpPr>
          <p:spPr>
            <a:xfrm>
              <a:off x="0" y="-9525"/>
              <a:ext cx="4145280" cy="545973"/>
            </a:xfrm>
            <a:prstGeom prst="rect">
              <a:avLst/>
            </a:prstGeom>
          </p:spPr>
          <p:txBody>
            <a:bodyPr anchor="ctr" rtlCol="false" tIns="0" lIns="0" bIns="0" rIns="0"/>
            <a:lstStyle/>
            <a:p>
              <a:pPr algn="l">
                <a:lnSpc>
                  <a:spcPts val="2160"/>
                </a:lnSpc>
              </a:pPr>
              <a:r>
                <a:rPr lang="en-US" sz="1800" i="true">
                  <a:solidFill>
                    <a:srgbClr val="000000"/>
                  </a:solidFill>
                  <a:latin typeface="Helios Extended Italics"/>
                  <a:ea typeface="Helios Extended Italics"/>
                  <a:cs typeface="Helios Extended Italics"/>
                  <a:sym typeface="Helios Extended Italics"/>
                </a:rPr>
                <a:t>metab ↔ serum conc</a:t>
              </a:r>
            </a:p>
          </p:txBody>
        </p:sp>
      </p:grpSp>
      <p:grpSp>
        <p:nvGrpSpPr>
          <p:cNvPr name="Group 67" id="67"/>
          <p:cNvGrpSpPr/>
          <p:nvPr/>
        </p:nvGrpSpPr>
        <p:grpSpPr>
          <a:xfrm rot="0">
            <a:off x="12893040" y="3730752"/>
            <a:ext cx="3840480" cy="512064"/>
            <a:chOff x="0" y="0"/>
            <a:chExt cx="5120640" cy="682752"/>
          </a:xfrm>
        </p:grpSpPr>
        <p:sp>
          <p:nvSpPr>
            <p:cNvPr name="Freeform 68" id="68"/>
            <p:cNvSpPr/>
            <p:nvPr/>
          </p:nvSpPr>
          <p:spPr>
            <a:xfrm flipH="false" flipV="false" rot="0">
              <a:off x="0" y="0"/>
              <a:ext cx="5120640" cy="682752"/>
            </a:xfrm>
            <a:custGeom>
              <a:avLst/>
              <a:gdLst/>
              <a:ahLst/>
              <a:cxnLst/>
              <a:rect r="r" b="b" t="t" l="l"/>
              <a:pathLst>
                <a:path h="682752" w="5120640">
                  <a:moveTo>
                    <a:pt x="0" y="0"/>
                  </a:moveTo>
                  <a:lnTo>
                    <a:pt x="5120640" y="0"/>
                  </a:lnTo>
                  <a:lnTo>
                    <a:pt x="5120640" y="682752"/>
                  </a:lnTo>
                  <a:lnTo>
                    <a:pt x="0" y="682752"/>
                  </a:lnTo>
                  <a:close/>
                </a:path>
              </a:pathLst>
            </a:custGeom>
            <a:solidFill>
              <a:srgbClr val="000000"/>
            </a:solidFill>
          </p:spPr>
        </p:sp>
      </p:grpSp>
      <p:grpSp>
        <p:nvGrpSpPr>
          <p:cNvPr name="Group 69" id="69"/>
          <p:cNvGrpSpPr/>
          <p:nvPr/>
        </p:nvGrpSpPr>
        <p:grpSpPr>
          <a:xfrm rot="0">
            <a:off x="16843248" y="3730752"/>
            <a:ext cx="1005840" cy="512064"/>
            <a:chOff x="0" y="0"/>
            <a:chExt cx="1341120" cy="682752"/>
          </a:xfrm>
        </p:grpSpPr>
        <p:sp>
          <p:nvSpPr>
            <p:cNvPr name="Freeform 70" id="70"/>
            <p:cNvSpPr/>
            <p:nvPr/>
          </p:nvSpPr>
          <p:spPr>
            <a:xfrm flipH="false" flipV="false" rot="0">
              <a:off x="0" y="0"/>
              <a:ext cx="1341120" cy="682752"/>
            </a:xfrm>
            <a:custGeom>
              <a:avLst/>
              <a:gdLst/>
              <a:ahLst/>
              <a:cxnLst/>
              <a:rect r="r" b="b" t="t" l="l"/>
              <a:pathLst>
                <a:path h="682752" w="1341120">
                  <a:moveTo>
                    <a:pt x="0" y="0"/>
                  </a:moveTo>
                  <a:lnTo>
                    <a:pt x="1341120" y="0"/>
                  </a:lnTo>
                  <a:lnTo>
                    <a:pt x="1341120" y="682752"/>
                  </a:lnTo>
                  <a:lnTo>
                    <a:pt x="0" y="682752"/>
                  </a:lnTo>
                  <a:close/>
                </a:path>
              </a:pathLst>
            </a:custGeom>
            <a:solidFill>
              <a:srgbClr val="000000">
                <a:alpha val="0"/>
              </a:srgbClr>
            </a:solidFill>
          </p:spPr>
        </p:sp>
        <p:sp>
          <p:nvSpPr>
            <p:cNvPr name="TextBox 71" id="71"/>
            <p:cNvSpPr txBox="true"/>
            <p:nvPr/>
          </p:nvSpPr>
          <p:spPr>
            <a:xfrm>
              <a:off x="0" y="-28575"/>
              <a:ext cx="1341120" cy="711327"/>
            </a:xfrm>
            <a:prstGeom prst="rect">
              <a:avLst/>
            </a:prstGeom>
          </p:spPr>
          <p:txBody>
            <a:bodyPr anchor="ctr" rtlCol="false" tIns="0" lIns="0" bIns="0" rIns="0"/>
            <a:lstStyle/>
            <a:p>
              <a:pPr algn="l">
                <a:lnSpc>
                  <a:spcPts val="2400"/>
                </a:lnSpc>
              </a:pPr>
              <a:r>
                <a:rPr lang="en-US" b="true" sz="2000">
                  <a:solidFill>
                    <a:srgbClr val="000000"/>
                  </a:solidFill>
                  <a:latin typeface="Helios Extended Bold"/>
                  <a:ea typeface="Helios Extended Bold"/>
                  <a:cs typeface="Helios Extended Bold"/>
                  <a:sym typeface="Helios Extended Bold"/>
                </a:rPr>
                <a:t>551</a:t>
              </a:r>
            </a:p>
          </p:txBody>
        </p:sp>
      </p:grpSp>
      <p:grpSp>
        <p:nvGrpSpPr>
          <p:cNvPr name="Group 72" id="72"/>
          <p:cNvGrpSpPr/>
          <p:nvPr/>
        </p:nvGrpSpPr>
        <p:grpSpPr>
          <a:xfrm rot="0">
            <a:off x="9418320" y="4645152"/>
            <a:ext cx="3108960" cy="512064"/>
            <a:chOff x="0" y="0"/>
            <a:chExt cx="4145280" cy="682752"/>
          </a:xfrm>
        </p:grpSpPr>
        <p:sp>
          <p:nvSpPr>
            <p:cNvPr name="Freeform 73" id="73"/>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74" id="74"/>
            <p:cNvSpPr txBox="true"/>
            <p:nvPr/>
          </p:nvSpPr>
          <p:spPr>
            <a:xfrm>
              <a:off x="0" y="-47625"/>
              <a:ext cx="4145280" cy="730377"/>
            </a:xfrm>
            <a:prstGeom prst="rect">
              <a:avLst/>
            </a:prstGeom>
          </p:spPr>
          <p:txBody>
            <a:bodyPr anchor="ctr" rtlCol="false" tIns="0" lIns="0" bIns="0" rIns="0"/>
            <a:lstStyle/>
            <a:p>
              <a:pPr algn="l">
                <a:lnSpc>
                  <a:spcPts val="2520"/>
                </a:lnSpc>
              </a:pPr>
              <a:r>
                <a:rPr lang="en-US" b="true" sz="2100">
                  <a:solidFill>
                    <a:srgbClr val="000000"/>
                  </a:solidFill>
                  <a:latin typeface="Consolas Bold"/>
                  <a:ea typeface="Consolas Bold"/>
                  <a:cs typeface="Consolas Bold"/>
                  <a:sym typeface="Consolas Bold"/>
                </a:rPr>
                <a:t>Y=49 → Y=47</a:t>
              </a:r>
            </a:p>
          </p:txBody>
        </p:sp>
      </p:grpSp>
      <p:grpSp>
        <p:nvGrpSpPr>
          <p:cNvPr name="Group 75" id="75"/>
          <p:cNvGrpSpPr/>
          <p:nvPr/>
        </p:nvGrpSpPr>
        <p:grpSpPr>
          <a:xfrm rot="0">
            <a:off x="9418320" y="5138928"/>
            <a:ext cx="3108960" cy="402336"/>
            <a:chOff x="0" y="0"/>
            <a:chExt cx="4145280" cy="536448"/>
          </a:xfrm>
        </p:grpSpPr>
        <p:sp>
          <p:nvSpPr>
            <p:cNvPr name="Freeform 76" id="76"/>
            <p:cNvSpPr/>
            <p:nvPr/>
          </p:nvSpPr>
          <p:spPr>
            <a:xfrm flipH="false" flipV="false" rot="0">
              <a:off x="0" y="0"/>
              <a:ext cx="4145280" cy="536448"/>
            </a:xfrm>
            <a:custGeom>
              <a:avLst/>
              <a:gdLst/>
              <a:ahLst/>
              <a:cxnLst/>
              <a:rect r="r" b="b" t="t" l="l"/>
              <a:pathLst>
                <a:path h="536448" w="4145280">
                  <a:moveTo>
                    <a:pt x="0" y="0"/>
                  </a:moveTo>
                  <a:lnTo>
                    <a:pt x="4145280" y="0"/>
                  </a:lnTo>
                  <a:lnTo>
                    <a:pt x="4145280" y="536448"/>
                  </a:lnTo>
                  <a:lnTo>
                    <a:pt x="0" y="536448"/>
                  </a:lnTo>
                  <a:close/>
                </a:path>
              </a:pathLst>
            </a:custGeom>
            <a:blipFill>
              <a:blip r:embed="rId3">
                <a:alphaModFix amt="0"/>
              </a:blip>
              <a:stretch>
                <a:fillRect l="0" t="-100566" r="0" b="-100566"/>
              </a:stretch>
            </a:blipFill>
          </p:spPr>
        </p:sp>
        <p:sp>
          <p:nvSpPr>
            <p:cNvPr name="TextBox 77" id="77"/>
            <p:cNvSpPr txBox="true"/>
            <p:nvPr/>
          </p:nvSpPr>
          <p:spPr>
            <a:xfrm>
              <a:off x="0" y="-9525"/>
              <a:ext cx="4145280" cy="545973"/>
            </a:xfrm>
            <a:prstGeom prst="rect">
              <a:avLst/>
            </a:prstGeom>
          </p:spPr>
          <p:txBody>
            <a:bodyPr anchor="ctr" rtlCol="false" tIns="0" lIns="0" bIns="0" rIns="0"/>
            <a:lstStyle/>
            <a:p>
              <a:pPr algn="l">
                <a:lnSpc>
                  <a:spcPts val="2160"/>
                </a:lnSpc>
              </a:pPr>
              <a:r>
                <a:rPr lang="en-US" sz="1800" i="true">
                  <a:solidFill>
                    <a:srgbClr val="000000"/>
                  </a:solidFill>
                  <a:latin typeface="Helios Extended Italics"/>
                  <a:ea typeface="Helios Extended Italics"/>
                  <a:cs typeface="Helios Extended Italics"/>
                  <a:sym typeface="Helios Extended Italics"/>
                </a:rPr>
                <a:t>adverse ↔ metab</a:t>
              </a:r>
            </a:p>
          </p:txBody>
        </p:sp>
      </p:grpSp>
      <p:grpSp>
        <p:nvGrpSpPr>
          <p:cNvPr name="Group 78" id="78"/>
          <p:cNvGrpSpPr/>
          <p:nvPr/>
        </p:nvGrpSpPr>
        <p:grpSpPr>
          <a:xfrm rot="0">
            <a:off x="12893040" y="4754880"/>
            <a:ext cx="2237375" cy="512064"/>
            <a:chOff x="0" y="0"/>
            <a:chExt cx="2983166" cy="682752"/>
          </a:xfrm>
        </p:grpSpPr>
        <p:sp>
          <p:nvSpPr>
            <p:cNvPr name="Freeform 79" id="79"/>
            <p:cNvSpPr/>
            <p:nvPr/>
          </p:nvSpPr>
          <p:spPr>
            <a:xfrm flipH="false" flipV="false" rot="0">
              <a:off x="0" y="0"/>
              <a:ext cx="2983230" cy="682752"/>
            </a:xfrm>
            <a:custGeom>
              <a:avLst/>
              <a:gdLst/>
              <a:ahLst/>
              <a:cxnLst/>
              <a:rect r="r" b="b" t="t" l="l"/>
              <a:pathLst>
                <a:path h="682752" w="2983230">
                  <a:moveTo>
                    <a:pt x="0" y="0"/>
                  </a:moveTo>
                  <a:lnTo>
                    <a:pt x="2983230" y="0"/>
                  </a:lnTo>
                  <a:lnTo>
                    <a:pt x="2983230" y="682752"/>
                  </a:lnTo>
                  <a:lnTo>
                    <a:pt x="0" y="682752"/>
                  </a:lnTo>
                  <a:close/>
                </a:path>
              </a:pathLst>
            </a:custGeom>
            <a:solidFill>
              <a:srgbClr val="3D4D55"/>
            </a:solidFill>
          </p:spPr>
        </p:sp>
      </p:grpSp>
      <p:grpSp>
        <p:nvGrpSpPr>
          <p:cNvPr name="Group 80" id="80"/>
          <p:cNvGrpSpPr/>
          <p:nvPr/>
        </p:nvGrpSpPr>
        <p:grpSpPr>
          <a:xfrm rot="0">
            <a:off x="15240143" y="4754880"/>
            <a:ext cx="1005840" cy="512064"/>
            <a:chOff x="0" y="0"/>
            <a:chExt cx="1341120" cy="682752"/>
          </a:xfrm>
        </p:grpSpPr>
        <p:sp>
          <p:nvSpPr>
            <p:cNvPr name="Freeform 81" id="81"/>
            <p:cNvSpPr/>
            <p:nvPr/>
          </p:nvSpPr>
          <p:spPr>
            <a:xfrm flipH="false" flipV="false" rot="0">
              <a:off x="0" y="0"/>
              <a:ext cx="1341120" cy="682752"/>
            </a:xfrm>
            <a:custGeom>
              <a:avLst/>
              <a:gdLst/>
              <a:ahLst/>
              <a:cxnLst/>
              <a:rect r="r" b="b" t="t" l="l"/>
              <a:pathLst>
                <a:path h="682752" w="1341120">
                  <a:moveTo>
                    <a:pt x="0" y="0"/>
                  </a:moveTo>
                  <a:lnTo>
                    <a:pt x="1341120" y="0"/>
                  </a:lnTo>
                  <a:lnTo>
                    <a:pt x="1341120" y="682752"/>
                  </a:lnTo>
                  <a:lnTo>
                    <a:pt x="0" y="682752"/>
                  </a:lnTo>
                  <a:close/>
                </a:path>
              </a:pathLst>
            </a:custGeom>
            <a:blipFill>
              <a:blip r:embed="rId3">
                <a:alphaModFix amt="0"/>
              </a:blip>
              <a:stretch>
                <a:fillRect l="-15318" t="0" r="-15318" b="0"/>
              </a:stretch>
            </a:blipFill>
          </p:spPr>
        </p:sp>
        <p:sp>
          <p:nvSpPr>
            <p:cNvPr name="TextBox 82" id="82"/>
            <p:cNvSpPr txBox="true"/>
            <p:nvPr/>
          </p:nvSpPr>
          <p:spPr>
            <a:xfrm>
              <a:off x="0" y="-28575"/>
              <a:ext cx="1341120" cy="711327"/>
            </a:xfrm>
            <a:prstGeom prst="rect">
              <a:avLst/>
            </a:prstGeom>
          </p:spPr>
          <p:txBody>
            <a:bodyPr anchor="ctr" rtlCol="false" tIns="0" lIns="0" bIns="0" rIns="0"/>
            <a:lstStyle/>
            <a:p>
              <a:pPr algn="l">
                <a:lnSpc>
                  <a:spcPts val="2400"/>
                </a:lnSpc>
              </a:pPr>
              <a:r>
                <a:rPr lang="en-US" b="true" sz="2000">
                  <a:solidFill>
                    <a:srgbClr val="000000"/>
                  </a:solidFill>
                  <a:latin typeface="Helios Extended Bold"/>
                  <a:ea typeface="Helios Extended Bold"/>
                  <a:cs typeface="Helios Extended Bold"/>
                  <a:sym typeface="Helios Extended Bold"/>
                </a:rPr>
                <a:t>321</a:t>
              </a:r>
            </a:p>
          </p:txBody>
        </p:sp>
      </p:grpSp>
      <p:grpSp>
        <p:nvGrpSpPr>
          <p:cNvPr name="Group 83" id="83"/>
          <p:cNvGrpSpPr/>
          <p:nvPr/>
        </p:nvGrpSpPr>
        <p:grpSpPr>
          <a:xfrm rot="0">
            <a:off x="9418320" y="5669280"/>
            <a:ext cx="3108960" cy="512064"/>
            <a:chOff x="0" y="0"/>
            <a:chExt cx="4145280" cy="682752"/>
          </a:xfrm>
        </p:grpSpPr>
        <p:sp>
          <p:nvSpPr>
            <p:cNvPr name="Freeform 84" id="84"/>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85" id="85"/>
            <p:cNvSpPr txBox="true"/>
            <p:nvPr/>
          </p:nvSpPr>
          <p:spPr>
            <a:xfrm>
              <a:off x="0" y="-47625"/>
              <a:ext cx="4145280" cy="730377"/>
            </a:xfrm>
            <a:prstGeom prst="rect">
              <a:avLst/>
            </a:prstGeom>
          </p:spPr>
          <p:txBody>
            <a:bodyPr anchor="ctr" rtlCol="false" tIns="0" lIns="0" bIns="0" rIns="0"/>
            <a:lstStyle/>
            <a:p>
              <a:pPr algn="l">
                <a:lnSpc>
                  <a:spcPts val="2520"/>
                </a:lnSpc>
              </a:pPr>
              <a:r>
                <a:rPr lang="en-US" b="true" sz="2100">
                  <a:solidFill>
                    <a:srgbClr val="000000"/>
                  </a:solidFill>
                  <a:latin typeface="Consolas Bold"/>
                  <a:ea typeface="Consolas Bold"/>
                  <a:cs typeface="Consolas Bold"/>
                  <a:sym typeface="Consolas Bold"/>
                </a:rPr>
                <a:t>Y=47 → Y=49</a:t>
              </a:r>
            </a:p>
          </p:txBody>
        </p:sp>
      </p:grpSp>
      <p:grpSp>
        <p:nvGrpSpPr>
          <p:cNvPr name="Group 86" id="86"/>
          <p:cNvGrpSpPr/>
          <p:nvPr/>
        </p:nvGrpSpPr>
        <p:grpSpPr>
          <a:xfrm rot="0">
            <a:off x="9418320" y="6163056"/>
            <a:ext cx="3108960" cy="402336"/>
            <a:chOff x="0" y="0"/>
            <a:chExt cx="4145280" cy="536448"/>
          </a:xfrm>
        </p:grpSpPr>
        <p:sp>
          <p:nvSpPr>
            <p:cNvPr name="Freeform 87" id="87"/>
            <p:cNvSpPr/>
            <p:nvPr/>
          </p:nvSpPr>
          <p:spPr>
            <a:xfrm flipH="false" flipV="false" rot="0">
              <a:off x="0" y="0"/>
              <a:ext cx="4145280" cy="536448"/>
            </a:xfrm>
            <a:custGeom>
              <a:avLst/>
              <a:gdLst/>
              <a:ahLst/>
              <a:cxnLst/>
              <a:rect r="r" b="b" t="t" l="l"/>
              <a:pathLst>
                <a:path h="536448" w="4145280">
                  <a:moveTo>
                    <a:pt x="0" y="0"/>
                  </a:moveTo>
                  <a:lnTo>
                    <a:pt x="4145280" y="0"/>
                  </a:lnTo>
                  <a:lnTo>
                    <a:pt x="4145280" y="536448"/>
                  </a:lnTo>
                  <a:lnTo>
                    <a:pt x="0" y="536448"/>
                  </a:lnTo>
                  <a:close/>
                </a:path>
              </a:pathLst>
            </a:custGeom>
            <a:blipFill>
              <a:blip r:embed="rId3">
                <a:alphaModFix amt="0"/>
              </a:blip>
              <a:stretch>
                <a:fillRect l="0" t="-100566" r="0" b="-100566"/>
              </a:stretch>
            </a:blipFill>
          </p:spPr>
        </p:sp>
        <p:sp>
          <p:nvSpPr>
            <p:cNvPr name="TextBox 88" id="88"/>
            <p:cNvSpPr txBox="true"/>
            <p:nvPr/>
          </p:nvSpPr>
          <p:spPr>
            <a:xfrm>
              <a:off x="0" y="-9525"/>
              <a:ext cx="4145280" cy="545973"/>
            </a:xfrm>
            <a:prstGeom prst="rect">
              <a:avLst/>
            </a:prstGeom>
          </p:spPr>
          <p:txBody>
            <a:bodyPr anchor="ctr" rtlCol="false" tIns="0" lIns="0" bIns="0" rIns="0"/>
            <a:lstStyle/>
            <a:p>
              <a:pPr algn="l">
                <a:lnSpc>
                  <a:spcPts val="2160"/>
                </a:lnSpc>
              </a:pPr>
              <a:r>
                <a:rPr lang="en-US" sz="1800" i="true">
                  <a:solidFill>
                    <a:srgbClr val="000000"/>
                  </a:solidFill>
                  <a:latin typeface="Helios Extended Italics"/>
                  <a:ea typeface="Helios Extended Italics"/>
                  <a:cs typeface="Helios Extended Italics"/>
                  <a:sym typeface="Helios Extended Italics"/>
                </a:rPr>
                <a:t>metab ↔ adverse</a:t>
              </a:r>
            </a:p>
          </p:txBody>
        </p:sp>
      </p:grpSp>
      <p:grpSp>
        <p:nvGrpSpPr>
          <p:cNvPr name="Group 89" id="89"/>
          <p:cNvGrpSpPr/>
          <p:nvPr/>
        </p:nvGrpSpPr>
        <p:grpSpPr>
          <a:xfrm rot="0">
            <a:off x="12893040" y="5779008"/>
            <a:ext cx="2132828" cy="512064"/>
            <a:chOff x="0" y="0"/>
            <a:chExt cx="2843771" cy="682752"/>
          </a:xfrm>
        </p:grpSpPr>
        <p:sp>
          <p:nvSpPr>
            <p:cNvPr name="Freeform 90" id="90"/>
            <p:cNvSpPr/>
            <p:nvPr/>
          </p:nvSpPr>
          <p:spPr>
            <a:xfrm flipH="false" flipV="false" rot="0">
              <a:off x="0" y="0"/>
              <a:ext cx="2843784" cy="682752"/>
            </a:xfrm>
            <a:custGeom>
              <a:avLst/>
              <a:gdLst/>
              <a:ahLst/>
              <a:cxnLst/>
              <a:rect r="r" b="b" t="t" l="l"/>
              <a:pathLst>
                <a:path h="682752" w="2843784">
                  <a:moveTo>
                    <a:pt x="0" y="0"/>
                  </a:moveTo>
                  <a:lnTo>
                    <a:pt x="2843784" y="0"/>
                  </a:lnTo>
                  <a:lnTo>
                    <a:pt x="2843784" y="682752"/>
                  </a:lnTo>
                  <a:lnTo>
                    <a:pt x="0" y="682752"/>
                  </a:lnTo>
                  <a:close/>
                </a:path>
              </a:pathLst>
            </a:custGeom>
            <a:solidFill>
              <a:srgbClr val="3D4D55"/>
            </a:solidFill>
          </p:spPr>
        </p:sp>
      </p:grpSp>
      <p:grpSp>
        <p:nvGrpSpPr>
          <p:cNvPr name="Group 91" id="91"/>
          <p:cNvGrpSpPr/>
          <p:nvPr/>
        </p:nvGrpSpPr>
        <p:grpSpPr>
          <a:xfrm rot="0">
            <a:off x="15135596" y="5779008"/>
            <a:ext cx="1005840" cy="512064"/>
            <a:chOff x="0" y="0"/>
            <a:chExt cx="1341120" cy="682752"/>
          </a:xfrm>
        </p:grpSpPr>
        <p:sp>
          <p:nvSpPr>
            <p:cNvPr name="Freeform 92" id="92"/>
            <p:cNvSpPr/>
            <p:nvPr/>
          </p:nvSpPr>
          <p:spPr>
            <a:xfrm flipH="false" flipV="false" rot="0">
              <a:off x="0" y="0"/>
              <a:ext cx="1341120" cy="682752"/>
            </a:xfrm>
            <a:custGeom>
              <a:avLst/>
              <a:gdLst/>
              <a:ahLst/>
              <a:cxnLst/>
              <a:rect r="r" b="b" t="t" l="l"/>
              <a:pathLst>
                <a:path h="682752" w="1341120">
                  <a:moveTo>
                    <a:pt x="0" y="0"/>
                  </a:moveTo>
                  <a:lnTo>
                    <a:pt x="1341120" y="0"/>
                  </a:lnTo>
                  <a:lnTo>
                    <a:pt x="1341120" y="682752"/>
                  </a:lnTo>
                  <a:lnTo>
                    <a:pt x="0" y="682752"/>
                  </a:lnTo>
                  <a:close/>
                </a:path>
              </a:pathLst>
            </a:custGeom>
            <a:blipFill>
              <a:blip r:embed="rId3">
                <a:alphaModFix amt="0"/>
              </a:blip>
              <a:stretch>
                <a:fillRect l="-15318" t="0" r="-15318" b="0"/>
              </a:stretch>
            </a:blipFill>
          </p:spPr>
        </p:sp>
        <p:sp>
          <p:nvSpPr>
            <p:cNvPr name="TextBox 93" id="93"/>
            <p:cNvSpPr txBox="true"/>
            <p:nvPr/>
          </p:nvSpPr>
          <p:spPr>
            <a:xfrm>
              <a:off x="0" y="-28575"/>
              <a:ext cx="1341120" cy="711327"/>
            </a:xfrm>
            <a:prstGeom prst="rect">
              <a:avLst/>
            </a:prstGeom>
          </p:spPr>
          <p:txBody>
            <a:bodyPr anchor="ctr" rtlCol="false" tIns="0" lIns="0" bIns="0" rIns="0"/>
            <a:lstStyle/>
            <a:p>
              <a:pPr algn="l">
                <a:lnSpc>
                  <a:spcPts val="2400"/>
                </a:lnSpc>
              </a:pPr>
              <a:r>
                <a:rPr lang="en-US" b="true" sz="2000">
                  <a:solidFill>
                    <a:srgbClr val="000000"/>
                  </a:solidFill>
                  <a:latin typeface="Helios Extended Bold"/>
                  <a:ea typeface="Helios Extended Bold"/>
                  <a:cs typeface="Helios Extended Bold"/>
                  <a:sym typeface="Helios Extended Bold"/>
                </a:rPr>
                <a:t>306</a:t>
              </a:r>
            </a:p>
          </p:txBody>
        </p:sp>
      </p:grpSp>
      <p:grpSp>
        <p:nvGrpSpPr>
          <p:cNvPr name="Group 94" id="94"/>
          <p:cNvGrpSpPr/>
          <p:nvPr/>
        </p:nvGrpSpPr>
        <p:grpSpPr>
          <a:xfrm rot="0">
            <a:off x="9418320" y="6693408"/>
            <a:ext cx="3108960" cy="512064"/>
            <a:chOff x="0" y="0"/>
            <a:chExt cx="4145280" cy="682752"/>
          </a:xfrm>
        </p:grpSpPr>
        <p:sp>
          <p:nvSpPr>
            <p:cNvPr name="Freeform 95" id="95"/>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96" id="96"/>
            <p:cNvSpPr txBox="true"/>
            <p:nvPr/>
          </p:nvSpPr>
          <p:spPr>
            <a:xfrm>
              <a:off x="0" y="-47625"/>
              <a:ext cx="4145280" cy="730377"/>
            </a:xfrm>
            <a:prstGeom prst="rect">
              <a:avLst/>
            </a:prstGeom>
          </p:spPr>
          <p:txBody>
            <a:bodyPr anchor="ctr" rtlCol="false" tIns="0" lIns="0" bIns="0" rIns="0"/>
            <a:lstStyle/>
            <a:p>
              <a:pPr algn="l">
                <a:lnSpc>
                  <a:spcPts val="2520"/>
                </a:lnSpc>
              </a:pPr>
              <a:r>
                <a:rPr lang="en-US" b="true" sz="2100">
                  <a:solidFill>
                    <a:srgbClr val="000000"/>
                  </a:solidFill>
                  <a:latin typeface="Consolas Bold"/>
                  <a:ea typeface="Consolas Bold"/>
                  <a:cs typeface="Consolas Bold"/>
                  <a:sym typeface="Consolas Bold"/>
                </a:rPr>
                <a:t>Y=73 → Y=47</a:t>
              </a:r>
            </a:p>
          </p:txBody>
        </p:sp>
      </p:grpSp>
      <p:grpSp>
        <p:nvGrpSpPr>
          <p:cNvPr name="Group 97" id="97"/>
          <p:cNvGrpSpPr/>
          <p:nvPr/>
        </p:nvGrpSpPr>
        <p:grpSpPr>
          <a:xfrm rot="0">
            <a:off x="9418320" y="7187184"/>
            <a:ext cx="3108960" cy="402336"/>
            <a:chOff x="0" y="0"/>
            <a:chExt cx="4145280" cy="536448"/>
          </a:xfrm>
        </p:grpSpPr>
        <p:sp>
          <p:nvSpPr>
            <p:cNvPr name="Freeform 98" id="98"/>
            <p:cNvSpPr/>
            <p:nvPr/>
          </p:nvSpPr>
          <p:spPr>
            <a:xfrm flipH="false" flipV="false" rot="0">
              <a:off x="0" y="0"/>
              <a:ext cx="4145280" cy="536448"/>
            </a:xfrm>
            <a:custGeom>
              <a:avLst/>
              <a:gdLst/>
              <a:ahLst/>
              <a:cxnLst/>
              <a:rect r="r" b="b" t="t" l="l"/>
              <a:pathLst>
                <a:path h="536448" w="4145280">
                  <a:moveTo>
                    <a:pt x="0" y="0"/>
                  </a:moveTo>
                  <a:lnTo>
                    <a:pt x="4145280" y="0"/>
                  </a:lnTo>
                  <a:lnTo>
                    <a:pt x="4145280" y="536448"/>
                  </a:lnTo>
                  <a:lnTo>
                    <a:pt x="0" y="536448"/>
                  </a:lnTo>
                  <a:close/>
                </a:path>
              </a:pathLst>
            </a:custGeom>
            <a:blipFill>
              <a:blip r:embed="rId3">
                <a:alphaModFix amt="0"/>
              </a:blip>
              <a:stretch>
                <a:fillRect l="0" t="-100566" r="0" b="-100566"/>
              </a:stretch>
            </a:blipFill>
          </p:spPr>
        </p:sp>
        <p:sp>
          <p:nvSpPr>
            <p:cNvPr name="TextBox 99" id="99"/>
            <p:cNvSpPr txBox="true"/>
            <p:nvPr/>
          </p:nvSpPr>
          <p:spPr>
            <a:xfrm>
              <a:off x="0" y="-9525"/>
              <a:ext cx="4145280" cy="545973"/>
            </a:xfrm>
            <a:prstGeom prst="rect">
              <a:avLst/>
            </a:prstGeom>
          </p:spPr>
          <p:txBody>
            <a:bodyPr anchor="ctr" rtlCol="false" tIns="0" lIns="0" bIns="0" rIns="0"/>
            <a:lstStyle/>
            <a:p>
              <a:pPr algn="l">
                <a:lnSpc>
                  <a:spcPts val="2160"/>
                </a:lnSpc>
              </a:pPr>
              <a:r>
                <a:rPr lang="en-US" sz="1800" i="true">
                  <a:solidFill>
                    <a:srgbClr val="000000"/>
                  </a:solidFill>
                  <a:latin typeface="Helios Extended Italics"/>
                  <a:ea typeface="Helios Extended Italics"/>
                  <a:cs typeface="Helios Extended Italics"/>
                  <a:sym typeface="Helios Extended Italics"/>
                </a:rPr>
                <a:t>serum conc ↔ metab</a:t>
              </a:r>
            </a:p>
          </p:txBody>
        </p:sp>
      </p:grpSp>
      <p:grpSp>
        <p:nvGrpSpPr>
          <p:cNvPr name="Group 100" id="100"/>
          <p:cNvGrpSpPr/>
          <p:nvPr/>
        </p:nvGrpSpPr>
        <p:grpSpPr>
          <a:xfrm rot="0">
            <a:off x="12893040" y="6803136"/>
            <a:ext cx="2014337" cy="512064"/>
            <a:chOff x="0" y="0"/>
            <a:chExt cx="2685783" cy="682752"/>
          </a:xfrm>
        </p:grpSpPr>
        <p:sp>
          <p:nvSpPr>
            <p:cNvPr name="Freeform 101" id="101"/>
            <p:cNvSpPr/>
            <p:nvPr/>
          </p:nvSpPr>
          <p:spPr>
            <a:xfrm flipH="false" flipV="false" rot="0">
              <a:off x="0" y="0"/>
              <a:ext cx="2685796" cy="682752"/>
            </a:xfrm>
            <a:custGeom>
              <a:avLst/>
              <a:gdLst/>
              <a:ahLst/>
              <a:cxnLst/>
              <a:rect r="r" b="b" t="t" l="l"/>
              <a:pathLst>
                <a:path h="682752" w="2685796">
                  <a:moveTo>
                    <a:pt x="0" y="0"/>
                  </a:moveTo>
                  <a:lnTo>
                    <a:pt x="2685796" y="0"/>
                  </a:lnTo>
                  <a:lnTo>
                    <a:pt x="2685796" y="682752"/>
                  </a:lnTo>
                  <a:lnTo>
                    <a:pt x="0" y="682752"/>
                  </a:lnTo>
                  <a:close/>
                </a:path>
              </a:pathLst>
            </a:custGeom>
            <a:solidFill>
              <a:srgbClr val="3D4D55"/>
            </a:solidFill>
          </p:spPr>
        </p:sp>
      </p:grpSp>
      <p:grpSp>
        <p:nvGrpSpPr>
          <p:cNvPr name="Group 102" id="102"/>
          <p:cNvGrpSpPr/>
          <p:nvPr/>
        </p:nvGrpSpPr>
        <p:grpSpPr>
          <a:xfrm rot="0">
            <a:off x="15017105" y="6803136"/>
            <a:ext cx="1005840" cy="512064"/>
            <a:chOff x="0" y="0"/>
            <a:chExt cx="1341120" cy="682752"/>
          </a:xfrm>
        </p:grpSpPr>
        <p:sp>
          <p:nvSpPr>
            <p:cNvPr name="Freeform 103" id="103"/>
            <p:cNvSpPr/>
            <p:nvPr/>
          </p:nvSpPr>
          <p:spPr>
            <a:xfrm flipH="false" flipV="false" rot="0">
              <a:off x="0" y="0"/>
              <a:ext cx="1341120" cy="682752"/>
            </a:xfrm>
            <a:custGeom>
              <a:avLst/>
              <a:gdLst/>
              <a:ahLst/>
              <a:cxnLst/>
              <a:rect r="r" b="b" t="t" l="l"/>
              <a:pathLst>
                <a:path h="682752" w="1341120">
                  <a:moveTo>
                    <a:pt x="0" y="0"/>
                  </a:moveTo>
                  <a:lnTo>
                    <a:pt x="1341120" y="0"/>
                  </a:lnTo>
                  <a:lnTo>
                    <a:pt x="1341120" y="682752"/>
                  </a:lnTo>
                  <a:lnTo>
                    <a:pt x="0" y="682752"/>
                  </a:lnTo>
                  <a:close/>
                </a:path>
              </a:pathLst>
            </a:custGeom>
            <a:blipFill>
              <a:blip r:embed="rId3">
                <a:alphaModFix amt="0"/>
              </a:blip>
              <a:stretch>
                <a:fillRect l="-15318" t="0" r="-15318" b="0"/>
              </a:stretch>
            </a:blipFill>
          </p:spPr>
        </p:sp>
        <p:sp>
          <p:nvSpPr>
            <p:cNvPr name="TextBox 104" id="104"/>
            <p:cNvSpPr txBox="true"/>
            <p:nvPr/>
          </p:nvSpPr>
          <p:spPr>
            <a:xfrm>
              <a:off x="0" y="-28575"/>
              <a:ext cx="1341120" cy="711327"/>
            </a:xfrm>
            <a:prstGeom prst="rect">
              <a:avLst/>
            </a:prstGeom>
          </p:spPr>
          <p:txBody>
            <a:bodyPr anchor="ctr" rtlCol="false" tIns="0" lIns="0" bIns="0" rIns="0"/>
            <a:lstStyle/>
            <a:p>
              <a:pPr algn="l">
                <a:lnSpc>
                  <a:spcPts val="2400"/>
                </a:lnSpc>
              </a:pPr>
              <a:r>
                <a:rPr lang="en-US" b="true" sz="2000">
                  <a:solidFill>
                    <a:srgbClr val="000000"/>
                  </a:solidFill>
                  <a:latin typeface="Helios Extended Bold"/>
                  <a:ea typeface="Helios Extended Bold"/>
                  <a:cs typeface="Helios Extended Bold"/>
                  <a:sym typeface="Helios Extended Bold"/>
                </a:rPr>
                <a:t>289</a:t>
              </a:r>
            </a:p>
          </p:txBody>
        </p:sp>
      </p:grpSp>
      <p:grpSp>
        <p:nvGrpSpPr>
          <p:cNvPr name="Group 105" id="105"/>
          <p:cNvGrpSpPr/>
          <p:nvPr/>
        </p:nvGrpSpPr>
        <p:grpSpPr>
          <a:xfrm rot="0">
            <a:off x="9418320" y="7717536"/>
            <a:ext cx="3108960" cy="512064"/>
            <a:chOff x="0" y="0"/>
            <a:chExt cx="4145280" cy="682752"/>
          </a:xfrm>
        </p:grpSpPr>
        <p:sp>
          <p:nvSpPr>
            <p:cNvPr name="Freeform 106" id="106"/>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107" id="107"/>
            <p:cNvSpPr txBox="true"/>
            <p:nvPr/>
          </p:nvSpPr>
          <p:spPr>
            <a:xfrm>
              <a:off x="0" y="-47625"/>
              <a:ext cx="4145280" cy="730377"/>
            </a:xfrm>
            <a:prstGeom prst="rect">
              <a:avLst/>
            </a:prstGeom>
          </p:spPr>
          <p:txBody>
            <a:bodyPr anchor="ctr" rtlCol="false" tIns="0" lIns="0" bIns="0" rIns="0"/>
            <a:lstStyle/>
            <a:p>
              <a:pPr algn="l">
                <a:lnSpc>
                  <a:spcPts val="2520"/>
                </a:lnSpc>
              </a:pPr>
              <a:r>
                <a:rPr lang="en-US" b="true" sz="2100">
                  <a:solidFill>
                    <a:srgbClr val="000000"/>
                  </a:solidFill>
                  <a:latin typeface="Consolas Bold"/>
                  <a:ea typeface="Consolas Bold"/>
                  <a:cs typeface="Consolas Bold"/>
                  <a:sym typeface="Consolas Bold"/>
                </a:rPr>
                <a:t>Y=49 → Y=73</a:t>
              </a:r>
            </a:p>
          </p:txBody>
        </p:sp>
      </p:grpSp>
      <p:grpSp>
        <p:nvGrpSpPr>
          <p:cNvPr name="Group 108" id="108"/>
          <p:cNvGrpSpPr/>
          <p:nvPr/>
        </p:nvGrpSpPr>
        <p:grpSpPr>
          <a:xfrm rot="0">
            <a:off x="9418320" y="8211312"/>
            <a:ext cx="3108960" cy="402336"/>
            <a:chOff x="0" y="0"/>
            <a:chExt cx="4145280" cy="536448"/>
          </a:xfrm>
        </p:grpSpPr>
        <p:sp>
          <p:nvSpPr>
            <p:cNvPr name="Freeform 109" id="109"/>
            <p:cNvSpPr/>
            <p:nvPr/>
          </p:nvSpPr>
          <p:spPr>
            <a:xfrm flipH="false" flipV="false" rot="0">
              <a:off x="0" y="0"/>
              <a:ext cx="4145280" cy="536448"/>
            </a:xfrm>
            <a:custGeom>
              <a:avLst/>
              <a:gdLst/>
              <a:ahLst/>
              <a:cxnLst/>
              <a:rect r="r" b="b" t="t" l="l"/>
              <a:pathLst>
                <a:path h="536448" w="4145280">
                  <a:moveTo>
                    <a:pt x="0" y="0"/>
                  </a:moveTo>
                  <a:lnTo>
                    <a:pt x="4145280" y="0"/>
                  </a:lnTo>
                  <a:lnTo>
                    <a:pt x="4145280" y="536448"/>
                  </a:lnTo>
                  <a:lnTo>
                    <a:pt x="0" y="536448"/>
                  </a:lnTo>
                  <a:close/>
                </a:path>
              </a:pathLst>
            </a:custGeom>
            <a:blipFill>
              <a:blip r:embed="rId3">
                <a:alphaModFix amt="0"/>
              </a:blip>
              <a:stretch>
                <a:fillRect l="0" t="-100566" r="0" b="-100566"/>
              </a:stretch>
            </a:blipFill>
          </p:spPr>
        </p:sp>
        <p:sp>
          <p:nvSpPr>
            <p:cNvPr name="TextBox 110" id="110"/>
            <p:cNvSpPr txBox="true"/>
            <p:nvPr/>
          </p:nvSpPr>
          <p:spPr>
            <a:xfrm>
              <a:off x="0" y="-9525"/>
              <a:ext cx="4145280" cy="545973"/>
            </a:xfrm>
            <a:prstGeom prst="rect">
              <a:avLst/>
            </a:prstGeom>
          </p:spPr>
          <p:txBody>
            <a:bodyPr anchor="ctr" rtlCol="false" tIns="0" lIns="0" bIns="0" rIns="0"/>
            <a:lstStyle/>
            <a:p>
              <a:pPr algn="l">
                <a:lnSpc>
                  <a:spcPts val="2160"/>
                </a:lnSpc>
              </a:pPr>
              <a:r>
                <a:rPr lang="en-US" sz="1800" i="true">
                  <a:solidFill>
                    <a:srgbClr val="000000"/>
                  </a:solidFill>
                  <a:latin typeface="Helios Extended Italics"/>
                  <a:ea typeface="Helios Extended Italics"/>
                  <a:cs typeface="Helios Extended Italics"/>
                  <a:sym typeface="Helios Extended Italics"/>
                </a:rPr>
                <a:t>adverse ↔ serum conc</a:t>
              </a:r>
            </a:p>
          </p:txBody>
        </p:sp>
      </p:grpSp>
      <p:grpSp>
        <p:nvGrpSpPr>
          <p:cNvPr name="Group 111" id="111"/>
          <p:cNvGrpSpPr/>
          <p:nvPr/>
        </p:nvGrpSpPr>
        <p:grpSpPr>
          <a:xfrm rot="0">
            <a:off x="12893040" y="7827264"/>
            <a:ext cx="1421882" cy="512064"/>
            <a:chOff x="0" y="0"/>
            <a:chExt cx="1895843" cy="682752"/>
          </a:xfrm>
        </p:grpSpPr>
        <p:sp>
          <p:nvSpPr>
            <p:cNvPr name="Freeform 112" id="112"/>
            <p:cNvSpPr/>
            <p:nvPr/>
          </p:nvSpPr>
          <p:spPr>
            <a:xfrm flipH="false" flipV="false" rot="0">
              <a:off x="0" y="0"/>
              <a:ext cx="1895856" cy="682752"/>
            </a:xfrm>
            <a:custGeom>
              <a:avLst/>
              <a:gdLst/>
              <a:ahLst/>
              <a:cxnLst/>
              <a:rect r="r" b="b" t="t" l="l"/>
              <a:pathLst>
                <a:path h="682752" w="1895856">
                  <a:moveTo>
                    <a:pt x="0" y="0"/>
                  </a:moveTo>
                  <a:lnTo>
                    <a:pt x="1895856" y="0"/>
                  </a:lnTo>
                  <a:lnTo>
                    <a:pt x="1895856" y="682752"/>
                  </a:lnTo>
                  <a:lnTo>
                    <a:pt x="0" y="682752"/>
                  </a:lnTo>
                  <a:close/>
                </a:path>
              </a:pathLst>
            </a:custGeom>
            <a:solidFill>
              <a:srgbClr val="A79E9C"/>
            </a:solidFill>
          </p:spPr>
        </p:sp>
      </p:grpSp>
      <p:grpSp>
        <p:nvGrpSpPr>
          <p:cNvPr name="Group 113" id="113"/>
          <p:cNvGrpSpPr/>
          <p:nvPr/>
        </p:nvGrpSpPr>
        <p:grpSpPr>
          <a:xfrm rot="0">
            <a:off x="14424650" y="7827264"/>
            <a:ext cx="1005840" cy="512064"/>
            <a:chOff x="0" y="0"/>
            <a:chExt cx="1341120" cy="682752"/>
          </a:xfrm>
        </p:grpSpPr>
        <p:sp>
          <p:nvSpPr>
            <p:cNvPr name="Freeform 114" id="114"/>
            <p:cNvSpPr/>
            <p:nvPr/>
          </p:nvSpPr>
          <p:spPr>
            <a:xfrm flipH="false" flipV="false" rot="0">
              <a:off x="0" y="0"/>
              <a:ext cx="1341120" cy="682752"/>
            </a:xfrm>
            <a:custGeom>
              <a:avLst/>
              <a:gdLst/>
              <a:ahLst/>
              <a:cxnLst/>
              <a:rect r="r" b="b" t="t" l="l"/>
              <a:pathLst>
                <a:path h="682752" w="1341120">
                  <a:moveTo>
                    <a:pt x="0" y="0"/>
                  </a:moveTo>
                  <a:lnTo>
                    <a:pt x="1341120" y="0"/>
                  </a:lnTo>
                  <a:lnTo>
                    <a:pt x="1341120" y="682752"/>
                  </a:lnTo>
                  <a:lnTo>
                    <a:pt x="0" y="682752"/>
                  </a:lnTo>
                  <a:close/>
                </a:path>
              </a:pathLst>
            </a:custGeom>
            <a:solidFill>
              <a:srgbClr val="000000">
                <a:alpha val="0"/>
              </a:srgbClr>
            </a:solidFill>
          </p:spPr>
        </p:sp>
        <p:sp>
          <p:nvSpPr>
            <p:cNvPr name="TextBox 115" id="115"/>
            <p:cNvSpPr txBox="true"/>
            <p:nvPr/>
          </p:nvSpPr>
          <p:spPr>
            <a:xfrm>
              <a:off x="0" y="-28575"/>
              <a:ext cx="1341120" cy="711327"/>
            </a:xfrm>
            <a:prstGeom prst="rect">
              <a:avLst/>
            </a:prstGeom>
          </p:spPr>
          <p:txBody>
            <a:bodyPr anchor="ctr" rtlCol="false" tIns="0" lIns="0" bIns="0" rIns="0"/>
            <a:lstStyle/>
            <a:p>
              <a:pPr algn="l">
                <a:lnSpc>
                  <a:spcPts val="2400"/>
                </a:lnSpc>
              </a:pPr>
              <a:r>
                <a:rPr lang="en-US" b="true" sz="2000">
                  <a:solidFill>
                    <a:srgbClr val="000000"/>
                  </a:solidFill>
                  <a:latin typeface="Helios Extended Bold"/>
                  <a:ea typeface="Helios Extended Bold"/>
                  <a:cs typeface="Helios Extended Bold"/>
                  <a:sym typeface="Helios Extended Bold"/>
                </a:rPr>
                <a:t>204</a:t>
              </a:r>
            </a:p>
          </p:txBody>
        </p:sp>
      </p:grpSp>
      <p:sp>
        <p:nvSpPr>
          <p:cNvPr name="TextBox 116" id="1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48640" y="335737"/>
            <a:ext cx="13716000" cy="940384"/>
            <a:chOff x="0" y="0"/>
            <a:chExt cx="18288000" cy="1253845"/>
          </a:xfrm>
        </p:grpSpPr>
        <p:sp>
          <p:nvSpPr>
            <p:cNvPr name="Freeform 3" id="3"/>
            <p:cNvSpPr/>
            <p:nvPr/>
          </p:nvSpPr>
          <p:spPr>
            <a:xfrm flipH="false" flipV="false" rot="0">
              <a:off x="0" y="0"/>
              <a:ext cx="18288000" cy="1253845"/>
            </a:xfrm>
            <a:custGeom>
              <a:avLst/>
              <a:gdLst/>
              <a:ahLst/>
              <a:cxnLst/>
              <a:rect r="r" b="b" t="t" l="l"/>
              <a:pathLst>
                <a:path h="1253845" w="18288000">
                  <a:moveTo>
                    <a:pt x="0" y="0"/>
                  </a:moveTo>
                  <a:lnTo>
                    <a:pt x="18288000" y="0"/>
                  </a:lnTo>
                  <a:lnTo>
                    <a:pt x="18288000" y="1253845"/>
                  </a:lnTo>
                  <a:lnTo>
                    <a:pt x="0" y="1253845"/>
                  </a:lnTo>
                  <a:close/>
                </a:path>
              </a:pathLst>
            </a:custGeom>
            <a:blipFill>
              <a:blip r:embed="rId3">
                <a:alphaModFix amt="0"/>
              </a:blip>
              <a:stretch>
                <a:fillRect l="0" t="-247249" r="0" b="-221149"/>
              </a:stretch>
            </a:blipFill>
          </p:spPr>
        </p:sp>
        <p:sp>
          <p:nvSpPr>
            <p:cNvPr name="TextBox 4" id="4"/>
            <p:cNvSpPr txBox="true"/>
            <p:nvPr/>
          </p:nvSpPr>
          <p:spPr>
            <a:xfrm>
              <a:off x="0" y="-38100"/>
              <a:ext cx="18288000" cy="1291945"/>
            </a:xfrm>
            <a:prstGeom prst="rect">
              <a:avLst/>
            </a:prstGeom>
          </p:spPr>
          <p:txBody>
            <a:bodyPr anchor="ctr" rtlCol="false" tIns="0" lIns="0" bIns="0" rIns="0"/>
            <a:lstStyle/>
            <a:p>
              <a:pPr algn="l">
                <a:lnSpc>
                  <a:spcPts val="5639"/>
                </a:lnSpc>
              </a:pPr>
              <a:r>
                <a:rPr lang="en-US" b="true" sz="4699">
                  <a:solidFill>
                    <a:srgbClr val="000000"/>
                  </a:solidFill>
                  <a:latin typeface="Helios Extended Bold"/>
                  <a:ea typeface="Helios Extended Bold"/>
                  <a:cs typeface="Helios Extended Bold"/>
                  <a:sym typeface="Helios Extended Bold"/>
                </a:rPr>
                <a:t>Root Causes  →  Targeted Fixes</a:t>
              </a:r>
            </a:p>
          </p:txBody>
        </p:sp>
      </p:grpSp>
      <p:grpSp>
        <p:nvGrpSpPr>
          <p:cNvPr name="Group 5" id="5"/>
          <p:cNvGrpSpPr/>
          <p:nvPr/>
        </p:nvGrpSpPr>
        <p:grpSpPr>
          <a:xfrm rot="0">
            <a:off x="389639" y="1434616"/>
            <a:ext cx="8364731" cy="537467"/>
            <a:chOff x="0" y="0"/>
            <a:chExt cx="11152975" cy="716623"/>
          </a:xfrm>
        </p:grpSpPr>
        <p:sp>
          <p:nvSpPr>
            <p:cNvPr name="Freeform 6" id="6"/>
            <p:cNvSpPr/>
            <p:nvPr/>
          </p:nvSpPr>
          <p:spPr>
            <a:xfrm flipH="false" flipV="false" rot="0">
              <a:off x="16891" y="16891"/>
              <a:ext cx="11119104" cy="682752"/>
            </a:xfrm>
            <a:custGeom>
              <a:avLst/>
              <a:gdLst/>
              <a:ahLst/>
              <a:cxnLst/>
              <a:rect r="r" b="b" t="t" l="l"/>
              <a:pathLst>
                <a:path h="682752" w="11119104">
                  <a:moveTo>
                    <a:pt x="0" y="0"/>
                  </a:moveTo>
                  <a:lnTo>
                    <a:pt x="11119104" y="0"/>
                  </a:lnTo>
                  <a:lnTo>
                    <a:pt x="11119104" y="682752"/>
                  </a:lnTo>
                  <a:lnTo>
                    <a:pt x="0" y="682752"/>
                  </a:lnTo>
                  <a:close/>
                </a:path>
              </a:pathLst>
            </a:custGeom>
            <a:solidFill>
              <a:srgbClr val="D74C41"/>
            </a:solidFill>
          </p:spPr>
        </p:sp>
        <p:sp>
          <p:nvSpPr>
            <p:cNvPr name="Freeform 7" id="7"/>
            <p:cNvSpPr/>
            <p:nvPr/>
          </p:nvSpPr>
          <p:spPr>
            <a:xfrm flipH="false" flipV="false" rot="0">
              <a:off x="0" y="0"/>
              <a:ext cx="11152886" cy="716536"/>
            </a:xfrm>
            <a:custGeom>
              <a:avLst/>
              <a:gdLst/>
              <a:ahLst/>
              <a:cxnLst/>
              <a:rect r="r" b="b" t="t" l="l"/>
              <a:pathLst>
                <a:path h="716536" w="11152886">
                  <a:moveTo>
                    <a:pt x="16891" y="0"/>
                  </a:moveTo>
                  <a:lnTo>
                    <a:pt x="11135995" y="0"/>
                  </a:lnTo>
                  <a:cubicBezTo>
                    <a:pt x="11145393" y="0"/>
                    <a:pt x="11152886" y="7620"/>
                    <a:pt x="11152886" y="16891"/>
                  </a:cubicBezTo>
                  <a:lnTo>
                    <a:pt x="11152886" y="699643"/>
                  </a:lnTo>
                  <a:cubicBezTo>
                    <a:pt x="11152886" y="709041"/>
                    <a:pt x="11145265" y="716534"/>
                    <a:pt x="11135995"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11135995" y="682752"/>
                  </a:lnTo>
                  <a:lnTo>
                    <a:pt x="11135995" y="699643"/>
                  </a:lnTo>
                  <a:lnTo>
                    <a:pt x="11119103" y="699643"/>
                  </a:lnTo>
                  <a:lnTo>
                    <a:pt x="11119103" y="16891"/>
                  </a:lnTo>
                  <a:lnTo>
                    <a:pt x="11135995" y="16891"/>
                  </a:lnTo>
                  <a:lnTo>
                    <a:pt x="11135995" y="33909"/>
                  </a:lnTo>
                  <a:lnTo>
                    <a:pt x="16891" y="33909"/>
                  </a:lnTo>
                  <a:close/>
                </a:path>
              </a:pathLst>
            </a:custGeom>
            <a:solidFill>
              <a:srgbClr val="FDF1F0"/>
            </a:solidFill>
          </p:spPr>
        </p:sp>
      </p:grpSp>
      <p:grpSp>
        <p:nvGrpSpPr>
          <p:cNvPr name="Group 8" id="8"/>
          <p:cNvGrpSpPr/>
          <p:nvPr/>
        </p:nvGrpSpPr>
        <p:grpSpPr>
          <a:xfrm rot="0">
            <a:off x="389639" y="1502181"/>
            <a:ext cx="8339328" cy="402336"/>
            <a:chOff x="0" y="0"/>
            <a:chExt cx="11119104" cy="536448"/>
          </a:xfrm>
        </p:grpSpPr>
        <p:sp>
          <p:nvSpPr>
            <p:cNvPr name="Freeform 9" id="9"/>
            <p:cNvSpPr/>
            <p:nvPr/>
          </p:nvSpPr>
          <p:spPr>
            <a:xfrm flipH="false" flipV="false" rot="0">
              <a:off x="0" y="0"/>
              <a:ext cx="11119104" cy="536448"/>
            </a:xfrm>
            <a:custGeom>
              <a:avLst/>
              <a:gdLst/>
              <a:ahLst/>
              <a:cxnLst/>
              <a:rect r="r" b="b" t="t" l="l"/>
              <a:pathLst>
                <a:path h="536448" w="11119104">
                  <a:moveTo>
                    <a:pt x="0" y="0"/>
                  </a:moveTo>
                  <a:lnTo>
                    <a:pt x="11119104" y="0"/>
                  </a:lnTo>
                  <a:lnTo>
                    <a:pt x="11119104" y="536448"/>
                  </a:lnTo>
                  <a:lnTo>
                    <a:pt x="0" y="536448"/>
                  </a:lnTo>
                  <a:close/>
                </a:path>
              </a:pathLst>
            </a:custGeom>
            <a:solidFill>
              <a:srgbClr val="FDF1F0">
                <a:alpha val="0"/>
              </a:srgbClr>
            </a:solidFill>
          </p:spPr>
        </p:sp>
        <p:sp>
          <p:nvSpPr>
            <p:cNvPr name="TextBox 10" id="10"/>
            <p:cNvSpPr txBox="true"/>
            <p:nvPr/>
          </p:nvSpPr>
          <p:spPr>
            <a:xfrm>
              <a:off x="0" y="-19050"/>
              <a:ext cx="11119104" cy="555498"/>
            </a:xfrm>
            <a:prstGeom prst="rect">
              <a:avLst/>
            </a:prstGeom>
          </p:spPr>
          <p:txBody>
            <a:bodyPr anchor="ctr" rtlCol="false" tIns="0" lIns="0" bIns="0" rIns="0"/>
            <a:lstStyle/>
            <a:p>
              <a:pPr algn="ctr">
                <a:lnSpc>
                  <a:spcPts val="2279"/>
                </a:lnSpc>
              </a:pPr>
              <a:r>
                <a:rPr lang="en-US" b="true" sz="1899" spc="474">
                  <a:solidFill>
                    <a:srgbClr val="FFFFFF"/>
                  </a:solidFill>
                  <a:latin typeface="Helios Extended Bold"/>
                  <a:ea typeface="Helios Extended Bold"/>
                  <a:cs typeface="Helios Extended Bold"/>
                  <a:sym typeface="Helios Extended Bold"/>
                </a:rPr>
                <a:t>WHY ACCURACY DEGRADES</a:t>
              </a:r>
            </a:p>
          </p:txBody>
        </p:sp>
      </p:grpSp>
      <p:grpSp>
        <p:nvGrpSpPr>
          <p:cNvPr name="Group 11" id="11"/>
          <p:cNvGrpSpPr/>
          <p:nvPr/>
        </p:nvGrpSpPr>
        <p:grpSpPr>
          <a:xfrm rot="0">
            <a:off x="9533639" y="1434616"/>
            <a:ext cx="8364731" cy="537467"/>
            <a:chOff x="0" y="0"/>
            <a:chExt cx="11152975" cy="716623"/>
          </a:xfrm>
        </p:grpSpPr>
        <p:sp>
          <p:nvSpPr>
            <p:cNvPr name="Freeform 12" id="12"/>
            <p:cNvSpPr/>
            <p:nvPr/>
          </p:nvSpPr>
          <p:spPr>
            <a:xfrm flipH="false" flipV="false" rot="0">
              <a:off x="16891" y="16891"/>
              <a:ext cx="11119104" cy="682752"/>
            </a:xfrm>
            <a:custGeom>
              <a:avLst/>
              <a:gdLst/>
              <a:ahLst/>
              <a:cxnLst/>
              <a:rect r="r" b="b" t="t" l="l"/>
              <a:pathLst>
                <a:path h="682752" w="11119104">
                  <a:moveTo>
                    <a:pt x="0" y="0"/>
                  </a:moveTo>
                  <a:lnTo>
                    <a:pt x="11119104" y="0"/>
                  </a:lnTo>
                  <a:lnTo>
                    <a:pt x="11119104" y="682752"/>
                  </a:lnTo>
                  <a:lnTo>
                    <a:pt x="0" y="682752"/>
                  </a:lnTo>
                  <a:close/>
                </a:path>
              </a:pathLst>
            </a:custGeom>
            <a:solidFill>
              <a:srgbClr val="0D9488"/>
            </a:solidFill>
          </p:spPr>
        </p:sp>
        <p:sp>
          <p:nvSpPr>
            <p:cNvPr name="Freeform 13" id="13"/>
            <p:cNvSpPr/>
            <p:nvPr/>
          </p:nvSpPr>
          <p:spPr>
            <a:xfrm flipH="false" flipV="false" rot="0">
              <a:off x="0" y="0"/>
              <a:ext cx="11152886" cy="716536"/>
            </a:xfrm>
            <a:custGeom>
              <a:avLst/>
              <a:gdLst/>
              <a:ahLst/>
              <a:cxnLst/>
              <a:rect r="r" b="b" t="t" l="l"/>
              <a:pathLst>
                <a:path h="716536" w="11152886">
                  <a:moveTo>
                    <a:pt x="16891" y="0"/>
                  </a:moveTo>
                  <a:lnTo>
                    <a:pt x="11135995" y="0"/>
                  </a:lnTo>
                  <a:cubicBezTo>
                    <a:pt x="11145393" y="0"/>
                    <a:pt x="11152886" y="7620"/>
                    <a:pt x="11152886" y="16891"/>
                  </a:cubicBezTo>
                  <a:lnTo>
                    <a:pt x="11152886" y="699643"/>
                  </a:lnTo>
                  <a:cubicBezTo>
                    <a:pt x="11152886" y="709041"/>
                    <a:pt x="11145265" y="716534"/>
                    <a:pt x="11135995"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11135995" y="682752"/>
                  </a:lnTo>
                  <a:lnTo>
                    <a:pt x="11135995" y="699643"/>
                  </a:lnTo>
                  <a:lnTo>
                    <a:pt x="11119103" y="699643"/>
                  </a:lnTo>
                  <a:lnTo>
                    <a:pt x="11119103" y="16891"/>
                  </a:lnTo>
                  <a:lnTo>
                    <a:pt x="11135995" y="16891"/>
                  </a:lnTo>
                  <a:lnTo>
                    <a:pt x="11135995" y="33909"/>
                  </a:lnTo>
                  <a:lnTo>
                    <a:pt x="16891" y="33909"/>
                  </a:lnTo>
                  <a:close/>
                </a:path>
              </a:pathLst>
            </a:custGeom>
            <a:solidFill>
              <a:srgbClr val="0D9488"/>
            </a:solidFill>
          </p:spPr>
        </p:sp>
      </p:grpSp>
      <p:grpSp>
        <p:nvGrpSpPr>
          <p:cNvPr name="Group 14" id="14"/>
          <p:cNvGrpSpPr/>
          <p:nvPr/>
        </p:nvGrpSpPr>
        <p:grpSpPr>
          <a:xfrm rot="0">
            <a:off x="9546336" y="1502177"/>
            <a:ext cx="8339328" cy="402336"/>
            <a:chOff x="0" y="0"/>
            <a:chExt cx="11119104" cy="536448"/>
          </a:xfrm>
        </p:grpSpPr>
        <p:sp>
          <p:nvSpPr>
            <p:cNvPr name="Freeform 15" id="15"/>
            <p:cNvSpPr/>
            <p:nvPr/>
          </p:nvSpPr>
          <p:spPr>
            <a:xfrm flipH="false" flipV="false" rot="0">
              <a:off x="0" y="0"/>
              <a:ext cx="11119104" cy="536448"/>
            </a:xfrm>
            <a:custGeom>
              <a:avLst/>
              <a:gdLst/>
              <a:ahLst/>
              <a:cxnLst/>
              <a:rect r="r" b="b" t="t" l="l"/>
              <a:pathLst>
                <a:path h="536448" w="11119104">
                  <a:moveTo>
                    <a:pt x="0" y="0"/>
                  </a:moveTo>
                  <a:lnTo>
                    <a:pt x="11119104" y="0"/>
                  </a:lnTo>
                  <a:lnTo>
                    <a:pt x="11119104" y="536448"/>
                  </a:lnTo>
                  <a:lnTo>
                    <a:pt x="0" y="536448"/>
                  </a:lnTo>
                  <a:close/>
                </a:path>
              </a:pathLst>
            </a:custGeom>
            <a:blipFill>
              <a:blip r:embed="rId3">
                <a:alphaModFix amt="0"/>
              </a:blip>
              <a:stretch>
                <a:fillRect l="0" t="-353871" r="0" b="-353871"/>
              </a:stretch>
            </a:blipFill>
          </p:spPr>
        </p:sp>
        <p:sp>
          <p:nvSpPr>
            <p:cNvPr name="TextBox 16" id="16"/>
            <p:cNvSpPr txBox="true"/>
            <p:nvPr/>
          </p:nvSpPr>
          <p:spPr>
            <a:xfrm>
              <a:off x="0" y="-19050"/>
              <a:ext cx="11119104" cy="555498"/>
            </a:xfrm>
            <a:prstGeom prst="rect">
              <a:avLst/>
            </a:prstGeom>
          </p:spPr>
          <p:txBody>
            <a:bodyPr anchor="ctr" rtlCol="false" tIns="0" lIns="0" bIns="0" rIns="0"/>
            <a:lstStyle/>
            <a:p>
              <a:pPr algn="ctr">
                <a:lnSpc>
                  <a:spcPts val="2279"/>
                </a:lnSpc>
              </a:pPr>
              <a:r>
                <a:rPr lang="en-US" b="true" sz="1899" spc="474">
                  <a:solidFill>
                    <a:srgbClr val="FFFFFF"/>
                  </a:solidFill>
                  <a:latin typeface="Helios Extended Bold"/>
                  <a:ea typeface="Helios Extended Bold"/>
                  <a:cs typeface="Helios Extended Bold"/>
                  <a:sym typeface="Helios Extended Bold"/>
                </a:rPr>
                <a:t>HOW WE FIX IT</a:t>
              </a:r>
            </a:p>
          </p:txBody>
        </p:sp>
      </p:grpSp>
      <p:grpSp>
        <p:nvGrpSpPr>
          <p:cNvPr name="Group 17" id="17"/>
          <p:cNvGrpSpPr/>
          <p:nvPr/>
        </p:nvGrpSpPr>
        <p:grpSpPr>
          <a:xfrm rot="0">
            <a:off x="397259" y="2027452"/>
            <a:ext cx="8349491" cy="2533907"/>
            <a:chOff x="0" y="0"/>
            <a:chExt cx="11132655" cy="3378543"/>
          </a:xfrm>
        </p:grpSpPr>
        <p:sp>
          <p:nvSpPr>
            <p:cNvPr name="Freeform 18" id="18"/>
            <p:cNvSpPr/>
            <p:nvPr/>
          </p:nvSpPr>
          <p:spPr>
            <a:xfrm flipH="false" flipV="false" rot="0">
              <a:off x="6731" y="6731"/>
              <a:ext cx="11119104" cy="3364992"/>
            </a:xfrm>
            <a:custGeom>
              <a:avLst/>
              <a:gdLst/>
              <a:ahLst/>
              <a:cxnLst/>
              <a:rect r="r" b="b" t="t" l="l"/>
              <a:pathLst>
                <a:path h="3364992" w="11119104">
                  <a:moveTo>
                    <a:pt x="0" y="0"/>
                  </a:moveTo>
                  <a:lnTo>
                    <a:pt x="11119104" y="0"/>
                  </a:lnTo>
                  <a:lnTo>
                    <a:pt x="11119104" y="3364992"/>
                  </a:lnTo>
                  <a:lnTo>
                    <a:pt x="0" y="3364992"/>
                  </a:lnTo>
                  <a:close/>
                </a:path>
              </a:pathLst>
            </a:custGeom>
            <a:solidFill>
              <a:srgbClr val="FDF1F0"/>
            </a:solidFill>
          </p:spPr>
        </p:sp>
        <p:sp>
          <p:nvSpPr>
            <p:cNvPr name="Freeform 19" id="19"/>
            <p:cNvSpPr/>
            <p:nvPr/>
          </p:nvSpPr>
          <p:spPr>
            <a:xfrm flipH="false" flipV="false" rot="0">
              <a:off x="0" y="0"/>
              <a:ext cx="11132566" cy="3378454"/>
            </a:xfrm>
            <a:custGeom>
              <a:avLst/>
              <a:gdLst/>
              <a:ahLst/>
              <a:cxnLst/>
              <a:rect r="r" b="b" t="t" l="l"/>
              <a:pathLst>
                <a:path h="3378454" w="11132566">
                  <a:moveTo>
                    <a:pt x="6731" y="0"/>
                  </a:moveTo>
                  <a:lnTo>
                    <a:pt x="11125835" y="0"/>
                  </a:lnTo>
                  <a:cubicBezTo>
                    <a:pt x="11129518" y="0"/>
                    <a:pt x="11132566" y="3048"/>
                    <a:pt x="11132566" y="6731"/>
                  </a:cubicBezTo>
                  <a:lnTo>
                    <a:pt x="11132566" y="3371723"/>
                  </a:lnTo>
                  <a:cubicBezTo>
                    <a:pt x="11132566" y="3375406"/>
                    <a:pt x="11129518" y="3378454"/>
                    <a:pt x="11125835" y="3378454"/>
                  </a:cubicBezTo>
                  <a:lnTo>
                    <a:pt x="6731" y="3378454"/>
                  </a:lnTo>
                  <a:cubicBezTo>
                    <a:pt x="3048" y="3378454"/>
                    <a:pt x="0" y="3375406"/>
                    <a:pt x="0" y="3371723"/>
                  </a:cubicBezTo>
                  <a:lnTo>
                    <a:pt x="0" y="6731"/>
                  </a:lnTo>
                  <a:cubicBezTo>
                    <a:pt x="0" y="3048"/>
                    <a:pt x="3048" y="0"/>
                    <a:pt x="6731" y="0"/>
                  </a:cubicBezTo>
                  <a:moveTo>
                    <a:pt x="6731" y="13589"/>
                  </a:moveTo>
                  <a:lnTo>
                    <a:pt x="6731" y="6731"/>
                  </a:lnTo>
                  <a:lnTo>
                    <a:pt x="13462" y="6731"/>
                  </a:lnTo>
                  <a:lnTo>
                    <a:pt x="13462" y="3371723"/>
                  </a:lnTo>
                  <a:lnTo>
                    <a:pt x="6731" y="3371723"/>
                  </a:lnTo>
                  <a:lnTo>
                    <a:pt x="6731" y="3364992"/>
                  </a:lnTo>
                  <a:lnTo>
                    <a:pt x="11125835" y="3364992"/>
                  </a:lnTo>
                  <a:lnTo>
                    <a:pt x="11125835" y="3371723"/>
                  </a:lnTo>
                  <a:lnTo>
                    <a:pt x="11119103" y="3371723"/>
                  </a:lnTo>
                  <a:lnTo>
                    <a:pt x="11119103" y="6731"/>
                  </a:lnTo>
                  <a:lnTo>
                    <a:pt x="11125835" y="6731"/>
                  </a:lnTo>
                  <a:lnTo>
                    <a:pt x="11125835" y="13462"/>
                  </a:lnTo>
                  <a:lnTo>
                    <a:pt x="6731" y="13462"/>
                  </a:lnTo>
                  <a:close/>
                </a:path>
              </a:pathLst>
            </a:custGeom>
            <a:solidFill>
              <a:srgbClr val="E8ECF0"/>
            </a:solidFill>
          </p:spPr>
        </p:sp>
      </p:grpSp>
      <p:grpSp>
        <p:nvGrpSpPr>
          <p:cNvPr name="Group 20" id="20"/>
          <p:cNvGrpSpPr/>
          <p:nvPr/>
        </p:nvGrpSpPr>
        <p:grpSpPr>
          <a:xfrm rot="0">
            <a:off x="8741664" y="2804940"/>
            <a:ext cx="804672" cy="731520"/>
            <a:chOff x="0" y="0"/>
            <a:chExt cx="1072896" cy="975360"/>
          </a:xfrm>
        </p:grpSpPr>
        <p:sp>
          <p:nvSpPr>
            <p:cNvPr name="Freeform 21" id="21"/>
            <p:cNvSpPr/>
            <p:nvPr/>
          </p:nvSpPr>
          <p:spPr>
            <a:xfrm flipH="false" flipV="false" rot="0">
              <a:off x="0" y="0"/>
              <a:ext cx="1072896" cy="975360"/>
            </a:xfrm>
            <a:custGeom>
              <a:avLst/>
              <a:gdLst/>
              <a:ahLst/>
              <a:cxnLst/>
              <a:rect r="r" b="b" t="t" l="l"/>
              <a:pathLst>
                <a:path h="975360" w="1072896">
                  <a:moveTo>
                    <a:pt x="0" y="0"/>
                  </a:moveTo>
                  <a:lnTo>
                    <a:pt x="1072896" y="0"/>
                  </a:lnTo>
                  <a:lnTo>
                    <a:pt x="1072896" y="975360"/>
                  </a:lnTo>
                  <a:lnTo>
                    <a:pt x="0" y="975360"/>
                  </a:lnTo>
                  <a:close/>
                </a:path>
              </a:pathLst>
            </a:custGeom>
            <a:blipFill>
              <a:blip r:embed="rId3">
                <a:alphaModFix amt="0"/>
              </a:blip>
              <a:stretch>
                <a:fillRect l="-66639" t="0" r="-66639" b="0"/>
              </a:stretch>
            </a:blipFill>
          </p:spPr>
        </p:sp>
        <p:sp>
          <p:nvSpPr>
            <p:cNvPr name="TextBox 22" id="22"/>
            <p:cNvSpPr txBox="true"/>
            <p:nvPr/>
          </p:nvSpPr>
          <p:spPr>
            <a:xfrm>
              <a:off x="0" y="-19050"/>
              <a:ext cx="1072896" cy="994410"/>
            </a:xfrm>
            <a:prstGeom prst="rect">
              <a:avLst/>
            </a:prstGeom>
          </p:spPr>
          <p:txBody>
            <a:bodyPr anchor="ctr" rtlCol="false" tIns="0" lIns="0" bIns="0" rIns="0"/>
            <a:lstStyle/>
            <a:p>
              <a:pPr algn="ctr">
                <a:lnSpc>
                  <a:spcPts val="3840"/>
                </a:lnSpc>
              </a:pPr>
              <a:r>
                <a:rPr lang="en-US" b="true" sz="3200">
                  <a:solidFill>
                    <a:srgbClr val="000000"/>
                  </a:solidFill>
                  <a:latin typeface="Helios Extended Bold"/>
                  <a:ea typeface="Helios Extended Bold"/>
                  <a:cs typeface="Helios Extended Bold"/>
                  <a:sym typeface="Helios Extended Bold"/>
                </a:rPr>
                <a:t>→</a:t>
              </a:r>
            </a:p>
          </p:txBody>
        </p:sp>
      </p:grpSp>
      <p:grpSp>
        <p:nvGrpSpPr>
          <p:cNvPr name="Group 23" id="23"/>
          <p:cNvGrpSpPr/>
          <p:nvPr/>
        </p:nvGrpSpPr>
        <p:grpSpPr>
          <a:xfrm rot="0">
            <a:off x="535943" y="2349016"/>
            <a:ext cx="976379" cy="976379"/>
            <a:chOff x="0" y="0"/>
            <a:chExt cx="1301839" cy="1301839"/>
          </a:xfrm>
        </p:grpSpPr>
        <p:sp>
          <p:nvSpPr>
            <p:cNvPr name="Freeform 24" id="24"/>
            <p:cNvSpPr/>
            <p:nvPr/>
          </p:nvSpPr>
          <p:spPr>
            <a:xfrm flipH="false" flipV="false" rot="0">
              <a:off x="16891" y="16891"/>
              <a:ext cx="1267968" cy="1267968"/>
            </a:xfrm>
            <a:custGeom>
              <a:avLst/>
              <a:gdLst/>
              <a:ahLst/>
              <a:cxnLst/>
              <a:rect r="r" b="b" t="t" l="l"/>
              <a:pathLst>
                <a:path h="1267968" w="1267968">
                  <a:moveTo>
                    <a:pt x="0" y="633984"/>
                  </a:moveTo>
                  <a:cubicBezTo>
                    <a:pt x="0" y="283845"/>
                    <a:pt x="283845" y="0"/>
                    <a:pt x="633984" y="0"/>
                  </a:cubicBezTo>
                  <a:cubicBezTo>
                    <a:pt x="984123" y="0"/>
                    <a:pt x="1267968" y="283845"/>
                    <a:pt x="1267968" y="633984"/>
                  </a:cubicBezTo>
                  <a:cubicBezTo>
                    <a:pt x="1267968" y="984123"/>
                    <a:pt x="984123" y="1267968"/>
                    <a:pt x="633984" y="1267968"/>
                  </a:cubicBezTo>
                  <a:cubicBezTo>
                    <a:pt x="283845" y="1267968"/>
                    <a:pt x="0" y="984123"/>
                    <a:pt x="0" y="633984"/>
                  </a:cubicBezTo>
                  <a:close/>
                </a:path>
              </a:pathLst>
            </a:custGeom>
            <a:solidFill>
              <a:srgbClr val="D63B2F"/>
            </a:solidFill>
          </p:spPr>
        </p:sp>
        <p:sp>
          <p:nvSpPr>
            <p:cNvPr name="Freeform 25" id="25"/>
            <p:cNvSpPr/>
            <p:nvPr/>
          </p:nvSpPr>
          <p:spPr>
            <a:xfrm flipH="false" flipV="false" rot="0">
              <a:off x="0" y="0"/>
              <a:ext cx="1301750" cy="1301750"/>
            </a:xfrm>
            <a:custGeom>
              <a:avLst/>
              <a:gdLst/>
              <a:ahLst/>
              <a:cxnLst/>
              <a:rect r="r" b="b" t="t" l="l"/>
              <a:pathLst>
                <a:path h="1301750" w="1301750">
                  <a:moveTo>
                    <a:pt x="0" y="650875"/>
                  </a:moveTo>
                  <a:cubicBezTo>
                    <a:pt x="0" y="291465"/>
                    <a:pt x="291465" y="0"/>
                    <a:pt x="650875" y="0"/>
                  </a:cubicBezTo>
                  <a:lnTo>
                    <a:pt x="650875" y="16891"/>
                  </a:lnTo>
                  <a:lnTo>
                    <a:pt x="650875" y="0"/>
                  </a:lnTo>
                  <a:cubicBezTo>
                    <a:pt x="1010412" y="0"/>
                    <a:pt x="1301750" y="291465"/>
                    <a:pt x="1301750" y="650875"/>
                  </a:cubicBezTo>
                  <a:lnTo>
                    <a:pt x="1284859" y="650875"/>
                  </a:lnTo>
                  <a:lnTo>
                    <a:pt x="1301750" y="650875"/>
                  </a:lnTo>
                  <a:cubicBezTo>
                    <a:pt x="1301750" y="1010412"/>
                    <a:pt x="1010285" y="1301750"/>
                    <a:pt x="650875" y="1301750"/>
                  </a:cubicBezTo>
                  <a:lnTo>
                    <a:pt x="650875" y="1284859"/>
                  </a:lnTo>
                  <a:lnTo>
                    <a:pt x="650875" y="1301750"/>
                  </a:lnTo>
                  <a:cubicBezTo>
                    <a:pt x="291465" y="1301877"/>
                    <a:pt x="0" y="1010412"/>
                    <a:pt x="0" y="650875"/>
                  </a:cubicBezTo>
                  <a:lnTo>
                    <a:pt x="16891" y="650875"/>
                  </a:lnTo>
                  <a:lnTo>
                    <a:pt x="33909" y="650875"/>
                  </a:lnTo>
                  <a:lnTo>
                    <a:pt x="16891" y="650875"/>
                  </a:lnTo>
                  <a:lnTo>
                    <a:pt x="0" y="650875"/>
                  </a:lnTo>
                  <a:moveTo>
                    <a:pt x="33909" y="650875"/>
                  </a:moveTo>
                  <a:cubicBezTo>
                    <a:pt x="33909" y="660273"/>
                    <a:pt x="26289" y="667766"/>
                    <a:pt x="17018" y="667766"/>
                  </a:cubicBezTo>
                  <a:cubicBezTo>
                    <a:pt x="7747" y="667766"/>
                    <a:pt x="0" y="660273"/>
                    <a:pt x="0" y="650875"/>
                  </a:cubicBezTo>
                  <a:cubicBezTo>
                    <a:pt x="0" y="641477"/>
                    <a:pt x="7620" y="633984"/>
                    <a:pt x="16891" y="633984"/>
                  </a:cubicBezTo>
                  <a:cubicBezTo>
                    <a:pt x="26162" y="633984"/>
                    <a:pt x="33782" y="641604"/>
                    <a:pt x="33782" y="650875"/>
                  </a:cubicBezTo>
                  <a:cubicBezTo>
                    <a:pt x="33782" y="991616"/>
                    <a:pt x="310007" y="1267968"/>
                    <a:pt x="650875" y="1267968"/>
                  </a:cubicBezTo>
                  <a:cubicBezTo>
                    <a:pt x="991616" y="1267968"/>
                    <a:pt x="1267968" y="991743"/>
                    <a:pt x="1267968" y="650875"/>
                  </a:cubicBezTo>
                  <a:cubicBezTo>
                    <a:pt x="1267968" y="310134"/>
                    <a:pt x="991743" y="33782"/>
                    <a:pt x="650875" y="33782"/>
                  </a:cubicBezTo>
                  <a:lnTo>
                    <a:pt x="650875" y="16891"/>
                  </a:lnTo>
                  <a:lnTo>
                    <a:pt x="650875" y="33909"/>
                  </a:lnTo>
                  <a:cubicBezTo>
                    <a:pt x="310134" y="33909"/>
                    <a:pt x="33909" y="310134"/>
                    <a:pt x="33909" y="650875"/>
                  </a:cubicBezTo>
                  <a:close/>
                </a:path>
              </a:pathLst>
            </a:custGeom>
            <a:solidFill>
              <a:srgbClr val="D63B2F"/>
            </a:solidFill>
          </p:spPr>
        </p:sp>
      </p:grpSp>
      <p:grpSp>
        <p:nvGrpSpPr>
          <p:cNvPr name="Group 26" id="26"/>
          <p:cNvGrpSpPr/>
          <p:nvPr/>
        </p:nvGrpSpPr>
        <p:grpSpPr>
          <a:xfrm rot="0">
            <a:off x="548640" y="2434865"/>
            <a:ext cx="950976" cy="804672"/>
            <a:chOff x="0" y="0"/>
            <a:chExt cx="1267968" cy="1072896"/>
          </a:xfrm>
        </p:grpSpPr>
        <p:sp>
          <p:nvSpPr>
            <p:cNvPr name="Freeform 27" id="27"/>
            <p:cNvSpPr/>
            <p:nvPr/>
          </p:nvSpPr>
          <p:spPr>
            <a:xfrm flipH="false" flipV="false" rot="0">
              <a:off x="0" y="0"/>
              <a:ext cx="1267968" cy="1072896"/>
            </a:xfrm>
            <a:custGeom>
              <a:avLst/>
              <a:gdLst/>
              <a:ahLst/>
              <a:cxnLst/>
              <a:rect r="r" b="b" t="t" l="l"/>
              <a:pathLst>
                <a:path h="1072896" w="1267968">
                  <a:moveTo>
                    <a:pt x="0" y="0"/>
                  </a:moveTo>
                  <a:lnTo>
                    <a:pt x="1267968" y="0"/>
                  </a:lnTo>
                  <a:lnTo>
                    <a:pt x="1267968" y="1072896"/>
                  </a:lnTo>
                  <a:lnTo>
                    <a:pt x="0" y="1072896"/>
                  </a:lnTo>
                  <a:close/>
                </a:path>
              </a:pathLst>
            </a:custGeom>
            <a:blipFill>
              <a:blip r:embed="rId3">
                <a:alphaModFix amt="0"/>
              </a:blip>
              <a:stretch>
                <a:fillRect l="-58564" t="0" r="-58564" b="0"/>
              </a:stretch>
            </a:blipFill>
          </p:spPr>
        </p:sp>
        <p:sp>
          <p:nvSpPr>
            <p:cNvPr name="TextBox 28" id="28"/>
            <p:cNvSpPr txBox="true"/>
            <p:nvPr/>
          </p:nvSpPr>
          <p:spPr>
            <a:xfrm>
              <a:off x="0" y="-38100"/>
              <a:ext cx="1267968" cy="1110996"/>
            </a:xfrm>
            <a:prstGeom prst="rect">
              <a:avLst/>
            </a:prstGeom>
          </p:spPr>
          <p:txBody>
            <a:bodyPr anchor="ctr" rtlCol="false" tIns="0" lIns="0" bIns="0" rIns="0"/>
            <a:lstStyle/>
            <a:p>
              <a:pPr algn="ctr">
                <a:lnSpc>
                  <a:spcPts val="3120"/>
                </a:lnSpc>
              </a:pPr>
              <a:r>
                <a:rPr lang="en-US" sz="2600" b="true">
                  <a:solidFill>
                    <a:srgbClr val="FFFFFF"/>
                  </a:solidFill>
                  <a:latin typeface="Helios Extended Bold"/>
                  <a:ea typeface="Helios Extended Bold"/>
                  <a:cs typeface="Helios Extended Bold"/>
                  <a:sym typeface="Helios Extended Bold"/>
                </a:rPr>
                <a:t>01</a:t>
              </a:r>
            </a:p>
          </p:txBody>
        </p:sp>
      </p:grpSp>
      <p:grpSp>
        <p:nvGrpSpPr>
          <p:cNvPr name="Group 29" id="29"/>
          <p:cNvGrpSpPr/>
          <p:nvPr/>
        </p:nvGrpSpPr>
        <p:grpSpPr>
          <a:xfrm rot="0">
            <a:off x="1682496" y="2288561"/>
            <a:ext cx="3986784" cy="754736"/>
            <a:chOff x="0" y="0"/>
            <a:chExt cx="5315712" cy="1006314"/>
          </a:xfrm>
        </p:grpSpPr>
        <p:sp>
          <p:nvSpPr>
            <p:cNvPr name="Freeform 30" id="30"/>
            <p:cNvSpPr/>
            <p:nvPr/>
          </p:nvSpPr>
          <p:spPr>
            <a:xfrm flipH="false" flipV="false" rot="0">
              <a:off x="0" y="0"/>
              <a:ext cx="5315712" cy="1006314"/>
            </a:xfrm>
            <a:custGeom>
              <a:avLst/>
              <a:gdLst/>
              <a:ahLst/>
              <a:cxnLst/>
              <a:rect r="r" b="b" t="t" l="l"/>
              <a:pathLst>
                <a:path h="1006314" w="5315712">
                  <a:moveTo>
                    <a:pt x="0" y="0"/>
                  </a:moveTo>
                  <a:lnTo>
                    <a:pt x="5315712" y="0"/>
                  </a:lnTo>
                  <a:lnTo>
                    <a:pt x="5315712" y="1006314"/>
                  </a:lnTo>
                  <a:lnTo>
                    <a:pt x="0" y="1006314"/>
                  </a:lnTo>
                  <a:close/>
                </a:path>
              </a:pathLst>
            </a:custGeom>
            <a:blipFill>
              <a:blip r:embed="rId3">
                <a:alphaModFix amt="0"/>
              </a:blip>
              <a:stretch>
                <a:fillRect l="0" t="-59311" r="0" b="-46542"/>
              </a:stretch>
            </a:blipFill>
          </p:spPr>
        </p:sp>
        <p:sp>
          <p:nvSpPr>
            <p:cNvPr name="TextBox 31" id="31"/>
            <p:cNvSpPr txBox="true"/>
            <p:nvPr/>
          </p:nvSpPr>
          <p:spPr>
            <a:xfrm>
              <a:off x="0" y="-19050"/>
              <a:ext cx="5315712" cy="1025364"/>
            </a:xfrm>
            <a:prstGeom prst="rect">
              <a:avLst/>
            </a:prstGeom>
          </p:spPr>
          <p:txBody>
            <a:bodyPr anchor="ctr" rtlCol="false" tIns="0" lIns="0" bIns="0" rIns="0"/>
            <a:lstStyle/>
            <a:p>
              <a:pPr algn="l">
                <a:lnSpc>
                  <a:spcPts val="2760"/>
                </a:lnSpc>
              </a:pPr>
              <a:r>
                <a:rPr lang="en-US" sz="2300" b="true">
                  <a:solidFill>
                    <a:srgbClr val="1A2733"/>
                  </a:solidFill>
                  <a:latin typeface="Helios Extended Bold"/>
                  <a:ea typeface="Helios Extended Bold"/>
                  <a:cs typeface="Helios Extended Bold"/>
                  <a:sym typeface="Helios Extended Bold"/>
                </a:rPr>
                <a:t>Token-Level Loss Imbalance</a:t>
              </a:r>
            </a:p>
          </p:txBody>
        </p:sp>
      </p:grpSp>
      <p:grpSp>
        <p:nvGrpSpPr>
          <p:cNvPr name="Group 32" id="32"/>
          <p:cNvGrpSpPr/>
          <p:nvPr/>
        </p:nvGrpSpPr>
        <p:grpSpPr>
          <a:xfrm rot="0">
            <a:off x="1682496" y="2983505"/>
            <a:ext cx="3986784" cy="1389888"/>
            <a:chOff x="0" y="0"/>
            <a:chExt cx="5315712" cy="1853184"/>
          </a:xfrm>
        </p:grpSpPr>
        <p:sp>
          <p:nvSpPr>
            <p:cNvPr name="Freeform 33" id="33"/>
            <p:cNvSpPr/>
            <p:nvPr/>
          </p:nvSpPr>
          <p:spPr>
            <a:xfrm flipH="false" flipV="false" rot="0">
              <a:off x="0" y="0"/>
              <a:ext cx="5315712" cy="1853184"/>
            </a:xfrm>
            <a:custGeom>
              <a:avLst/>
              <a:gdLst/>
              <a:ahLst/>
              <a:cxnLst/>
              <a:rect r="r" b="b" t="t" l="l"/>
              <a:pathLst>
                <a:path h="1853184" w="5315712">
                  <a:moveTo>
                    <a:pt x="0" y="0"/>
                  </a:moveTo>
                  <a:lnTo>
                    <a:pt x="5315712" y="0"/>
                  </a:lnTo>
                  <a:lnTo>
                    <a:pt x="5315712" y="1853184"/>
                  </a:lnTo>
                  <a:lnTo>
                    <a:pt x="0" y="1853184"/>
                  </a:lnTo>
                  <a:close/>
                </a:path>
              </a:pathLst>
            </a:custGeom>
            <a:blipFill>
              <a:blip r:embed="rId3">
                <a:alphaModFix amt="0"/>
              </a:blip>
              <a:stretch>
                <a:fillRect l="0" t="-5891" r="0" b="-5891"/>
              </a:stretch>
            </a:blipFill>
          </p:spPr>
        </p:sp>
        <p:sp>
          <p:nvSpPr>
            <p:cNvPr name="TextBox 34" id="34"/>
            <p:cNvSpPr txBox="true"/>
            <p:nvPr/>
          </p:nvSpPr>
          <p:spPr>
            <a:xfrm>
              <a:off x="0" y="-19050"/>
              <a:ext cx="5315712" cy="1872234"/>
            </a:xfrm>
            <a:prstGeom prst="rect">
              <a:avLst/>
            </a:prstGeom>
          </p:spPr>
          <p:txBody>
            <a:bodyPr anchor="ctr" rtlCol="false" tIns="0" lIns="0" bIns="0" rIns="0"/>
            <a:lstStyle/>
            <a:p>
              <a:pPr algn="l">
                <a:lnSpc>
                  <a:spcPts val="2519"/>
                </a:lnSpc>
              </a:pPr>
              <a:r>
                <a:rPr lang="en-US" sz="2099">
                  <a:solidFill>
                    <a:srgbClr val="1E293B"/>
                  </a:solidFill>
                  <a:latin typeface="Helios Extended"/>
                  <a:ea typeface="Helios Extended"/>
                  <a:cs typeface="Helios Extended"/>
                  <a:sym typeface="Helios Extended"/>
                </a:rPr>
                <a:t>306 reasoning words : 16 classification words.</a:t>
              </a:r>
            </a:p>
          </p:txBody>
        </p:sp>
      </p:grpSp>
      <p:grpSp>
        <p:nvGrpSpPr>
          <p:cNvPr name="Group 35" id="35"/>
          <p:cNvGrpSpPr/>
          <p:nvPr/>
        </p:nvGrpSpPr>
        <p:grpSpPr>
          <a:xfrm rot="0">
            <a:off x="5809231" y="2355360"/>
            <a:ext cx="2609593" cy="1841497"/>
            <a:chOff x="0" y="0"/>
            <a:chExt cx="3479457" cy="2455329"/>
          </a:xfrm>
        </p:grpSpPr>
        <p:sp>
          <p:nvSpPr>
            <p:cNvPr name="Freeform 36" id="36"/>
            <p:cNvSpPr/>
            <p:nvPr/>
          </p:nvSpPr>
          <p:spPr>
            <a:xfrm flipH="false" flipV="false" rot="0">
              <a:off x="8509" y="8509"/>
              <a:ext cx="3462528" cy="2438400"/>
            </a:xfrm>
            <a:custGeom>
              <a:avLst/>
              <a:gdLst/>
              <a:ahLst/>
              <a:cxnLst/>
              <a:rect r="r" b="b" t="t" l="l"/>
              <a:pathLst>
                <a:path h="2438400" w="3462528">
                  <a:moveTo>
                    <a:pt x="0" y="0"/>
                  </a:moveTo>
                  <a:lnTo>
                    <a:pt x="3462528" y="0"/>
                  </a:lnTo>
                  <a:lnTo>
                    <a:pt x="3462528" y="2438400"/>
                  </a:lnTo>
                  <a:lnTo>
                    <a:pt x="0" y="2438400"/>
                  </a:lnTo>
                  <a:close/>
                </a:path>
              </a:pathLst>
            </a:custGeom>
            <a:solidFill>
              <a:srgbClr val="FFFFFF"/>
            </a:solidFill>
          </p:spPr>
        </p:sp>
        <p:sp>
          <p:nvSpPr>
            <p:cNvPr name="Freeform 37" id="37"/>
            <p:cNvSpPr/>
            <p:nvPr/>
          </p:nvSpPr>
          <p:spPr>
            <a:xfrm flipH="false" flipV="false" rot="0">
              <a:off x="0" y="0"/>
              <a:ext cx="3479546" cy="2455418"/>
            </a:xfrm>
            <a:custGeom>
              <a:avLst/>
              <a:gdLst/>
              <a:ahLst/>
              <a:cxnLst/>
              <a:rect r="r" b="b" t="t" l="l"/>
              <a:pathLst>
                <a:path h="2455418" w="3479546">
                  <a:moveTo>
                    <a:pt x="8509" y="0"/>
                  </a:moveTo>
                  <a:lnTo>
                    <a:pt x="3471037" y="0"/>
                  </a:lnTo>
                  <a:cubicBezTo>
                    <a:pt x="3475736" y="0"/>
                    <a:pt x="3479546" y="3810"/>
                    <a:pt x="3479546" y="8509"/>
                  </a:cubicBezTo>
                  <a:lnTo>
                    <a:pt x="3479546" y="2446909"/>
                  </a:lnTo>
                  <a:cubicBezTo>
                    <a:pt x="3479546" y="2451608"/>
                    <a:pt x="3475736" y="2455418"/>
                    <a:pt x="3471037" y="2455418"/>
                  </a:cubicBezTo>
                  <a:lnTo>
                    <a:pt x="8509" y="2455418"/>
                  </a:lnTo>
                  <a:cubicBezTo>
                    <a:pt x="3810" y="2455418"/>
                    <a:pt x="0" y="2451608"/>
                    <a:pt x="0" y="2446909"/>
                  </a:cubicBezTo>
                  <a:lnTo>
                    <a:pt x="0" y="8509"/>
                  </a:lnTo>
                  <a:cubicBezTo>
                    <a:pt x="0" y="3810"/>
                    <a:pt x="3810" y="0"/>
                    <a:pt x="8509" y="0"/>
                  </a:cubicBezTo>
                  <a:moveTo>
                    <a:pt x="8509" y="16891"/>
                  </a:moveTo>
                  <a:lnTo>
                    <a:pt x="8509" y="8509"/>
                  </a:lnTo>
                  <a:lnTo>
                    <a:pt x="17018" y="8509"/>
                  </a:lnTo>
                  <a:lnTo>
                    <a:pt x="17018" y="2446909"/>
                  </a:lnTo>
                  <a:lnTo>
                    <a:pt x="8509" y="2446909"/>
                  </a:lnTo>
                  <a:lnTo>
                    <a:pt x="8509" y="2438400"/>
                  </a:lnTo>
                  <a:lnTo>
                    <a:pt x="3471037" y="2438400"/>
                  </a:lnTo>
                  <a:lnTo>
                    <a:pt x="3471037" y="2446909"/>
                  </a:lnTo>
                  <a:lnTo>
                    <a:pt x="3462528" y="2446909"/>
                  </a:lnTo>
                  <a:lnTo>
                    <a:pt x="3462528" y="8509"/>
                  </a:lnTo>
                  <a:lnTo>
                    <a:pt x="3471037" y="8509"/>
                  </a:lnTo>
                  <a:lnTo>
                    <a:pt x="3471037" y="17018"/>
                  </a:lnTo>
                  <a:lnTo>
                    <a:pt x="8509" y="17018"/>
                  </a:lnTo>
                  <a:close/>
                </a:path>
              </a:pathLst>
            </a:custGeom>
            <a:solidFill>
              <a:srgbClr val="CC2200"/>
            </a:solidFill>
          </p:spPr>
        </p:sp>
      </p:grpSp>
      <p:grpSp>
        <p:nvGrpSpPr>
          <p:cNvPr name="Group 38" id="38"/>
          <p:cNvGrpSpPr/>
          <p:nvPr/>
        </p:nvGrpSpPr>
        <p:grpSpPr>
          <a:xfrm rot="0">
            <a:off x="5815584" y="2803549"/>
            <a:ext cx="2596896" cy="950976"/>
            <a:chOff x="0" y="0"/>
            <a:chExt cx="3462528" cy="1267968"/>
          </a:xfrm>
        </p:grpSpPr>
        <p:sp>
          <p:nvSpPr>
            <p:cNvPr name="Freeform 39" id="39"/>
            <p:cNvSpPr/>
            <p:nvPr/>
          </p:nvSpPr>
          <p:spPr>
            <a:xfrm flipH="false" flipV="false" rot="0">
              <a:off x="0" y="0"/>
              <a:ext cx="3462528" cy="1267968"/>
            </a:xfrm>
            <a:custGeom>
              <a:avLst/>
              <a:gdLst/>
              <a:ahLst/>
              <a:cxnLst/>
              <a:rect r="r" b="b" t="t" l="l"/>
              <a:pathLst>
                <a:path h="1267968" w="3462528">
                  <a:moveTo>
                    <a:pt x="0" y="0"/>
                  </a:moveTo>
                  <a:lnTo>
                    <a:pt x="3462528" y="0"/>
                  </a:lnTo>
                  <a:lnTo>
                    <a:pt x="3462528" y="1267968"/>
                  </a:lnTo>
                  <a:lnTo>
                    <a:pt x="0" y="1267968"/>
                  </a:lnTo>
                  <a:close/>
                </a:path>
              </a:pathLst>
            </a:custGeom>
            <a:blipFill>
              <a:blip r:embed="rId3">
                <a:alphaModFix amt="0"/>
              </a:blip>
              <a:stretch>
                <a:fillRect l="0" t="-3209" r="0" b="-3209"/>
              </a:stretch>
            </a:blipFill>
          </p:spPr>
        </p:sp>
        <p:sp>
          <p:nvSpPr>
            <p:cNvPr name="TextBox 40" id="40"/>
            <p:cNvSpPr txBox="true"/>
            <p:nvPr/>
          </p:nvSpPr>
          <p:spPr>
            <a:xfrm>
              <a:off x="0" y="-28575"/>
              <a:ext cx="3462528" cy="1296543"/>
            </a:xfrm>
            <a:prstGeom prst="rect">
              <a:avLst/>
            </a:prstGeom>
          </p:spPr>
          <p:txBody>
            <a:bodyPr anchor="ctr" rtlCol="false" tIns="0" lIns="0" bIns="0" rIns="0"/>
            <a:lstStyle/>
            <a:p>
              <a:pPr algn="ctr">
                <a:lnSpc>
                  <a:spcPts val="4800"/>
                </a:lnSpc>
              </a:pPr>
              <a:r>
                <a:rPr lang="en-US" sz="4000" b="true">
                  <a:solidFill>
                    <a:srgbClr val="D63B2F"/>
                  </a:solidFill>
                  <a:latin typeface="Helios Extended Bold"/>
                  <a:ea typeface="Helios Extended Bold"/>
                  <a:cs typeface="Helios Extended Bold"/>
                  <a:sym typeface="Helios Extended Bold"/>
                </a:rPr>
                <a:t>95 / 5</a:t>
              </a:r>
            </a:p>
          </p:txBody>
        </p:sp>
      </p:grpSp>
      <p:grpSp>
        <p:nvGrpSpPr>
          <p:cNvPr name="Group 41" id="41"/>
          <p:cNvGrpSpPr/>
          <p:nvPr/>
        </p:nvGrpSpPr>
        <p:grpSpPr>
          <a:xfrm rot="0">
            <a:off x="5815584" y="3422417"/>
            <a:ext cx="2596896" cy="548640"/>
            <a:chOff x="0" y="0"/>
            <a:chExt cx="3462528" cy="731520"/>
          </a:xfrm>
        </p:grpSpPr>
        <p:sp>
          <p:nvSpPr>
            <p:cNvPr name="Freeform 42" id="42"/>
            <p:cNvSpPr/>
            <p:nvPr/>
          </p:nvSpPr>
          <p:spPr>
            <a:xfrm flipH="false" flipV="false" rot="0">
              <a:off x="0" y="0"/>
              <a:ext cx="3462528" cy="731520"/>
            </a:xfrm>
            <a:custGeom>
              <a:avLst/>
              <a:gdLst/>
              <a:ahLst/>
              <a:cxnLst/>
              <a:rect r="r" b="b" t="t" l="l"/>
              <a:pathLst>
                <a:path h="731520" w="3462528">
                  <a:moveTo>
                    <a:pt x="0" y="0"/>
                  </a:moveTo>
                  <a:lnTo>
                    <a:pt x="3462528" y="0"/>
                  </a:lnTo>
                  <a:lnTo>
                    <a:pt x="3462528" y="731520"/>
                  </a:lnTo>
                  <a:lnTo>
                    <a:pt x="0" y="731520"/>
                  </a:lnTo>
                  <a:close/>
                </a:path>
              </a:pathLst>
            </a:custGeom>
            <a:blipFill>
              <a:blip r:embed="rId3">
                <a:alphaModFix amt="0"/>
              </a:blip>
              <a:stretch>
                <a:fillRect l="0" t="-42229" r="0" b="-42229"/>
              </a:stretch>
            </a:blipFill>
          </p:spPr>
        </p:sp>
        <p:sp>
          <p:nvSpPr>
            <p:cNvPr name="TextBox 43" id="43"/>
            <p:cNvSpPr txBox="true"/>
            <p:nvPr/>
          </p:nvSpPr>
          <p:spPr>
            <a:xfrm>
              <a:off x="0" y="-28575"/>
              <a:ext cx="3462528" cy="760095"/>
            </a:xfrm>
            <a:prstGeom prst="rect">
              <a:avLst/>
            </a:prstGeom>
          </p:spPr>
          <p:txBody>
            <a:bodyPr anchor="ctr" rtlCol="false" tIns="0" lIns="0" bIns="0" rIns="0"/>
            <a:lstStyle/>
            <a:p>
              <a:pPr algn="ctr">
                <a:lnSpc>
                  <a:spcPts val="1800"/>
                </a:lnSpc>
              </a:pPr>
              <a:r>
                <a:rPr lang="en-US" sz="1500">
                  <a:solidFill>
                    <a:srgbClr val="4A6274"/>
                  </a:solidFill>
                  <a:latin typeface="Helios Extended"/>
                  <a:ea typeface="Helios Extended"/>
                  <a:cs typeface="Helios Extended"/>
                  <a:sym typeface="Helios Extended"/>
                </a:rPr>
                <a:t>token split</a:t>
              </a:r>
            </a:p>
          </p:txBody>
        </p:sp>
      </p:grpSp>
      <p:grpSp>
        <p:nvGrpSpPr>
          <p:cNvPr name="Group 44" id="44"/>
          <p:cNvGrpSpPr/>
          <p:nvPr/>
        </p:nvGrpSpPr>
        <p:grpSpPr>
          <a:xfrm rot="0">
            <a:off x="397259" y="4697500"/>
            <a:ext cx="8349491" cy="2533907"/>
            <a:chOff x="0" y="0"/>
            <a:chExt cx="11132655" cy="3378543"/>
          </a:xfrm>
        </p:grpSpPr>
        <p:sp>
          <p:nvSpPr>
            <p:cNvPr name="Freeform 45" id="45"/>
            <p:cNvSpPr/>
            <p:nvPr/>
          </p:nvSpPr>
          <p:spPr>
            <a:xfrm flipH="false" flipV="false" rot="0">
              <a:off x="6731" y="6731"/>
              <a:ext cx="11119104" cy="3364992"/>
            </a:xfrm>
            <a:custGeom>
              <a:avLst/>
              <a:gdLst/>
              <a:ahLst/>
              <a:cxnLst/>
              <a:rect r="r" b="b" t="t" l="l"/>
              <a:pathLst>
                <a:path h="3364992" w="11119104">
                  <a:moveTo>
                    <a:pt x="0" y="0"/>
                  </a:moveTo>
                  <a:lnTo>
                    <a:pt x="11119104" y="0"/>
                  </a:lnTo>
                  <a:lnTo>
                    <a:pt x="11119104" y="3364992"/>
                  </a:lnTo>
                  <a:lnTo>
                    <a:pt x="0" y="3364992"/>
                  </a:lnTo>
                  <a:close/>
                </a:path>
              </a:pathLst>
            </a:custGeom>
            <a:solidFill>
              <a:srgbClr val="FDF1F0"/>
            </a:solidFill>
          </p:spPr>
        </p:sp>
        <p:sp>
          <p:nvSpPr>
            <p:cNvPr name="Freeform 46" id="46"/>
            <p:cNvSpPr/>
            <p:nvPr/>
          </p:nvSpPr>
          <p:spPr>
            <a:xfrm flipH="false" flipV="false" rot="0">
              <a:off x="0" y="0"/>
              <a:ext cx="11132566" cy="3378454"/>
            </a:xfrm>
            <a:custGeom>
              <a:avLst/>
              <a:gdLst/>
              <a:ahLst/>
              <a:cxnLst/>
              <a:rect r="r" b="b" t="t" l="l"/>
              <a:pathLst>
                <a:path h="3378454" w="11132566">
                  <a:moveTo>
                    <a:pt x="6731" y="0"/>
                  </a:moveTo>
                  <a:lnTo>
                    <a:pt x="11125835" y="0"/>
                  </a:lnTo>
                  <a:cubicBezTo>
                    <a:pt x="11129518" y="0"/>
                    <a:pt x="11132566" y="3048"/>
                    <a:pt x="11132566" y="6731"/>
                  </a:cubicBezTo>
                  <a:lnTo>
                    <a:pt x="11132566" y="3371723"/>
                  </a:lnTo>
                  <a:cubicBezTo>
                    <a:pt x="11132566" y="3375406"/>
                    <a:pt x="11129518" y="3378454"/>
                    <a:pt x="11125835" y="3378454"/>
                  </a:cubicBezTo>
                  <a:lnTo>
                    <a:pt x="6731" y="3378454"/>
                  </a:lnTo>
                  <a:cubicBezTo>
                    <a:pt x="3048" y="3378454"/>
                    <a:pt x="0" y="3375406"/>
                    <a:pt x="0" y="3371723"/>
                  </a:cubicBezTo>
                  <a:lnTo>
                    <a:pt x="0" y="6731"/>
                  </a:lnTo>
                  <a:cubicBezTo>
                    <a:pt x="0" y="3048"/>
                    <a:pt x="3048" y="0"/>
                    <a:pt x="6731" y="0"/>
                  </a:cubicBezTo>
                  <a:moveTo>
                    <a:pt x="6731" y="13589"/>
                  </a:moveTo>
                  <a:lnTo>
                    <a:pt x="6731" y="6731"/>
                  </a:lnTo>
                  <a:lnTo>
                    <a:pt x="13462" y="6731"/>
                  </a:lnTo>
                  <a:lnTo>
                    <a:pt x="13462" y="3371723"/>
                  </a:lnTo>
                  <a:lnTo>
                    <a:pt x="6731" y="3371723"/>
                  </a:lnTo>
                  <a:lnTo>
                    <a:pt x="6731" y="3364992"/>
                  </a:lnTo>
                  <a:lnTo>
                    <a:pt x="11125835" y="3364992"/>
                  </a:lnTo>
                  <a:lnTo>
                    <a:pt x="11125835" y="3371723"/>
                  </a:lnTo>
                  <a:lnTo>
                    <a:pt x="11119103" y="3371723"/>
                  </a:lnTo>
                  <a:lnTo>
                    <a:pt x="11119103" y="6731"/>
                  </a:lnTo>
                  <a:lnTo>
                    <a:pt x="11125835" y="6731"/>
                  </a:lnTo>
                  <a:lnTo>
                    <a:pt x="11125835" y="13462"/>
                  </a:lnTo>
                  <a:lnTo>
                    <a:pt x="6731" y="13462"/>
                  </a:lnTo>
                  <a:close/>
                </a:path>
              </a:pathLst>
            </a:custGeom>
            <a:solidFill>
              <a:srgbClr val="E8ECF0"/>
            </a:solidFill>
          </p:spPr>
        </p:sp>
      </p:grpSp>
      <p:grpSp>
        <p:nvGrpSpPr>
          <p:cNvPr name="Group 47" id="47"/>
          <p:cNvGrpSpPr/>
          <p:nvPr/>
        </p:nvGrpSpPr>
        <p:grpSpPr>
          <a:xfrm rot="0">
            <a:off x="9528562" y="2036401"/>
            <a:ext cx="8349491" cy="2533907"/>
            <a:chOff x="0" y="0"/>
            <a:chExt cx="11132655" cy="3378543"/>
          </a:xfrm>
        </p:grpSpPr>
        <p:sp>
          <p:nvSpPr>
            <p:cNvPr name="Freeform 48" id="48"/>
            <p:cNvSpPr/>
            <p:nvPr/>
          </p:nvSpPr>
          <p:spPr>
            <a:xfrm flipH="false" flipV="false" rot="0">
              <a:off x="6731" y="6731"/>
              <a:ext cx="11119104" cy="3364992"/>
            </a:xfrm>
            <a:custGeom>
              <a:avLst/>
              <a:gdLst/>
              <a:ahLst/>
              <a:cxnLst/>
              <a:rect r="r" b="b" t="t" l="l"/>
              <a:pathLst>
                <a:path h="3364992" w="11119104">
                  <a:moveTo>
                    <a:pt x="0" y="0"/>
                  </a:moveTo>
                  <a:lnTo>
                    <a:pt x="11119104" y="0"/>
                  </a:lnTo>
                  <a:lnTo>
                    <a:pt x="11119104" y="3364992"/>
                  </a:lnTo>
                  <a:lnTo>
                    <a:pt x="0" y="3364992"/>
                  </a:lnTo>
                  <a:close/>
                </a:path>
              </a:pathLst>
            </a:custGeom>
            <a:solidFill>
              <a:srgbClr val="EDF7F6"/>
            </a:solidFill>
          </p:spPr>
        </p:sp>
        <p:sp>
          <p:nvSpPr>
            <p:cNvPr name="Freeform 49" id="49"/>
            <p:cNvSpPr/>
            <p:nvPr/>
          </p:nvSpPr>
          <p:spPr>
            <a:xfrm flipH="false" flipV="false" rot="0">
              <a:off x="0" y="0"/>
              <a:ext cx="11132566" cy="3378454"/>
            </a:xfrm>
            <a:custGeom>
              <a:avLst/>
              <a:gdLst/>
              <a:ahLst/>
              <a:cxnLst/>
              <a:rect r="r" b="b" t="t" l="l"/>
              <a:pathLst>
                <a:path h="3378454" w="11132566">
                  <a:moveTo>
                    <a:pt x="6731" y="0"/>
                  </a:moveTo>
                  <a:lnTo>
                    <a:pt x="11125835" y="0"/>
                  </a:lnTo>
                  <a:cubicBezTo>
                    <a:pt x="11129518" y="0"/>
                    <a:pt x="11132566" y="3048"/>
                    <a:pt x="11132566" y="6731"/>
                  </a:cubicBezTo>
                  <a:lnTo>
                    <a:pt x="11132566" y="3371723"/>
                  </a:lnTo>
                  <a:cubicBezTo>
                    <a:pt x="11132566" y="3375406"/>
                    <a:pt x="11129518" y="3378454"/>
                    <a:pt x="11125835" y="3378454"/>
                  </a:cubicBezTo>
                  <a:lnTo>
                    <a:pt x="6731" y="3378454"/>
                  </a:lnTo>
                  <a:cubicBezTo>
                    <a:pt x="3048" y="3378454"/>
                    <a:pt x="0" y="3375406"/>
                    <a:pt x="0" y="3371723"/>
                  </a:cubicBezTo>
                  <a:lnTo>
                    <a:pt x="0" y="6731"/>
                  </a:lnTo>
                  <a:cubicBezTo>
                    <a:pt x="0" y="3048"/>
                    <a:pt x="3048" y="0"/>
                    <a:pt x="6731" y="0"/>
                  </a:cubicBezTo>
                  <a:moveTo>
                    <a:pt x="6731" y="13589"/>
                  </a:moveTo>
                  <a:lnTo>
                    <a:pt x="6731" y="6731"/>
                  </a:lnTo>
                  <a:lnTo>
                    <a:pt x="13462" y="6731"/>
                  </a:lnTo>
                  <a:lnTo>
                    <a:pt x="13462" y="3371723"/>
                  </a:lnTo>
                  <a:lnTo>
                    <a:pt x="6731" y="3371723"/>
                  </a:lnTo>
                  <a:lnTo>
                    <a:pt x="6731" y="3364992"/>
                  </a:lnTo>
                  <a:lnTo>
                    <a:pt x="11125835" y="3364992"/>
                  </a:lnTo>
                  <a:lnTo>
                    <a:pt x="11125835" y="3371723"/>
                  </a:lnTo>
                  <a:lnTo>
                    <a:pt x="11119103" y="3371723"/>
                  </a:lnTo>
                  <a:lnTo>
                    <a:pt x="11119103" y="6731"/>
                  </a:lnTo>
                  <a:lnTo>
                    <a:pt x="11125835" y="6731"/>
                  </a:lnTo>
                  <a:lnTo>
                    <a:pt x="11125835" y="13462"/>
                  </a:lnTo>
                  <a:lnTo>
                    <a:pt x="6731" y="13462"/>
                  </a:lnTo>
                  <a:close/>
                </a:path>
              </a:pathLst>
            </a:custGeom>
            <a:solidFill>
              <a:srgbClr val="E8ECF0"/>
            </a:solidFill>
          </p:spPr>
        </p:sp>
      </p:grpSp>
      <p:grpSp>
        <p:nvGrpSpPr>
          <p:cNvPr name="Group 50" id="50"/>
          <p:cNvGrpSpPr/>
          <p:nvPr/>
        </p:nvGrpSpPr>
        <p:grpSpPr>
          <a:xfrm rot="0">
            <a:off x="8728967" y="5460190"/>
            <a:ext cx="804672" cy="731520"/>
            <a:chOff x="0" y="0"/>
            <a:chExt cx="1072896" cy="975360"/>
          </a:xfrm>
        </p:grpSpPr>
        <p:sp>
          <p:nvSpPr>
            <p:cNvPr name="Freeform 51" id="51"/>
            <p:cNvSpPr/>
            <p:nvPr/>
          </p:nvSpPr>
          <p:spPr>
            <a:xfrm flipH="false" flipV="false" rot="0">
              <a:off x="0" y="0"/>
              <a:ext cx="1072896" cy="975360"/>
            </a:xfrm>
            <a:custGeom>
              <a:avLst/>
              <a:gdLst/>
              <a:ahLst/>
              <a:cxnLst/>
              <a:rect r="r" b="b" t="t" l="l"/>
              <a:pathLst>
                <a:path h="975360" w="1072896">
                  <a:moveTo>
                    <a:pt x="0" y="0"/>
                  </a:moveTo>
                  <a:lnTo>
                    <a:pt x="1072896" y="0"/>
                  </a:lnTo>
                  <a:lnTo>
                    <a:pt x="1072896" y="975360"/>
                  </a:lnTo>
                  <a:lnTo>
                    <a:pt x="0" y="975360"/>
                  </a:lnTo>
                  <a:close/>
                </a:path>
              </a:pathLst>
            </a:custGeom>
            <a:blipFill>
              <a:blip r:embed="rId3">
                <a:alphaModFix amt="0"/>
              </a:blip>
              <a:stretch>
                <a:fillRect l="-66639" t="0" r="-66639" b="0"/>
              </a:stretch>
            </a:blipFill>
          </p:spPr>
        </p:sp>
        <p:sp>
          <p:nvSpPr>
            <p:cNvPr name="TextBox 52" id="52"/>
            <p:cNvSpPr txBox="true"/>
            <p:nvPr/>
          </p:nvSpPr>
          <p:spPr>
            <a:xfrm>
              <a:off x="0" y="-19050"/>
              <a:ext cx="1072896" cy="994410"/>
            </a:xfrm>
            <a:prstGeom prst="rect">
              <a:avLst/>
            </a:prstGeom>
          </p:spPr>
          <p:txBody>
            <a:bodyPr anchor="ctr" rtlCol="false" tIns="0" lIns="0" bIns="0" rIns="0"/>
            <a:lstStyle/>
            <a:p>
              <a:pPr algn="ctr">
                <a:lnSpc>
                  <a:spcPts val="3840"/>
                </a:lnSpc>
              </a:pPr>
              <a:r>
                <a:rPr lang="en-US" b="true" sz="3200">
                  <a:solidFill>
                    <a:srgbClr val="000000"/>
                  </a:solidFill>
                  <a:latin typeface="Helios Extended Bold"/>
                  <a:ea typeface="Helios Extended Bold"/>
                  <a:cs typeface="Helios Extended Bold"/>
                  <a:sym typeface="Helios Extended Bold"/>
                </a:rPr>
                <a:t>→</a:t>
              </a:r>
            </a:p>
          </p:txBody>
        </p:sp>
      </p:grpSp>
      <p:grpSp>
        <p:nvGrpSpPr>
          <p:cNvPr name="Group 53" id="53"/>
          <p:cNvGrpSpPr/>
          <p:nvPr/>
        </p:nvGrpSpPr>
        <p:grpSpPr>
          <a:xfrm rot="0">
            <a:off x="535943" y="5019064"/>
            <a:ext cx="976379" cy="976379"/>
            <a:chOff x="0" y="0"/>
            <a:chExt cx="1301839" cy="1301839"/>
          </a:xfrm>
        </p:grpSpPr>
        <p:sp>
          <p:nvSpPr>
            <p:cNvPr name="Freeform 54" id="54"/>
            <p:cNvSpPr/>
            <p:nvPr/>
          </p:nvSpPr>
          <p:spPr>
            <a:xfrm flipH="false" flipV="false" rot="0">
              <a:off x="16891" y="16891"/>
              <a:ext cx="1267968" cy="1267968"/>
            </a:xfrm>
            <a:custGeom>
              <a:avLst/>
              <a:gdLst/>
              <a:ahLst/>
              <a:cxnLst/>
              <a:rect r="r" b="b" t="t" l="l"/>
              <a:pathLst>
                <a:path h="1267968" w="1267968">
                  <a:moveTo>
                    <a:pt x="0" y="633984"/>
                  </a:moveTo>
                  <a:cubicBezTo>
                    <a:pt x="0" y="283845"/>
                    <a:pt x="283845" y="0"/>
                    <a:pt x="633984" y="0"/>
                  </a:cubicBezTo>
                  <a:cubicBezTo>
                    <a:pt x="984123" y="0"/>
                    <a:pt x="1267968" y="283845"/>
                    <a:pt x="1267968" y="633984"/>
                  </a:cubicBezTo>
                  <a:cubicBezTo>
                    <a:pt x="1267968" y="984123"/>
                    <a:pt x="984123" y="1267968"/>
                    <a:pt x="633984" y="1267968"/>
                  </a:cubicBezTo>
                  <a:cubicBezTo>
                    <a:pt x="283845" y="1267968"/>
                    <a:pt x="0" y="984123"/>
                    <a:pt x="0" y="633984"/>
                  </a:cubicBezTo>
                  <a:close/>
                </a:path>
              </a:pathLst>
            </a:custGeom>
            <a:solidFill>
              <a:srgbClr val="D63B2F"/>
            </a:solidFill>
          </p:spPr>
        </p:sp>
        <p:sp>
          <p:nvSpPr>
            <p:cNvPr name="Freeform 55" id="55"/>
            <p:cNvSpPr/>
            <p:nvPr/>
          </p:nvSpPr>
          <p:spPr>
            <a:xfrm flipH="false" flipV="false" rot="0">
              <a:off x="0" y="0"/>
              <a:ext cx="1301750" cy="1301750"/>
            </a:xfrm>
            <a:custGeom>
              <a:avLst/>
              <a:gdLst/>
              <a:ahLst/>
              <a:cxnLst/>
              <a:rect r="r" b="b" t="t" l="l"/>
              <a:pathLst>
                <a:path h="1301750" w="1301750">
                  <a:moveTo>
                    <a:pt x="0" y="650875"/>
                  </a:moveTo>
                  <a:cubicBezTo>
                    <a:pt x="0" y="291465"/>
                    <a:pt x="291465" y="0"/>
                    <a:pt x="650875" y="0"/>
                  </a:cubicBezTo>
                  <a:lnTo>
                    <a:pt x="650875" y="16891"/>
                  </a:lnTo>
                  <a:lnTo>
                    <a:pt x="650875" y="0"/>
                  </a:lnTo>
                  <a:cubicBezTo>
                    <a:pt x="1010412" y="0"/>
                    <a:pt x="1301750" y="291465"/>
                    <a:pt x="1301750" y="650875"/>
                  </a:cubicBezTo>
                  <a:lnTo>
                    <a:pt x="1284859" y="650875"/>
                  </a:lnTo>
                  <a:lnTo>
                    <a:pt x="1301750" y="650875"/>
                  </a:lnTo>
                  <a:cubicBezTo>
                    <a:pt x="1301750" y="1010412"/>
                    <a:pt x="1010285" y="1301750"/>
                    <a:pt x="650875" y="1301750"/>
                  </a:cubicBezTo>
                  <a:lnTo>
                    <a:pt x="650875" y="1284859"/>
                  </a:lnTo>
                  <a:lnTo>
                    <a:pt x="650875" y="1301750"/>
                  </a:lnTo>
                  <a:cubicBezTo>
                    <a:pt x="291465" y="1301877"/>
                    <a:pt x="0" y="1010412"/>
                    <a:pt x="0" y="650875"/>
                  </a:cubicBezTo>
                  <a:lnTo>
                    <a:pt x="16891" y="650875"/>
                  </a:lnTo>
                  <a:lnTo>
                    <a:pt x="33909" y="650875"/>
                  </a:lnTo>
                  <a:lnTo>
                    <a:pt x="16891" y="650875"/>
                  </a:lnTo>
                  <a:lnTo>
                    <a:pt x="0" y="650875"/>
                  </a:lnTo>
                  <a:moveTo>
                    <a:pt x="33909" y="650875"/>
                  </a:moveTo>
                  <a:cubicBezTo>
                    <a:pt x="33909" y="660273"/>
                    <a:pt x="26289" y="667766"/>
                    <a:pt x="17018" y="667766"/>
                  </a:cubicBezTo>
                  <a:cubicBezTo>
                    <a:pt x="7747" y="667766"/>
                    <a:pt x="0" y="660273"/>
                    <a:pt x="0" y="650875"/>
                  </a:cubicBezTo>
                  <a:cubicBezTo>
                    <a:pt x="0" y="641477"/>
                    <a:pt x="7620" y="633984"/>
                    <a:pt x="16891" y="633984"/>
                  </a:cubicBezTo>
                  <a:cubicBezTo>
                    <a:pt x="26162" y="633984"/>
                    <a:pt x="33782" y="641604"/>
                    <a:pt x="33782" y="650875"/>
                  </a:cubicBezTo>
                  <a:cubicBezTo>
                    <a:pt x="33782" y="991616"/>
                    <a:pt x="310007" y="1267968"/>
                    <a:pt x="650875" y="1267968"/>
                  </a:cubicBezTo>
                  <a:cubicBezTo>
                    <a:pt x="991616" y="1267968"/>
                    <a:pt x="1267968" y="991743"/>
                    <a:pt x="1267968" y="650875"/>
                  </a:cubicBezTo>
                  <a:cubicBezTo>
                    <a:pt x="1267968" y="310134"/>
                    <a:pt x="991743" y="33782"/>
                    <a:pt x="650875" y="33782"/>
                  </a:cubicBezTo>
                  <a:lnTo>
                    <a:pt x="650875" y="16891"/>
                  </a:lnTo>
                  <a:lnTo>
                    <a:pt x="650875" y="33909"/>
                  </a:lnTo>
                  <a:cubicBezTo>
                    <a:pt x="310134" y="33909"/>
                    <a:pt x="33909" y="310134"/>
                    <a:pt x="33909" y="650875"/>
                  </a:cubicBezTo>
                  <a:close/>
                </a:path>
              </a:pathLst>
            </a:custGeom>
            <a:solidFill>
              <a:srgbClr val="D63B2F"/>
            </a:solidFill>
          </p:spPr>
        </p:sp>
      </p:grpSp>
      <p:grpSp>
        <p:nvGrpSpPr>
          <p:cNvPr name="Group 56" id="56"/>
          <p:cNvGrpSpPr/>
          <p:nvPr/>
        </p:nvGrpSpPr>
        <p:grpSpPr>
          <a:xfrm rot="0">
            <a:off x="548640" y="5104913"/>
            <a:ext cx="950976" cy="804672"/>
            <a:chOff x="0" y="0"/>
            <a:chExt cx="1267968" cy="1072896"/>
          </a:xfrm>
        </p:grpSpPr>
        <p:sp>
          <p:nvSpPr>
            <p:cNvPr name="Freeform 57" id="57"/>
            <p:cNvSpPr/>
            <p:nvPr/>
          </p:nvSpPr>
          <p:spPr>
            <a:xfrm flipH="false" flipV="false" rot="0">
              <a:off x="0" y="0"/>
              <a:ext cx="1267968" cy="1072896"/>
            </a:xfrm>
            <a:custGeom>
              <a:avLst/>
              <a:gdLst/>
              <a:ahLst/>
              <a:cxnLst/>
              <a:rect r="r" b="b" t="t" l="l"/>
              <a:pathLst>
                <a:path h="1072896" w="1267968">
                  <a:moveTo>
                    <a:pt x="0" y="0"/>
                  </a:moveTo>
                  <a:lnTo>
                    <a:pt x="1267968" y="0"/>
                  </a:lnTo>
                  <a:lnTo>
                    <a:pt x="1267968" y="1072896"/>
                  </a:lnTo>
                  <a:lnTo>
                    <a:pt x="0" y="1072896"/>
                  </a:lnTo>
                  <a:close/>
                </a:path>
              </a:pathLst>
            </a:custGeom>
            <a:blipFill>
              <a:blip r:embed="rId3">
                <a:alphaModFix amt="0"/>
              </a:blip>
              <a:stretch>
                <a:fillRect l="-58564" t="0" r="-58564" b="0"/>
              </a:stretch>
            </a:blipFill>
          </p:spPr>
        </p:sp>
        <p:sp>
          <p:nvSpPr>
            <p:cNvPr name="TextBox 58" id="58"/>
            <p:cNvSpPr txBox="true"/>
            <p:nvPr/>
          </p:nvSpPr>
          <p:spPr>
            <a:xfrm>
              <a:off x="0" y="-38100"/>
              <a:ext cx="1267968" cy="1110996"/>
            </a:xfrm>
            <a:prstGeom prst="rect">
              <a:avLst/>
            </a:prstGeom>
          </p:spPr>
          <p:txBody>
            <a:bodyPr anchor="ctr" rtlCol="false" tIns="0" lIns="0" bIns="0" rIns="0"/>
            <a:lstStyle/>
            <a:p>
              <a:pPr algn="ctr">
                <a:lnSpc>
                  <a:spcPts val="3120"/>
                </a:lnSpc>
              </a:pPr>
              <a:r>
                <a:rPr lang="en-US" sz="2600" b="true">
                  <a:solidFill>
                    <a:srgbClr val="FFFFFF"/>
                  </a:solidFill>
                  <a:latin typeface="Helios Extended Bold"/>
                  <a:ea typeface="Helios Extended Bold"/>
                  <a:cs typeface="Helios Extended Bold"/>
                  <a:sym typeface="Helios Extended Bold"/>
                </a:rPr>
                <a:t>02</a:t>
              </a:r>
            </a:p>
          </p:txBody>
        </p:sp>
      </p:grpSp>
      <p:grpSp>
        <p:nvGrpSpPr>
          <p:cNvPr name="Group 59" id="59"/>
          <p:cNvGrpSpPr/>
          <p:nvPr/>
        </p:nvGrpSpPr>
        <p:grpSpPr>
          <a:xfrm rot="0">
            <a:off x="1682496" y="4958609"/>
            <a:ext cx="3986784" cy="658368"/>
            <a:chOff x="0" y="0"/>
            <a:chExt cx="5315712" cy="877824"/>
          </a:xfrm>
        </p:grpSpPr>
        <p:sp>
          <p:nvSpPr>
            <p:cNvPr name="Freeform 60" id="60"/>
            <p:cNvSpPr/>
            <p:nvPr/>
          </p:nvSpPr>
          <p:spPr>
            <a:xfrm flipH="false" flipV="false" rot="0">
              <a:off x="0" y="0"/>
              <a:ext cx="5315712" cy="877824"/>
            </a:xfrm>
            <a:custGeom>
              <a:avLst/>
              <a:gdLst/>
              <a:ahLst/>
              <a:cxnLst/>
              <a:rect r="r" b="b" t="t" l="l"/>
              <a:pathLst>
                <a:path h="877824" w="5315712">
                  <a:moveTo>
                    <a:pt x="0" y="0"/>
                  </a:moveTo>
                  <a:lnTo>
                    <a:pt x="5315712" y="0"/>
                  </a:lnTo>
                  <a:lnTo>
                    <a:pt x="5315712" y="877824"/>
                  </a:lnTo>
                  <a:lnTo>
                    <a:pt x="0" y="877824"/>
                  </a:lnTo>
                  <a:close/>
                </a:path>
              </a:pathLst>
            </a:custGeom>
            <a:blipFill>
              <a:blip r:embed="rId3">
                <a:alphaModFix amt="0"/>
              </a:blip>
              <a:stretch>
                <a:fillRect l="0" t="-67992" r="0" b="-67992"/>
              </a:stretch>
            </a:blipFill>
          </p:spPr>
        </p:sp>
        <p:sp>
          <p:nvSpPr>
            <p:cNvPr name="TextBox 61" id="61"/>
            <p:cNvSpPr txBox="true"/>
            <p:nvPr/>
          </p:nvSpPr>
          <p:spPr>
            <a:xfrm>
              <a:off x="0" y="-19050"/>
              <a:ext cx="5315712" cy="896874"/>
            </a:xfrm>
            <a:prstGeom prst="rect">
              <a:avLst/>
            </a:prstGeom>
          </p:spPr>
          <p:txBody>
            <a:bodyPr anchor="ctr" rtlCol="false" tIns="0" lIns="0" bIns="0" rIns="0"/>
            <a:lstStyle/>
            <a:p>
              <a:pPr algn="l">
                <a:lnSpc>
                  <a:spcPts val="2760"/>
                </a:lnSpc>
              </a:pPr>
              <a:r>
                <a:rPr lang="en-US" sz="2300" b="true">
                  <a:solidFill>
                    <a:srgbClr val="1A2733"/>
                  </a:solidFill>
                  <a:latin typeface="Helios Extended Bold"/>
                  <a:ea typeface="Helios Extended Bold"/>
                  <a:cs typeface="Helios Extended Bold"/>
                  <a:sym typeface="Helios Extended Bold"/>
                </a:rPr>
                <a:t>Excessive CoT Length</a:t>
              </a:r>
            </a:p>
          </p:txBody>
        </p:sp>
      </p:grpSp>
      <p:grpSp>
        <p:nvGrpSpPr>
          <p:cNvPr name="Group 62" id="62"/>
          <p:cNvGrpSpPr/>
          <p:nvPr/>
        </p:nvGrpSpPr>
        <p:grpSpPr>
          <a:xfrm rot="0">
            <a:off x="1682496" y="5653553"/>
            <a:ext cx="3986784" cy="1389888"/>
            <a:chOff x="0" y="0"/>
            <a:chExt cx="5315712" cy="1853184"/>
          </a:xfrm>
        </p:grpSpPr>
        <p:sp>
          <p:nvSpPr>
            <p:cNvPr name="Freeform 63" id="63"/>
            <p:cNvSpPr/>
            <p:nvPr/>
          </p:nvSpPr>
          <p:spPr>
            <a:xfrm flipH="false" flipV="false" rot="0">
              <a:off x="0" y="0"/>
              <a:ext cx="5315712" cy="1853184"/>
            </a:xfrm>
            <a:custGeom>
              <a:avLst/>
              <a:gdLst/>
              <a:ahLst/>
              <a:cxnLst/>
              <a:rect r="r" b="b" t="t" l="l"/>
              <a:pathLst>
                <a:path h="1853184" w="5315712">
                  <a:moveTo>
                    <a:pt x="0" y="0"/>
                  </a:moveTo>
                  <a:lnTo>
                    <a:pt x="5315712" y="0"/>
                  </a:lnTo>
                  <a:lnTo>
                    <a:pt x="5315712" y="1853184"/>
                  </a:lnTo>
                  <a:lnTo>
                    <a:pt x="0" y="1853184"/>
                  </a:lnTo>
                  <a:close/>
                </a:path>
              </a:pathLst>
            </a:custGeom>
            <a:blipFill>
              <a:blip r:embed="rId3">
                <a:alphaModFix amt="0"/>
              </a:blip>
              <a:stretch>
                <a:fillRect l="0" t="-5891" r="0" b="-5891"/>
              </a:stretch>
            </a:blipFill>
          </p:spPr>
        </p:sp>
        <p:sp>
          <p:nvSpPr>
            <p:cNvPr name="TextBox 64" id="64"/>
            <p:cNvSpPr txBox="true"/>
            <p:nvPr/>
          </p:nvSpPr>
          <p:spPr>
            <a:xfrm>
              <a:off x="0" y="-19050"/>
              <a:ext cx="5315712" cy="1872234"/>
            </a:xfrm>
            <a:prstGeom prst="rect">
              <a:avLst/>
            </a:prstGeom>
          </p:spPr>
          <p:txBody>
            <a:bodyPr anchor="ctr" rtlCol="false" tIns="0" lIns="0" bIns="0" rIns="0"/>
            <a:lstStyle/>
            <a:p>
              <a:pPr algn="l">
                <a:lnSpc>
                  <a:spcPts val="2519"/>
                </a:lnSpc>
              </a:pPr>
              <a:r>
                <a:rPr lang="en-US" sz="2099">
                  <a:solidFill>
                    <a:srgbClr val="1E293B"/>
                  </a:solidFill>
                  <a:latin typeface="Helios Extended"/>
                  <a:ea typeface="Helios Extended"/>
                  <a:cs typeface="Helios Extended"/>
                  <a:sym typeface="Helios Extended"/>
                </a:rPr>
                <a:t>Mean trace = 306 words.</a:t>
              </a:r>
            </a:p>
          </p:txBody>
        </p:sp>
      </p:grpSp>
      <p:grpSp>
        <p:nvGrpSpPr>
          <p:cNvPr name="Group 65" id="65"/>
          <p:cNvGrpSpPr/>
          <p:nvPr/>
        </p:nvGrpSpPr>
        <p:grpSpPr>
          <a:xfrm rot="0">
            <a:off x="5809231" y="5025408"/>
            <a:ext cx="2609593" cy="1841497"/>
            <a:chOff x="0" y="0"/>
            <a:chExt cx="3479457" cy="2455329"/>
          </a:xfrm>
        </p:grpSpPr>
        <p:sp>
          <p:nvSpPr>
            <p:cNvPr name="Freeform 66" id="66"/>
            <p:cNvSpPr/>
            <p:nvPr/>
          </p:nvSpPr>
          <p:spPr>
            <a:xfrm flipH="false" flipV="false" rot="0">
              <a:off x="8509" y="8509"/>
              <a:ext cx="3462528" cy="2438400"/>
            </a:xfrm>
            <a:custGeom>
              <a:avLst/>
              <a:gdLst/>
              <a:ahLst/>
              <a:cxnLst/>
              <a:rect r="r" b="b" t="t" l="l"/>
              <a:pathLst>
                <a:path h="2438400" w="3462528">
                  <a:moveTo>
                    <a:pt x="0" y="0"/>
                  </a:moveTo>
                  <a:lnTo>
                    <a:pt x="3462528" y="0"/>
                  </a:lnTo>
                  <a:lnTo>
                    <a:pt x="3462528" y="2438400"/>
                  </a:lnTo>
                  <a:lnTo>
                    <a:pt x="0" y="2438400"/>
                  </a:lnTo>
                  <a:close/>
                </a:path>
              </a:pathLst>
            </a:custGeom>
            <a:solidFill>
              <a:srgbClr val="FFFFFF"/>
            </a:solidFill>
          </p:spPr>
        </p:sp>
        <p:sp>
          <p:nvSpPr>
            <p:cNvPr name="Freeform 67" id="67"/>
            <p:cNvSpPr/>
            <p:nvPr/>
          </p:nvSpPr>
          <p:spPr>
            <a:xfrm flipH="false" flipV="false" rot="0">
              <a:off x="0" y="0"/>
              <a:ext cx="3479546" cy="2455418"/>
            </a:xfrm>
            <a:custGeom>
              <a:avLst/>
              <a:gdLst/>
              <a:ahLst/>
              <a:cxnLst/>
              <a:rect r="r" b="b" t="t" l="l"/>
              <a:pathLst>
                <a:path h="2455418" w="3479546">
                  <a:moveTo>
                    <a:pt x="8509" y="0"/>
                  </a:moveTo>
                  <a:lnTo>
                    <a:pt x="3471037" y="0"/>
                  </a:lnTo>
                  <a:cubicBezTo>
                    <a:pt x="3475736" y="0"/>
                    <a:pt x="3479546" y="3810"/>
                    <a:pt x="3479546" y="8509"/>
                  </a:cubicBezTo>
                  <a:lnTo>
                    <a:pt x="3479546" y="2446909"/>
                  </a:lnTo>
                  <a:cubicBezTo>
                    <a:pt x="3479546" y="2451608"/>
                    <a:pt x="3475736" y="2455418"/>
                    <a:pt x="3471037" y="2455418"/>
                  </a:cubicBezTo>
                  <a:lnTo>
                    <a:pt x="8509" y="2455418"/>
                  </a:lnTo>
                  <a:cubicBezTo>
                    <a:pt x="3810" y="2455418"/>
                    <a:pt x="0" y="2451608"/>
                    <a:pt x="0" y="2446909"/>
                  </a:cubicBezTo>
                  <a:lnTo>
                    <a:pt x="0" y="8509"/>
                  </a:lnTo>
                  <a:cubicBezTo>
                    <a:pt x="0" y="3810"/>
                    <a:pt x="3810" y="0"/>
                    <a:pt x="8509" y="0"/>
                  </a:cubicBezTo>
                  <a:moveTo>
                    <a:pt x="8509" y="16891"/>
                  </a:moveTo>
                  <a:lnTo>
                    <a:pt x="8509" y="8509"/>
                  </a:lnTo>
                  <a:lnTo>
                    <a:pt x="17018" y="8509"/>
                  </a:lnTo>
                  <a:lnTo>
                    <a:pt x="17018" y="2446909"/>
                  </a:lnTo>
                  <a:lnTo>
                    <a:pt x="8509" y="2446909"/>
                  </a:lnTo>
                  <a:lnTo>
                    <a:pt x="8509" y="2438400"/>
                  </a:lnTo>
                  <a:lnTo>
                    <a:pt x="3471037" y="2438400"/>
                  </a:lnTo>
                  <a:lnTo>
                    <a:pt x="3471037" y="2446909"/>
                  </a:lnTo>
                  <a:lnTo>
                    <a:pt x="3462528" y="2446909"/>
                  </a:lnTo>
                  <a:lnTo>
                    <a:pt x="3462528" y="8509"/>
                  </a:lnTo>
                  <a:lnTo>
                    <a:pt x="3471037" y="8509"/>
                  </a:lnTo>
                  <a:lnTo>
                    <a:pt x="3471037" y="17018"/>
                  </a:lnTo>
                  <a:lnTo>
                    <a:pt x="8509" y="17018"/>
                  </a:lnTo>
                  <a:close/>
                </a:path>
              </a:pathLst>
            </a:custGeom>
            <a:solidFill>
              <a:srgbClr val="CC2200"/>
            </a:solidFill>
          </p:spPr>
        </p:sp>
      </p:grpSp>
      <p:grpSp>
        <p:nvGrpSpPr>
          <p:cNvPr name="Group 68" id="68"/>
          <p:cNvGrpSpPr/>
          <p:nvPr/>
        </p:nvGrpSpPr>
        <p:grpSpPr>
          <a:xfrm rot="0">
            <a:off x="5840730" y="5415809"/>
            <a:ext cx="2596896" cy="950976"/>
            <a:chOff x="0" y="0"/>
            <a:chExt cx="3462528" cy="1267968"/>
          </a:xfrm>
        </p:grpSpPr>
        <p:sp>
          <p:nvSpPr>
            <p:cNvPr name="Freeform 69" id="69"/>
            <p:cNvSpPr/>
            <p:nvPr/>
          </p:nvSpPr>
          <p:spPr>
            <a:xfrm flipH="false" flipV="false" rot="0">
              <a:off x="0" y="0"/>
              <a:ext cx="3462528" cy="1267968"/>
            </a:xfrm>
            <a:custGeom>
              <a:avLst/>
              <a:gdLst/>
              <a:ahLst/>
              <a:cxnLst/>
              <a:rect r="r" b="b" t="t" l="l"/>
              <a:pathLst>
                <a:path h="1267968" w="3462528">
                  <a:moveTo>
                    <a:pt x="0" y="0"/>
                  </a:moveTo>
                  <a:lnTo>
                    <a:pt x="3462528" y="0"/>
                  </a:lnTo>
                  <a:lnTo>
                    <a:pt x="3462528" y="1267968"/>
                  </a:lnTo>
                  <a:lnTo>
                    <a:pt x="0" y="1267968"/>
                  </a:lnTo>
                  <a:close/>
                </a:path>
              </a:pathLst>
            </a:custGeom>
            <a:blipFill>
              <a:blip r:embed="rId3">
                <a:alphaModFix amt="0"/>
              </a:blip>
              <a:stretch>
                <a:fillRect l="0" t="-3209" r="0" b="-3209"/>
              </a:stretch>
            </a:blipFill>
          </p:spPr>
        </p:sp>
        <p:sp>
          <p:nvSpPr>
            <p:cNvPr name="TextBox 70" id="70"/>
            <p:cNvSpPr txBox="true"/>
            <p:nvPr/>
          </p:nvSpPr>
          <p:spPr>
            <a:xfrm>
              <a:off x="0" y="-28575"/>
              <a:ext cx="3462528" cy="1296543"/>
            </a:xfrm>
            <a:prstGeom prst="rect">
              <a:avLst/>
            </a:prstGeom>
          </p:spPr>
          <p:txBody>
            <a:bodyPr anchor="ctr" rtlCol="false" tIns="0" lIns="0" bIns="0" rIns="0"/>
            <a:lstStyle/>
            <a:p>
              <a:pPr algn="ctr">
                <a:lnSpc>
                  <a:spcPts val="4800"/>
                </a:lnSpc>
              </a:pPr>
              <a:r>
                <a:rPr lang="en-US" b="true" sz="4000">
                  <a:solidFill>
                    <a:srgbClr val="D63B2F"/>
                  </a:solidFill>
                  <a:latin typeface="Helios Extended Bold"/>
                  <a:ea typeface="Helios Extended Bold"/>
                  <a:cs typeface="Helios Extended Bold"/>
                  <a:sym typeface="Helios Extended Bold"/>
                </a:rPr>
                <a:t>80%</a:t>
              </a:r>
            </a:p>
          </p:txBody>
        </p:sp>
      </p:grpSp>
      <p:grpSp>
        <p:nvGrpSpPr>
          <p:cNvPr name="Group 71" id="71"/>
          <p:cNvGrpSpPr/>
          <p:nvPr/>
        </p:nvGrpSpPr>
        <p:grpSpPr>
          <a:xfrm rot="0">
            <a:off x="5815584" y="6092465"/>
            <a:ext cx="2596896" cy="548640"/>
            <a:chOff x="0" y="0"/>
            <a:chExt cx="3462528" cy="731520"/>
          </a:xfrm>
        </p:grpSpPr>
        <p:sp>
          <p:nvSpPr>
            <p:cNvPr name="Freeform 72" id="72"/>
            <p:cNvSpPr/>
            <p:nvPr/>
          </p:nvSpPr>
          <p:spPr>
            <a:xfrm flipH="false" flipV="false" rot="0">
              <a:off x="0" y="0"/>
              <a:ext cx="3462528" cy="731520"/>
            </a:xfrm>
            <a:custGeom>
              <a:avLst/>
              <a:gdLst/>
              <a:ahLst/>
              <a:cxnLst/>
              <a:rect r="r" b="b" t="t" l="l"/>
              <a:pathLst>
                <a:path h="731520" w="3462528">
                  <a:moveTo>
                    <a:pt x="0" y="0"/>
                  </a:moveTo>
                  <a:lnTo>
                    <a:pt x="3462528" y="0"/>
                  </a:lnTo>
                  <a:lnTo>
                    <a:pt x="3462528" y="731520"/>
                  </a:lnTo>
                  <a:lnTo>
                    <a:pt x="0" y="731520"/>
                  </a:lnTo>
                  <a:close/>
                </a:path>
              </a:pathLst>
            </a:custGeom>
            <a:blipFill>
              <a:blip r:embed="rId3">
                <a:alphaModFix amt="0"/>
              </a:blip>
              <a:stretch>
                <a:fillRect l="0" t="-42229" r="0" b="-42229"/>
              </a:stretch>
            </a:blipFill>
          </p:spPr>
        </p:sp>
        <p:sp>
          <p:nvSpPr>
            <p:cNvPr name="TextBox 73" id="73"/>
            <p:cNvSpPr txBox="true"/>
            <p:nvPr/>
          </p:nvSpPr>
          <p:spPr>
            <a:xfrm>
              <a:off x="0" y="-9525"/>
              <a:ext cx="3462528" cy="741045"/>
            </a:xfrm>
            <a:prstGeom prst="rect">
              <a:avLst/>
            </a:prstGeom>
          </p:spPr>
          <p:txBody>
            <a:bodyPr anchor="ctr" rtlCol="false" tIns="0" lIns="0" bIns="0" rIns="0"/>
            <a:lstStyle/>
            <a:p>
              <a:pPr algn="ctr">
                <a:lnSpc>
                  <a:spcPts val="1680"/>
                </a:lnSpc>
              </a:pPr>
              <a:r>
                <a:rPr lang="en-US" sz="1400">
                  <a:solidFill>
                    <a:srgbClr val="4A6274"/>
                  </a:solidFill>
                  <a:latin typeface="Helios Extended"/>
                  <a:ea typeface="Helios Extended"/>
                  <a:cs typeface="Helios Extended"/>
                  <a:sym typeface="Helios Extended"/>
                </a:rPr>
                <a:t>content in first 100 words</a:t>
              </a:r>
            </a:p>
          </p:txBody>
        </p:sp>
      </p:grpSp>
      <p:grpSp>
        <p:nvGrpSpPr>
          <p:cNvPr name="Group 74" id="74"/>
          <p:cNvGrpSpPr/>
          <p:nvPr/>
        </p:nvGrpSpPr>
        <p:grpSpPr>
          <a:xfrm rot="0">
            <a:off x="9695183" y="2147014"/>
            <a:ext cx="3107095" cy="657925"/>
            <a:chOff x="0" y="0"/>
            <a:chExt cx="4142793" cy="877233"/>
          </a:xfrm>
        </p:grpSpPr>
        <p:sp>
          <p:nvSpPr>
            <p:cNvPr name="Freeform 75" id="75"/>
            <p:cNvSpPr/>
            <p:nvPr/>
          </p:nvSpPr>
          <p:spPr>
            <a:xfrm flipH="false" flipV="false" rot="0">
              <a:off x="23258" y="22186"/>
              <a:ext cx="4096155" cy="832744"/>
            </a:xfrm>
            <a:custGeom>
              <a:avLst/>
              <a:gdLst/>
              <a:ahLst/>
              <a:cxnLst/>
              <a:rect r="r" b="b" t="t" l="l"/>
              <a:pathLst>
                <a:path h="832744" w="4096155">
                  <a:moveTo>
                    <a:pt x="0" y="0"/>
                  </a:moveTo>
                  <a:lnTo>
                    <a:pt x="4096155" y="0"/>
                  </a:lnTo>
                  <a:lnTo>
                    <a:pt x="4096155" y="832744"/>
                  </a:lnTo>
                  <a:lnTo>
                    <a:pt x="0" y="832744"/>
                  </a:lnTo>
                  <a:close/>
                </a:path>
              </a:pathLst>
            </a:custGeom>
            <a:solidFill>
              <a:srgbClr val="0D9488"/>
            </a:solidFill>
          </p:spPr>
        </p:sp>
        <p:sp>
          <p:nvSpPr>
            <p:cNvPr name="Freeform 76" id="76"/>
            <p:cNvSpPr/>
            <p:nvPr/>
          </p:nvSpPr>
          <p:spPr>
            <a:xfrm flipH="false" flipV="false" rot="0">
              <a:off x="0" y="0"/>
              <a:ext cx="4142671" cy="877118"/>
            </a:xfrm>
            <a:custGeom>
              <a:avLst/>
              <a:gdLst/>
              <a:ahLst/>
              <a:cxnLst/>
              <a:rect r="r" b="b" t="t" l="l"/>
              <a:pathLst>
                <a:path h="877118" w="4142671">
                  <a:moveTo>
                    <a:pt x="23258" y="0"/>
                  </a:moveTo>
                  <a:lnTo>
                    <a:pt x="4119413" y="0"/>
                  </a:lnTo>
                  <a:cubicBezTo>
                    <a:pt x="4132354" y="0"/>
                    <a:pt x="4142671" y="10009"/>
                    <a:pt x="4142671" y="22186"/>
                  </a:cubicBezTo>
                  <a:lnTo>
                    <a:pt x="4142671" y="854930"/>
                  </a:lnTo>
                  <a:cubicBezTo>
                    <a:pt x="4142671" y="867275"/>
                    <a:pt x="4132178" y="877117"/>
                    <a:pt x="4119413" y="877117"/>
                  </a:cubicBezTo>
                  <a:lnTo>
                    <a:pt x="23258" y="877117"/>
                  </a:lnTo>
                  <a:cubicBezTo>
                    <a:pt x="10492" y="877272"/>
                    <a:pt x="0" y="867275"/>
                    <a:pt x="0" y="854930"/>
                  </a:cubicBezTo>
                  <a:lnTo>
                    <a:pt x="0" y="22186"/>
                  </a:lnTo>
                  <a:cubicBezTo>
                    <a:pt x="0" y="10009"/>
                    <a:pt x="10492" y="0"/>
                    <a:pt x="23258" y="0"/>
                  </a:cubicBezTo>
                  <a:moveTo>
                    <a:pt x="23258" y="44540"/>
                  </a:moveTo>
                  <a:lnTo>
                    <a:pt x="23258" y="22186"/>
                  </a:lnTo>
                  <a:lnTo>
                    <a:pt x="46690" y="22186"/>
                  </a:lnTo>
                  <a:lnTo>
                    <a:pt x="46690" y="854930"/>
                  </a:lnTo>
                  <a:lnTo>
                    <a:pt x="23258" y="854930"/>
                  </a:lnTo>
                  <a:lnTo>
                    <a:pt x="23258" y="832744"/>
                  </a:lnTo>
                  <a:lnTo>
                    <a:pt x="4119413" y="832744"/>
                  </a:lnTo>
                  <a:lnTo>
                    <a:pt x="4119413" y="854930"/>
                  </a:lnTo>
                  <a:lnTo>
                    <a:pt x="4096155" y="854930"/>
                  </a:lnTo>
                  <a:lnTo>
                    <a:pt x="4096155" y="22186"/>
                  </a:lnTo>
                  <a:lnTo>
                    <a:pt x="4119413" y="22186"/>
                  </a:lnTo>
                  <a:lnTo>
                    <a:pt x="4119413" y="44540"/>
                  </a:lnTo>
                  <a:lnTo>
                    <a:pt x="23258" y="44540"/>
                  </a:lnTo>
                  <a:close/>
                </a:path>
              </a:pathLst>
            </a:custGeom>
            <a:solidFill>
              <a:srgbClr val="0D9488"/>
            </a:solidFill>
          </p:spPr>
        </p:sp>
      </p:grpSp>
      <p:grpSp>
        <p:nvGrpSpPr>
          <p:cNvPr name="Group 77" id="77"/>
          <p:cNvGrpSpPr/>
          <p:nvPr/>
        </p:nvGrpSpPr>
        <p:grpSpPr>
          <a:xfrm rot="0">
            <a:off x="9674866" y="2288561"/>
            <a:ext cx="3107095" cy="433883"/>
            <a:chOff x="0" y="0"/>
            <a:chExt cx="4142793" cy="578510"/>
          </a:xfrm>
        </p:grpSpPr>
        <p:sp>
          <p:nvSpPr>
            <p:cNvPr name="Freeform 78" id="78"/>
            <p:cNvSpPr/>
            <p:nvPr/>
          </p:nvSpPr>
          <p:spPr>
            <a:xfrm flipH="false" flipV="false" rot="0">
              <a:off x="0" y="0"/>
              <a:ext cx="4142793" cy="578510"/>
            </a:xfrm>
            <a:custGeom>
              <a:avLst/>
              <a:gdLst/>
              <a:ahLst/>
              <a:cxnLst/>
              <a:rect r="r" b="b" t="t" l="l"/>
              <a:pathLst>
                <a:path h="578510" w="4142793">
                  <a:moveTo>
                    <a:pt x="0" y="0"/>
                  </a:moveTo>
                  <a:lnTo>
                    <a:pt x="4142793" y="0"/>
                  </a:lnTo>
                  <a:lnTo>
                    <a:pt x="4142793" y="578510"/>
                  </a:lnTo>
                  <a:lnTo>
                    <a:pt x="0" y="578510"/>
                  </a:lnTo>
                  <a:close/>
                </a:path>
              </a:pathLst>
            </a:custGeom>
            <a:blipFill>
              <a:blip r:embed="rId3">
                <a:alphaModFix amt="0"/>
              </a:blip>
              <a:stretch>
                <a:fillRect l="0" t="-49617" r="28192" b="-50776"/>
              </a:stretch>
            </a:blipFill>
          </p:spPr>
        </p:sp>
        <p:sp>
          <p:nvSpPr>
            <p:cNvPr name="TextBox 79" id="79"/>
            <p:cNvSpPr txBox="true"/>
            <p:nvPr/>
          </p:nvSpPr>
          <p:spPr>
            <a:xfrm>
              <a:off x="0" y="-19050"/>
              <a:ext cx="4142793" cy="597560"/>
            </a:xfrm>
            <a:prstGeom prst="rect">
              <a:avLst/>
            </a:prstGeom>
          </p:spPr>
          <p:txBody>
            <a:bodyPr anchor="ctr" rtlCol="false" tIns="0" lIns="0" bIns="0" rIns="0"/>
            <a:lstStyle/>
            <a:p>
              <a:pPr algn="ctr">
                <a:lnSpc>
                  <a:spcPts val="2879"/>
                </a:lnSpc>
              </a:pPr>
              <a:r>
                <a:rPr lang="en-US" sz="2400" b="true">
                  <a:solidFill>
                    <a:srgbClr val="FFFFFF"/>
                  </a:solidFill>
                  <a:latin typeface="Helios Extended Bold"/>
                  <a:ea typeface="Helios Extended Bold"/>
                  <a:cs typeface="Helios Extended Bold"/>
                  <a:sym typeface="Helios Extended Bold"/>
                </a:rPr>
                <a:t>Weighted Loss</a:t>
              </a:r>
            </a:p>
          </p:txBody>
        </p:sp>
      </p:grpSp>
      <p:grpSp>
        <p:nvGrpSpPr>
          <p:cNvPr name="Group 80" id="80"/>
          <p:cNvGrpSpPr/>
          <p:nvPr/>
        </p:nvGrpSpPr>
        <p:grpSpPr>
          <a:xfrm rot="0">
            <a:off x="9887331" y="2772997"/>
            <a:ext cx="3986784" cy="1341368"/>
            <a:chOff x="0" y="0"/>
            <a:chExt cx="5315712" cy="1788490"/>
          </a:xfrm>
        </p:grpSpPr>
        <p:sp>
          <p:nvSpPr>
            <p:cNvPr name="Freeform 81" id="81"/>
            <p:cNvSpPr/>
            <p:nvPr/>
          </p:nvSpPr>
          <p:spPr>
            <a:xfrm flipH="false" flipV="false" rot="0">
              <a:off x="0" y="0"/>
              <a:ext cx="5315712" cy="1788490"/>
            </a:xfrm>
            <a:custGeom>
              <a:avLst/>
              <a:gdLst/>
              <a:ahLst/>
              <a:cxnLst/>
              <a:rect r="r" b="b" t="t" l="l"/>
              <a:pathLst>
                <a:path h="1788490" w="5315712">
                  <a:moveTo>
                    <a:pt x="0" y="0"/>
                  </a:moveTo>
                  <a:lnTo>
                    <a:pt x="5315712" y="0"/>
                  </a:lnTo>
                  <a:lnTo>
                    <a:pt x="5315712" y="1788490"/>
                  </a:lnTo>
                  <a:lnTo>
                    <a:pt x="0" y="1788490"/>
                  </a:lnTo>
                  <a:close/>
                </a:path>
              </a:pathLst>
            </a:custGeom>
            <a:blipFill>
              <a:blip r:embed="rId3">
                <a:alphaModFix amt="0"/>
              </a:blip>
              <a:stretch>
                <a:fillRect l="0" t="-6104" r="0" b="-9721"/>
              </a:stretch>
            </a:blipFill>
          </p:spPr>
        </p:sp>
        <p:sp>
          <p:nvSpPr>
            <p:cNvPr name="TextBox 82" id="82"/>
            <p:cNvSpPr txBox="true"/>
            <p:nvPr/>
          </p:nvSpPr>
          <p:spPr>
            <a:xfrm>
              <a:off x="0" y="-19050"/>
              <a:ext cx="5315712" cy="1807540"/>
            </a:xfrm>
            <a:prstGeom prst="rect">
              <a:avLst/>
            </a:prstGeom>
          </p:spPr>
          <p:txBody>
            <a:bodyPr anchor="ctr" rtlCol="false" tIns="0" lIns="0" bIns="0" rIns="0"/>
            <a:lstStyle/>
            <a:p>
              <a:pPr algn="l">
                <a:lnSpc>
                  <a:spcPts val="2519"/>
                </a:lnSpc>
              </a:pPr>
              <a:r>
                <a:rPr lang="en-US" sz="2099">
                  <a:solidFill>
                    <a:srgbClr val="1E293B"/>
                  </a:solidFill>
                  <a:latin typeface="Helios Extended"/>
                  <a:ea typeface="Helios Extended"/>
                  <a:cs typeface="Helios Extended"/>
                  <a:sym typeface="Helios Extended"/>
                </a:rPr>
                <a:t>10× multiplier on tokens after 'Classification:' marker.</a:t>
              </a:r>
            </a:p>
          </p:txBody>
        </p:sp>
      </p:grpSp>
      <p:grpSp>
        <p:nvGrpSpPr>
          <p:cNvPr name="Group 83" id="83"/>
          <p:cNvGrpSpPr/>
          <p:nvPr/>
        </p:nvGrpSpPr>
        <p:grpSpPr>
          <a:xfrm rot="0">
            <a:off x="14072235" y="2199716"/>
            <a:ext cx="2657856" cy="1868686"/>
            <a:chOff x="0" y="0"/>
            <a:chExt cx="3543808" cy="2491581"/>
          </a:xfrm>
        </p:grpSpPr>
        <p:sp>
          <p:nvSpPr>
            <p:cNvPr name="Freeform 84" id="84"/>
            <p:cNvSpPr/>
            <p:nvPr/>
          </p:nvSpPr>
          <p:spPr>
            <a:xfrm flipH="false" flipV="false" rot="0">
              <a:off x="20556" y="20423"/>
              <a:ext cx="3502696" cy="2450736"/>
            </a:xfrm>
            <a:custGeom>
              <a:avLst/>
              <a:gdLst/>
              <a:ahLst/>
              <a:cxnLst/>
              <a:rect r="r" b="b" t="t" l="l"/>
              <a:pathLst>
                <a:path h="2450736" w="3502696">
                  <a:moveTo>
                    <a:pt x="0" y="0"/>
                  </a:moveTo>
                  <a:lnTo>
                    <a:pt x="3502696" y="0"/>
                  </a:lnTo>
                  <a:lnTo>
                    <a:pt x="3502696" y="2450735"/>
                  </a:lnTo>
                  <a:lnTo>
                    <a:pt x="0" y="2450735"/>
                  </a:lnTo>
                  <a:close/>
                </a:path>
              </a:pathLst>
            </a:custGeom>
            <a:solidFill>
              <a:srgbClr val="FFFFFF"/>
            </a:solidFill>
          </p:spPr>
        </p:sp>
        <p:sp>
          <p:nvSpPr>
            <p:cNvPr name="Freeform 85" id="85"/>
            <p:cNvSpPr/>
            <p:nvPr/>
          </p:nvSpPr>
          <p:spPr>
            <a:xfrm flipH="false" flipV="false" rot="0">
              <a:off x="0" y="0"/>
              <a:ext cx="3543808" cy="2491581"/>
            </a:xfrm>
            <a:custGeom>
              <a:avLst/>
              <a:gdLst/>
              <a:ahLst/>
              <a:cxnLst/>
              <a:rect r="r" b="b" t="t" l="l"/>
              <a:pathLst>
                <a:path h="2491581" w="3543808">
                  <a:moveTo>
                    <a:pt x="20556" y="0"/>
                  </a:moveTo>
                  <a:lnTo>
                    <a:pt x="3523252" y="0"/>
                  </a:lnTo>
                  <a:cubicBezTo>
                    <a:pt x="3534558" y="0"/>
                    <a:pt x="3543808" y="9190"/>
                    <a:pt x="3543808" y="20423"/>
                  </a:cubicBezTo>
                  <a:lnTo>
                    <a:pt x="3543808" y="2471158"/>
                  </a:lnTo>
                  <a:cubicBezTo>
                    <a:pt x="3543808" y="2482391"/>
                    <a:pt x="3534558" y="2491581"/>
                    <a:pt x="3523252" y="2491581"/>
                  </a:cubicBezTo>
                  <a:lnTo>
                    <a:pt x="20556" y="2491581"/>
                  </a:lnTo>
                  <a:cubicBezTo>
                    <a:pt x="9250" y="2491581"/>
                    <a:pt x="0" y="2482391"/>
                    <a:pt x="0" y="2471158"/>
                  </a:cubicBezTo>
                  <a:lnTo>
                    <a:pt x="0" y="20423"/>
                  </a:lnTo>
                  <a:cubicBezTo>
                    <a:pt x="0" y="9190"/>
                    <a:pt x="9250" y="0"/>
                    <a:pt x="20556" y="0"/>
                  </a:cubicBezTo>
                  <a:moveTo>
                    <a:pt x="20556" y="40846"/>
                  </a:moveTo>
                  <a:lnTo>
                    <a:pt x="20556" y="20423"/>
                  </a:lnTo>
                  <a:lnTo>
                    <a:pt x="41111" y="20423"/>
                  </a:lnTo>
                  <a:lnTo>
                    <a:pt x="41111" y="2471158"/>
                  </a:lnTo>
                  <a:lnTo>
                    <a:pt x="20556" y="2471158"/>
                  </a:lnTo>
                  <a:lnTo>
                    <a:pt x="20556" y="2450736"/>
                  </a:lnTo>
                  <a:lnTo>
                    <a:pt x="3523252" y="2450736"/>
                  </a:lnTo>
                  <a:lnTo>
                    <a:pt x="3523252" y="2471158"/>
                  </a:lnTo>
                  <a:lnTo>
                    <a:pt x="3502696" y="2471158"/>
                  </a:lnTo>
                  <a:lnTo>
                    <a:pt x="3502696" y="20423"/>
                  </a:lnTo>
                  <a:lnTo>
                    <a:pt x="3523252" y="20423"/>
                  </a:lnTo>
                  <a:lnTo>
                    <a:pt x="3523252" y="40846"/>
                  </a:lnTo>
                  <a:lnTo>
                    <a:pt x="20556" y="40846"/>
                  </a:lnTo>
                  <a:close/>
                </a:path>
              </a:pathLst>
            </a:custGeom>
            <a:solidFill>
              <a:srgbClr val="0D9488"/>
            </a:solidFill>
          </p:spPr>
        </p:sp>
      </p:grpSp>
      <p:grpSp>
        <p:nvGrpSpPr>
          <p:cNvPr name="Group 86" id="86"/>
          <p:cNvGrpSpPr/>
          <p:nvPr/>
        </p:nvGrpSpPr>
        <p:grpSpPr>
          <a:xfrm rot="0">
            <a:off x="14072235" y="2614749"/>
            <a:ext cx="2596896" cy="950976"/>
            <a:chOff x="0" y="0"/>
            <a:chExt cx="3462528" cy="1267968"/>
          </a:xfrm>
        </p:grpSpPr>
        <p:sp>
          <p:nvSpPr>
            <p:cNvPr name="Freeform 87" id="87"/>
            <p:cNvSpPr/>
            <p:nvPr/>
          </p:nvSpPr>
          <p:spPr>
            <a:xfrm flipH="false" flipV="false" rot="0">
              <a:off x="0" y="0"/>
              <a:ext cx="3462528" cy="1267968"/>
            </a:xfrm>
            <a:custGeom>
              <a:avLst/>
              <a:gdLst/>
              <a:ahLst/>
              <a:cxnLst/>
              <a:rect r="r" b="b" t="t" l="l"/>
              <a:pathLst>
                <a:path h="1267968" w="3462528">
                  <a:moveTo>
                    <a:pt x="0" y="0"/>
                  </a:moveTo>
                  <a:lnTo>
                    <a:pt x="3462528" y="0"/>
                  </a:lnTo>
                  <a:lnTo>
                    <a:pt x="3462528" y="1267968"/>
                  </a:lnTo>
                  <a:lnTo>
                    <a:pt x="0" y="1267968"/>
                  </a:lnTo>
                  <a:close/>
                </a:path>
              </a:pathLst>
            </a:custGeom>
            <a:blipFill>
              <a:blip r:embed="rId3">
                <a:alphaModFix amt="0"/>
              </a:blip>
              <a:stretch>
                <a:fillRect l="0" t="-3209" r="0" b="-3209"/>
              </a:stretch>
            </a:blipFill>
          </p:spPr>
        </p:sp>
        <p:sp>
          <p:nvSpPr>
            <p:cNvPr name="TextBox 88" id="88"/>
            <p:cNvSpPr txBox="true"/>
            <p:nvPr/>
          </p:nvSpPr>
          <p:spPr>
            <a:xfrm>
              <a:off x="0" y="-19050"/>
              <a:ext cx="3462528" cy="1287018"/>
            </a:xfrm>
            <a:prstGeom prst="rect">
              <a:avLst/>
            </a:prstGeom>
          </p:spPr>
          <p:txBody>
            <a:bodyPr anchor="ctr" rtlCol="false" tIns="0" lIns="0" bIns="0" rIns="0"/>
            <a:lstStyle/>
            <a:p>
              <a:pPr algn="ctr">
                <a:lnSpc>
                  <a:spcPts val="4799"/>
                </a:lnSpc>
              </a:pPr>
              <a:r>
                <a:rPr lang="en-US" sz="3999" b="true">
                  <a:solidFill>
                    <a:srgbClr val="0D9488"/>
                  </a:solidFill>
                  <a:latin typeface="Helios Extended Bold"/>
                  <a:ea typeface="Helios Extended Bold"/>
                  <a:cs typeface="Helios Extended Bold"/>
                  <a:sym typeface="Helios Extended Bold"/>
                </a:rPr>
                <a:t>61 / 39</a:t>
              </a:r>
            </a:p>
          </p:txBody>
        </p:sp>
      </p:grpSp>
      <p:grpSp>
        <p:nvGrpSpPr>
          <p:cNvPr name="Group 89" id="89"/>
          <p:cNvGrpSpPr/>
          <p:nvPr/>
        </p:nvGrpSpPr>
        <p:grpSpPr>
          <a:xfrm rot="0">
            <a:off x="14056995" y="3273117"/>
            <a:ext cx="2596896" cy="548640"/>
            <a:chOff x="0" y="0"/>
            <a:chExt cx="3462528" cy="731520"/>
          </a:xfrm>
        </p:grpSpPr>
        <p:sp>
          <p:nvSpPr>
            <p:cNvPr name="Freeform 90" id="90"/>
            <p:cNvSpPr/>
            <p:nvPr/>
          </p:nvSpPr>
          <p:spPr>
            <a:xfrm flipH="false" flipV="false" rot="0">
              <a:off x="0" y="0"/>
              <a:ext cx="3462528" cy="731520"/>
            </a:xfrm>
            <a:custGeom>
              <a:avLst/>
              <a:gdLst/>
              <a:ahLst/>
              <a:cxnLst/>
              <a:rect r="r" b="b" t="t" l="l"/>
              <a:pathLst>
                <a:path h="731520" w="3462528">
                  <a:moveTo>
                    <a:pt x="0" y="0"/>
                  </a:moveTo>
                  <a:lnTo>
                    <a:pt x="3462528" y="0"/>
                  </a:lnTo>
                  <a:lnTo>
                    <a:pt x="3462528" y="731520"/>
                  </a:lnTo>
                  <a:lnTo>
                    <a:pt x="0" y="731520"/>
                  </a:lnTo>
                  <a:close/>
                </a:path>
              </a:pathLst>
            </a:custGeom>
            <a:blipFill>
              <a:blip r:embed="rId3">
                <a:alphaModFix amt="0"/>
              </a:blip>
              <a:stretch>
                <a:fillRect l="0" t="-42229" r="0" b="-42229"/>
              </a:stretch>
            </a:blipFill>
          </p:spPr>
        </p:sp>
        <p:sp>
          <p:nvSpPr>
            <p:cNvPr name="TextBox 91" id="91"/>
            <p:cNvSpPr txBox="true"/>
            <p:nvPr/>
          </p:nvSpPr>
          <p:spPr>
            <a:xfrm>
              <a:off x="0" y="-19050"/>
              <a:ext cx="3462528" cy="750570"/>
            </a:xfrm>
            <a:prstGeom prst="rect">
              <a:avLst/>
            </a:prstGeom>
          </p:spPr>
          <p:txBody>
            <a:bodyPr anchor="ctr" rtlCol="false" tIns="0" lIns="0" bIns="0" rIns="0"/>
            <a:lstStyle/>
            <a:p>
              <a:pPr algn="ctr">
                <a:lnSpc>
                  <a:spcPts val="1739"/>
                </a:lnSpc>
              </a:pPr>
              <a:r>
                <a:rPr lang="en-US" sz="1449">
                  <a:solidFill>
                    <a:srgbClr val="4A6274"/>
                  </a:solidFill>
                  <a:latin typeface="Helios Extended"/>
                  <a:ea typeface="Helios Extended"/>
                  <a:cs typeface="Helios Extended"/>
                  <a:sym typeface="Helios Extended"/>
                </a:rPr>
                <a:t>class vs. reason gradient</a:t>
              </a:r>
            </a:p>
          </p:txBody>
        </p:sp>
      </p:grpSp>
      <p:grpSp>
        <p:nvGrpSpPr>
          <p:cNvPr name="Group 92" id="92"/>
          <p:cNvGrpSpPr/>
          <p:nvPr/>
        </p:nvGrpSpPr>
        <p:grpSpPr>
          <a:xfrm rot="0">
            <a:off x="397259" y="7367548"/>
            <a:ext cx="8349491" cy="2533907"/>
            <a:chOff x="0" y="0"/>
            <a:chExt cx="11132655" cy="3378543"/>
          </a:xfrm>
        </p:grpSpPr>
        <p:sp>
          <p:nvSpPr>
            <p:cNvPr name="Freeform 93" id="93"/>
            <p:cNvSpPr/>
            <p:nvPr/>
          </p:nvSpPr>
          <p:spPr>
            <a:xfrm flipH="false" flipV="false" rot="0">
              <a:off x="6731" y="6731"/>
              <a:ext cx="11119104" cy="3364992"/>
            </a:xfrm>
            <a:custGeom>
              <a:avLst/>
              <a:gdLst/>
              <a:ahLst/>
              <a:cxnLst/>
              <a:rect r="r" b="b" t="t" l="l"/>
              <a:pathLst>
                <a:path h="3364992" w="11119104">
                  <a:moveTo>
                    <a:pt x="0" y="0"/>
                  </a:moveTo>
                  <a:lnTo>
                    <a:pt x="11119104" y="0"/>
                  </a:lnTo>
                  <a:lnTo>
                    <a:pt x="11119104" y="3364992"/>
                  </a:lnTo>
                  <a:lnTo>
                    <a:pt x="0" y="3364992"/>
                  </a:lnTo>
                  <a:close/>
                </a:path>
              </a:pathLst>
            </a:custGeom>
            <a:solidFill>
              <a:srgbClr val="FDF1F0"/>
            </a:solidFill>
          </p:spPr>
        </p:sp>
        <p:sp>
          <p:nvSpPr>
            <p:cNvPr name="Freeform 94" id="94"/>
            <p:cNvSpPr/>
            <p:nvPr/>
          </p:nvSpPr>
          <p:spPr>
            <a:xfrm flipH="false" flipV="false" rot="0">
              <a:off x="0" y="0"/>
              <a:ext cx="11132566" cy="3378454"/>
            </a:xfrm>
            <a:custGeom>
              <a:avLst/>
              <a:gdLst/>
              <a:ahLst/>
              <a:cxnLst/>
              <a:rect r="r" b="b" t="t" l="l"/>
              <a:pathLst>
                <a:path h="3378454" w="11132566">
                  <a:moveTo>
                    <a:pt x="6731" y="0"/>
                  </a:moveTo>
                  <a:lnTo>
                    <a:pt x="11125835" y="0"/>
                  </a:lnTo>
                  <a:cubicBezTo>
                    <a:pt x="11129518" y="0"/>
                    <a:pt x="11132566" y="3048"/>
                    <a:pt x="11132566" y="6731"/>
                  </a:cubicBezTo>
                  <a:lnTo>
                    <a:pt x="11132566" y="3371723"/>
                  </a:lnTo>
                  <a:cubicBezTo>
                    <a:pt x="11132566" y="3375406"/>
                    <a:pt x="11129518" y="3378454"/>
                    <a:pt x="11125835" y="3378454"/>
                  </a:cubicBezTo>
                  <a:lnTo>
                    <a:pt x="6731" y="3378454"/>
                  </a:lnTo>
                  <a:cubicBezTo>
                    <a:pt x="3048" y="3378454"/>
                    <a:pt x="0" y="3375406"/>
                    <a:pt x="0" y="3371723"/>
                  </a:cubicBezTo>
                  <a:lnTo>
                    <a:pt x="0" y="6731"/>
                  </a:lnTo>
                  <a:cubicBezTo>
                    <a:pt x="0" y="3048"/>
                    <a:pt x="3048" y="0"/>
                    <a:pt x="6731" y="0"/>
                  </a:cubicBezTo>
                  <a:moveTo>
                    <a:pt x="6731" y="13589"/>
                  </a:moveTo>
                  <a:lnTo>
                    <a:pt x="6731" y="6731"/>
                  </a:lnTo>
                  <a:lnTo>
                    <a:pt x="13462" y="6731"/>
                  </a:lnTo>
                  <a:lnTo>
                    <a:pt x="13462" y="3371723"/>
                  </a:lnTo>
                  <a:lnTo>
                    <a:pt x="6731" y="3371723"/>
                  </a:lnTo>
                  <a:lnTo>
                    <a:pt x="6731" y="3364992"/>
                  </a:lnTo>
                  <a:lnTo>
                    <a:pt x="11125835" y="3364992"/>
                  </a:lnTo>
                  <a:lnTo>
                    <a:pt x="11125835" y="3371723"/>
                  </a:lnTo>
                  <a:lnTo>
                    <a:pt x="11119103" y="3371723"/>
                  </a:lnTo>
                  <a:lnTo>
                    <a:pt x="11119103" y="6731"/>
                  </a:lnTo>
                  <a:lnTo>
                    <a:pt x="11125835" y="6731"/>
                  </a:lnTo>
                  <a:lnTo>
                    <a:pt x="11125835" y="13462"/>
                  </a:lnTo>
                  <a:lnTo>
                    <a:pt x="6731" y="13462"/>
                  </a:lnTo>
                  <a:close/>
                </a:path>
              </a:pathLst>
            </a:custGeom>
            <a:solidFill>
              <a:srgbClr val="E8ECF0"/>
            </a:solidFill>
          </p:spPr>
        </p:sp>
      </p:grpSp>
      <p:grpSp>
        <p:nvGrpSpPr>
          <p:cNvPr name="Group 95" id="95"/>
          <p:cNvGrpSpPr/>
          <p:nvPr/>
        </p:nvGrpSpPr>
        <p:grpSpPr>
          <a:xfrm rot="0">
            <a:off x="9536182" y="7377073"/>
            <a:ext cx="8334251" cy="2533907"/>
            <a:chOff x="0" y="0"/>
            <a:chExt cx="11112335" cy="3378543"/>
          </a:xfrm>
        </p:grpSpPr>
        <p:sp>
          <p:nvSpPr>
            <p:cNvPr name="Freeform 96" id="96"/>
            <p:cNvSpPr/>
            <p:nvPr/>
          </p:nvSpPr>
          <p:spPr>
            <a:xfrm flipH="false" flipV="false" rot="0">
              <a:off x="6719" y="6731"/>
              <a:ext cx="11098809" cy="3364992"/>
            </a:xfrm>
            <a:custGeom>
              <a:avLst/>
              <a:gdLst/>
              <a:ahLst/>
              <a:cxnLst/>
              <a:rect r="r" b="b" t="t" l="l"/>
              <a:pathLst>
                <a:path h="3364992" w="11098809">
                  <a:moveTo>
                    <a:pt x="0" y="0"/>
                  </a:moveTo>
                  <a:lnTo>
                    <a:pt x="11098809" y="0"/>
                  </a:lnTo>
                  <a:lnTo>
                    <a:pt x="11098809" y="3364992"/>
                  </a:lnTo>
                  <a:lnTo>
                    <a:pt x="0" y="3364992"/>
                  </a:lnTo>
                  <a:close/>
                </a:path>
              </a:pathLst>
            </a:custGeom>
            <a:solidFill>
              <a:srgbClr val="EDF7F6"/>
            </a:solidFill>
          </p:spPr>
        </p:sp>
        <p:sp>
          <p:nvSpPr>
            <p:cNvPr name="Freeform 97" id="97"/>
            <p:cNvSpPr/>
            <p:nvPr/>
          </p:nvSpPr>
          <p:spPr>
            <a:xfrm flipH="false" flipV="false" rot="0">
              <a:off x="0" y="0"/>
              <a:ext cx="11112247" cy="3378454"/>
            </a:xfrm>
            <a:custGeom>
              <a:avLst/>
              <a:gdLst/>
              <a:ahLst/>
              <a:cxnLst/>
              <a:rect r="r" b="b" t="t" l="l"/>
              <a:pathLst>
                <a:path h="3378454" w="11112247">
                  <a:moveTo>
                    <a:pt x="6719" y="0"/>
                  </a:moveTo>
                  <a:lnTo>
                    <a:pt x="11105528" y="0"/>
                  </a:lnTo>
                  <a:cubicBezTo>
                    <a:pt x="11109203" y="0"/>
                    <a:pt x="11112247" y="3048"/>
                    <a:pt x="11112247" y="6731"/>
                  </a:cubicBezTo>
                  <a:lnTo>
                    <a:pt x="11112247" y="3371723"/>
                  </a:lnTo>
                  <a:cubicBezTo>
                    <a:pt x="11112247" y="3375406"/>
                    <a:pt x="11109203" y="3378454"/>
                    <a:pt x="11105528" y="3378454"/>
                  </a:cubicBezTo>
                  <a:lnTo>
                    <a:pt x="6719" y="3378454"/>
                  </a:lnTo>
                  <a:cubicBezTo>
                    <a:pt x="3042" y="3378454"/>
                    <a:pt x="0" y="3375406"/>
                    <a:pt x="0" y="3371723"/>
                  </a:cubicBezTo>
                  <a:lnTo>
                    <a:pt x="0" y="6731"/>
                  </a:lnTo>
                  <a:cubicBezTo>
                    <a:pt x="0" y="3048"/>
                    <a:pt x="3042" y="0"/>
                    <a:pt x="6719" y="0"/>
                  </a:cubicBezTo>
                  <a:moveTo>
                    <a:pt x="6719" y="13589"/>
                  </a:moveTo>
                  <a:lnTo>
                    <a:pt x="6719" y="6731"/>
                  </a:lnTo>
                  <a:lnTo>
                    <a:pt x="13437" y="6731"/>
                  </a:lnTo>
                  <a:lnTo>
                    <a:pt x="13437" y="3371723"/>
                  </a:lnTo>
                  <a:lnTo>
                    <a:pt x="6719" y="3371723"/>
                  </a:lnTo>
                  <a:lnTo>
                    <a:pt x="6719" y="3364992"/>
                  </a:lnTo>
                  <a:lnTo>
                    <a:pt x="11105528" y="3364992"/>
                  </a:lnTo>
                  <a:lnTo>
                    <a:pt x="11105528" y="3371723"/>
                  </a:lnTo>
                  <a:lnTo>
                    <a:pt x="11098809" y="3371723"/>
                  </a:lnTo>
                  <a:lnTo>
                    <a:pt x="11098809" y="6731"/>
                  </a:lnTo>
                  <a:lnTo>
                    <a:pt x="11105528" y="6731"/>
                  </a:lnTo>
                  <a:lnTo>
                    <a:pt x="11105528" y="13462"/>
                  </a:lnTo>
                  <a:lnTo>
                    <a:pt x="6719" y="13462"/>
                  </a:lnTo>
                  <a:close/>
                </a:path>
              </a:pathLst>
            </a:custGeom>
            <a:solidFill>
              <a:srgbClr val="E8ECF0"/>
            </a:solidFill>
          </p:spPr>
        </p:sp>
      </p:grpSp>
      <p:grpSp>
        <p:nvGrpSpPr>
          <p:cNvPr name="Group 98" id="98"/>
          <p:cNvGrpSpPr/>
          <p:nvPr/>
        </p:nvGrpSpPr>
        <p:grpSpPr>
          <a:xfrm rot="0">
            <a:off x="8728967" y="8130238"/>
            <a:ext cx="804672" cy="731520"/>
            <a:chOff x="0" y="0"/>
            <a:chExt cx="1072896" cy="975360"/>
          </a:xfrm>
        </p:grpSpPr>
        <p:sp>
          <p:nvSpPr>
            <p:cNvPr name="Freeform 99" id="99"/>
            <p:cNvSpPr/>
            <p:nvPr/>
          </p:nvSpPr>
          <p:spPr>
            <a:xfrm flipH="false" flipV="false" rot="0">
              <a:off x="0" y="0"/>
              <a:ext cx="1072896" cy="975360"/>
            </a:xfrm>
            <a:custGeom>
              <a:avLst/>
              <a:gdLst/>
              <a:ahLst/>
              <a:cxnLst/>
              <a:rect r="r" b="b" t="t" l="l"/>
              <a:pathLst>
                <a:path h="975360" w="1072896">
                  <a:moveTo>
                    <a:pt x="0" y="0"/>
                  </a:moveTo>
                  <a:lnTo>
                    <a:pt x="1072896" y="0"/>
                  </a:lnTo>
                  <a:lnTo>
                    <a:pt x="1072896" y="975360"/>
                  </a:lnTo>
                  <a:lnTo>
                    <a:pt x="0" y="975360"/>
                  </a:lnTo>
                  <a:close/>
                </a:path>
              </a:pathLst>
            </a:custGeom>
            <a:blipFill>
              <a:blip r:embed="rId3">
                <a:alphaModFix amt="0"/>
              </a:blip>
              <a:stretch>
                <a:fillRect l="-66639" t="0" r="-66639" b="0"/>
              </a:stretch>
            </a:blipFill>
          </p:spPr>
        </p:sp>
        <p:sp>
          <p:nvSpPr>
            <p:cNvPr name="TextBox 100" id="100"/>
            <p:cNvSpPr txBox="true"/>
            <p:nvPr/>
          </p:nvSpPr>
          <p:spPr>
            <a:xfrm>
              <a:off x="0" y="-19050"/>
              <a:ext cx="1072896" cy="994410"/>
            </a:xfrm>
            <a:prstGeom prst="rect">
              <a:avLst/>
            </a:prstGeom>
          </p:spPr>
          <p:txBody>
            <a:bodyPr anchor="ctr" rtlCol="false" tIns="0" lIns="0" bIns="0" rIns="0"/>
            <a:lstStyle/>
            <a:p>
              <a:pPr algn="ctr">
                <a:lnSpc>
                  <a:spcPts val="3840"/>
                </a:lnSpc>
              </a:pPr>
              <a:r>
                <a:rPr lang="en-US" b="true" sz="3200">
                  <a:solidFill>
                    <a:srgbClr val="000000"/>
                  </a:solidFill>
                  <a:latin typeface="Helios Extended Bold"/>
                  <a:ea typeface="Helios Extended Bold"/>
                  <a:cs typeface="Helios Extended Bold"/>
                  <a:sym typeface="Helios Extended Bold"/>
                </a:rPr>
                <a:t>→</a:t>
              </a:r>
            </a:p>
          </p:txBody>
        </p:sp>
      </p:grpSp>
      <p:grpSp>
        <p:nvGrpSpPr>
          <p:cNvPr name="Group 101" id="101"/>
          <p:cNvGrpSpPr/>
          <p:nvPr/>
        </p:nvGrpSpPr>
        <p:grpSpPr>
          <a:xfrm rot="0">
            <a:off x="535943" y="7689112"/>
            <a:ext cx="976379" cy="976379"/>
            <a:chOff x="0" y="0"/>
            <a:chExt cx="1301839" cy="1301839"/>
          </a:xfrm>
        </p:grpSpPr>
        <p:sp>
          <p:nvSpPr>
            <p:cNvPr name="Freeform 102" id="102"/>
            <p:cNvSpPr/>
            <p:nvPr/>
          </p:nvSpPr>
          <p:spPr>
            <a:xfrm flipH="false" flipV="false" rot="0">
              <a:off x="16891" y="16891"/>
              <a:ext cx="1267968" cy="1267968"/>
            </a:xfrm>
            <a:custGeom>
              <a:avLst/>
              <a:gdLst/>
              <a:ahLst/>
              <a:cxnLst/>
              <a:rect r="r" b="b" t="t" l="l"/>
              <a:pathLst>
                <a:path h="1267968" w="1267968">
                  <a:moveTo>
                    <a:pt x="0" y="633984"/>
                  </a:moveTo>
                  <a:cubicBezTo>
                    <a:pt x="0" y="283845"/>
                    <a:pt x="283845" y="0"/>
                    <a:pt x="633984" y="0"/>
                  </a:cubicBezTo>
                  <a:cubicBezTo>
                    <a:pt x="984123" y="0"/>
                    <a:pt x="1267968" y="283845"/>
                    <a:pt x="1267968" y="633984"/>
                  </a:cubicBezTo>
                  <a:cubicBezTo>
                    <a:pt x="1267968" y="984123"/>
                    <a:pt x="984123" y="1267968"/>
                    <a:pt x="633984" y="1267968"/>
                  </a:cubicBezTo>
                  <a:cubicBezTo>
                    <a:pt x="283845" y="1267968"/>
                    <a:pt x="0" y="984123"/>
                    <a:pt x="0" y="633984"/>
                  </a:cubicBezTo>
                  <a:close/>
                </a:path>
              </a:pathLst>
            </a:custGeom>
            <a:solidFill>
              <a:srgbClr val="D63B2F"/>
            </a:solidFill>
          </p:spPr>
        </p:sp>
        <p:sp>
          <p:nvSpPr>
            <p:cNvPr name="Freeform 103" id="103"/>
            <p:cNvSpPr/>
            <p:nvPr/>
          </p:nvSpPr>
          <p:spPr>
            <a:xfrm flipH="false" flipV="false" rot="0">
              <a:off x="0" y="0"/>
              <a:ext cx="1301750" cy="1301750"/>
            </a:xfrm>
            <a:custGeom>
              <a:avLst/>
              <a:gdLst/>
              <a:ahLst/>
              <a:cxnLst/>
              <a:rect r="r" b="b" t="t" l="l"/>
              <a:pathLst>
                <a:path h="1301750" w="1301750">
                  <a:moveTo>
                    <a:pt x="0" y="650875"/>
                  </a:moveTo>
                  <a:cubicBezTo>
                    <a:pt x="0" y="291465"/>
                    <a:pt x="291465" y="0"/>
                    <a:pt x="650875" y="0"/>
                  </a:cubicBezTo>
                  <a:lnTo>
                    <a:pt x="650875" y="16891"/>
                  </a:lnTo>
                  <a:lnTo>
                    <a:pt x="650875" y="0"/>
                  </a:lnTo>
                  <a:cubicBezTo>
                    <a:pt x="1010412" y="0"/>
                    <a:pt x="1301750" y="291465"/>
                    <a:pt x="1301750" y="650875"/>
                  </a:cubicBezTo>
                  <a:lnTo>
                    <a:pt x="1284859" y="650875"/>
                  </a:lnTo>
                  <a:lnTo>
                    <a:pt x="1301750" y="650875"/>
                  </a:lnTo>
                  <a:cubicBezTo>
                    <a:pt x="1301750" y="1010412"/>
                    <a:pt x="1010285" y="1301750"/>
                    <a:pt x="650875" y="1301750"/>
                  </a:cubicBezTo>
                  <a:lnTo>
                    <a:pt x="650875" y="1284859"/>
                  </a:lnTo>
                  <a:lnTo>
                    <a:pt x="650875" y="1301750"/>
                  </a:lnTo>
                  <a:cubicBezTo>
                    <a:pt x="291465" y="1301877"/>
                    <a:pt x="0" y="1010412"/>
                    <a:pt x="0" y="650875"/>
                  </a:cubicBezTo>
                  <a:lnTo>
                    <a:pt x="16891" y="650875"/>
                  </a:lnTo>
                  <a:lnTo>
                    <a:pt x="33909" y="650875"/>
                  </a:lnTo>
                  <a:lnTo>
                    <a:pt x="16891" y="650875"/>
                  </a:lnTo>
                  <a:lnTo>
                    <a:pt x="0" y="650875"/>
                  </a:lnTo>
                  <a:moveTo>
                    <a:pt x="33909" y="650875"/>
                  </a:moveTo>
                  <a:cubicBezTo>
                    <a:pt x="33909" y="660273"/>
                    <a:pt x="26289" y="667766"/>
                    <a:pt x="17018" y="667766"/>
                  </a:cubicBezTo>
                  <a:cubicBezTo>
                    <a:pt x="7747" y="667766"/>
                    <a:pt x="0" y="660273"/>
                    <a:pt x="0" y="650875"/>
                  </a:cubicBezTo>
                  <a:cubicBezTo>
                    <a:pt x="0" y="641477"/>
                    <a:pt x="7620" y="633984"/>
                    <a:pt x="16891" y="633984"/>
                  </a:cubicBezTo>
                  <a:cubicBezTo>
                    <a:pt x="26162" y="633984"/>
                    <a:pt x="33782" y="641604"/>
                    <a:pt x="33782" y="650875"/>
                  </a:cubicBezTo>
                  <a:cubicBezTo>
                    <a:pt x="33782" y="991616"/>
                    <a:pt x="310007" y="1267968"/>
                    <a:pt x="650875" y="1267968"/>
                  </a:cubicBezTo>
                  <a:cubicBezTo>
                    <a:pt x="991616" y="1267968"/>
                    <a:pt x="1267968" y="991743"/>
                    <a:pt x="1267968" y="650875"/>
                  </a:cubicBezTo>
                  <a:cubicBezTo>
                    <a:pt x="1267968" y="310134"/>
                    <a:pt x="991743" y="33782"/>
                    <a:pt x="650875" y="33782"/>
                  </a:cubicBezTo>
                  <a:lnTo>
                    <a:pt x="650875" y="16891"/>
                  </a:lnTo>
                  <a:lnTo>
                    <a:pt x="650875" y="33909"/>
                  </a:lnTo>
                  <a:cubicBezTo>
                    <a:pt x="310134" y="33909"/>
                    <a:pt x="33909" y="310134"/>
                    <a:pt x="33909" y="650875"/>
                  </a:cubicBezTo>
                  <a:close/>
                </a:path>
              </a:pathLst>
            </a:custGeom>
            <a:solidFill>
              <a:srgbClr val="D63B2F"/>
            </a:solidFill>
          </p:spPr>
        </p:sp>
      </p:grpSp>
      <p:grpSp>
        <p:nvGrpSpPr>
          <p:cNvPr name="Group 104" id="104"/>
          <p:cNvGrpSpPr/>
          <p:nvPr/>
        </p:nvGrpSpPr>
        <p:grpSpPr>
          <a:xfrm rot="0">
            <a:off x="548640" y="7774961"/>
            <a:ext cx="950976" cy="804672"/>
            <a:chOff x="0" y="0"/>
            <a:chExt cx="1267968" cy="1072896"/>
          </a:xfrm>
        </p:grpSpPr>
        <p:sp>
          <p:nvSpPr>
            <p:cNvPr name="Freeform 105" id="105"/>
            <p:cNvSpPr/>
            <p:nvPr/>
          </p:nvSpPr>
          <p:spPr>
            <a:xfrm flipH="false" flipV="false" rot="0">
              <a:off x="0" y="0"/>
              <a:ext cx="1267968" cy="1072896"/>
            </a:xfrm>
            <a:custGeom>
              <a:avLst/>
              <a:gdLst/>
              <a:ahLst/>
              <a:cxnLst/>
              <a:rect r="r" b="b" t="t" l="l"/>
              <a:pathLst>
                <a:path h="1072896" w="1267968">
                  <a:moveTo>
                    <a:pt x="0" y="0"/>
                  </a:moveTo>
                  <a:lnTo>
                    <a:pt x="1267968" y="0"/>
                  </a:lnTo>
                  <a:lnTo>
                    <a:pt x="1267968" y="1072896"/>
                  </a:lnTo>
                  <a:lnTo>
                    <a:pt x="0" y="1072896"/>
                  </a:lnTo>
                  <a:close/>
                </a:path>
              </a:pathLst>
            </a:custGeom>
            <a:blipFill>
              <a:blip r:embed="rId3">
                <a:alphaModFix amt="0"/>
              </a:blip>
              <a:stretch>
                <a:fillRect l="-58564" t="0" r="-58564" b="0"/>
              </a:stretch>
            </a:blipFill>
          </p:spPr>
        </p:sp>
        <p:sp>
          <p:nvSpPr>
            <p:cNvPr name="TextBox 106" id="106"/>
            <p:cNvSpPr txBox="true"/>
            <p:nvPr/>
          </p:nvSpPr>
          <p:spPr>
            <a:xfrm>
              <a:off x="0" y="-38100"/>
              <a:ext cx="1267968" cy="1110996"/>
            </a:xfrm>
            <a:prstGeom prst="rect">
              <a:avLst/>
            </a:prstGeom>
          </p:spPr>
          <p:txBody>
            <a:bodyPr anchor="ctr" rtlCol="false" tIns="0" lIns="0" bIns="0" rIns="0"/>
            <a:lstStyle/>
            <a:p>
              <a:pPr algn="ctr">
                <a:lnSpc>
                  <a:spcPts val="3120"/>
                </a:lnSpc>
              </a:pPr>
              <a:r>
                <a:rPr lang="en-US" sz="2600" b="true">
                  <a:solidFill>
                    <a:srgbClr val="FFFFFF"/>
                  </a:solidFill>
                  <a:latin typeface="Helios Extended Bold"/>
                  <a:ea typeface="Helios Extended Bold"/>
                  <a:cs typeface="Helios Extended Bold"/>
                  <a:sym typeface="Helios Extended Bold"/>
                </a:rPr>
                <a:t>03</a:t>
              </a:r>
            </a:p>
          </p:txBody>
        </p:sp>
      </p:grpSp>
      <p:grpSp>
        <p:nvGrpSpPr>
          <p:cNvPr name="Group 107" id="107"/>
          <p:cNvGrpSpPr/>
          <p:nvPr/>
        </p:nvGrpSpPr>
        <p:grpSpPr>
          <a:xfrm rot="0">
            <a:off x="1682496" y="7628657"/>
            <a:ext cx="3986784" cy="754736"/>
            <a:chOff x="0" y="0"/>
            <a:chExt cx="5315712" cy="1006314"/>
          </a:xfrm>
        </p:grpSpPr>
        <p:sp>
          <p:nvSpPr>
            <p:cNvPr name="Freeform 108" id="108"/>
            <p:cNvSpPr/>
            <p:nvPr/>
          </p:nvSpPr>
          <p:spPr>
            <a:xfrm flipH="false" flipV="false" rot="0">
              <a:off x="0" y="0"/>
              <a:ext cx="5315712" cy="1006314"/>
            </a:xfrm>
            <a:custGeom>
              <a:avLst/>
              <a:gdLst/>
              <a:ahLst/>
              <a:cxnLst/>
              <a:rect r="r" b="b" t="t" l="l"/>
              <a:pathLst>
                <a:path h="1006314" w="5315712">
                  <a:moveTo>
                    <a:pt x="0" y="0"/>
                  </a:moveTo>
                  <a:lnTo>
                    <a:pt x="5315712" y="0"/>
                  </a:lnTo>
                  <a:lnTo>
                    <a:pt x="5315712" y="1006314"/>
                  </a:lnTo>
                  <a:lnTo>
                    <a:pt x="0" y="1006314"/>
                  </a:lnTo>
                  <a:close/>
                </a:path>
              </a:pathLst>
            </a:custGeom>
            <a:blipFill>
              <a:blip r:embed="rId3">
                <a:alphaModFix amt="0"/>
              </a:blip>
              <a:stretch>
                <a:fillRect l="0" t="-59311" r="0" b="-46542"/>
              </a:stretch>
            </a:blipFill>
          </p:spPr>
        </p:sp>
        <p:sp>
          <p:nvSpPr>
            <p:cNvPr name="TextBox 109" id="109"/>
            <p:cNvSpPr txBox="true"/>
            <p:nvPr/>
          </p:nvSpPr>
          <p:spPr>
            <a:xfrm>
              <a:off x="0" y="-19050"/>
              <a:ext cx="5315712" cy="1025364"/>
            </a:xfrm>
            <a:prstGeom prst="rect">
              <a:avLst/>
            </a:prstGeom>
          </p:spPr>
          <p:txBody>
            <a:bodyPr anchor="ctr" rtlCol="false" tIns="0" lIns="0" bIns="0" rIns="0"/>
            <a:lstStyle/>
            <a:p>
              <a:pPr algn="l">
                <a:lnSpc>
                  <a:spcPts val="2760"/>
                </a:lnSpc>
              </a:pPr>
              <a:r>
                <a:rPr lang="en-US" sz="2300" b="true">
                  <a:solidFill>
                    <a:srgbClr val="1A2733"/>
                  </a:solidFill>
                  <a:latin typeface="Helios Extended Bold"/>
                  <a:ea typeface="Helios Extended Bold"/>
                  <a:cs typeface="Helios Extended Bold"/>
                  <a:sym typeface="Helios Extended Bold"/>
                </a:rPr>
                <a:t>Extreme Class Imbalance</a:t>
              </a:r>
            </a:p>
          </p:txBody>
        </p:sp>
      </p:grpSp>
      <p:grpSp>
        <p:nvGrpSpPr>
          <p:cNvPr name="Group 110" id="110"/>
          <p:cNvGrpSpPr/>
          <p:nvPr/>
        </p:nvGrpSpPr>
        <p:grpSpPr>
          <a:xfrm rot="0">
            <a:off x="1682496" y="8323601"/>
            <a:ext cx="3986784" cy="1389888"/>
            <a:chOff x="0" y="0"/>
            <a:chExt cx="5315712" cy="1853184"/>
          </a:xfrm>
        </p:grpSpPr>
        <p:sp>
          <p:nvSpPr>
            <p:cNvPr name="Freeform 111" id="111"/>
            <p:cNvSpPr/>
            <p:nvPr/>
          </p:nvSpPr>
          <p:spPr>
            <a:xfrm flipH="false" flipV="false" rot="0">
              <a:off x="0" y="0"/>
              <a:ext cx="5315712" cy="1853184"/>
            </a:xfrm>
            <a:custGeom>
              <a:avLst/>
              <a:gdLst/>
              <a:ahLst/>
              <a:cxnLst/>
              <a:rect r="r" b="b" t="t" l="l"/>
              <a:pathLst>
                <a:path h="1853184" w="5315712">
                  <a:moveTo>
                    <a:pt x="0" y="0"/>
                  </a:moveTo>
                  <a:lnTo>
                    <a:pt x="5315712" y="0"/>
                  </a:lnTo>
                  <a:lnTo>
                    <a:pt x="5315712" y="1853184"/>
                  </a:lnTo>
                  <a:lnTo>
                    <a:pt x="0" y="1853184"/>
                  </a:lnTo>
                  <a:close/>
                </a:path>
              </a:pathLst>
            </a:custGeom>
            <a:blipFill>
              <a:blip r:embed="rId3">
                <a:alphaModFix amt="0"/>
              </a:blip>
              <a:stretch>
                <a:fillRect l="0" t="-5891" r="0" b="-5891"/>
              </a:stretch>
            </a:blipFill>
          </p:spPr>
        </p:sp>
        <p:sp>
          <p:nvSpPr>
            <p:cNvPr name="TextBox 112" id="112"/>
            <p:cNvSpPr txBox="true"/>
            <p:nvPr/>
          </p:nvSpPr>
          <p:spPr>
            <a:xfrm>
              <a:off x="0" y="-19050"/>
              <a:ext cx="5315712" cy="1872234"/>
            </a:xfrm>
            <a:prstGeom prst="rect">
              <a:avLst/>
            </a:prstGeom>
          </p:spPr>
          <p:txBody>
            <a:bodyPr anchor="ctr" rtlCol="false" tIns="0" lIns="0" bIns="0" rIns="0"/>
            <a:lstStyle/>
            <a:p>
              <a:pPr algn="l">
                <a:lnSpc>
                  <a:spcPts val="2519"/>
                </a:lnSpc>
              </a:pPr>
              <a:r>
                <a:rPr lang="en-US" sz="2099">
                  <a:solidFill>
                    <a:srgbClr val="1E293B"/>
                  </a:solidFill>
                  <a:latin typeface="Helios Extended"/>
                  <a:ea typeface="Helios Extended"/>
                  <a:cs typeface="Helios Extended"/>
                  <a:sym typeface="Helios Extended"/>
                </a:rPr>
                <a:t>Resampling at T=0.5 only reaches 94:1.</a:t>
              </a:r>
            </a:p>
          </p:txBody>
        </p:sp>
      </p:grpSp>
      <p:grpSp>
        <p:nvGrpSpPr>
          <p:cNvPr name="Group 113" id="113"/>
          <p:cNvGrpSpPr/>
          <p:nvPr/>
        </p:nvGrpSpPr>
        <p:grpSpPr>
          <a:xfrm rot="0">
            <a:off x="5809231" y="7695456"/>
            <a:ext cx="2609593" cy="1841497"/>
            <a:chOff x="0" y="0"/>
            <a:chExt cx="3479457" cy="2455329"/>
          </a:xfrm>
        </p:grpSpPr>
        <p:sp>
          <p:nvSpPr>
            <p:cNvPr name="Freeform 114" id="114"/>
            <p:cNvSpPr/>
            <p:nvPr/>
          </p:nvSpPr>
          <p:spPr>
            <a:xfrm flipH="false" flipV="false" rot="0">
              <a:off x="8509" y="8509"/>
              <a:ext cx="3462528" cy="2438400"/>
            </a:xfrm>
            <a:custGeom>
              <a:avLst/>
              <a:gdLst/>
              <a:ahLst/>
              <a:cxnLst/>
              <a:rect r="r" b="b" t="t" l="l"/>
              <a:pathLst>
                <a:path h="2438400" w="3462528">
                  <a:moveTo>
                    <a:pt x="0" y="0"/>
                  </a:moveTo>
                  <a:lnTo>
                    <a:pt x="3462528" y="0"/>
                  </a:lnTo>
                  <a:lnTo>
                    <a:pt x="3462528" y="2438400"/>
                  </a:lnTo>
                  <a:lnTo>
                    <a:pt x="0" y="2438400"/>
                  </a:lnTo>
                  <a:close/>
                </a:path>
              </a:pathLst>
            </a:custGeom>
            <a:solidFill>
              <a:srgbClr val="FFFFFF"/>
            </a:solidFill>
          </p:spPr>
        </p:sp>
        <p:sp>
          <p:nvSpPr>
            <p:cNvPr name="Freeform 115" id="115"/>
            <p:cNvSpPr/>
            <p:nvPr/>
          </p:nvSpPr>
          <p:spPr>
            <a:xfrm flipH="false" flipV="false" rot="0">
              <a:off x="0" y="0"/>
              <a:ext cx="3479546" cy="2455418"/>
            </a:xfrm>
            <a:custGeom>
              <a:avLst/>
              <a:gdLst/>
              <a:ahLst/>
              <a:cxnLst/>
              <a:rect r="r" b="b" t="t" l="l"/>
              <a:pathLst>
                <a:path h="2455418" w="3479546">
                  <a:moveTo>
                    <a:pt x="8509" y="0"/>
                  </a:moveTo>
                  <a:lnTo>
                    <a:pt x="3471037" y="0"/>
                  </a:lnTo>
                  <a:cubicBezTo>
                    <a:pt x="3475736" y="0"/>
                    <a:pt x="3479546" y="3810"/>
                    <a:pt x="3479546" y="8509"/>
                  </a:cubicBezTo>
                  <a:lnTo>
                    <a:pt x="3479546" y="2446909"/>
                  </a:lnTo>
                  <a:cubicBezTo>
                    <a:pt x="3479546" y="2451608"/>
                    <a:pt x="3475736" y="2455418"/>
                    <a:pt x="3471037" y="2455418"/>
                  </a:cubicBezTo>
                  <a:lnTo>
                    <a:pt x="8509" y="2455418"/>
                  </a:lnTo>
                  <a:cubicBezTo>
                    <a:pt x="3810" y="2455418"/>
                    <a:pt x="0" y="2451608"/>
                    <a:pt x="0" y="2446909"/>
                  </a:cubicBezTo>
                  <a:lnTo>
                    <a:pt x="0" y="8509"/>
                  </a:lnTo>
                  <a:cubicBezTo>
                    <a:pt x="0" y="3810"/>
                    <a:pt x="3810" y="0"/>
                    <a:pt x="8509" y="0"/>
                  </a:cubicBezTo>
                  <a:moveTo>
                    <a:pt x="8509" y="16891"/>
                  </a:moveTo>
                  <a:lnTo>
                    <a:pt x="8509" y="8509"/>
                  </a:lnTo>
                  <a:lnTo>
                    <a:pt x="17018" y="8509"/>
                  </a:lnTo>
                  <a:lnTo>
                    <a:pt x="17018" y="2446909"/>
                  </a:lnTo>
                  <a:lnTo>
                    <a:pt x="8509" y="2446909"/>
                  </a:lnTo>
                  <a:lnTo>
                    <a:pt x="8509" y="2438400"/>
                  </a:lnTo>
                  <a:lnTo>
                    <a:pt x="3471037" y="2438400"/>
                  </a:lnTo>
                  <a:lnTo>
                    <a:pt x="3471037" y="2446909"/>
                  </a:lnTo>
                  <a:lnTo>
                    <a:pt x="3462528" y="2446909"/>
                  </a:lnTo>
                  <a:lnTo>
                    <a:pt x="3462528" y="8509"/>
                  </a:lnTo>
                  <a:lnTo>
                    <a:pt x="3471037" y="8509"/>
                  </a:lnTo>
                  <a:lnTo>
                    <a:pt x="3471037" y="17018"/>
                  </a:lnTo>
                  <a:lnTo>
                    <a:pt x="8509" y="17018"/>
                  </a:lnTo>
                  <a:close/>
                </a:path>
              </a:pathLst>
            </a:custGeom>
            <a:solidFill>
              <a:srgbClr val="CC2200"/>
            </a:solidFill>
          </p:spPr>
        </p:sp>
      </p:grpSp>
      <p:grpSp>
        <p:nvGrpSpPr>
          <p:cNvPr name="Group 116" id="116"/>
          <p:cNvGrpSpPr/>
          <p:nvPr/>
        </p:nvGrpSpPr>
        <p:grpSpPr>
          <a:xfrm rot="0">
            <a:off x="5840730" y="8126757"/>
            <a:ext cx="2596896" cy="950976"/>
            <a:chOff x="0" y="0"/>
            <a:chExt cx="3462528" cy="1267968"/>
          </a:xfrm>
        </p:grpSpPr>
        <p:sp>
          <p:nvSpPr>
            <p:cNvPr name="Freeform 117" id="117"/>
            <p:cNvSpPr/>
            <p:nvPr/>
          </p:nvSpPr>
          <p:spPr>
            <a:xfrm flipH="false" flipV="false" rot="0">
              <a:off x="0" y="0"/>
              <a:ext cx="3462528" cy="1267968"/>
            </a:xfrm>
            <a:custGeom>
              <a:avLst/>
              <a:gdLst/>
              <a:ahLst/>
              <a:cxnLst/>
              <a:rect r="r" b="b" t="t" l="l"/>
              <a:pathLst>
                <a:path h="1267968" w="3462528">
                  <a:moveTo>
                    <a:pt x="0" y="0"/>
                  </a:moveTo>
                  <a:lnTo>
                    <a:pt x="3462528" y="0"/>
                  </a:lnTo>
                  <a:lnTo>
                    <a:pt x="3462528" y="1267968"/>
                  </a:lnTo>
                  <a:lnTo>
                    <a:pt x="0" y="1267968"/>
                  </a:lnTo>
                  <a:close/>
                </a:path>
              </a:pathLst>
            </a:custGeom>
            <a:solidFill>
              <a:srgbClr val="D63B2F">
                <a:alpha val="0"/>
              </a:srgbClr>
            </a:solidFill>
          </p:spPr>
        </p:sp>
        <p:sp>
          <p:nvSpPr>
            <p:cNvPr name="TextBox 118" id="118"/>
            <p:cNvSpPr txBox="true"/>
            <p:nvPr/>
          </p:nvSpPr>
          <p:spPr>
            <a:xfrm>
              <a:off x="0" y="-28575"/>
              <a:ext cx="3462528" cy="1296543"/>
            </a:xfrm>
            <a:prstGeom prst="rect">
              <a:avLst/>
            </a:prstGeom>
          </p:spPr>
          <p:txBody>
            <a:bodyPr anchor="ctr" rtlCol="false" tIns="0" lIns="0" bIns="0" rIns="0"/>
            <a:lstStyle/>
            <a:p>
              <a:pPr algn="ctr">
                <a:lnSpc>
                  <a:spcPts val="4800"/>
                </a:lnSpc>
              </a:pPr>
              <a:r>
                <a:rPr lang="en-US" b="true" sz="4000">
                  <a:solidFill>
                    <a:srgbClr val="D63B2F"/>
                  </a:solidFill>
                  <a:latin typeface="Helios Extended Bold"/>
                  <a:ea typeface="Helios Extended Bold"/>
                  <a:cs typeface="Helios Extended Bold"/>
                  <a:sym typeface="Helios Extended Bold"/>
                </a:rPr>
                <a:t>8,837:1</a:t>
              </a:r>
            </a:p>
          </p:txBody>
        </p:sp>
      </p:grpSp>
      <p:grpSp>
        <p:nvGrpSpPr>
          <p:cNvPr name="Group 119" id="119"/>
          <p:cNvGrpSpPr/>
          <p:nvPr/>
        </p:nvGrpSpPr>
        <p:grpSpPr>
          <a:xfrm rot="0">
            <a:off x="5815584" y="8762513"/>
            <a:ext cx="2596896" cy="548640"/>
            <a:chOff x="0" y="0"/>
            <a:chExt cx="3462528" cy="731520"/>
          </a:xfrm>
        </p:grpSpPr>
        <p:sp>
          <p:nvSpPr>
            <p:cNvPr name="Freeform 120" id="120"/>
            <p:cNvSpPr/>
            <p:nvPr/>
          </p:nvSpPr>
          <p:spPr>
            <a:xfrm flipH="false" flipV="false" rot="0">
              <a:off x="0" y="0"/>
              <a:ext cx="3462528" cy="731520"/>
            </a:xfrm>
            <a:custGeom>
              <a:avLst/>
              <a:gdLst/>
              <a:ahLst/>
              <a:cxnLst/>
              <a:rect r="r" b="b" t="t" l="l"/>
              <a:pathLst>
                <a:path h="731520" w="3462528">
                  <a:moveTo>
                    <a:pt x="0" y="0"/>
                  </a:moveTo>
                  <a:lnTo>
                    <a:pt x="3462528" y="0"/>
                  </a:lnTo>
                  <a:lnTo>
                    <a:pt x="3462528" y="731520"/>
                  </a:lnTo>
                  <a:lnTo>
                    <a:pt x="0" y="731520"/>
                  </a:lnTo>
                  <a:close/>
                </a:path>
              </a:pathLst>
            </a:custGeom>
            <a:blipFill>
              <a:blip r:embed="rId3">
                <a:alphaModFix amt="0"/>
              </a:blip>
              <a:stretch>
                <a:fillRect l="0" t="-42229" r="0" b="-42229"/>
              </a:stretch>
            </a:blipFill>
          </p:spPr>
        </p:sp>
        <p:sp>
          <p:nvSpPr>
            <p:cNvPr name="TextBox 121" id="121"/>
            <p:cNvSpPr txBox="true"/>
            <p:nvPr/>
          </p:nvSpPr>
          <p:spPr>
            <a:xfrm>
              <a:off x="0" y="-28575"/>
              <a:ext cx="3462528" cy="760095"/>
            </a:xfrm>
            <a:prstGeom prst="rect">
              <a:avLst/>
            </a:prstGeom>
          </p:spPr>
          <p:txBody>
            <a:bodyPr anchor="ctr" rtlCol="false" tIns="0" lIns="0" bIns="0" rIns="0"/>
            <a:lstStyle/>
            <a:p>
              <a:pPr algn="ctr">
                <a:lnSpc>
                  <a:spcPts val="1800"/>
                </a:lnSpc>
              </a:pPr>
              <a:r>
                <a:rPr lang="en-US" sz="1500">
                  <a:solidFill>
                    <a:srgbClr val="4A6274"/>
                  </a:solidFill>
                  <a:latin typeface="Helios Extended"/>
                  <a:ea typeface="Helios Extended"/>
                  <a:cs typeface="Helios Extended"/>
                  <a:sym typeface="Helios Extended"/>
                </a:rPr>
                <a:t>raw imbalance</a:t>
              </a:r>
            </a:p>
          </p:txBody>
        </p:sp>
      </p:grpSp>
      <p:grpSp>
        <p:nvGrpSpPr>
          <p:cNvPr name="Group 122" id="122"/>
          <p:cNvGrpSpPr/>
          <p:nvPr/>
        </p:nvGrpSpPr>
        <p:grpSpPr>
          <a:xfrm rot="0">
            <a:off x="9695183" y="7570940"/>
            <a:ext cx="3475491" cy="657925"/>
            <a:chOff x="0" y="0"/>
            <a:chExt cx="4633987" cy="877233"/>
          </a:xfrm>
        </p:grpSpPr>
        <p:sp>
          <p:nvSpPr>
            <p:cNvPr name="Freeform 123" id="123"/>
            <p:cNvSpPr/>
            <p:nvPr/>
          </p:nvSpPr>
          <p:spPr>
            <a:xfrm flipH="false" flipV="false" rot="0">
              <a:off x="26015" y="22186"/>
              <a:ext cx="4581820" cy="832744"/>
            </a:xfrm>
            <a:custGeom>
              <a:avLst/>
              <a:gdLst/>
              <a:ahLst/>
              <a:cxnLst/>
              <a:rect r="r" b="b" t="t" l="l"/>
              <a:pathLst>
                <a:path h="832744" w="4581820">
                  <a:moveTo>
                    <a:pt x="0" y="0"/>
                  </a:moveTo>
                  <a:lnTo>
                    <a:pt x="4581820" y="0"/>
                  </a:lnTo>
                  <a:lnTo>
                    <a:pt x="4581820" y="832744"/>
                  </a:lnTo>
                  <a:lnTo>
                    <a:pt x="0" y="832744"/>
                  </a:lnTo>
                  <a:close/>
                </a:path>
              </a:pathLst>
            </a:custGeom>
            <a:solidFill>
              <a:srgbClr val="0D9488"/>
            </a:solidFill>
          </p:spPr>
        </p:sp>
        <p:sp>
          <p:nvSpPr>
            <p:cNvPr name="Freeform 124" id="124"/>
            <p:cNvSpPr/>
            <p:nvPr/>
          </p:nvSpPr>
          <p:spPr>
            <a:xfrm flipH="false" flipV="false" rot="0">
              <a:off x="0" y="0"/>
              <a:ext cx="4633851" cy="877118"/>
            </a:xfrm>
            <a:custGeom>
              <a:avLst/>
              <a:gdLst/>
              <a:ahLst/>
              <a:cxnLst/>
              <a:rect r="r" b="b" t="t" l="l"/>
              <a:pathLst>
                <a:path h="877118" w="4633851">
                  <a:moveTo>
                    <a:pt x="26015" y="0"/>
                  </a:moveTo>
                  <a:lnTo>
                    <a:pt x="4607835" y="0"/>
                  </a:lnTo>
                  <a:cubicBezTo>
                    <a:pt x="4622310" y="0"/>
                    <a:pt x="4633851" y="10009"/>
                    <a:pt x="4633851" y="22186"/>
                  </a:cubicBezTo>
                  <a:lnTo>
                    <a:pt x="4633851" y="854930"/>
                  </a:lnTo>
                  <a:cubicBezTo>
                    <a:pt x="4633851" y="867275"/>
                    <a:pt x="4622114" y="877117"/>
                    <a:pt x="4607835" y="877117"/>
                  </a:cubicBezTo>
                  <a:lnTo>
                    <a:pt x="26015" y="877117"/>
                  </a:lnTo>
                  <a:cubicBezTo>
                    <a:pt x="11736" y="877272"/>
                    <a:pt x="0" y="867275"/>
                    <a:pt x="0" y="854930"/>
                  </a:cubicBezTo>
                  <a:lnTo>
                    <a:pt x="0" y="22186"/>
                  </a:lnTo>
                  <a:cubicBezTo>
                    <a:pt x="0" y="10009"/>
                    <a:pt x="11736" y="0"/>
                    <a:pt x="26015" y="0"/>
                  </a:cubicBezTo>
                  <a:moveTo>
                    <a:pt x="26015" y="44540"/>
                  </a:moveTo>
                  <a:lnTo>
                    <a:pt x="26015" y="22186"/>
                  </a:lnTo>
                  <a:lnTo>
                    <a:pt x="52226" y="22186"/>
                  </a:lnTo>
                  <a:lnTo>
                    <a:pt x="52226" y="854930"/>
                  </a:lnTo>
                  <a:lnTo>
                    <a:pt x="26015" y="854930"/>
                  </a:lnTo>
                  <a:lnTo>
                    <a:pt x="26015" y="832744"/>
                  </a:lnTo>
                  <a:lnTo>
                    <a:pt x="4607835" y="832744"/>
                  </a:lnTo>
                  <a:lnTo>
                    <a:pt x="4607835" y="854930"/>
                  </a:lnTo>
                  <a:lnTo>
                    <a:pt x="4581820" y="854930"/>
                  </a:lnTo>
                  <a:lnTo>
                    <a:pt x="4581820" y="22186"/>
                  </a:lnTo>
                  <a:lnTo>
                    <a:pt x="4607835" y="22186"/>
                  </a:lnTo>
                  <a:lnTo>
                    <a:pt x="4607835" y="44540"/>
                  </a:lnTo>
                  <a:lnTo>
                    <a:pt x="26015" y="44540"/>
                  </a:lnTo>
                  <a:close/>
                </a:path>
              </a:pathLst>
            </a:custGeom>
            <a:solidFill>
              <a:srgbClr val="0D9488"/>
            </a:solidFill>
          </p:spPr>
        </p:sp>
      </p:grpSp>
      <p:grpSp>
        <p:nvGrpSpPr>
          <p:cNvPr name="Group 125" id="125"/>
          <p:cNvGrpSpPr/>
          <p:nvPr/>
        </p:nvGrpSpPr>
        <p:grpSpPr>
          <a:xfrm rot="0">
            <a:off x="9761739" y="7695456"/>
            <a:ext cx="3342379" cy="438912"/>
            <a:chOff x="0" y="0"/>
            <a:chExt cx="4456505" cy="585216"/>
          </a:xfrm>
        </p:grpSpPr>
        <p:sp>
          <p:nvSpPr>
            <p:cNvPr name="Freeform 126" id="126"/>
            <p:cNvSpPr/>
            <p:nvPr/>
          </p:nvSpPr>
          <p:spPr>
            <a:xfrm flipH="false" flipV="false" rot="0">
              <a:off x="0" y="0"/>
              <a:ext cx="4456505" cy="585216"/>
            </a:xfrm>
            <a:custGeom>
              <a:avLst/>
              <a:gdLst/>
              <a:ahLst/>
              <a:cxnLst/>
              <a:rect r="r" b="b" t="t" l="l"/>
              <a:pathLst>
                <a:path h="585216" w="4456505">
                  <a:moveTo>
                    <a:pt x="0" y="0"/>
                  </a:moveTo>
                  <a:lnTo>
                    <a:pt x="4456505" y="0"/>
                  </a:lnTo>
                  <a:lnTo>
                    <a:pt x="4456505" y="585216"/>
                  </a:lnTo>
                  <a:lnTo>
                    <a:pt x="0" y="585216"/>
                  </a:lnTo>
                  <a:close/>
                </a:path>
              </a:pathLst>
            </a:custGeom>
            <a:blipFill>
              <a:blip r:embed="rId3">
                <a:alphaModFix amt="0"/>
              </a:blip>
              <a:stretch>
                <a:fillRect l="0" t="-49048" r="33247" b="-49048"/>
              </a:stretch>
            </a:blipFill>
          </p:spPr>
        </p:sp>
        <p:sp>
          <p:nvSpPr>
            <p:cNvPr name="TextBox 127" id="127"/>
            <p:cNvSpPr txBox="true"/>
            <p:nvPr/>
          </p:nvSpPr>
          <p:spPr>
            <a:xfrm>
              <a:off x="0" y="-28575"/>
              <a:ext cx="4456505" cy="613791"/>
            </a:xfrm>
            <a:prstGeom prst="rect">
              <a:avLst/>
            </a:prstGeom>
          </p:spPr>
          <p:txBody>
            <a:bodyPr anchor="ctr" rtlCol="false" tIns="0" lIns="0" bIns="0" rIns="0"/>
            <a:lstStyle/>
            <a:p>
              <a:pPr algn="ctr">
                <a:lnSpc>
                  <a:spcPts val="2400"/>
                </a:lnSpc>
              </a:pPr>
              <a:r>
                <a:rPr lang="en-US" sz="2000" b="true">
                  <a:solidFill>
                    <a:srgbClr val="FFFFFF"/>
                  </a:solidFill>
                  <a:latin typeface="Helios Extended Bold"/>
                  <a:ea typeface="Helios Extended Bold"/>
                  <a:cs typeface="Helios Extended Bold"/>
                  <a:sym typeface="Helios Extended Bold"/>
                </a:rPr>
                <a:t>Aggressive Resample</a:t>
              </a:r>
            </a:p>
          </p:txBody>
        </p:sp>
      </p:grpSp>
      <p:grpSp>
        <p:nvGrpSpPr>
          <p:cNvPr name="Group 128" id="128"/>
          <p:cNvGrpSpPr/>
          <p:nvPr/>
        </p:nvGrpSpPr>
        <p:grpSpPr>
          <a:xfrm rot="0">
            <a:off x="9887331" y="8027749"/>
            <a:ext cx="3986784" cy="1389888"/>
            <a:chOff x="0" y="0"/>
            <a:chExt cx="5315712" cy="1853184"/>
          </a:xfrm>
        </p:grpSpPr>
        <p:sp>
          <p:nvSpPr>
            <p:cNvPr name="Freeform 129" id="129"/>
            <p:cNvSpPr/>
            <p:nvPr/>
          </p:nvSpPr>
          <p:spPr>
            <a:xfrm flipH="false" flipV="false" rot="0">
              <a:off x="0" y="0"/>
              <a:ext cx="5315712" cy="1853184"/>
            </a:xfrm>
            <a:custGeom>
              <a:avLst/>
              <a:gdLst/>
              <a:ahLst/>
              <a:cxnLst/>
              <a:rect r="r" b="b" t="t" l="l"/>
              <a:pathLst>
                <a:path h="1853184" w="5315712">
                  <a:moveTo>
                    <a:pt x="0" y="0"/>
                  </a:moveTo>
                  <a:lnTo>
                    <a:pt x="5315712" y="0"/>
                  </a:lnTo>
                  <a:lnTo>
                    <a:pt x="5315712" y="1853184"/>
                  </a:lnTo>
                  <a:lnTo>
                    <a:pt x="0" y="1853184"/>
                  </a:lnTo>
                  <a:close/>
                </a:path>
              </a:pathLst>
            </a:custGeom>
            <a:blipFill>
              <a:blip r:embed="rId3">
                <a:alphaModFix amt="0"/>
              </a:blip>
              <a:stretch>
                <a:fillRect l="0" t="-5891" r="0" b="-5891"/>
              </a:stretch>
            </a:blipFill>
          </p:spPr>
        </p:sp>
        <p:sp>
          <p:nvSpPr>
            <p:cNvPr name="TextBox 130" id="130"/>
            <p:cNvSpPr txBox="true"/>
            <p:nvPr/>
          </p:nvSpPr>
          <p:spPr>
            <a:xfrm>
              <a:off x="0" y="-19050"/>
              <a:ext cx="5315712" cy="1872234"/>
            </a:xfrm>
            <a:prstGeom prst="rect">
              <a:avLst/>
            </a:prstGeom>
          </p:spPr>
          <p:txBody>
            <a:bodyPr anchor="ctr" rtlCol="false" tIns="0" lIns="0" bIns="0" rIns="0"/>
            <a:lstStyle/>
            <a:p>
              <a:pPr algn="l">
                <a:lnSpc>
                  <a:spcPts val="2519"/>
                </a:lnSpc>
              </a:pPr>
              <a:r>
                <a:rPr lang="en-US" sz="2099">
                  <a:solidFill>
                    <a:srgbClr val="1E293B"/>
                  </a:solidFill>
                  <a:latin typeface="Helios Extended"/>
                  <a:ea typeface="Helios Extended"/>
                  <a:cs typeface="Helios Extended"/>
                  <a:sym typeface="Helios Extended"/>
                </a:rPr>
                <a:t>Lower T to 0.25 + minimum 50 examples per class.</a:t>
              </a:r>
            </a:p>
          </p:txBody>
        </p:sp>
      </p:grpSp>
      <p:grpSp>
        <p:nvGrpSpPr>
          <p:cNvPr name="Group 131" id="131"/>
          <p:cNvGrpSpPr/>
          <p:nvPr/>
        </p:nvGrpSpPr>
        <p:grpSpPr>
          <a:xfrm rot="0">
            <a:off x="14095095" y="7500441"/>
            <a:ext cx="2627376" cy="1859280"/>
            <a:chOff x="0" y="0"/>
            <a:chExt cx="3503168" cy="2479040"/>
          </a:xfrm>
        </p:grpSpPr>
        <p:sp>
          <p:nvSpPr>
            <p:cNvPr name="Freeform 132" id="132"/>
            <p:cNvSpPr/>
            <p:nvPr/>
          </p:nvSpPr>
          <p:spPr>
            <a:xfrm flipH="false" flipV="false" rot="0">
              <a:off x="20320" y="20320"/>
              <a:ext cx="3462528" cy="2438400"/>
            </a:xfrm>
            <a:custGeom>
              <a:avLst/>
              <a:gdLst/>
              <a:ahLst/>
              <a:cxnLst/>
              <a:rect r="r" b="b" t="t" l="l"/>
              <a:pathLst>
                <a:path h="2438400" w="3462528">
                  <a:moveTo>
                    <a:pt x="0" y="0"/>
                  </a:moveTo>
                  <a:lnTo>
                    <a:pt x="3462528" y="0"/>
                  </a:lnTo>
                  <a:lnTo>
                    <a:pt x="3462528" y="2438400"/>
                  </a:lnTo>
                  <a:lnTo>
                    <a:pt x="0" y="2438400"/>
                  </a:lnTo>
                  <a:close/>
                </a:path>
              </a:pathLst>
            </a:custGeom>
            <a:solidFill>
              <a:srgbClr val="FFFFFF"/>
            </a:solidFill>
          </p:spPr>
        </p:sp>
        <p:sp>
          <p:nvSpPr>
            <p:cNvPr name="Freeform 133" id="133"/>
            <p:cNvSpPr/>
            <p:nvPr/>
          </p:nvSpPr>
          <p:spPr>
            <a:xfrm flipH="false" flipV="false" rot="0">
              <a:off x="0" y="0"/>
              <a:ext cx="3503168" cy="2479040"/>
            </a:xfrm>
            <a:custGeom>
              <a:avLst/>
              <a:gdLst/>
              <a:ahLst/>
              <a:cxnLst/>
              <a:rect r="r" b="b" t="t" l="l"/>
              <a:pathLst>
                <a:path h="2479040" w="3503168">
                  <a:moveTo>
                    <a:pt x="20320" y="0"/>
                  </a:moveTo>
                  <a:lnTo>
                    <a:pt x="3482848" y="0"/>
                  </a:lnTo>
                  <a:cubicBezTo>
                    <a:pt x="3494024" y="0"/>
                    <a:pt x="3503168" y="9144"/>
                    <a:pt x="3503168" y="20320"/>
                  </a:cubicBezTo>
                  <a:lnTo>
                    <a:pt x="3503168" y="2458720"/>
                  </a:lnTo>
                  <a:cubicBezTo>
                    <a:pt x="3503168" y="2469896"/>
                    <a:pt x="3494024" y="2479040"/>
                    <a:pt x="3482848" y="2479040"/>
                  </a:cubicBezTo>
                  <a:lnTo>
                    <a:pt x="20320" y="2479040"/>
                  </a:lnTo>
                  <a:cubicBezTo>
                    <a:pt x="9144" y="2479040"/>
                    <a:pt x="0" y="2469896"/>
                    <a:pt x="0" y="2458720"/>
                  </a:cubicBezTo>
                  <a:lnTo>
                    <a:pt x="0" y="20320"/>
                  </a:lnTo>
                  <a:cubicBezTo>
                    <a:pt x="0" y="9144"/>
                    <a:pt x="9144" y="0"/>
                    <a:pt x="20320" y="0"/>
                  </a:cubicBezTo>
                  <a:moveTo>
                    <a:pt x="20320" y="40640"/>
                  </a:moveTo>
                  <a:lnTo>
                    <a:pt x="20320" y="20320"/>
                  </a:lnTo>
                  <a:lnTo>
                    <a:pt x="40640" y="20320"/>
                  </a:lnTo>
                  <a:lnTo>
                    <a:pt x="40640" y="2458720"/>
                  </a:lnTo>
                  <a:lnTo>
                    <a:pt x="20320" y="2458720"/>
                  </a:lnTo>
                  <a:lnTo>
                    <a:pt x="20320" y="2438400"/>
                  </a:lnTo>
                  <a:lnTo>
                    <a:pt x="3482848" y="2438400"/>
                  </a:lnTo>
                  <a:lnTo>
                    <a:pt x="3482848" y="2458720"/>
                  </a:lnTo>
                  <a:lnTo>
                    <a:pt x="3462528" y="2458720"/>
                  </a:lnTo>
                  <a:lnTo>
                    <a:pt x="3462528" y="20320"/>
                  </a:lnTo>
                  <a:lnTo>
                    <a:pt x="3482848" y="20320"/>
                  </a:lnTo>
                  <a:lnTo>
                    <a:pt x="3482848" y="40640"/>
                  </a:lnTo>
                  <a:lnTo>
                    <a:pt x="20320" y="40640"/>
                  </a:lnTo>
                  <a:close/>
                </a:path>
              </a:pathLst>
            </a:custGeom>
            <a:solidFill>
              <a:srgbClr val="0D9488"/>
            </a:solidFill>
          </p:spPr>
        </p:sp>
      </p:grpSp>
      <p:grpSp>
        <p:nvGrpSpPr>
          <p:cNvPr name="Group 134" id="134"/>
          <p:cNvGrpSpPr/>
          <p:nvPr/>
        </p:nvGrpSpPr>
        <p:grpSpPr>
          <a:xfrm rot="0">
            <a:off x="14079855" y="7771717"/>
            <a:ext cx="2596896" cy="950976"/>
            <a:chOff x="0" y="0"/>
            <a:chExt cx="3462528" cy="1267968"/>
          </a:xfrm>
        </p:grpSpPr>
        <p:sp>
          <p:nvSpPr>
            <p:cNvPr name="Freeform 135" id="135"/>
            <p:cNvSpPr/>
            <p:nvPr/>
          </p:nvSpPr>
          <p:spPr>
            <a:xfrm flipH="false" flipV="false" rot="0">
              <a:off x="0" y="0"/>
              <a:ext cx="3462528" cy="1267968"/>
            </a:xfrm>
            <a:custGeom>
              <a:avLst/>
              <a:gdLst/>
              <a:ahLst/>
              <a:cxnLst/>
              <a:rect r="r" b="b" t="t" l="l"/>
              <a:pathLst>
                <a:path h="1267968" w="3462528">
                  <a:moveTo>
                    <a:pt x="0" y="0"/>
                  </a:moveTo>
                  <a:lnTo>
                    <a:pt x="3462528" y="0"/>
                  </a:lnTo>
                  <a:lnTo>
                    <a:pt x="3462528" y="1267968"/>
                  </a:lnTo>
                  <a:lnTo>
                    <a:pt x="0" y="1267968"/>
                  </a:lnTo>
                  <a:close/>
                </a:path>
              </a:pathLst>
            </a:custGeom>
            <a:blipFill>
              <a:blip r:embed="rId3">
                <a:alphaModFix amt="0"/>
              </a:blip>
              <a:stretch>
                <a:fillRect l="0" t="-3209" r="0" b="-3209"/>
              </a:stretch>
            </a:blipFill>
          </p:spPr>
        </p:sp>
        <p:sp>
          <p:nvSpPr>
            <p:cNvPr name="TextBox 136" id="136"/>
            <p:cNvSpPr txBox="true"/>
            <p:nvPr/>
          </p:nvSpPr>
          <p:spPr>
            <a:xfrm>
              <a:off x="0" y="-19050"/>
              <a:ext cx="3462528" cy="1287018"/>
            </a:xfrm>
            <a:prstGeom prst="rect">
              <a:avLst/>
            </a:prstGeom>
          </p:spPr>
          <p:txBody>
            <a:bodyPr anchor="ctr" rtlCol="false" tIns="0" lIns="0" bIns="0" rIns="0"/>
            <a:lstStyle/>
            <a:p>
              <a:pPr algn="ctr">
                <a:lnSpc>
                  <a:spcPts val="4799"/>
                </a:lnSpc>
              </a:pPr>
              <a:r>
                <a:rPr lang="en-US" sz="3999" b="true">
                  <a:solidFill>
                    <a:srgbClr val="0D9488"/>
                  </a:solidFill>
                  <a:latin typeface="Helios Extended Bold"/>
                  <a:ea typeface="Helios Extended Bold"/>
                  <a:cs typeface="Helios Extended Bold"/>
                  <a:sym typeface="Helios Extended Bold"/>
                </a:rPr>
                <a:t>~10:1</a:t>
              </a:r>
            </a:p>
          </p:txBody>
        </p:sp>
      </p:grpSp>
      <p:grpSp>
        <p:nvGrpSpPr>
          <p:cNvPr name="Group 137" id="137"/>
          <p:cNvGrpSpPr/>
          <p:nvPr/>
        </p:nvGrpSpPr>
        <p:grpSpPr>
          <a:xfrm rot="0">
            <a:off x="14110335" y="8479368"/>
            <a:ext cx="2596896" cy="548640"/>
            <a:chOff x="0" y="0"/>
            <a:chExt cx="3462528" cy="731520"/>
          </a:xfrm>
        </p:grpSpPr>
        <p:sp>
          <p:nvSpPr>
            <p:cNvPr name="Freeform 138" id="138"/>
            <p:cNvSpPr/>
            <p:nvPr/>
          </p:nvSpPr>
          <p:spPr>
            <a:xfrm flipH="false" flipV="false" rot="0">
              <a:off x="0" y="0"/>
              <a:ext cx="3462528" cy="731520"/>
            </a:xfrm>
            <a:custGeom>
              <a:avLst/>
              <a:gdLst/>
              <a:ahLst/>
              <a:cxnLst/>
              <a:rect r="r" b="b" t="t" l="l"/>
              <a:pathLst>
                <a:path h="731520" w="3462528">
                  <a:moveTo>
                    <a:pt x="0" y="0"/>
                  </a:moveTo>
                  <a:lnTo>
                    <a:pt x="3462528" y="0"/>
                  </a:lnTo>
                  <a:lnTo>
                    <a:pt x="3462528" y="731520"/>
                  </a:lnTo>
                  <a:lnTo>
                    <a:pt x="0" y="731520"/>
                  </a:lnTo>
                  <a:close/>
                </a:path>
              </a:pathLst>
            </a:custGeom>
            <a:blipFill>
              <a:blip r:embed="rId3">
                <a:alphaModFix amt="0"/>
              </a:blip>
              <a:stretch>
                <a:fillRect l="0" t="-42229" r="0" b="-42229"/>
              </a:stretch>
            </a:blipFill>
          </p:spPr>
        </p:sp>
        <p:sp>
          <p:nvSpPr>
            <p:cNvPr name="TextBox 139" id="139"/>
            <p:cNvSpPr txBox="true"/>
            <p:nvPr/>
          </p:nvSpPr>
          <p:spPr>
            <a:xfrm>
              <a:off x="0" y="-28575"/>
              <a:ext cx="3462528" cy="760095"/>
            </a:xfrm>
            <a:prstGeom prst="rect">
              <a:avLst/>
            </a:prstGeom>
          </p:spPr>
          <p:txBody>
            <a:bodyPr anchor="ctr" rtlCol="false" tIns="0" lIns="0" bIns="0" rIns="0"/>
            <a:lstStyle/>
            <a:p>
              <a:pPr algn="ctr">
                <a:lnSpc>
                  <a:spcPts val="1800"/>
                </a:lnSpc>
              </a:pPr>
              <a:r>
                <a:rPr lang="en-US" sz="1500">
                  <a:solidFill>
                    <a:srgbClr val="4A6274"/>
                  </a:solidFill>
                  <a:latin typeface="Helios Extended"/>
                  <a:ea typeface="Helios Extended"/>
                  <a:cs typeface="Helios Extended"/>
                  <a:sym typeface="Helios Extended"/>
                </a:rPr>
                <a:t>effective imbalance</a:t>
              </a:r>
            </a:p>
          </p:txBody>
        </p:sp>
      </p:grpSp>
      <p:grpSp>
        <p:nvGrpSpPr>
          <p:cNvPr name="Group 140" id="140"/>
          <p:cNvGrpSpPr/>
          <p:nvPr/>
        </p:nvGrpSpPr>
        <p:grpSpPr>
          <a:xfrm rot="0">
            <a:off x="9536182" y="4703658"/>
            <a:ext cx="8334251" cy="2533907"/>
            <a:chOff x="0" y="0"/>
            <a:chExt cx="11112335" cy="3378543"/>
          </a:xfrm>
        </p:grpSpPr>
        <p:sp>
          <p:nvSpPr>
            <p:cNvPr name="Freeform 141" id="141"/>
            <p:cNvSpPr/>
            <p:nvPr/>
          </p:nvSpPr>
          <p:spPr>
            <a:xfrm flipH="false" flipV="false" rot="0">
              <a:off x="6719" y="6731"/>
              <a:ext cx="11098809" cy="3364992"/>
            </a:xfrm>
            <a:custGeom>
              <a:avLst/>
              <a:gdLst/>
              <a:ahLst/>
              <a:cxnLst/>
              <a:rect r="r" b="b" t="t" l="l"/>
              <a:pathLst>
                <a:path h="3364992" w="11098809">
                  <a:moveTo>
                    <a:pt x="0" y="0"/>
                  </a:moveTo>
                  <a:lnTo>
                    <a:pt x="11098809" y="0"/>
                  </a:lnTo>
                  <a:lnTo>
                    <a:pt x="11098809" y="3364992"/>
                  </a:lnTo>
                  <a:lnTo>
                    <a:pt x="0" y="3364992"/>
                  </a:lnTo>
                  <a:close/>
                </a:path>
              </a:pathLst>
            </a:custGeom>
            <a:solidFill>
              <a:srgbClr val="EDF7F6"/>
            </a:solidFill>
          </p:spPr>
        </p:sp>
        <p:sp>
          <p:nvSpPr>
            <p:cNvPr name="Freeform 142" id="142"/>
            <p:cNvSpPr/>
            <p:nvPr/>
          </p:nvSpPr>
          <p:spPr>
            <a:xfrm flipH="false" flipV="false" rot="0">
              <a:off x="0" y="0"/>
              <a:ext cx="11112247" cy="3378454"/>
            </a:xfrm>
            <a:custGeom>
              <a:avLst/>
              <a:gdLst/>
              <a:ahLst/>
              <a:cxnLst/>
              <a:rect r="r" b="b" t="t" l="l"/>
              <a:pathLst>
                <a:path h="3378454" w="11112247">
                  <a:moveTo>
                    <a:pt x="6719" y="0"/>
                  </a:moveTo>
                  <a:lnTo>
                    <a:pt x="11105528" y="0"/>
                  </a:lnTo>
                  <a:cubicBezTo>
                    <a:pt x="11109203" y="0"/>
                    <a:pt x="11112247" y="3048"/>
                    <a:pt x="11112247" y="6731"/>
                  </a:cubicBezTo>
                  <a:lnTo>
                    <a:pt x="11112247" y="3371723"/>
                  </a:lnTo>
                  <a:cubicBezTo>
                    <a:pt x="11112247" y="3375406"/>
                    <a:pt x="11109203" y="3378454"/>
                    <a:pt x="11105528" y="3378454"/>
                  </a:cubicBezTo>
                  <a:lnTo>
                    <a:pt x="6719" y="3378454"/>
                  </a:lnTo>
                  <a:cubicBezTo>
                    <a:pt x="3042" y="3378454"/>
                    <a:pt x="0" y="3375406"/>
                    <a:pt x="0" y="3371723"/>
                  </a:cubicBezTo>
                  <a:lnTo>
                    <a:pt x="0" y="6731"/>
                  </a:lnTo>
                  <a:cubicBezTo>
                    <a:pt x="0" y="3048"/>
                    <a:pt x="3042" y="0"/>
                    <a:pt x="6719" y="0"/>
                  </a:cubicBezTo>
                  <a:moveTo>
                    <a:pt x="6719" y="13589"/>
                  </a:moveTo>
                  <a:lnTo>
                    <a:pt x="6719" y="6731"/>
                  </a:lnTo>
                  <a:lnTo>
                    <a:pt x="13437" y="6731"/>
                  </a:lnTo>
                  <a:lnTo>
                    <a:pt x="13437" y="3371723"/>
                  </a:lnTo>
                  <a:lnTo>
                    <a:pt x="6719" y="3371723"/>
                  </a:lnTo>
                  <a:lnTo>
                    <a:pt x="6719" y="3364992"/>
                  </a:lnTo>
                  <a:lnTo>
                    <a:pt x="11105528" y="3364992"/>
                  </a:lnTo>
                  <a:lnTo>
                    <a:pt x="11105528" y="3371723"/>
                  </a:lnTo>
                  <a:lnTo>
                    <a:pt x="11098809" y="3371723"/>
                  </a:lnTo>
                  <a:lnTo>
                    <a:pt x="11098809" y="6731"/>
                  </a:lnTo>
                  <a:lnTo>
                    <a:pt x="11105528" y="6731"/>
                  </a:lnTo>
                  <a:lnTo>
                    <a:pt x="11105528" y="13462"/>
                  </a:lnTo>
                  <a:lnTo>
                    <a:pt x="6719" y="13462"/>
                  </a:lnTo>
                  <a:close/>
                </a:path>
              </a:pathLst>
            </a:custGeom>
            <a:solidFill>
              <a:srgbClr val="E8ECF0"/>
            </a:solidFill>
          </p:spPr>
        </p:sp>
      </p:grpSp>
      <p:grpSp>
        <p:nvGrpSpPr>
          <p:cNvPr name="Group 143" id="143"/>
          <p:cNvGrpSpPr/>
          <p:nvPr/>
        </p:nvGrpSpPr>
        <p:grpSpPr>
          <a:xfrm rot="0">
            <a:off x="9674866" y="4901706"/>
            <a:ext cx="3107095" cy="657925"/>
            <a:chOff x="0" y="0"/>
            <a:chExt cx="4142793" cy="877233"/>
          </a:xfrm>
        </p:grpSpPr>
        <p:sp>
          <p:nvSpPr>
            <p:cNvPr name="Freeform 144" id="144"/>
            <p:cNvSpPr/>
            <p:nvPr/>
          </p:nvSpPr>
          <p:spPr>
            <a:xfrm flipH="false" flipV="false" rot="0">
              <a:off x="23258" y="22186"/>
              <a:ext cx="4096155" cy="832744"/>
            </a:xfrm>
            <a:custGeom>
              <a:avLst/>
              <a:gdLst/>
              <a:ahLst/>
              <a:cxnLst/>
              <a:rect r="r" b="b" t="t" l="l"/>
              <a:pathLst>
                <a:path h="832744" w="4096155">
                  <a:moveTo>
                    <a:pt x="0" y="0"/>
                  </a:moveTo>
                  <a:lnTo>
                    <a:pt x="4096155" y="0"/>
                  </a:lnTo>
                  <a:lnTo>
                    <a:pt x="4096155" y="832744"/>
                  </a:lnTo>
                  <a:lnTo>
                    <a:pt x="0" y="832744"/>
                  </a:lnTo>
                  <a:close/>
                </a:path>
              </a:pathLst>
            </a:custGeom>
            <a:solidFill>
              <a:srgbClr val="0D9488"/>
            </a:solidFill>
          </p:spPr>
        </p:sp>
        <p:sp>
          <p:nvSpPr>
            <p:cNvPr name="Freeform 145" id="145"/>
            <p:cNvSpPr/>
            <p:nvPr/>
          </p:nvSpPr>
          <p:spPr>
            <a:xfrm flipH="false" flipV="false" rot="0">
              <a:off x="0" y="0"/>
              <a:ext cx="4142671" cy="877118"/>
            </a:xfrm>
            <a:custGeom>
              <a:avLst/>
              <a:gdLst/>
              <a:ahLst/>
              <a:cxnLst/>
              <a:rect r="r" b="b" t="t" l="l"/>
              <a:pathLst>
                <a:path h="877118" w="4142671">
                  <a:moveTo>
                    <a:pt x="23258" y="0"/>
                  </a:moveTo>
                  <a:lnTo>
                    <a:pt x="4119413" y="0"/>
                  </a:lnTo>
                  <a:cubicBezTo>
                    <a:pt x="4132354" y="0"/>
                    <a:pt x="4142671" y="10009"/>
                    <a:pt x="4142671" y="22186"/>
                  </a:cubicBezTo>
                  <a:lnTo>
                    <a:pt x="4142671" y="854930"/>
                  </a:lnTo>
                  <a:cubicBezTo>
                    <a:pt x="4142671" y="867275"/>
                    <a:pt x="4132178" y="877117"/>
                    <a:pt x="4119413" y="877117"/>
                  </a:cubicBezTo>
                  <a:lnTo>
                    <a:pt x="23258" y="877117"/>
                  </a:lnTo>
                  <a:cubicBezTo>
                    <a:pt x="10492" y="877272"/>
                    <a:pt x="0" y="867275"/>
                    <a:pt x="0" y="854930"/>
                  </a:cubicBezTo>
                  <a:lnTo>
                    <a:pt x="0" y="22186"/>
                  </a:lnTo>
                  <a:cubicBezTo>
                    <a:pt x="0" y="10009"/>
                    <a:pt x="10492" y="0"/>
                    <a:pt x="23258" y="0"/>
                  </a:cubicBezTo>
                  <a:moveTo>
                    <a:pt x="23258" y="44540"/>
                  </a:moveTo>
                  <a:lnTo>
                    <a:pt x="23258" y="22186"/>
                  </a:lnTo>
                  <a:lnTo>
                    <a:pt x="46690" y="22186"/>
                  </a:lnTo>
                  <a:lnTo>
                    <a:pt x="46690" y="854930"/>
                  </a:lnTo>
                  <a:lnTo>
                    <a:pt x="23258" y="854930"/>
                  </a:lnTo>
                  <a:lnTo>
                    <a:pt x="23258" y="832744"/>
                  </a:lnTo>
                  <a:lnTo>
                    <a:pt x="4119413" y="832744"/>
                  </a:lnTo>
                  <a:lnTo>
                    <a:pt x="4119413" y="854930"/>
                  </a:lnTo>
                  <a:lnTo>
                    <a:pt x="4096155" y="854930"/>
                  </a:lnTo>
                  <a:lnTo>
                    <a:pt x="4096155" y="22186"/>
                  </a:lnTo>
                  <a:lnTo>
                    <a:pt x="4119413" y="22186"/>
                  </a:lnTo>
                  <a:lnTo>
                    <a:pt x="4119413" y="44540"/>
                  </a:lnTo>
                  <a:lnTo>
                    <a:pt x="23258" y="44540"/>
                  </a:lnTo>
                  <a:close/>
                </a:path>
              </a:pathLst>
            </a:custGeom>
            <a:solidFill>
              <a:srgbClr val="0D9488"/>
            </a:solidFill>
          </p:spPr>
        </p:sp>
      </p:grpSp>
      <p:grpSp>
        <p:nvGrpSpPr>
          <p:cNvPr name="Group 146" id="146"/>
          <p:cNvGrpSpPr/>
          <p:nvPr/>
        </p:nvGrpSpPr>
        <p:grpSpPr>
          <a:xfrm rot="0">
            <a:off x="9674866" y="5011213"/>
            <a:ext cx="3094398" cy="438912"/>
            <a:chOff x="0" y="0"/>
            <a:chExt cx="4125864" cy="585216"/>
          </a:xfrm>
        </p:grpSpPr>
        <p:sp>
          <p:nvSpPr>
            <p:cNvPr name="Freeform 147" id="147"/>
            <p:cNvSpPr/>
            <p:nvPr/>
          </p:nvSpPr>
          <p:spPr>
            <a:xfrm flipH="false" flipV="false" rot="0">
              <a:off x="0" y="0"/>
              <a:ext cx="4125864" cy="585216"/>
            </a:xfrm>
            <a:custGeom>
              <a:avLst/>
              <a:gdLst/>
              <a:ahLst/>
              <a:cxnLst/>
              <a:rect r="r" b="b" t="t" l="l"/>
              <a:pathLst>
                <a:path h="585216" w="4125864">
                  <a:moveTo>
                    <a:pt x="0" y="0"/>
                  </a:moveTo>
                  <a:lnTo>
                    <a:pt x="4125864" y="0"/>
                  </a:lnTo>
                  <a:lnTo>
                    <a:pt x="4125864" y="585216"/>
                  </a:lnTo>
                  <a:lnTo>
                    <a:pt x="0" y="585216"/>
                  </a:lnTo>
                  <a:close/>
                </a:path>
              </a:pathLst>
            </a:custGeom>
            <a:blipFill>
              <a:blip r:embed="rId3">
                <a:alphaModFix amt="0"/>
              </a:blip>
              <a:stretch>
                <a:fillRect l="0" t="-49048" r="27897" b="-49048"/>
              </a:stretch>
            </a:blipFill>
          </p:spPr>
        </p:sp>
        <p:sp>
          <p:nvSpPr>
            <p:cNvPr name="TextBox 148" id="148"/>
            <p:cNvSpPr txBox="true"/>
            <p:nvPr/>
          </p:nvSpPr>
          <p:spPr>
            <a:xfrm>
              <a:off x="0" y="-19050"/>
              <a:ext cx="4125864" cy="604266"/>
            </a:xfrm>
            <a:prstGeom prst="rect">
              <a:avLst/>
            </a:prstGeom>
          </p:spPr>
          <p:txBody>
            <a:bodyPr anchor="ctr" rtlCol="false" tIns="0" lIns="0" bIns="0" rIns="0"/>
            <a:lstStyle/>
            <a:p>
              <a:pPr algn="ctr">
                <a:lnSpc>
                  <a:spcPts val="2879"/>
                </a:lnSpc>
              </a:pPr>
              <a:r>
                <a:rPr lang="en-US" sz="2400" b="true">
                  <a:solidFill>
                    <a:srgbClr val="FFFFFF"/>
                  </a:solidFill>
                  <a:latin typeface="Helios Extended Bold"/>
                  <a:ea typeface="Helios Extended Bold"/>
                  <a:cs typeface="Helios Extended Bold"/>
                  <a:sym typeface="Helios Extended Bold"/>
                </a:rPr>
                <a:t>Compact CoT</a:t>
              </a:r>
            </a:p>
          </p:txBody>
        </p:sp>
      </p:grpSp>
      <p:grpSp>
        <p:nvGrpSpPr>
          <p:cNvPr name="Group 149" id="149"/>
          <p:cNvGrpSpPr/>
          <p:nvPr/>
        </p:nvGrpSpPr>
        <p:grpSpPr>
          <a:xfrm rot="0">
            <a:off x="9887331" y="5477016"/>
            <a:ext cx="3986784" cy="1389888"/>
            <a:chOff x="0" y="0"/>
            <a:chExt cx="5315712" cy="1853184"/>
          </a:xfrm>
        </p:grpSpPr>
        <p:sp>
          <p:nvSpPr>
            <p:cNvPr name="Freeform 150" id="150"/>
            <p:cNvSpPr/>
            <p:nvPr/>
          </p:nvSpPr>
          <p:spPr>
            <a:xfrm flipH="false" flipV="false" rot="0">
              <a:off x="0" y="0"/>
              <a:ext cx="5315712" cy="1853184"/>
            </a:xfrm>
            <a:custGeom>
              <a:avLst/>
              <a:gdLst/>
              <a:ahLst/>
              <a:cxnLst/>
              <a:rect r="r" b="b" t="t" l="l"/>
              <a:pathLst>
                <a:path h="1853184" w="5315712">
                  <a:moveTo>
                    <a:pt x="0" y="0"/>
                  </a:moveTo>
                  <a:lnTo>
                    <a:pt x="5315712" y="0"/>
                  </a:lnTo>
                  <a:lnTo>
                    <a:pt x="5315712" y="1853184"/>
                  </a:lnTo>
                  <a:lnTo>
                    <a:pt x="0" y="1853184"/>
                  </a:lnTo>
                  <a:close/>
                </a:path>
              </a:pathLst>
            </a:custGeom>
            <a:blipFill>
              <a:blip r:embed="rId3">
                <a:alphaModFix amt="0"/>
              </a:blip>
              <a:stretch>
                <a:fillRect l="0" t="-5891" r="0" b="-5891"/>
              </a:stretch>
            </a:blipFill>
          </p:spPr>
        </p:sp>
        <p:sp>
          <p:nvSpPr>
            <p:cNvPr name="TextBox 151" id="151"/>
            <p:cNvSpPr txBox="true"/>
            <p:nvPr/>
          </p:nvSpPr>
          <p:spPr>
            <a:xfrm>
              <a:off x="0" y="-19050"/>
              <a:ext cx="5315712" cy="1872234"/>
            </a:xfrm>
            <a:prstGeom prst="rect">
              <a:avLst/>
            </a:prstGeom>
          </p:spPr>
          <p:txBody>
            <a:bodyPr anchor="ctr" rtlCol="false" tIns="0" lIns="0" bIns="0" rIns="0"/>
            <a:lstStyle/>
            <a:p>
              <a:pPr algn="l">
                <a:lnSpc>
                  <a:spcPts val="2519"/>
                </a:lnSpc>
              </a:pPr>
              <a:r>
                <a:rPr lang="en-US" sz="2099">
                  <a:solidFill>
                    <a:srgbClr val="1E293B"/>
                  </a:solidFill>
                  <a:latin typeface="Helios Extended"/>
                  <a:ea typeface="Helios Extended"/>
                  <a:cs typeface="Helios Extended"/>
                  <a:sym typeface="Helios Extended"/>
                </a:rPr>
                <a:t>Truncate traces from 306 → 100 words.</a:t>
              </a:r>
            </a:p>
          </p:txBody>
        </p:sp>
      </p:grpSp>
      <p:grpSp>
        <p:nvGrpSpPr>
          <p:cNvPr name="Group 152" id="152"/>
          <p:cNvGrpSpPr/>
          <p:nvPr/>
        </p:nvGrpSpPr>
        <p:grpSpPr>
          <a:xfrm rot="0">
            <a:off x="14064615" y="4944255"/>
            <a:ext cx="2627376" cy="1859280"/>
            <a:chOff x="0" y="0"/>
            <a:chExt cx="3503168" cy="2479040"/>
          </a:xfrm>
        </p:grpSpPr>
        <p:sp>
          <p:nvSpPr>
            <p:cNvPr name="Freeform 153" id="153"/>
            <p:cNvSpPr/>
            <p:nvPr/>
          </p:nvSpPr>
          <p:spPr>
            <a:xfrm flipH="false" flipV="false" rot="0">
              <a:off x="20320" y="20320"/>
              <a:ext cx="3462528" cy="2438400"/>
            </a:xfrm>
            <a:custGeom>
              <a:avLst/>
              <a:gdLst/>
              <a:ahLst/>
              <a:cxnLst/>
              <a:rect r="r" b="b" t="t" l="l"/>
              <a:pathLst>
                <a:path h="2438400" w="3462528">
                  <a:moveTo>
                    <a:pt x="0" y="0"/>
                  </a:moveTo>
                  <a:lnTo>
                    <a:pt x="3462528" y="0"/>
                  </a:lnTo>
                  <a:lnTo>
                    <a:pt x="3462528" y="2438400"/>
                  </a:lnTo>
                  <a:lnTo>
                    <a:pt x="0" y="2438400"/>
                  </a:lnTo>
                  <a:close/>
                </a:path>
              </a:pathLst>
            </a:custGeom>
            <a:solidFill>
              <a:srgbClr val="FFFFFF"/>
            </a:solidFill>
          </p:spPr>
        </p:sp>
        <p:sp>
          <p:nvSpPr>
            <p:cNvPr name="Freeform 154" id="154"/>
            <p:cNvSpPr/>
            <p:nvPr/>
          </p:nvSpPr>
          <p:spPr>
            <a:xfrm flipH="false" flipV="false" rot="0">
              <a:off x="0" y="0"/>
              <a:ext cx="3503168" cy="2479040"/>
            </a:xfrm>
            <a:custGeom>
              <a:avLst/>
              <a:gdLst/>
              <a:ahLst/>
              <a:cxnLst/>
              <a:rect r="r" b="b" t="t" l="l"/>
              <a:pathLst>
                <a:path h="2479040" w="3503168">
                  <a:moveTo>
                    <a:pt x="20320" y="0"/>
                  </a:moveTo>
                  <a:lnTo>
                    <a:pt x="3482848" y="0"/>
                  </a:lnTo>
                  <a:cubicBezTo>
                    <a:pt x="3494024" y="0"/>
                    <a:pt x="3503168" y="9144"/>
                    <a:pt x="3503168" y="20320"/>
                  </a:cubicBezTo>
                  <a:lnTo>
                    <a:pt x="3503168" y="2458720"/>
                  </a:lnTo>
                  <a:cubicBezTo>
                    <a:pt x="3503168" y="2469896"/>
                    <a:pt x="3494024" y="2479040"/>
                    <a:pt x="3482848" y="2479040"/>
                  </a:cubicBezTo>
                  <a:lnTo>
                    <a:pt x="20320" y="2479040"/>
                  </a:lnTo>
                  <a:cubicBezTo>
                    <a:pt x="9144" y="2479040"/>
                    <a:pt x="0" y="2469896"/>
                    <a:pt x="0" y="2458720"/>
                  </a:cubicBezTo>
                  <a:lnTo>
                    <a:pt x="0" y="20320"/>
                  </a:lnTo>
                  <a:cubicBezTo>
                    <a:pt x="0" y="9144"/>
                    <a:pt x="9144" y="0"/>
                    <a:pt x="20320" y="0"/>
                  </a:cubicBezTo>
                  <a:moveTo>
                    <a:pt x="20320" y="40640"/>
                  </a:moveTo>
                  <a:lnTo>
                    <a:pt x="20320" y="20320"/>
                  </a:lnTo>
                  <a:lnTo>
                    <a:pt x="40640" y="20320"/>
                  </a:lnTo>
                  <a:lnTo>
                    <a:pt x="40640" y="2458720"/>
                  </a:lnTo>
                  <a:lnTo>
                    <a:pt x="20320" y="2458720"/>
                  </a:lnTo>
                  <a:lnTo>
                    <a:pt x="20320" y="2438400"/>
                  </a:lnTo>
                  <a:lnTo>
                    <a:pt x="3482848" y="2438400"/>
                  </a:lnTo>
                  <a:lnTo>
                    <a:pt x="3482848" y="2458720"/>
                  </a:lnTo>
                  <a:lnTo>
                    <a:pt x="3462528" y="2458720"/>
                  </a:lnTo>
                  <a:lnTo>
                    <a:pt x="3462528" y="20320"/>
                  </a:lnTo>
                  <a:lnTo>
                    <a:pt x="3482848" y="20320"/>
                  </a:lnTo>
                  <a:lnTo>
                    <a:pt x="3482848" y="40640"/>
                  </a:lnTo>
                  <a:lnTo>
                    <a:pt x="20320" y="40640"/>
                  </a:lnTo>
                  <a:close/>
                </a:path>
              </a:pathLst>
            </a:custGeom>
            <a:solidFill>
              <a:srgbClr val="0D9488"/>
            </a:solidFill>
          </p:spPr>
        </p:sp>
      </p:grpSp>
      <p:grpSp>
        <p:nvGrpSpPr>
          <p:cNvPr name="Group 155" id="155"/>
          <p:cNvGrpSpPr/>
          <p:nvPr/>
        </p:nvGrpSpPr>
        <p:grpSpPr>
          <a:xfrm rot="0">
            <a:off x="14095095" y="5346724"/>
            <a:ext cx="2596896" cy="950976"/>
            <a:chOff x="0" y="0"/>
            <a:chExt cx="3462528" cy="1267968"/>
          </a:xfrm>
        </p:grpSpPr>
        <p:sp>
          <p:nvSpPr>
            <p:cNvPr name="Freeform 156" id="156"/>
            <p:cNvSpPr/>
            <p:nvPr/>
          </p:nvSpPr>
          <p:spPr>
            <a:xfrm flipH="false" flipV="false" rot="0">
              <a:off x="0" y="0"/>
              <a:ext cx="3462528" cy="1267968"/>
            </a:xfrm>
            <a:custGeom>
              <a:avLst/>
              <a:gdLst/>
              <a:ahLst/>
              <a:cxnLst/>
              <a:rect r="r" b="b" t="t" l="l"/>
              <a:pathLst>
                <a:path h="1267968" w="3462528">
                  <a:moveTo>
                    <a:pt x="0" y="0"/>
                  </a:moveTo>
                  <a:lnTo>
                    <a:pt x="3462528" y="0"/>
                  </a:lnTo>
                  <a:lnTo>
                    <a:pt x="3462528" y="1267968"/>
                  </a:lnTo>
                  <a:lnTo>
                    <a:pt x="0" y="1267968"/>
                  </a:lnTo>
                  <a:close/>
                </a:path>
              </a:pathLst>
            </a:custGeom>
            <a:blipFill>
              <a:blip r:embed="rId3">
                <a:alphaModFix amt="0"/>
              </a:blip>
              <a:stretch>
                <a:fillRect l="0" t="-3209" r="0" b="-3209"/>
              </a:stretch>
            </a:blipFill>
          </p:spPr>
        </p:sp>
        <p:sp>
          <p:nvSpPr>
            <p:cNvPr name="TextBox 157" id="157"/>
            <p:cNvSpPr txBox="true"/>
            <p:nvPr/>
          </p:nvSpPr>
          <p:spPr>
            <a:xfrm>
              <a:off x="0" y="-19050"/>
              <a:ext cx="3462528" cy="1287018"/>
            </a:xfrm>
            <a:prstGeom prst="rect">
              <a:avLst/>
            </a:prstGeom>
          </p:spPr>
          <p:txBody>
            <a:bodyPr anchor="ctr" rtlCol="false" tIns="0" lIns="0" bIns="0" rIns="0"/>
            <a:lstStyle/>
            <a:p>
              <a:pPr algn="ctr">
                <a:lnSpc>
                  <a:spcPts val="4799"/>
                </a:lnSpc>
              </a:pPr>
              <a:r>
                <a:rPr lang="en-US" sz="3999" b="true">
                  <a:solidFill>
                    <a:srgbClr val="0D9488"/>
                  </a:solidFill>
                  <a:latin typeface="Helios Extended Bold"/>
                  <a:ea typeface="Helios Extended Bold"/>
                  <a:cs typeface="Helios Extended Bold"/>
                  <a:sym typeface="Helios Extended Bold"/>
                </a:rPr>
                <a:t>86 / 14</a:t>
              </a:r>
            </a:p>
          </p:txBody>
        </p:sp>
      </p:grpSp>
      <p:grpSp>
        <p:nvGrpSpPr>
          <p:cNvPr name="Group 158" id="158"/>
          <p:cNvGrpSpPr/>
          <p:nvPr/>
        </p:nvGrpSpPr>
        <p:grpSpPr>
          <a:xfrm rot="0">
            <a:off x="14049375" y="6010045"/>
            <a:ext cx="2596896" cy="548640"/>
            <a:chOff x="0" y="0"/>
            <a:chExt cx="3462528" cy="731520"/>
          </a:xfrm>
        </p:grpSpPr>
        <p:sp>
          <p:nvSpPr>
            <p:cNvPr name="Freeform 159" id="159"/>
            <p:cNvSpPr/>
            <p:nvPr/>
          </p:nvSpPr>
          <p:spPr>
            <a:xfrm flipH="false" flipV="false" rot="0">
              <a:off x="0" y="0"/>
              <a:ext cx="3462528" cy="731520"/>
            </a:xfrm>
            <a:custGeom>
              <a:avLst/>
              <a:gdLst/>
              <a:ahLst/>
              <a:cxnLst/>
              <a:rect r="r" b="b" t="t" l="l"/>
              <a:pathLst>
                <a:path h="731520" w="3462528">
                  <a:moveTo>
                    <a:pt x="0" y="0"/>
                  </a:moveTo>
                  <a:lnTo>
                    <a:pt x="3462528" y="0"/>
                  </a:lnTo>
                  <a:lnTo>
                    <a:pt x="3462528" y="731520"/>
                  </a:lnTo>
                  <a:lnTo>
                    <a:pt x="0" y="731520"/>
                  </a:lnTo>
                  <a:close/>
                </a:path>
              </a:pathLst>
            </a:custGeom>
            <a:blipFill>
              <a:blip r:embed="rId3">
                <a:alphaModFix amt="0"/>
              </a:blip>
              <a:stretch>
                <a:fillRect l="0" t="-42229" r="0" b="-42229"/>
              </a:stretch>
            </a:blipFill>
          </p:spPr>
        </p:sp>
        <p:sp>
          <p:nvSpPr>
            <p:cNvPr name="TextBox 160" id="160"/>
            <p:cNvSpPr txBox="true"/>
            <p:nvPr/>
          </p:nvSpPr>
          <p:spPr>
            <a:xfrm>
              <a:off x="0" y="-28575"/>
              <a:ext cx="3462528" cy="760095"/>
            </a:xfrm>
            <a:prstGeom prst="rect">
              <a:avLst/>
            </a:prstGeom>
          </p:spPr>
          <p:txBody>
            <a:bodyPr anchor="ctr" rtlCol="false" tIns="0" lIns="0" bIns="0" rIns="0"/>
            <a:lstStyle/>
            <a:p>
              <a:pPr algn="ctr">
                <a:lnSpc>
                  <a:spcPts val="1800"/>
                </a:lnSpc>
              </a:pPr>
              <a:r>
                <a:rPr lang="en-US" sz="1500">
                  <a:solidFill>
                    <a:srgbClr val="4A6274"/>
                  </a:solidFill>
                  <a:latin typeface="Helios Extended"/>
                  <a:ea typeface="Helios Extended"/>
                  <a:cs typeface="Helios Extended"/>
                  <a:sym typeface="Helios Extended"/>
                </a:rPr>
                <a:t>new token split</a:t>
              </a:r>
            </a:p>
          </p:txBody>
        </p:sp>
      </p:grpSp>
      <p:grpSp>
        <p:nvGrpSpPr>
          <p:cNvPr name="Group 161" id="161"/>
          <p:cNvGrpSpPr/>
          <p:nvPr/>
        </p:nvGrpSpPr>
        <p:grpSpPr>
          <a:xfrm rot="0">
            <a:off x="15198681" y="365760"/>
            <a:ext cx="2723559" cy="585216"/>
            <a:chOff x="0" y="0"/>
            <a:chExt cx="3631412" cy="780288"/>
          </a:xfrm>
        </p:grpSpPr>
        <p:sp>
          <p:nvSpPr>
            <p:cNvPr name="Freeform 162" id="162"/>
            <p:cNvSpPr/>
            <p:nvPr/>
          </p:nvSpPr>
          <p:spPr>
            <a:xfrm flipH="false" flipV="false" rot="0">
              <a:off x="0" y="0"/>
              <a:ext cx="3631412" cy="780288"/>
            </a:xfrm>
            <a:custGeom>
              <a:avLst/>
              <a:gdLst/>
              <a:ahLst/>
              <a:cxnLst/>
              <a:rect r="r" b="b" t="t" l="l"/>
              <a:pathLst>
                <a:path h="780288" w="3631412">
                  <a:moveTo>
                    <a:pt x="0" y="121920"/>
                  </a:moveTo>
                  <a:cubicBezTo>
                    <a:pt x="0" y="54610"/>
                    <a:pt x="62560" y="0"/>
                    <a:pt x="139670" y="0"/>
                  </a:cubicBezTo>
                  <a:lnTo>
                    <a:pt x="3491742" y="0"/>
                  </a:lnTo>
                  <a:cubicBezTo>
                    <a:pt x="3568852" y="0"/>
                    <a:pt x="3631412" y="54610"/>
                    <a:pt x="3631412" y="121920"/>
                  </a:cubicBezTo>
                  <a:lnTo>
                    <a:pt x="3631412" y="658368"/>
                  </a:lnTo>
                  <a:cubicBezTo>
                    <a:pt x="3631412" y="725678"/>
                    <a:pt x="3568852" y="780288"/>
                    <a:pt x="3491742" y="780288"/>
                  </a:cubicBezTo>
                  <a:lnTo>
                    <a:pt x="139670" y="780288"/>
                  </a:lnTo>
                  <a:cubicBezTo>
                    <a:pt x="62560" y="780288"/>
                    <a:pt x="0" y="725678"/>
                    <a:pt x="0" y="658368"/>
                  </a:cubicBezTo>
                  <a:close/>
                </a:path>
              </a:pathLst>
            </a:custGeom>
            <a:solidFill>
              <a:srgbClr val="3D4D55"/>
            </a:solidFill>
          </p:spPr>
        </p:sp>
      </p:grpSp>
      <p:grpSp>
        <p:nvGrpSpPr>
          <p:cNvPr name="Group 163" id="163"/>
          <p:cNvGrpSpPr/>
          <p:nvPr/>
        </p:nvGrpSpPr>
        <p:grpSpPr>
          <a:xfrm rot="0">
            <a:off x="15301097" y="402336"/>
            <a:ext cx="2518728" cy="512064"/>
            <a:chOff x="0" y="0"/>
            <a:chExt cx="3358303" cy="682752"/>
          </a:xfrm>
        </p:grpSpPr>
        <p:sp>
          <p:nvSpPr>
            <p:cNvPr name="Freeform 164" id="164"/>
            <p:cNvSpPr/>
            <p:nvPr/>
          </p:nvSpPr>
          <p:spPr>
            <a:xfrm flipH="false" flipV="false" rot="0">
              <a:off x="0" y="0"/>
              <a:ext cx="3358304" cy="682752"/>
            </a:xfrm>
            <a:custGeom>
              <a:avLst/>
              <a:gdLst/>
              <a:ahLst/>
              <a:cxnLst/>
              <a:rect r="r" b="b" t="t" l="l"/>
              <a:pathLst>
                <a:path h="682752" w="3358304">
                  <a:moveTo>
                    <a:pt x="0" y="0"/>
                  </a:moveTo>
                  <a:lnTo>
                    <a:pt x="3358304" y="0"/>
                  </a:lnTo>
                  <a:lnTo>
                    <a:pt x="3358304" y="682752"/>
                  </a:lnTo>
                  <a:lnTo>
                    <a:pt x="0" y="682752"/>
                  </a:lnTo>
                  <a:close/>
                </a:path>
              </a:pathLst>
            </a:custGeom>
            <a:blipFill>
              <a:blip r:embed="rId3">
                <a:alphaModFix amt="0"/>
              </a:blip>
              <a:stretch>
                <a:fillRect l="0" t="-40466" r="5609" b="-40466"/>
              </a:stretch>
            </a:blipFill>
          </p:spPr>
        </p:sp>
        <p:sp>
          <p:nvSpPr>
            <p:cNvPr name="TextBox 165" id="165"/>
            <p:cNvSpPr txBox="true"/>
            <p:nvPr/>
          </p:nvSpPr>
          <p:spPr>
            <a:xfrm>
              <a:off x="0" y="-9525"/>
              <a:ext cx="3358303" cy="692277"/>
            </a:xfrm>
            <a:prstGeom prst="rect">
              <a:avLst/>
            </a:prstGeom>
          </p:spPr>
          <p:txBody>
            <a:bodyPr anchor="ctr" rtlCol="false" tIns="0" lIns="0" bIns="0" rIns="0"/>
            <a:lstStyle/>
            <a:p>
              <a:pPr algn="ctr">
                <a:lnSpc>
                  <a:spcPts val="2160"/>
                </a:lnSpc>
              </a:pPr>
              <a:r>
                <a:rPr lang="en-US" sz="1800" b="true">
                  <a:solidFill>
                    <a:srgbClr val="FFFFFF"/>
                  </a:solidFill>
                  <a:latin typeface="Helios Extended Bold"/>
                  <a:ea typeface="Helios Extended Bold"/>
                  <a:cs typeface="Helios Extended Bold"/>
                  <a:sym typeface="Helios Extended Bold"/>
                </a:rPr>
                <a:t>5. Proposed Fixes</a:t>
              </a:r>
            </a:p>
          </p:txBody>
        </p:sp>
      </p:grpSp>
      <p:sp>
        <p:nvSpPr>
          <p:cNvPr name="TextBox 166" id="16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48640" y="480060"/>
            <a:ext cx="14264640" cy="1097280"/>
            <a:chOff x="0" y="0"/>
            <a:chExt cx="19019520" cy="1463040"/>
          </a:xfrm>
        </p:grpSpPr>
        <p:sp>
          <p:nvSpPr>
            <p:cNvPr name="Freeform 3" id="3"/>
            <p:cNvSpPr/>
            <p:nvPr/>
          </p:nvSpPr>
          <p:spPr>
            <a:xfrm flipH="false" flipV="false" rot="0">
              <a:off x="0" y="0"/>
              <a:ext cx="19019520" cy="1463040"/>
            </a:xfrm>
            <a:custGeom>
              <a:avLst/>
              <a:gdLst/>
              <a:ahLst/>
              <a:cxnLst/>
              <a:rect r="r" b="b" t="t" l="l"/>
              <a:pathLst>
                <a:path h="1463040" w="19019520">
                  <a:moveTo>
                    <a:pt x="0" y="0"/>
                  </a:moveTo>
                  <a:lnTo>
                    <a:pt x="19019520" y="0"/>
                  </a:lnTo>
                  <a:lnTo>
                    <a:pt x="19019520" y="1463040"/>
                  </a:lnTo>
                  <a:lnTo>
                    <a:pt x="0" y="1463040"/>
                  </a:lnTo>
                  <a:close/>
                </a:path>
              </a:pathLst>
            </a:custGeom>
            <a:blipFill>
              <a:blip r:embed="rId3">
                <a:alphaModFix amt="0"/>
              </a:blip>
              <a:stretch>
                <a:fillRect l="0" t="-203305" r="0" b="-203305"/>
              </a:stretch>
            </a:blipFill>
          </p:spPr>
        </p:sp>
        <p:sp>
          <p:nvSpPr>
            <p:cNvPr name="TextBox 4" id="4"/>
            <p:cNvSpPr txBox="true"/>
            <p:nvPr/>
          </p:nvSpPr>
          <p:spPr>
            <a:xfrm>
              <a:off x="0" y="-38100"/>
              <a:ext cx="19019520" cy="1501140"/>
            </a:xfrm>
            <a:prstGeom prst="rect">
              <a:avLst/>
            </a:prstGeom>
          </p:spPr>
          <p:txBody>
            <a:bodyPr anchor="ctr" rtlCol="false" tIns="0" lIns="0" bIns="0" rIns="0"/>
            <a:lstStyle/>
            <a:p>
              <a:pPr algn="l">
                <a:lnSpc>
                  <a:spcPts val="6599"/>
                </a:lnSpc>
              </a:pPr>
              <a:r>
                <a:rPr lang="en-US" b="true" sz="5499">
                  <a:solidFill>
                    <a:srgbClr val="000000"/>
                  </a:solidFill>
                  <a:latin typeface="Helios Extended Bold"/>
                  <a:ea typeface="Helios Extended Bold"/>
                  <a:cs typeface="Helios Extended Bold"/>
                  <a:sym typeface="Helios Extended Bold"/>
                </a:rPr>
                <a:t>Experimental Conditions</a:t>
              </a:r>
            </a:p>
          </p:txBody>
        </p:sp>
      </p:grpSp>
      <p:grpSp>
        <p:nvGrpSpPr>
          <p:cNvPr name="Group 5" id="5"/>
          <p:cNvGrpSpPr/>
          <p:nvPr/>
        </p:nvGrpSpPr>
        <p:grpSpPr>
          <a:xfrm rot="0">
            <a:off x="535943" y="1724663"/>
            <a:ext cx="17216123" cy="1159259"/>
            <a:chOff x="0" y="0"/>
            <a:chExt cx="22954831" cy="1545679"/>
          </a:xfrm>
        </p:grpSpPr>
        <p:sp>
          <p:nvSpPr>
            <p:cNvPr name="Freeform 6" id="6"/>
            <p:cNvSpPr/>
            <p:nvPr/>
          </p:nvSpPr>
          <p:spPr>
            <a:xfrm flipH="false" flipV="false" rot="0">
              <a:off x="16891" y="16891"/>
              <a:ext cx="22920960" cy="1511808"/>
            </a:xfrm>
            <a:custGeom>
              <a:avLst/>
              <a:gdLst/>
              <a:ahLst/>
              <a:cxnLst/>
              <a:rect r="r" b="b" t="t" l="l"/>
              <a:pathLst>
                <a:path h="1511808" w="22920960">
                  <a:moveTo>
                    <a:pt x="0" y="0"/>
                  </a:moveTo>
                  <a:lnTo>
                    <a:pt x="22920960" y="0"/>
                  </a:lnTo>
                  <a:lnTo>
                    <a:pt x="22920960" y="1511808"/>
                  </a:lnTo>
                  <a:lnTo>
                    <a:pt x="0" y="1511808"/>
                  </a:lnTo>
                  <a:close/>
                </a:path>
              </a:pathLst>
            </a:custGeom>
            <a:solidFill>
              <a:srgbClr val="F2F1F1"/>
            </a:solidFill>
          </p:spPr>
        </p:sp>
        <p:sp>
          <p:nvSpPr>
            <p:cNvPr name="Freeform 7" id="7"/>
            <p:cNvSpPr/>
            <p:nvPr/>
          </p:nvSpPr>
          <p:spPr>
            <a:xfrm flipH="false" flipV="false" rot="0">
              <a:off x="0" y="0"/>
              <a:ext cx="22954743" cy="1545590"/>
            </a:xfrm>
            <a:custGeom>
              <a:avLst/>
              <a:gdLst/>
              <a:ahLst/>
              <a:cxnLst/>
              <a:rect r="r" b="b" t="t" l="l"/>
              <a:pathLst>
                <a:path h="1545590" w="22954743">
                  <a:moveTo>
                    <a:pt x="16891" y="0"/>
                  </a:moveTo>
                  <a:lnTo>
                    <a:pt x="22937851" y="0"/>
                  </a:lnTo>
                  <a:cubicBezTo>
                    <a:pt x="22947249" y="0"/>
                    <a:pt x="22954743" y="7620"/>
                    <a:pt x="22954743" y="16891"/>
                  </a:cubicBezTo>
                  <a:lnTo>
                    <a:pt x="22954743" y="1528699"/>
                  </a:lnTo>
                  <a:cubicBezTo>
                    <a:pt x="22954743" y="1538097"/>
                    <a:pt x="22947123" y="1545590"/>
                    <a:pt x="2293785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2937851" y="1511808"/>
                  </a:lnTo>
                  <a:lnTo>
                    <a:pt x="22937851" y="1528699"/>
                  </a:lnTo>
                  <a:lnTo>
                    <a:pt x="22920961" y="1528699"/>
                  </a:lnTo>
                  <a:lnTo>
                    <a:pt x="22920961" y="16891"/>
                  </a:lnTo>
                  <a:lnTo>
                    <a:pt x="22937851" y="16891"/>
                  </a:lnTo>
                  <a:lnTo>
                    <a:pt x="22937851" y="33909"/>
                  </a:lnTo>
                  <a:lnTo>
                    <a:pt x="16891" y="33909"/>
                  </a:lnTo>
                  <a:close/>
                </a:path>
              </a:pathLst>
            </a:custGeom>
            <a:solidFill>
              <a:srgbClr val="E2E8F0"/>
            </a:solidFill>
          </p:spPr>
        </p:sp>
      </p:grpSp>
      <p:grpSp>
        <p:nvGrpSpPr>
          <p:cNvPr name="Group 8" id="8"/>
          <p:cNvGrpSpPr/>
          <p:nvPr/>
        </p:nvGrpSpPr>
        <p:grpSpPr>
          <a:xfrm rot="0">
            <a:off x="548640" y="1737360"/>
            <a:ext cx="219456" cy="1133856"/>
            <a:chOff x="0" y="0"/>
            <a:chExt cx="292608" cy="1511808"/>
          </a:xfrm>
        </p:grpSpPr>
        <p:sp>
          <p:nvSpPr>
            <p:cNvPr name="Freeform 9" id="9"/>
            <p:cNvSpPr/>
            <p:nvPr/>
          </p:nvSpPr>
          <p:spPr>
            <a:xfrm flipH="false" flipV="false" rot="0">
              <a:off x="0" y="0"/>
              <a:ext cx="292608" cy="1511808"/>
            </a:xfrm>
            <a:custGeom>
              <a:avLst/>
              <a:gdLst/>
              <a:ahLst/>
              <a:cxnLst/>
              <a:rect r="r" b="b" t="t" l="l"/>
              <a:pathLst>
                <a:path h="1511808" w="292608">
                  <a:moveTo>
                    <a:pt x="0" y="0"/>
                  </a:moveTo>
                  <a:lnTo>
                    <a:pt x="292608" y="0"/>
                  </a:lnTo>
                  <a:lnTo>
                    <a:pt x="292608" y="1511808"/>
                  </a:lnTo>
                  <a:lnTo>
                    <a:pt x="0" y="1511808"/>
                  </a:lnTo>
                  <a:close/>
                </a:path>
              </a:pathLst>
            </a:custGeom>
            <a:solidFill>
              <a:srgbClr val="3D4D55"/>
            </a:solidFill>
          </p:spPr>
        </p:sp>
      </p:grpSp>
      <p:grpSp>
        <p:nvGrpSpPr>
          <p:cNvPr name="Group 10" id="10"/>
          <p:cNvGrpSpPr/>
          <p:nvPr/>
        </p:nvGrpSpPr>
        <p:grpSpPr>
          <a:xfrm rot="0">
            <a:off x="1005840" y="2103120"/>
            <a:ext cx="2468880" cy="572485"/>
            <a:chOff x="0" y="0"/>
            <a:chExt cx="3291840" cy="763314"/>
          </a:xfrm>
        </p:grpSpPr>
        <p:sp>
          <p:nvSpPr>
            <p:cNvPr name="Freeform 11" id="11"/>
            <p:cNvSpPr/>
            <p:nvPr/>
          </p:nvSpPr>
          <p:spPr>
            <a:xfrm flipH="false" flipV="false" rot="0">
              <a:off x="0" y="0"/>
              <a:ext cx="3291840" cy="763314"/>
            </a:xfrm>
            <a:custGeom>
              <a:avLst/>
              <a:gdLst/>
              <a:ahLst/>
              <a:cxnLst/>
              <a:rect r="r" b="b" t="t" l="l"/>
              <a:pathLst>
                <a:path h="763314" w="3291840">
                  <a:moveTo>
                    <a:pt x="0" y="0"/>
                  </a:moveTo>
                  <a:lnTo>
                    <a:pt x="3291840" y="0"/>
                  </a:lnTo>
                  <a:lnTo>
                    <a:pt x="3291840" y="763314"/>
                  </a:lnTo>
                  <a:lnTo>
                    <a:pt x="0" y="763314"/>
                  </a:lnTo>
                  <a:close/>
                </a:path>
              </a:pathLst>
            </a:custGeom>
            <a:solidFill>
              <a:srgbClr val="1A1A2E">
                <a:alpha val="0"/>
              </a:srgbClr>
            </a:solidFill>
          </p:spPr>
        </p:sp>
        <p:sp>
          <p:nvSpPr>
            <p:cNvPr name="TextBox 12" id="12"/>
            <p:cNvSpPr txBox="true"/>
            <p:nvPr/>
          </p:nvSpPr>
          <p:spPr>
            <a:xfrm>
              <a:off x="0" y="-57150"/>
              <a:ext cx="3291840" cy="820464"/>
            </a:xfrm>
            <a:prstGeom prst="rect">
              <a:avLst/>
            </a:prstGeom>
          </p:spPr>
          <p:txBody>
            <a:bodyPr anchor="ctr" rtlCol="false" tIns="0" lIns="0" bIns="0" rIns="0"/>
            <a:lstStyle/>
            <a:p>
              <a:pPr algn="l">
                <a:lnSpc>
                  <a:spcPts val="3479"/>
                </a:lnSpc>
              </a:pPr>
              <a:r>
                <a:rPr lang="en-US" sz="2899" b="true">
                  <a:solidFill>
                    <a:srgbClr val="000000"/>
                  </a:solidFill>
                  <a:latin typeface="Consolas Bold"/>
                  <a:ea typeface="Consolas Bold"/>
                  <a:cs typeface="Consolas Bold"/>
                  <a:sym typeface="Consolas Bold"/>
                </a:rPr>
                <a:t>Condition_</a:t>
              </a:r>
              <a:r>
                <a:rPr lang="en-US" b="true" sz="2899">
                  <a:solidFill>
                    <a:srgbClr val="000000"/>
                  </a:solidFill>
                  <a:latin typeface="Consolas Bold"/>
                  <a:ea typeface="Consolas Bold"/>
                  <a:cs typeface="Consolas Bold"/>
                  <a:sym typeface="Consolas Bold"/>
                </a:rPr>
                <a:t>B</a:t>
              </a:r>
            </a:p>
          </p:txBody>
        </p:sp>
      </p:grpSp>
      <p:grpSp>
        <p:nvGrpSpPr>
          <p:cNvPr name="Group 13" id="13"/>
          <p:cNvGrpSpPr/>
          <p:nvPr/>
        </p:nvGrpSpPr>
        <p:grpSpPr>
          <a:xfrm rot="0">
            <a:off x="5486400" y="1804168"/>
            <a:ext cx="10241280" cy="1000249"/>
            <a:chOff x="0" y="0"/>
            <a:chExt cx="13655040" cy="1333665"/>
          </a:xfrm>
        </p:grpSpPr>
        <p:sp>
          <p:nvSpPr>
            <p:cNvPr name="Freeform 14" id="14"/>
            <p:cNvSpPr/>
            <p:nvPr/>
          </p:nvSpPr>
          <p:spPr>
            <a:xfrm flipH="false" flipV="false" rot="0">
              <a:off x="0" y="0"/>
              <a:ext cx="13655039" cy="1333665"/>
            </a:xfrm>
            <a:custGeom>
              <a:avLst/>
              <a:gdLst/>
              <a:ahLst/>
              <a:cxnLst/>
              <a:rect r="r" b="b" t="t" l="l"/>
              <a:pathLst>
                <a:path h="1333665" w="13655039">
                  <a:moveTo>
                    <a:pt x="0" y="0"/>
                  </a:moveTo>
                  <a:lnTo>
                    <a:pt x="13655039" y="0"/>
                  </a:lnTo>
                  <a:lnTo>
                    <a:pt x="13655039" y="1333665"/>
                  </a:lnTo>
                  <a:lnTo>
                    <a:pt x="0" y="1333665"/>
                  </a:lnTo>
                  <a:close/>
                </a:path>
              </a:pathLst>
            </a:custGeom>
            <a:blipFill>
              <a:blip r:embed="rId3">
                <a:alphaModFix amt="0"/>
              </a:blip>
              <a:stretch>
                <a:fillRect l="0" t="-161106" r="0" b="-137897"/>
              </a:stretch>
            </a:blipFill>
          </p:spPr>
        </p:sp>
        <p:sp>
          <p:nvSpPr>
            <p:cNvPr name="TextBox 15" id="15"/>
            <p:cNvSpPr txBox="true"/>
            <p:nvPr/>
          </p:nvSpPr>
          <p:spPr>
            <a:xfrm>
              <a:off x="0" y="-19050"/>
              <a:ext cx="13655040" cy="1352715"/>
            </a:xfrm>
            <a:prstGeom prst="rect">
              <a:avLst/>
            </a:prstGeom>
          </p:spPr>
          <p:txBody>
            <a:bodyPr anchor="ctr" rtlCol="false" tIns="0" lIns="0" bIns="0" rIns="0"/>
            <a:lstStyle/>
            <a:p>
              <a:pPr algn="l">
                <a:lnSpc>
                  <a:spcPts val="2640"/>
                </a:lnSpc>
              </a:pPr>
              <a:r>
                <a:rPr lang="en-US" sz="2200">
                  <a:solidFill>
                    <a:srgbClr val="000000"/>
                  </a:solidFill>
                  <a:latin typeface="Helios Extended"/>
                  <a:ea typeface="Helios Extended"/>
                  <a:cs typeface="Helios Extended"/>
                  <a:sym typeface="Helios Extended"/>
                </a:rPr>
                <a:t>Phase 1: </a:t>
              </a:r>
              <a:r>
                <a:rPr lang="en-US" sz="2200">
                  <a:solidFill>
                    <a:srgbClr val="000000"/>
                  </a:solidFill>
                  <a:latin typeface="Helios Extended"/>
                  <a:ea typeface="Helios Extended"/>
                  <a:cs typeface="Helios Extended"/>
                  <a:sym typeface="Helios Extended"/>
                </a:rPr>
                <a:t>Labels only</a:t>
              </a:r>
            </a:p>
          </p:txBody>
        </p:sp>
      </p:grpSp>
      <p:grpSp>
        <p:nvGrpSpPr>
          <p:cNvPr name="Group 16" id="16"/>
          <p:cNvGrpSpPr/>
          <p:nvPr/>
        </p:nvGrpSpPr>
        <p:grpSpPr>
          <a:xfrm rot="0">
            <a:off x="16002000" y="2029968"/>
            <a:ext cx="1554480" cy="512064"/>
            <a:chOff x="0" y="0"/>
            <a:chExt cx="2072640" cy="682752"/>
          </a:xfrm>
        </p:grpSpPr>
        <p:sp>
          <p:nvSpPr>
            <p:cNvPr name="Freeform 17" id="17"/>
            <p:cNvSpPr/>
            <p:nvPr/>
          </p:nvSpPr>
          <p:spPr>
            <a:xfrm flipH="false" flipV="false" rot="0">
              <a:off x="0" y="0"/>
              <a:ext cx="2072640" cy="682752"/>
            </a:xfrm>
            <a:custGeom>
              <a:avLst/>
              <a:gdLst/>
              <a:ahLst/>
              <a:cxnLst/>
              <a:rect r="r" b="b" t="t" l="l"/>
              <a:pathLst>
                <a:path h="682752" w="2072640">
                  <a:moveTo>
                    <a:pt x="0" y="97536"/>
                  </a:moveTo>
                  <a:cubicBezTo>
                    <a:pt x="0" y="43688"/>
                    <a:pt x="43688" y="0"/>
                    <a:pt x="97536" y="0"/>
                  </a:cubicBezTo>
                  <a:lnTo>
                    <a:pt x="1975104" y="0"/>
                  </a:lnTo>
                  <a:cubicBezTo>
                    <a:pt x="2028952" y="0"/>
                    <a:pt x="2072640" y="43688"/>
                    <a:pt x="2072640" y="97536"/>
                  </a:cubicBezTo>
                  <a:lnTo>
                    <a:pt x="2072640" y="585216"/>
                  </a:lnTo>
                  <a:cubicBezTo>
                    <a:pt x="2072640" y="639064"/>
                    <a:pt x="2028952" y="682752"/>
                    <a:pt x="1975104" y="682752"/>
                  </a:cubicBezTo>
                  <a:lnTo>
                    <a:pt x="97536" y="682752"/>
                  </a:lnTo>
                  <a:cubicBezTo>
                    <a:pt x="43688" y="682752"/>
                    <a:pt x="0" y="639064"/>
                    <a:pt x="0" y="585216"/>
                  </a:cubicBezTo>
                  <a:close/>
                </a:path>
              </a:pathLst>
            </a:custGeom>
            <a:solidFill>
              <a:srgbClr val="000000"/>
            </a:solidFill>
          </p:spPr>
        </p:sp>
      </p:grpSp>
      <p:grpSp>
        <p:nvGrpSpPr>
          <p:cNvPr name="Group 18" id="18"/>
          <p:cNvGrpSpPr/>
          <p:nvPr/>
        </p:nvGrpSpPr>
        <p:grpSpPr>
          <a:xfrm rot="0">
            <a:off x="16002000" y="2066544"/>
            <a:ext cx="1554480" cy="438912"/>
            <a:chOff x="0" y="0"/>
            <a:chExt cx="2072640" cy="585216"/>
          </a:xfrm>
        </p:grpSpPr>
        <p:sp>
          <p:nvSpPr>
            <p:cNvPr name="Freeform 19" id="19"/>
            <p:cNvSpPr/>
            <p:nvPr/>
          </p:nvSpPr>
          <p:spPr>
            <a:xfrm flipH="false" flipV="false" rot="0">
              <a:off x="0" y="0"/>
              <a:ext cx="2072640" cy="585216"/>
            </a:xfrm>
            <a:custGeom>
              <a:avLst/>
              <a:gdLst/>
              <a:ahLst/>
              <a:cxnLst/>
              <a:rect r="r" b="b" t="t" l="l"/>
              <a:pathLst>
                <a:path h="585216" w="2072640">
                  <a:moveTo>
                    <a:pt x="0" y="0"/>
                  </a:moveTo>
                  <a:lnTo>
                    <a:pt x="2072640" y="0"/>
                  </a:lnTo>
                  <a:lnTo>
                    <a:pt x="2072640" y="585216"/>
                  </a:lnTo>
                  <a:lnTo>
                    <a:pt x="0" y="585216"/>
                  </a:lnTo>
                  <a:close/>
                </a:path>
              </a:pathLst>
            </a:custGeom>
            <a:blipFill>
              <a:blip r:embed="rId3">
                <a:alphaModFix amt="0"/>
              </a:blip>
              <a:stretch>
                <a:fillRect l="0" t="-19009" r="0" b="-19009"/>
              </a:stretch>
            </a:blipFill>
          </p:spPr>
        </p:sp>
        <p:sp>
          <p:nvSpPr>
            <p:cNvPr name="TextBox 20" id="20"/>
            <p:cNvSpPr txBox="true"/>
            <p:nvPr/>
          </p:nvSpPr>
          <p:spPr>
            <a:xfrm>
              <a:off x="0" y="-19050"/>
              <a:ext cx="2072640" cy="604266"/>
            </a:xfrm>
            <a:prstGeom prst="rect">
              <a:avLst/>
            </a:prstGeom>
          </p:spPr>
          <p:txBody>
            <a:bodyPr anchor="ctr" rtlCol="false" tIns="0" lIns="0" bIns="0" rIns="0"/>
            <a:lstStyle/>
            <a:p>
              <a:pPr algn="ctr">
                <a:lnSpc>
                  <a:spcPts val="2039"/>
                </a:lnSpc>
              </a:pPr>
              <a:r>
                <a:rPr lang="en-US" sz="1700" b="true">
                  <a:solidFill>
                    <a:srgbClr val="FFFFFF"/>
                  </a:solidFill>
                  <a:latin typeface="Helios Extended Bold"/>
                  <a:ea typeface="Helios Extended Bold"/>
                  <a:cs typeface="Helios Extended Bold"/>
                  <a:sym typeface="Helios Extended Bold"/>
                </a:rPr>
                <a:t>Baseline</a:t>
              </a:r>
            </a:p>
          </p:txBody>
        </p:sp>
      </p:grpSp>
      <p:grpSp>
        <p:nvGrpSpPr>
          <p:cNvPr name="Group 21" id="21"/>
          <p:cNvGrpSpPr/>
          <p:nvPr/>
        </p:nvGrpSpPr>
        <p:grpSpPr>
          <a:xfrm rot="0">
            <a:off x="535943" y="3077975"/>
            <a:ext cx="17216123" cy="1159259"/>
            <a:chOff x="0" y="0"/>
            <a:chExt cx="22954831" cy="1545679"/>
          </a:xfrm>
        </p:grpSpPr>
        <p:sp>
          <p:nvSpPr>
            <p:cNvPr name="Freeform 22" id="22"/>
            <p:cNvSpPr/>
            <p:nvPr/>
          </p:nvSpPr>
          <p:spPr>
            <a:xfrm flipH="false" flipV="false" rot="0">
              <a:off x="16891" y="16891"/>
              <a:ext cx="22920960" cy="1511808"/>
            </a:xfrm>
            <a:custGeom>
              <a:avLst/>
              <a:gdLst/>
              <a:ahLst/>
              <a:cxnLst/>
              <a:rect r="r" b="b" t="t" l="l"/>
              <a:pathLst>
                <a:path h="1511808" w="22920960">
                  <a:moveTo>
                    <a:pt x="0" y="0"/>
                  </a:moveTo>
                  <a:lnTo>
                    <a:pt x="22920960" y="0"/>
                  </a:lnTo>
                  <a:lnTo>
                    <a:pt x="22920960" y="1511808"/>
                  </a:lnTo>
                  <a:lnTo>
                    <a:pt x="0" y="1511808"/>
                  </a:lnTo>
                  <a:close/>
                </a:path>
              </a:pathLst>
            </a:custGeom>
            <a:solidFill>
              <a:srgbClr val="F2F1F1"/>
            </a:solidFill>
          </p:spPr>
        </p:sp>
        <p:sp>
          <p:nvSpPr>
            <p:cNvPr name="Freeform 23" id="23"/>
            <p:cNvSpPr/>
            <p:nvPr/>
          </p:nvSpPr>
          <p:spPr>
            <a:xfrm flipH="false" flipV="false" rot="0">
              <a:off x="0" y="0"/>
              <a:ext cx="22954743" cy="1545590"/>
            </a:xfrm>
            <a:custGeom>
              <a:avLst/>
              <a:gdLst/>
              <a:ahLst/>
              <a:cxnLst/>
              <a:rect r="r" b="b" t="t" l="l"/>
              <a:pathLst>
                <a:path h="1545590" w="22954743">
                  <a:moveTo>
                    <a:pt x="16891" y="0"/>
                  </a:moveTo>
                  <a:lnTo>
                    <a:pt x="22937851" y="0"/>
                  </a:lnTo>
                  <a:cubicBezTo>
                    <a:pt x="22947249" y="0"/>
                    <a:pt x="22954743" y="7620"/>
                    <a:pt x="22954743" y="16891"/>
                  </a:cubicBezTo>
                  <a:lnTo>
                    <a:pt x="22954743" y="1528699"/>
                  </a:lnTo>
                  <a:cubicBezTo>
                    <a:pt x="22954743" y="1538097"/>
                    <a:pt x="22947123" y="1545590"/>
                    <a:pt x="2293785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2937851" y="1511808"/>
                  </a:lnTo>
                  <a:lnTo>
                    <a:pt x="22937851" y="1528699"/>
                  </a:lnTo>
                  <a:lnTo>
                    <a:pt x="22920961" y="1528699"/>
                  </a:lnTo>
                  <a:lnTo>
                    <a:pt x="22920961" y="16891"/>
                  </a:lnTo>
                  <a:lnTo>
                    <a:pt x="22937851" y="16891"/>
                  </a:lnTo>
                  <a:lnTo>
                    <a:pt x="22937851" y="33909"/>
                  </a:lnTo>
                  <a:lnTo>
                    <a:pt x="16891" y="33909"/>
                  </a:lnTo>
                  <a:close/>
                </a:path>
              </a:pathLst>
            </a:custGeom>
            <a:solidFill>
              <a:srgbClr val="E2E8F0"/>
            </a:solidFill>
          </p:spPr>
        </p:sp>
      </p:grpSp>
      <p:grpSp>
        <p:nvGrpSpPr>
          <p:cNvPr name="Group 24" id="24"/>
          <p:cNvGrpSpPr/>
          <p:nvPr/>
        </p:nvGrpSpPr>
        <p:grpSpPr>
          <a:xfrm rot="0">
            <a:off x="548640" y="3090672"/>
            <a:ext cx="219456" cy="1133856"/>
            <a:chOff x="0" y="0"/>
            <a:chExt cx="292608" cy="1511808"/>
          </a:xfrm>
        </p:grpSpPr>
        <p:sp>
          <p:nvSpPr>
            <p:cNvPr name="Freeform 25" id="25"/>
            <p:cNvSpPr/>
            <p:nvPr/>
          </p:nvSpPr>
          <p:spPr>
            <a:xfrm flipH="false" flipV="false" rot="0">
              <a:off x="0" y="0"/>
              <a:ext cx="292608" cy="1511808"/>
            </a:xfrm>
            <a:custGeom>
              <a:avLst/>
              <a:gdLst/>
              <a:ahLst/>
              <a:cxnLst/>
              <a:rect r="r" b="b" t="t" l="l"/>
              <a:pathLst>
                <a:path h="1511808" w="292608">
                  <a:moveTo>
                    <a:pt x="0" y="0"/>
                  </a:moveTo>
                  <a:lnTo>
                    <a:pt x="292608" y="0"/>
                  </a:lnTo>
                  <a:lnTo>
                    <a:pt x="292608" y="1511808"/>
                  </a:lnTo>
                  <a:lnTo>
                    <a:pt x="0" y="1511808"/>
                  </a:lnTo>
                  <a:close/>
                </a:path>
              </a:pathLst>
            </a:custGeom>
            <a:solidFill>
              <a:srgbClr val="3D4D55"/>
            </a:solidFill>
          </p:spPr>
        </p:sp>
      </p:grpSp>
      <p:grpSp>
        <p:nvGrpSpPr>
          <p:cNvPr name="Group 26" id="26"/>
          <p:cNvGrpSpPr/>
          <p:nvPr/>
        </p:nvGrpSpPr>
        <p:grpSpPr>
          <a:xfrm rot="0">
            <a:off x="1005840" y="3163824"/>
            <a:ext cx="2468880" cy="572486"/>
            <a:chOff x="0" y="0"/>
            <a:chExt cx="3291840" cy="763315"/>
          </a:xfrm>
        </p:grpSpPr>
        <p:sp>
          <p:nvSpPr>
            <p:cNvPr name="Freeform 27" id="27"/>
            <p:cNvSpPr/>
            <p:nvPr/>
          </p:nvSpPr>
          <p:spPr>
            <a:xfrm flipH="false" flipV="false" rot="0">
              <a:off x="0" y="0"/>
              <a:ext cx="3291840" cy="763315"/>
            </a:xfrm>
            <a:custGeom>
              <a:avLst/>
              <a:gdLst/>
              <a:ahLst/>
              <a:cxnLst/>
              <a:rect r="r" b="b" t="t" l="l"/>
              <a:pathLst>
                <a:path h="763315" w="3291840">
                  <a:moveTo>
                    <a:pt x="0" y="0"/>
                  </a:moveTo>
                  <a:lnTo>
                    <a:pt x="3291840" y="0"/>
                  </a:lnTo>
                  <a:lnTo>
                    <a:pt x="3291840" y="763315"/>
                  </a:lnTo>
                  <a:lnTo>
                    <a:pt x="0" y="763315"/>
                  </a:lnTo>
                  <a:close/>
                </a:path>
              </a:pathLst>
            </a:custGeom>
            <a:blipFill>
              <a:blip r:embed="rId3">
                <a:alphaModFix amt="0"/>
              </a:blip>
              <a:stretch>
                <a:fillRect l="0" t="-42502" r="0" b="-25558"/>
              </a:stretch>
            </a:blipFill>
          </p:spPr>
        </p:sp>
        <p:sp>
          <p:nvSpPr>
            <p:cNvPr name="TextBox 28" id="28"/>
            <p:cNvSpPr txBox="true"/>
            <p:nvPr/>
          </p:nvSpPr>
          <p:spPr>
            <a:xfrm>
              <a:off x="0" y="-57150"/>
              <a:ext cx="3291840" cy="820465"/>
            </a:xfrm>
            <a:prstGeom prst="rect">
              <a:avLst/>
            </a:prstGeom>
          </p:spPr>
          <p:txBody>
            <a:bodyPr anchor="ctr" rtlCol="false" tIns="0" lIns="0" bIns="0" rIns="0"/>
            <a:lstStyle/>
            <a:p>
              <a:pPr algn="l">
                <a:lnSpc>
                  <a:spcPts val="3480"/>
                </a:lnSpc>
              </a:pPr>
              <a:r>
                <a:rPr lang="en-US" b="true" sz="2900">
                  <a:solidFill>
                    <a:srgbClr val="000000"/>
                  </a:solidFill>
                  <a:latin typeface="Consolas Bold"/>
                  <a:ea typeface="Consolas Bold"/>
                  <a:cs typeface="Consolas Bold"/>
                  <a:sym typeface="Consolas Bold"/>
                </a:rPr>
                <a:t>C_naive</a:t>
              </a:r>
            </a:p>
          </p:txBody>
        </p:sp>
      </p:grpSp>
      <p:grpSp>
        <p:nvGrpSpPr>
          <p:cNvPr name="Group 29" id="29"/>
          <p:cNvGrpSpPr/>
          <p:nvPr/>
        </p:nvGrpSpPr>
        <p:grpSpPr>
          <a:xfrm rot="0">
            <a:off x="1005840" y="3675888"/>
            <a:ext cx="4023360" cy="457200"/>
            <a:chOff x="0" y="0"/>
            <a:chExt cx="5364480" cy="609600"/>
          </a:xfrm>
        </p:grpSpPr>
        <p:sp>
          <p:nvSpPr>
            <p:cNvPr name="Freeform 30" id="30"/>
            <p:cNvSpPr/>
            <p:nvPr/>
          </p:nvSpPr>
          <p:spPr>
            <a:xfrm flipH="false" flipV="false" rot="0">
              <a:off x="0" y="0"/>
              <a:ext cx="5364480" cy="609600"/>
            </a:xfrm>
            <a:custGeom>
              <a:avLst/>
              <a:gdLst/>
              <a:ahLst/>
              <a:cxnLst/>
              <a:rect r="r" b="b" t="t" l="l"/>
              <a:pathLst>
                <a:path h="609600" w="5364480">
                  <a:moveTo>
                    <a:pt x="0" y="0"/>
                  </a:moveTo>
                  <a:lnTo>
                    <a:pt x="5364480" y="0"/>
                  </a:lnTo>
                  <a:lnTo>
                    <a:pt x="5364480" y="609600"/>
                  </a:lnTo>
                  <a:lnTo>
                    <a:pt x="0" y="609600"/>
                  </a:lnTo>
                  <a:close/>
                </a:path>
              </a:pathLst>
            </a:custGeom>
            <a:blipFill>
              <a:blip r:embed="rId3">
                <a:alphaModFix amt="0"/>
              </a:blip>
              <a:stretch>
                <a:fillRect l="0" t="-121468" r="0" b="-121468"/>
              </a:stretch>
            </a:blipFill>
          </p:spPr>
        </p:sp>
        <p:sp>
          <p:nvSpPr>
            <p:cNvPr name="TextBox 31" id="31"/>
            <p:cNvSpPr txBox="true"/>
            <p:nvPr/>
          </p:nvSpPr>
          <p:spPr>
            <a:xfrm>
              <a:off x="0" y="-19050"/>
              <a:ext cx="5364480" cy="628650"/>
            </a:xfrm>
            <a:prstGeom prst="rect">
              <a:avLst/>
            </a:prstGeom>
          </p:spPr>
          <p:txBody>
            <a:bodyPr anchor="ctr" rtlCol="false" tIns="0" lIns="0" bIns="0" rIns="0"/>
            <a:lstStyle/>
            <a:p>
              <a:pPr algn="l">
                <a:lnSpc>
                  <a:spcPts val="2280"/>
                </a:lnSpc>
              </a:pPr>
              <a:r>
                <a:rPr lang="en-US" sz="1900">
                  <a:solidFill>
                    <a:srgbClr val="000000"/>
                  </a:solidFill>
                  <a:latin typeface="Helios Extended"/>
                  <a:ea typeface="Helios Extended"/>
                  <a:cs typeface="Helios Extended"/>
                  <a:sym typeface="Helios Extended"/>
                </a:rPr>
                <a:t>Naive CoT Distillation</a:t>
              </a:r>
            </a:p>
          </p:txBody>
        </p:sp>
      </p:grpSp>
      <p:grpSp>
        <p:nvGrpSpPr>
          <p:cNvPr name="Group 32" id="32"/>
          <p:cNvGrpSpPr/>
          <p:nvPr/>
        </p:nvGrpSpPr>
        <p:grpSpPr>
          <a:xfrm rot="0">
            <a:off x="5486400" y="3310128"/>
            <a:ext cx="10241280" cy="768096"/>
            <a:chOff x="0" y="0"/>
            <a:chExt cx="13655040" cy="1024128"/>
          </a:xfrm>
        </p:grpSpPr>
        <p:sp>
          <p:nvSpPr>
            <p:cNvPr name="Freeform 33" id="33"/>
            <p:cNvSpPr/>
            <p:nvPr/>
          </p:nvSpPr>
          <p:spPr>
            <a:xfrm flipH="false" flipV="false" rot="0">
              <a:off x="0" y="0"/>
              <a:ext cx="13655039" cy="1024128"/>
            </a:xfrm>
            <a:custGeom>
              <a:avLst/>
              <a:gdLst/>
              <a:ahLst/>
              <a:cxnLst/>
              <a:rect r="r" b="b" t="t" l="l"/>
              <a:pathLst>
                <a:path h="1024128" w="13655039">
                  <a:moveTo>
                    <a:pt x="0" y="0"/>
                  </a:moveTo>
                  <a:lnTo>
                    <a:pt x="13655039" y="0"/>
                  </a:lnTo>
                  <a:lnTo>
                    <a:pt x="13655039" y="1024128"/>
                  </a:lnTo>
                  <a:lnTo>
                    <a:pt x="0" y="1024128"/>
                  </a:lnTo>
                  <a:close/>
                </a:path>
              </a:pathLst>
            </a:custGeom>
            <a:blipFill>
              <a:blip r:embed="rId3">
                <a:alphaModFix amt="0"/>
              </a:blip>
              <a:stretch>
                <a:fillRect l="0" t="-209800" r="0" b="-209800"/>
              </a:stretch>
            </a:blipFill>
          </p:spPr>
        </p:sp>
        <p:sp>
          <p:nvSpPr>
            <p:cNvPr name="TextBox 34" id="34"/>
            <p:cNvSpPr txBox="true"/>
            <p:nvPr/>
          </p:nvSpPr>
          <p:spPr>
            <a:xfrm>
              <a:off x="0" y="-19050"/>
              <a:ext cx="13655040" cy="1043178"/>
            </a:xfrm>
            <a:prstGeom prst="rect">
              <a:avLst/>
            </a:prstGeom>
          </p:spPr>
          <p:txBody>
            <a:bodyPr anchor="ctr" rtlCol="false" tIns="0" lIns="0" bIns="0" rIns="0"/>
            <a:lstStyle/>
            <a:p>
              <a:pPr algn="l">
                <a:lnSpc>
                  <a:spcPts val="2640"/>
                </a:lnSpc>
              </a:pPr>
              <a:r>
                <a:rPr lang="en-US" sz="2200">
                  <a:solidFill>
                    <a:srgbClr val="000000"/>
                  </a:solidFill>
                  <a:latin typeface="Helios Extended"/>
                  <a:ea typeface="Helios Extended"/>
                  <a:cs typeface="Helios Extended"/>
                  <a:sym typeface="Helios Extended"/>
                </a:rPr>
                <a:t>Phase 2: </a:t>
              </a:r>
              <a:r>
                <a:rPr lang="en-US" sz="2200">
                  <a:solidFill>
                    <a:srgbClr val="000000"/>
                  </a:solidFill>
                  <a:latin typeface="Helios Extended"/>
                  <a:ea typeface="Helios Extended"/>
                  <a:cs typeface="Helios Extended"/>
                  <a:sym typeface="Helios Extended"/>
                </a:rPr>
                <a:t>Full-length CoT from scratch — exposes token gradient imbalance failure</a:t>
              </a:r>
            </a:p>
          </p:txBody>
        </p:sp>
      </p:grpSp>
      <p:grpSp>
        <p:nvGrpSpPr>
          <p:cNvPr name="Group 35" id="35"/>
          <p:cNvGrpSpPr/>
          <p:nvPr/>
        </p:nvGrpSpPr>
        <p:grpSpPr>
          <a:xfrm rot="0">
            <a:off x="16002000" y="3383280"/>
            <a:ext cx="1554480" cy="512064"/>
            <a:chOff x="0" y="0"/>
            <a:chExt cx="2072640" cy="682752"/>
          </a:xfrm>
        </p:grpSpPr>
        <p:sp>
          <p:nvSpPr>
            <p:cNvPr name="Freeform 36" id="36"/>
            <p:cNvSpPr/>
            <p:nvPr/>
          </p:nvSpPr>
          <p:spPr>
            <a:xfrm flipH="false" flipV="false" rot="0">
              <a:off x="0" y="0"/>
              <a:ext cx="2072640" cy="682752"/>
            </a:xfrm>
            <a:custGeom>
              <a:avLst/>
              <a:gdLst/>
              <a:ahLst/>
              <a:cxnLst/>
              <a:rect r="r" b="b" t="t" l="l"/>
              <a:pathLst>
                <a:path h="682752" w="2072640">
                  <a:moveTo>
                    <a:pt x="0" y="97536"/>
                  </a:moveTo>
                  <a:cubicBezTo>
                    <a:pt x="0" y="43688"/>
                    <a:pt x="43688" y="0"/>
                    <a:pt x="97536" y="0"/>
                  </a:cubicBezTo>
                  <a:lnTo>
                    <a:pt x="1975104" y="0"/>
                  </a:lnTo>
                  <a:cubicBezTo>
                    <a:pt x="2028952" y="0"/>
                    <a:pt x="2072640" y="43688"/>
                    <a:pt x="2072640" y="97536"/>
                  </a:cubicBezTo>
                  <a:lnTo>
                    <a:pt x="2072640" y="585216"/>
                  </a:lnTo>
                  <a:cubicBezTo>
                    <a:pt x="2072640" y="639064"/>
                    <a:pt x="2028952" y="682752"/>
                    <a:pt x="1975104" y="682752"/>
                  </a:cubicBezTo>
                  <a:lnTo>
                    <a:pt x="97536" y="682752"/>
                  </a:lnTo>
                  <a:cubicBezTo>
                    <a:pt x="43688" y="682752"/>
                    <a:pt x="0" y="639064"/>
                    <a:pt x="0" y="585216"/>
                  </a:cubicBezTo>
                  <a:close/>
                </a:path>
              </a:pathLst>
            </a:custGeom>
            <a:solidFill>
              <a:srgbClr val="1A1A2E"/>
            </a:solidFill>
          </p:spPr>
        </p:sp>
      </p:grpSp>
      <p:grpSp>
        <p:nvGrpSpPr>
          <p:cNvPr name="Group 37" id="37"/>
          <p:cNvGrpSpPr/>
          <p:nvPr/>
        </p:nvGrpSpPr>
        <p:grpSpPr>
          <a:xfrm rot="0">
            <a:off x="16002000" y="3419856"/>
            <a:ext cx="1554480" cy="438912"/>
            <a:chOff x="0" y="0"/>
            <a:chExt cx="2072640" cy="585216"/>
          </a:xfrm>
        </p:grpSpPr>
        <p:sp>
          <p:nvSpPr>
            <p:cNvPr name="Freeform 38" id="38"/>
            <p:cNvSpPr/>
            <p:nvPr/>
          </p:nvSpPr>
          <p:spPr>
            <a:xfrm flipH="false" flipV="false" rot="0">
              <a:off x="0" y="0"/>
              <a:ext cx="2072640" cy="585216"/>
            </a:xfrm>
            <a:custGeom>
              <a:avLst/>
              <a:gdLst/>
              <a:ahLst/>
              <a:cxnLst/>
              <a:rect r="r" b="b" t="t" l="l"/>
              <a:pathLst>
                <a:path h="585216" w="2072640">
                  <a:moveTo>
                    <a:pt x="0" y="0"/>
                  </a:moveTo>
                  <a:lnTo>
                    <a:pt x="2072640" y="0"/>
                  </a:lnTo>
                  <a:lnTo>
                    <a:pt x="2072640" y="585216"/>
                  </a:lnTo>
                  <a:lnTo>
                    <a:pt x="0" y="585216"/>
                  </a:lnTo>
                  <a:close/>
                </a:path>
              </a:pathLst>
            </a:custGeom>
            <a:solidFill>
              <a:srgbClr val="1A1A2E">
                <a:alpha val="0"/>
              </a:srgbClr>
            </a:solidFill>
          </p:spPr>
        </p:sp>
        <p:sp>
          <p:nvSpPr>
            <p:cNvPr name="TextBox 39" id="39"/>
            <p:cNvSpPr txBox="true"/>
            <p:nvPr/>
          </p:nvSpPr>
          <p:spPr>
            <a:xfrm>
              <a:off x="0" y="-19050"/>
              <a:ext cx="2072640" cy="604266"/>
            </a:xfrm>
            <a:prstGeom prst="rect">
              <a:avLst/>
            </a:prstGeom>
          </p:spPr>
          <p:txBody>
            <a:bodyPr anchor="ctr" rtlCol="false" tIns="0" lIns="0" bIns="0" rIns="0"/>
            <a:lstStyle/>
            <a:p>
              <a:pPr algn="ctr">
                <a:lnSpc>
                  <a:spcPts val="2039"/>
                </a:lnSpc>
              </a:pPr>
              <a:r>
                <a:rPr lang="en-US" sz="1700" b="true">
                  <a:solidFill>
                    <a:srgbClr val="FFFFFF"/>
                  </a:solidFill>
                  <a:latin typeface="Helios Extended Bold"/>
                  <a:ea typeface="Helios Extended Bold"/>
                  <a:cs typeface="Helios Extended Bold"/>
                  <a:sym typeface="Helios Extended Bold"/>
                </a:rPr>
                <a:t>Ablation</a:t>
              </a:r>
            </a:p>
          </p:txBody>
        </p:sp>
      </p:grpSp>
      <p:grpSp>
        <p:nvGrpSpPr>
          <p:cNvPr name="Group 40" id="40"/>
          <p:cNvGrpSpPr/>
          <p:nvPr/>
        </p:nvGrpSpPr>
        <p:grpSpPr>
          <a:xfrm rot="0">
            <a:off x="535943" y="4431287"/>
            <a:ext cx="17216123" cy="1159259"/>
            <a:chOff x="0" y="0"/>
            <a:chExt cx="22954831" cy="1545679"/>
          </a:xfrm>
        </p:grpSpPr>
        <p:sp>
          <p:nvSpPr>
            <p:cNvPr name="Freeform 41" id="41"/>
            <p:cNvSpPr/>
            <p:nvPr/>
          </p:nvSpPr>
          <p:spPr>
            <a:xfrm flipH="false" flipV="false" rot="0">
              <a:off x="16891" y="16891"/>
              <a:ext cx="22920960" cy="1511808"/>
            </a:xfrm>
            <a:custGeom>
              <a:avLst/>
              <a:gdLst/>
              <a:ahLst/>
              <a:cxnLst/>
              <a:rect r="r" b="b" t="t" l="l"/>
              <a:pathLst>
                <a:path h="1511808" w="22920960">
                  <a:moveTo>
                    <a:pt x="0" y="0"/>
                  </a:moveTo>
                  <a:lnTo>
                    <a:pt x="22920960" y="0"/>
                  </a:lnTo>
                  <a:lnTo>
                    <a:pt x="22920960" y="1511808"/>
                  </a:lnTo>
                  <a:lnTo>
                    <a:pt x="0" y="1511808"/>
                  </a:lnTo>
                  <a:close/>
                </a:path>
              </a:pathLst>
            </a:custGeom>
            <a:solidFill>
              <a:srgbClr val="F2F1F1"/>
            </a:solidFill>
          </p:spPr>
        </p:sp>
        <p:sp>
          <p:nvSpPr>
            <p:cNvPr name="Freeform 42" id="42"/>
            <p:cNvSpPr/>
            <p:nvPr/>
          </p:nvSpPr>
          <p:spPr>
            <a:xfrm flipH="false" flipV="false" rot="0">
              <a:off x="0" y="0"/>
              <a:ext cx="22954743" cy="1545590"/>
            </a:xfrm>
            <a:custGeom>
              <a:avLst/>
              <a:gdLst/>
              <a:ahLst/>
              <a:cxnLst/>
              <a:rect r="r" b="b" t="t" l="l"/>
              <a:pathLst>
                <a:path h="1545590" w="22954743">
                  <a:moveTo>
                    <a:pt x="16891" y="0"/>
                  </a:moveTo>
                  <a:lnTo>
                    <a:pt x="22937851" y="0"/>
                  </a:lnTo>
                  <a:cubicBezTo>
                    <a:pt x="22947249" y="0"/>
                    <a:pt x="22954743" y="7620"/>
                    <a:pt x="22954743" y="16891"/>
                  </a:cubicBezTo>
                  <a:lnTo>
                    <a:pt x="22954743" y="1528699"/>
                  </a:lnTo>
                  <a:cubicBezTo>
                    <a:pt x="22954743" y="1538097"/>
                    <a:pt x="22947123" y="1545590"/>
                    <a:pt x="2293785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2937851" y="1511808"/>
                  </a:lnTo>
                  <a:lnTo>
                    <a:pt x="22937851" y="1528699"/>
                  </a:lnTo>
                  <a:lnTo>
                    <a:pt x="22920961" y="1528699"/>
                  </a:lnTo>
                  <a:lnTo>
                    <a:pt x="22920961" y="16891"/>
                  </a:lnTo>
                  <a:lnTo>
                    <a:pt x="22937851" y="16891"/>
                  </a:lnTo>
                  <a:lnTo>
                    <a:pt x="22937851" y="33909"/>
                  </a:lnTo>
                  <a:lnTo>
                    <a:pt x="16891" y="33909"/>
                  </a:lnTo>
                  <a:close/>
                </a:path>
              </a:pathLst>
            </a:custGeom>
            <a:solidFill>
              <a:srgbClr val="E2E8F0"/>
            </a:solidFill>
          </p:spPr>
        </p:sp>
      </p:grpSp>
      <p:grpSp>
        <p:nvGrpSpPr>
          <p:cNvPr name="Group 43" id="43"/>
          <p:cNvGrpSpPr/>
          <p:nvPr/>
        </p:nvGrpSpPr>
        <p:grpSpPr>
          <a:xfrm rot="0">
            <a:off x="548640" y="4443984"/>
            <a:ext cx="219456" cy="1133856"/>
            <a:chOff x="0" y="0"/>
            <a:chExt cx="292608" cy="1511808"/>
          </a:xfrm>
        </p:grpSpPr>
        <p:sp>
          <p:nvSpPr>
            <p:cNvPr name="Freeform 44" id="44"/>
            <p:cNvSpPr/>
            <p:nvPr/>
          </p:nvSpPr>
          <p:spPr>
            <a:xfrm flipH="false" flipV="false" rot="0">
              <a:off x="0" y="0"/>
              <a:ext cx="292608" cy="1511808"/>
            </a:xfrm>
            <a:custGeom>
              <a:avLst/>
              <a:gdLst/>
              <a:ahLst/>
              <a:cxnLst/>
              <a:rect r="r" b="b" t="t" l="l"/>
              <a:pathLst>
                <a:path h="1511808" w="292608">
                  <a:moveTo>
                    <a:pt x="0" y="0"/>
                  </a:moveTo>
                  <a:lnTo>
                    <a:pt x="292608" y="0"/>
                  </a:lnTo>
                  <a:lnTo>
                    <a:pt x="292608" y="1511808"/>
                  </a:lnTo>
                  <a:lnTo>
                    <a:pt x="0" y="1511808"/>
                  </a:lnTo>
                  <a:close/>
                </a:path>
              </a:pathLst>
            </a:custGeom>
            <a:solidFill>
              <a:srgbClr val="3D4D55"/>
            </a:solidFill>
          </p:spPr>
        </p:sp>
      </p:grpSp>
      <p:grpSp>
        <p:nvGrpSpPr>
          <p:cNvPr name="Group 45" id="45"/>
          <p:cNvGrpSpPr/>
          <p:nvPr/>
        </p:nvGrpSpPr>
        <p:grpSpPr>
          <a:xfrm rot="0">
            <a:off x="1005840" y="4517136"/>
            <a:ext cx="2468880" cy="572486"/>
            <a:chOff x="0" y="0"/>
            <a:chExt cx="3291840" cy="763315"/>
          </a:xfrm>
        </p:grpSpPr>
        <p:sp>
          <p:nvSpPr>
            <p:cNvPr name="Freeform 46" id="46"/>
            <p:cNvSpPr/>
            <p:nvPr/>
          </p:nvSpPr>
          <p:spPr>
            <a:xfrm flipH="false" flipV="false" rot="0">
              <a:off x="0" y="0"/>
              <a:ext cx="3291840" cy="763315"/>
            </a:xfrm>
            <a:custGeom>
              <a:avLst/>
              <a:gdLst/>
              <a:ahLst/>
              <a:cxnLst/>
              <a:rect r="r" b="b" t="t" l="l"/>
              <a:pathLst>
                <a:path h="763315" w="3291840">
                  <a:moveTo>
                    <a:pt x="0" y="0"/>
                  </a:moveTo>
                  <a:lnTo>
                    <a:pt x="3291840" y="0"/>
                  </a:lnTo>
                  <a:lnTo>
                    <a:pt x="3291840" y="763315"/>
                  </a:lnTo>
                  <a:lnTo>
                    <a:pt x="0" y="763315"/>
                  </a:lnTo>
                  <a:close/>
                </a:path>
              </a:pathLst>
            </a:custGeom>
            <a:blipFill>
              <a:blip r:embed="rId3">
                <a:alphaModFix amt="0"/>
              </a:blip>
              <a:stretch>
                <a:fillRect l="0" t="-42502" r="0" b="-25558"/>
              </a:stretch>
            </a:blipFill>
          </p:spPr>
        </p:sp>
        <p:sp>
          <p:nvSpPr>
            <p:cNvPr name="TextBox 47" id="47"/>
            <p:cNvSpPr txBox="true"/>
            <p:nvPr/>
          </p:nvSpPr>
          <p:spPr>
            <a:xfrm>
              <a:off x="0" y="-57150"/>
              <a:ext cx="3291840" cy="820465"/>
            </a:xfrm>
            <a:prstGeom prst="rect">
              <a:avLst/>
            </a:prstGeom>
          </p:spPr>
          <p:txBody>
            <a:bodyPr anchor="ctr" rtlCol="false" tIns="0" lIns="0" bIns="0" rIns="0"/>
            <a:lstStyle/>
            <a:p>
              <a:pPr algn="l">
                <a:lnSpc>
                  <a:spcPts val="3480"/>
                </a:lnSpc>
              </a:pPr>
              <a:r>
                <a:rPr lang="en-US" b="true" sz="2900">
                  <a:solidFill>
                    <a:srgbClr val="000000"/>
                  </a:solidFill>
                  <a:latin typeface="Consolas Bold"/>
                  <a:ea typeface="Consolas Bold"/>
                  <a:cs typeface="Consolas Bold"/>
                  <a:sym typeface="Consolas Bold"/>
                </a:rPr>
                <a:t>C_seq</a:t>
              </a:r>
            </a:p>
          </p:txBody>
        </p:sp>
      </p:grpSp>
      <p:grpSp>
        <p:nvGrpSpPr>
          <p:cNvPr name="Group 48" id="48"/>
          <p:cNvGrpSpPr/>
          <p:nvPr/>
        </p:nvGrpSpPr>
        <p:grpSpPr>
          <a:xfrm rot="0">
            <a:off x="1005840" y="5029200"/>
            <a:ext cx="4023360" cy="457200"/>
            <a:chOff x="0" y="0"/>
            <a:chExt cx="5364480" cy="609600"/>
          </a:xfrm>
        </p:grpSpPr>
        <p:sp>
          <p:nvSpPr>
            <p:cNvPr name="Freeform 49" id="49"/>
            <p:cNvSpPr/>
            <p:nvPr/>
          </p:nvSpPr>
          <p:spPr>
            <a:xfrm flipH="false" flipV="false" rot="0">
              <a:off x="0" y="0"/>
              <a:ext cx="5364480" cy="609600"/>
            </a:xfrm>
            <a:custGeom>
              <a:avLst/>
              <a:gdLst/>
              <a:ahLst/>
              <a:cxnLst/>
              <a:rect r="r" b="b" t="t" l="l"/>
              <a:pathLst>
                <a:path h="609600" w="5364480">
                  <a:moveTo>
                    <a:pt x="0" y="0"/>
                  </a:moveTo>
                  <a:lnTo>
                    <a:pt x="5364480" y="0"/>
                  </a:lnTo>
                  <a:lnTo>
                    <a:pt x="5364480" y="609600"/>
                  </a:lnTo>
                  <a:lnTo>
                    <a:pt x="0" y="609600"/>
                  </a:lnTo>
                  <a:close/>
                </a:path>
              </a:pathLst>
            </a:custGeom>
            <a:blipFill>
              <a:blip r:embed="rId3">
                <a:alphaModFix amt="0"/>
              </a:blip>
              <a:stretch>
                <a:fillRect l="0" t="-121468" r="0" b="-121468"/>
              </a:stretch>
            </a:blipFill>
          </p:spPr>
        </p:sp>
        <p:sp>
          <p:nvSpPr>
            <p:cNvPr name="TextBox 50" id="50"/>
            <p:cNvSpPr txBox="true"/>
            <p:nvPr/>
          </p:nvSpPr>
          <p:spPr>
            <a:xfrm>
              <a:off x="0" y="-19050"/>
              <a:ext cx="5364480" cy="628650"/>
            </a:xfrm>
            <a:prstGeom prst="rect">
              <a:avLst/>
            </a:prstGeom>
          </p:spPr>
          <p:txBody>
            <a:bodyPr anchor="ctr" rtlCol="false" tIns="0" lIns="0" bIns="0" rIns="0"/>
            <a:lstStyle/>
            <a:p>
              <a:pPr algn="l">
                <a:lnSpc>
                  <a:spcPts val="2280"/>
                </a:lnSpc>
              </a:pPr>
              <a:r>
                <a:rPr lang="en-US" sz="1900">
                  <a:solidFill>
                    <a:srgbClr val="000000"/>
                  </a:solidFill>
                  <a:latin typeface="Helios Extended"/>
                  <a:ea typeface="Helios Extended"/>
                  <a:cs typeface="Helios Extended"/>
                  <a:sym typeface="Helios Extended"/>
                </a:rPr>
                <a:t>Sequential Curriculum</a:t>
              </a:r>
            </a:p>
          </p:txBody>
        </p:sp>
      </p:grpSp>
      <p:grpSp>
        <p:nvGrpSpPr>
          <p:cNvPr name="Group 51" id="51"/>
          <p:cNvGrpSpPr/>
          <p:nvPr/>
        </p:nvGrpSpPr>
        <p:grpSpPr>
          <a:xfrm rot="0">
            <a:off x="5486400" y="4663440"/>
            <a:ext cx="10241280" cy="768096"/>
            <a:chOff x="0" y="0"/>
            <a:chExt cx="13655040" cy="1024128"/>
          </a:xfrm>
        </p:grpSpPr>
        <p:sp>
          <p:nvSpPr>
            <p:cNvPr name="Freeform 52" id="52"/>
            <p:cNvSpPr/>
            <p:nvPr/>
          </p:nvSpPr>
          <p:spPr>
            <a:xfrm flipH="false" flipV="false" rot="0">
              <a:off x="0" y="0"/>
              <a:ext cx="13655039" cy="1024128"/>
            </a:xfrm>
            <a:custGeom>
              <a:avLst/>
              <a:gdLst/>
              <a:ahLst/>
              <a:cxnLst/>
              <a:rect r="r" b="b" t="t" l="l"/>
              <a:pathLst>
                <a:path h="1024128" w="13655039">
                  <a:moveTo>
                    <a:pt x="0" y="0"/>
                  </a:moveTo>
                  <a:lnTo>
                    <a:pt x="13655039" y="0"/>
                  </a:lnTo>
                  <a:lnTo>
                    <a:pt x="13655039" y="1024128"/>
                  </a:lnTo>
                  <a:lnTo>
                    <a:pt x="0" y="1024128"/>
                  </a:lnTo>
                  <a:close/>
                </a:path>
              </a:pathLst>
            </a:custGeom>
            <a:blipFill>
              <a:blip r:embed="rId3">
                <a:alphaModFix amt="0"/>
              </a:blip>
              <a:stretch>
                <a:fillRect l="0" t="-209800" r="0" b="-209800"/>
              </a:stretch>
            </a:blipFill>
          </p:spPr>
        </p:sp>
        <p:sp>
          <p:nvSpPr>
            <p:cNvPr name="TextBox 53" id="53"/>
            <p:cNvSpPr txBox="true"/>
            <p:nvPr/>
          </p:nvSpPr>
          <p:spPr>
            <a:xfrm>
              <a:off x="0" y="-19050"/>
              <a:ext cx="13655040" cy="1043178"/>
            </a:xfrm>
            <a:prstGeom prst="rect">
              <a:avLst/>
            </a:prstGeom>
          </p:spPr>
          <p:txBody>
            <a:bodyPr anchor="ctr" rtlCol="false" tIns="0" lIns="0" bIns="0" rIns="0"/>
            <a:lstStyle/>
            <a:p>
              <a:pPr algn="l">
                <a:lnSpc>
                  <a:spcPts val="2640"/>
                </a:lnSpc>
              </a:pPr>
              <a:r>
                <a:rPr lang="en-US" sz="2200">
                  <a:solidFill>
                    <a:srgbClr val="000000"/>
                  </a:solidFill>
                  <a:latin typeface="Helios Extended"/>
                  <a:ea typeface="Helios Extended"/>
                  <a:cs typeface="Helios Extended"/>
                  <a:sym typeface="Helios Extended"/>
                </a:rPr>
                <a:t>Phase 1 labels → Phase 2 CoT at 4× reduced LR</a:t>
              </a:r>
            </a:p>
          </p:txBody>
        </p:sp>
      </p:grpSp>
      <p:grpSp>
        <p:nvGrpSpPr>
          <p:cNvPr name="Group 54" id="54"/>
          <p:cNvGrpSpPr/>
          <p:nvPr/>
        </p:nvGrpSpPr>
        <p:grpSpPr>
          <a:xfrm rot="0">
            <a:off x="16002000" y="4736592"/>
            <a:ext cx="1554480" cy="512064"/>
            <a:chOff x="0" y="0"/>
            <a:chExt cx="2072640" cy="682752"/>
          </a:xfrm>
        </p:grpSpPr>
        <p:sp>
          <p:nvSpPr>
            <p:cNvPr name="Freeform 55" id="55"/>
            <p:cNvSpPr/>
            <p:nvPr/>
          </p:nvSpPr>
          <p:spPr>
            <a:xfrm flipH="false" flipV="false" rot="0">
              <a:off x="0" y="0"/>
              <a:ext cx="2072640" cy="682752"/>
            </a:xfrm>
            <a:custGeom>
              <a:avLst/>
              <a:gdLst/>
              <a:ahLst/>
              <a:cxnLst/>
              <a:rect r="r" b="b" t="t" l="l"/>
              <a:pathLst>
                <a:path h="682752" w="2072640">
                  <a:moveTo>
                    <a:pt x="0" y="97536"/>
                  </a:moveTo>
                  <a:cubicBezTo>
                    <a:pt x="0" y="43688"/>
                    <a:pt x="43688" y="0"/>
                    <a:pt x="97536" y="0"/>
                  </a:cubicBezTo>
                  <a:lnTo>
                    <a:pt x="1975104" y="0"/>
                  </a:lnTo>
                  <a:cubicBezTo>
                    <a:pt x="2028952" y="0"/>
                    <a:pt x="2072640" y="43688"/>
                    <a:pt x="2072640" y="97536"/>
                  </a:cubicBezTo>
                  <a:lnTo>
                    <a:pt x="2072640" y="585216"/>
                  </a:lnTo>
                  <a:cubicBezTo>
                    <a:pt x="2072640" y="639064"/>
                    <a:pt x="2028952" y="682752"/>
                    <a:pt x="1975104" y="682752"/>
                  </a:cubicBezTo>
                  <a:lnTo>
                    <a:pt x="97536" y="682752"/>
                  </a:lnTo>
                  <a:cubicBezTo>
                    <a:pt x="43688" y="682752"/>
                    <a:pt x="0" y="639064"/>
                    <a:pt x="0" y="585216"/>
                  </a:cubicBezTo>
                  <a:close/>
                </a:path>
              </a:pathLst>
            </a:custGeom>
            <a:solidFill>
              <a:srgbClr val="1A1A2E"/>
            </a:solidFill>
          </p:spPr>
        </p:sp>
      </p:grpSp>
      <p:grpSp>
        <p:nvGrpSpPr>
          <p:cNvPr name="Group 56" id="56"/>
          <p:cNvGrpSpPr/>
          <p:nvPr/>
        </p:nvGrpSpPr>
        <p:grpSpPr>
          <a:xfrm rot="0">
            <a:off x="16002000" y="4773168"/>
            <a:ext cx="1554480" cy="438912"/>
            <a:chOff x="0" y="0"/>
            <a:chExt cx="2072640" cy="585216"/>
          </a:xfrm>
        </p:grpSpPr>
        <p:sp>
          <p:nvSpPr>
            <p:cNvPr name="Freeform 57" id="57"/>
            <p:cNvSpPr/>
            <p:nvPr/>
          </p:nvSpPr>
          <p:spPr>
            <a:xfrm flipH="false" flipV="false" rot="0">
              <a:off x="0" y="0"/>
              <a:ext cx="2072640" cy="585216"/>
            </a:xfrm>
            <a:custGeom>
              <a:avLst/>
              <a:gdLst/>
              <a:ahLst/>
              <a:cxnLst/>
              <a:rect r="r" b="b" t="t" l="l"/>
              <a:pathLst>
                <a:path h="585216" w="2072640">
                  <a:moveTo>
                    <a:pt x="0" y="0"/>
                  </a:moveTo>
                  <a:lnTo>
                    <a:pt x="2072640" y="0"/>
                  </a:lnTo>
                  <a:lnTo>
                    <a:pt x="2072640" y="585216"/>
                  </a:lnTo>
                  <a:lnTo>
                    <a:pt x="0" y="585216"/>
                  </a:lnTo>
                  <a:close/>
                </a:path>
              </a:pathLst>
            </a:custGeom>
            <a:blipFill>
              <a:blip r:embed="rId3">
                <a:alphaModFix amt="0"/>
              </a:blip>
              <a:stretch>
                <a:fillRect l="0" t="-19009" r="0" b="-19009"/>
              </a:stretch>
            </a:blipFill>
          </p:spPr>
        </p:sp>
        <p:sp>
          <p:nvSpPr>
            <p:cNvPr name="TextBox 58" id="58"/>
            <p:cNvSpPr txBox="true"/>
            <p:nvPr/>
          </p:nvSpPr>
          <p:spPr>
            <a:xfrm>
              <a:off x="0" y="-19050"/>
              <a:ext cx="2072640" cy="604266"/>
            </a:xfrm>
            <a:prstGeom prst="rect">
              <a:avLst/>
            </a:prstGeom>
          </p:spPr>
          <p:txBody>
            <a:bodyPr anchor="ctr" rtlCol="false" tIns="0" lIns="0" bIns="0" rIns="0"/>
            <a:lstStyle/>
            <a:p>
              <a:pPr algn="ctr">
                <a:lnSpc>
                  <a:spcPts val="2039"/>
                </a:lnSpc>
              </a:pPr>
              <a:r>
                <a:rPr lang="en-US" sz="1700" b="true">
                  <a:solidFill>
                    <a:srgbClr val="FFFFFF"/>
                  </a:solidFill>
                  <a:latin typeface="Helios Extended Bold"/>
                  <a:ea typeface="Helios Extended Bold"/>
                  <a:cs typeface="Helios Extended Bold"/>
                  <a:sym typeface="Helios Extended Bold"/>
                </a:rPr>
                <a:t>Primary</a:t>
              </a:r>
            </a:p>
          </p:txBody>
        </p:sp>
      </p:grpSp>
      <p:grpSp>
        <p:nvGrpSpPr>
          <p:cNvPr name="Group 59" id="59"/>
          <p:cNvGrpSpPr/>
          <p:nvPr/>
        </p:nvGrpSpPr>
        <p:grpSpPr>
          <a:xfrm rot="0">
            <a:off x="535943" y="5784599"/>
            <a:ext cx="17216123" cy="1159259"/>
            <a:chOff x="0" y="0"/>
            <a:chExt cx="22954831" cy="1545679"/>
          </a:xfrm>
        </p:grpSpPr>
        <p:sp>
          <p:nvSpPr>
            <p:cNvPr name="Freeform 60" id="60"/>
            <p:cNvSpPr/>
            <p:nvPr/>
          </p:nvSpPr>
          <p:spPr>
            <a:xfrm flipH="false" flipV="false" rot="0">
              <a:off x="16891" y="16891"/>
              <a:ext cx="22920960" cy="1511808"/>
            </a:xfrm>
            <a:custGeom>
              <a:avLst/>
              <a:gdLst/>
              <a:ahLst/>
              <a:cxnLst/>
              <a:rect r="r" b="b" t="t" l="l"/>
              <a:pathLst>
                <a:path h="1511808" w="22920960">
                  <a:moveTo>
                    <a:pt x="0" y="0"/>
                  </a:moveTo>
                  <a:lnTo>
                    <a:pt x="22920960" y="0"/>
                  </a:lnTo>
                  <a:lnTo>
                    <a:pt x="22920960" y="1511808"/>
                  </a:lnTo>
                  <a:lnTo>
                    <a:pt x="0" y="1511808"/>
                  </a:lnTo>
                  <a:close/>
                </a:path>
              </a:pathLst>
            </a:custGeom>
            <a:solidFill>
              <a:srgbClr val="F2F1F1"/>
            </a:solidFill>
          </p:spPr>
        </p:sp>
        <p:sp>
          <p:nvSpPr>
            <p:cNvPr name="Freeform 61" id="61"/>
            <p:cNvSpPr/>
            <p:nvPr/>
          </p:nvSpPr>
          <p:spPr>
            <a:xfrm flipH="false" flipV="false" rot="0">
              <a:off x="0" y="0"/>
              <a:ext cx="22954743" cy="1545590"/>
            </a:xfrm>
            <a:custGeom>
              <a:avLst/>
              <a:gdLst/>
              <a:ahLst/>
              <a:cxnLst/>
              <a:rect r="r" b="b" t="t" l="l"/>
              <a:pathLst>
                <a:path h="1545590" w="22954743">
                  <a:moveTo>
                    <a:pt x="16891" y="0"/>
                  </a:moveTo>
                  <a:lnTo>
                    <a:pt x="22937851" y="0"/>
                  </a:lnTo>
                  <a:cubicBezTo>
                    <a:pt x="22947249" y="0"/>
                    <a:pt x="22954743" y="7620"/>
                    <a:pt x="22954743" y="16891"/>
                  </a:cubicBezTo>
                  <a:lnTo>
                    <a:pt x="22954743" y="1528699"/>
                  </a:lnTo>
                  <a:cubicBezTo>
                    <a:pt x="22954743" y="1538097"/>
                    <a:pt x="22947123" y="1545590"/>
                    <a:pt x="2293785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2937851" y="1511808"/>
                  </a:lnTo>
                  <a:lnTo>
                    <a:pt x="22937851" y="1528699"/>
                  </a:lnTo>
                  <a:lnTo>
                    <a:pt x="22920961" y="1528699"/>
                  </a:lnTo>
                  <a:lnTo>
                    <a:pt x="22920961" y="16891"/>
                  </a:lnTo>
                  <a:lnTo>
                    <a:pt x="22937851" y="16891"/>
                  </a:lnTo>
                  <a:lnTo>
                    <a:pt x="22937851" y="33909"/>
                  </a:lnTo>
                  <a:lnTo>
                    <a:pt x="16891" y="33909"/>
                  </a:lnTo>
                  <a:close/>
                </a:path>
              </a:pathLst>
            </a:custGeom>
            <a:solidFill>
              <a:srgbClr val="E2E8F0"/>
            </a:solidFill>
          </p:spPr>
        </p:sp>
      </p:grpSp>
      <p:grpSp>
        <p:nvGrpSpPr>
          <p:cNvPr name="Group 62" id="62"/>
          <p:cNvGrpSpPr/>
          <p:nvPr/>
        </p:nvGrpSpPr>
        <p:grpSpPr>
          <a:xfrm rot="0">
            <a:off x="548640" y="5797296"/>
            <a:ext cx="219456" cy="1133856"/>
            <a:chOff x="0" y="0"/>
            <a:chExt cx="292608" cy="1511808"/>
          </a:xfrm>
        </p:grpSpPr>
        <p:sp>
          <p:nvSpPr>
            <p:cNvPr name="Freeform 63" id="63"/>
            <p:cNvSpPr/>
            <p:nvPr/>
          </p:nvSpPr>
          <p:spPr>
            <a:xfrm flipH="false" flipV="false" rot="0">
              <a:off x="0" y="0"/>
              <a:ext cx="292608" cy="1511808"/>
            </a:xfrm>
            <a:custGeom>
              <a:avLst/>
              <a:gdLst/>
              <a:ahLst/>
              <a:cxnLst/>
              <a:rect r="r" b="b" t="t" l="l"/>
              <a:pathLst>
                <a:path h="1511808" w="292608">
                  <a:moveTo>
                    <a:pt x="0" y="0"/>
                  </a:moveTo>
                  <a:lnTo>
                    <a:pt x="292608" y="0"/>
                  </a:lnTo>
                  <a:lnTo>
                    <a:pt x="292608" y="1511808"/>
                  </a:lnTo>
                  <a:lnTo>
                    <a:pt x="0" y="1511808"/>
                  </a:lnTo>
                  <a:close/>
                </a:path>
              </a:pathLst>
            </a:custGeom>
            <a:solidFill>
              <a:srgbClr val="3D4D55"/>
            </a:solidFill>
          </p:spPr>
        </p:sp>
      </p:grpSp>
      <p:grpSp>
        <p:nvGrpSpPr>
          <p:cNvPr name="Group 64" id="64"/>
          <p:cNvGrpSpPr/>
          <p:nvPr/>
        </p:nvGrpSpPr>
        <p:grpSpPr>
          <a:xfrm rot="0">
            <a:off x="1005840" y="5870448"/>
            <a:ext cx="2468880" cy="572486"/>
            <a:chOff x="0" y="0"/>
            <a:chExt cx="3291840" cy="763315"/>
          </a:xfrm>
        </p:grpSpPr>
        <p:sp>
          <p:nvSpPr>
            <p:cNvPr name="Freeform 65" id="65"/>
            <p:cNvSpPr/>
            <p:nvPr/>
          </p:nvSpPr>
          <p:spPr>
            <a:xfrm flipH="false" flipV="false" rot="0">
              <a:off x="0" y="0"/>
              <a:ext cx="3291840" cy="763315"/>
            </a:xfrm>
            <a:custGeom>
              <a:avLst/>
              <a:gdLst/>
              <a:ahLst/>
              <a:cxnLst/>
              <a:rect r="r" b="b" t="t" l="l"/>
              <a:pathLst>
                <a:path h="763315" w="3291840">
                  <a:moveTo>
                    <a:pt x="0" y="0"/>
                  </a:moveTo>
                  <a:lnTo>
                    <a:pt x="3291840" y="0"/>
                  </a:lnTo>
                  <a:lnTo>
                    <a:pt x="3291840" y="763315"/>
                  </a:lnTo>
                  <a:lnTo>
                    <a:pt x="0" y="763315"/>
                  </a:lnTo>
                  <a:close/>
                </a:path>
              </a:pathLst>
            </a:custGeom>
            <a:blipFill>
              <a:blip r:embed="rId3">
                <a:alphaModFix amt="0"/>
              </a:blip>
              <a:stretch>
                <a:fillRect l="0" t="-42502" r="0" b="-25558"/>
              </a:stretch>
            </a:blipFill>
          </p:spPr>
        </p:sp>
        <p:sp>
          <p:nvSpPr>
            <p:cNvPr name="TextBox 66" id="66"/>
            <p:cNvSpPr txBox="true"/>
            <p:nvPr/>
          </p:nvSpPr>
          <p:spPr>
            <a:xfrm>
              <a:off x="0" y="-57150"/>
              <a:ext cx="3291840" cy="820465"/>
            </a:xfrm>
            <a:prstGeom prst="rect">
              <a:avLst/>
            </a:prstGeom>
          </p:spPr>
          <p:txBody>
            <a:bodyPr anchor="ctr" rtlCol="false" tIns="0" lIns="0" bIns="0" rIns="0"/>
            <a:lstStyle/>
            <a:p>
              <a:pPr algn="l">
                <a:lnSpc>
                  <a:spcPts val="3480"/>
                </a:lnSpc>
              </a:pPr>
              <a:r>
                <a:rPr lang="en-US" b="true" sz="2900">
                  <a:solidFill>
                    <a:srgbClr val="000000"/>
                  </a:solidFill>
                  <a:latin typeface="Consolas Bold"/>
                  <a:ea typeface="Consolas Bold"/>
                  <a:cs typeface="Consolas Bold"/>
                  <a:sym typeface="Consolas Bold"/>
                </a:rPr>
                <a:t>C_mix</a:t>
              </a:r>
            </a:p>
          </p:txBody>
        </p:sp>
      </p:grpSp>
      <p:grpSp>
        <p:nvGrpSpPr>
          <p:cNvPr name="Group 67" id="67"/>
          <p:cNvGrpSpPr/>
          <p:nvPr/>
        </p:nvGrpSpPr>
        <p:grpSpPr>
          <a:xfrm rot="0">
            <a:off x="1005840" y="6382512"/>
            <a:ext cx="4023360" cy="457200"/>
            <a:chOff x="0" y="0"/>
            <a:chExt cx="5364480" cy="609600"/>
          </a:xfrm>
        </p:grpSpPr>
        <p:sp>
          <p:nvSpPr>
            <p:cNvPr name="Freeform 68" id="68"/>
            <p:cNvSpPr/>
            <p:nvPr/>
          </p:nvSpPr>
          <p:spPr>
            <a:xfrm flipH="false" flipV="false" rot="0">
              <a:off x="0" y="0"/>
              <a:ext cx="5364480" cy="609600"/>
            </a:xfrm>
            <a:custGeom>
              <a:avLst/>
              <a:gdLst/>
              <a:ahLst/>
              <a:cxnLst/>
              <a:rect r="r" b="b" t="t" l="l"/>
              <a:pathLst>
                <a:path h="609600" w="5364480">
                  <a:moveTo>
                    <a:pt x="0" y="0"/>
                  </a:moveTo>
                  <a:lnTo>
                    <a:pt x="5364480" y="0"/>
                  </a:lnTo>
                  <a:lnTo>
                    <a:pt x="5364480" y="609600"/>
                  </a:lnTo>
                  <a:lnTo>
                    <a:pt x="0" y="609600"/>
                  </a:lnTo>
                  <a:close/>
                </a:path>
              </a:pathLst>
            </a:custGeom>
            <a:blipFill>
              <a:blip r:embed="rId3">
                <a:alphaModFix amt="0"/>
              </a:blip>
              <a:stretch>
                <a:fillRect l="0" t="-121468" r="0" b="-121468"/>
              </a:stretch>
            </a:blipFill>
          </p:spPr>
        </p:sp>
        <p:sp>
          <p:nvSpPr>
            <p:cNvPr name="TextBox 69" id="69"/>
            <p:cNvSpPr txBox="true"/>
            <p:nvPr/>
          </p:nvSpPr>
          <p:spPr>
            <a:xfrm>
              <a:off x="0" y="-19050"/>
              <a:ext cx="5364480" cy="628650"/>
            </a:xfrm>
            <a:prstGeom prst="rect">
              <a:avLst/>
            </a:prstGeom>
          </p:spPr>
          <p:txBody>
            <a:bodyPr anchor="ctr" rtlCol="false" tIns="0" lIns="0" bIns="0" rIns="0"/>
            <a:lstStyle/>
            <a:p>
              <a:pPr algn="l">
                <a:lnSpc>
                  <a:spcPts val="2280"/>
                </a:lnSpc>
              </a:pPr>
              <a:r>
                <a:rPr lang="en-US" sz="1900">
                  <a:solidFill>
                    <a:srgbClr val="000000"/>
                  </a:solidFill>
                  <a:latin typeface="Helios Extended"/>
                  <a:ea typeface="Helios Extended"/>
                  <a:cs typeface="Helios Extended"/>
                  <a:sym typeface="Helios Extended"/>
                </a:rPr>
                <a:t>Mixed Interleaved</a:t>
              </a:r>
            </a:p>
          </p:txBody>
        </p:sp>
      </p:grpSp>
      <p:grpSp>
        <p:nvGrpSpPr>
          <p:cNvPr name="Group 70" id="70"/>
          <p:cNvGrpSpPr/>
          <p:nvPr/>
        </p:nvGrpSpPr>
        <p:grpSpPr>
          <a:xfrm rot="0">
            <a:off x="5486400" y="6016752"/>
            <a:ext cx="10241280" cy="768096"/>
            <a:chOff x="0" y="0"/>
            <a:chExt cx="13655040" cy="1024128"/>
          </a:xfrm>
        </p:grpSpPr>
        <p:sp>
          <p:nvSpPr>
            <p:cNvPr name="Freeform 71" id="71"/>
            <p:cNvSpPr/>
            <p:nvPr/>
          </p:nvSpPr>
          <p:spPr>
            <a:xfrm flipH="false" flipV="false" rot="0">
              <a:off x="0" y="0"/>
              <a:ext cx="13655039" cy="1024128"/>
            </a:xfrm>
            <a:custGeom>
              <a:avLst/>
              <a:gdLst/>
              <a:ahLst/>
              <a:cxnLst/>
              <a:rect r="r" b="b" t="t" l="l"/>
              <a:pathLst>
                <a:path h="1024128" w="13655039">
                  <a:moveTo>
                    <a:pt x="0" y="0"/>
                  </a:moveTo>
                  <a:lnTo>
                    <a:pt x="13655039" y="0"/>
                  </a:lnTo>
                  <a:lnTo>
                    <a:pt x="13655039" y="1024128"/>
                  </a:lnTo>
                  <a:lnTo>
                    <a:pt x="0" y="1024128"/>
                  </a:lnTo>
                  <a:close/>
                </a:path>
              </a:pathLst>
            </a:custGeom>
            <a:blipFill>
              <a:blip r:embed="rId3">
                <a:alphaModFix amt="0"/>
              </a:blip>
              <a:stretch>
                <a:fillRect l="0" t="-209800" r="0" b="-209800"/>
              </a:stretch>
            </a:blipFill>
          </p:spPr>
        </p:sp>
        <p:sp>
          <p:nvSpPr>
            <p:cNvPr name="TextBox 72" id="72"/>
            <p:cNvSpPr txBox="true"/>
            <p:nvPr/>
          </p:nvSpPr>
          <p:spPr>
            <a:xfrm>
              <a:off x="0" y="-19050"/>
              <a:ext cx="13655040" cy="1043178"/>
            </a:xfrm>
            <a:prstGeom prst="rect">
              <a:avLst/>
            </a:prstGeom>
          </p:spPr>
          <p:txBody>
            <a:bodyPr anchor="ctr" rtlCol="false" tIns="0" lIns="0" bIns="0" rIns="0"/>
            <a:lstStyle/>
            <a:p>
              <a:pPr algn="l">
                <a:lnSpc>
                  <a:spcPts val="2640"/>
                </a:lnSpc>
              </a:pPr>
              <a:r>
                <a:rPr lang="en-US" sz="2200">
                  <a:solidFill>
                    <a:srgbClr val="000000"/>
                  </a:solidFill>
                  <a:latin typeface="Helios Extended"/>
                  <a:ea typeface="Helios Extended"/>
                  <a:cs typeface="Helios Extended"/>
                  <a:sym typeface="Helios Extended"/>
                </a:rPr>
                <a:t>50/50 labels + CoT in single run </a:t>
              </a:r>
            </a:p>
          </p:txBody>
        </p:sp>
      </p:grpSp>
      <p:grpSp>
        <p:nvGrpSpPr>
          <p:cNvPr name="Group 73" id="73"/>
          <p:cNvGrpSpPr/>
          <p:nvPr/>
        </p:nvGrpSpPr>
        <p:grpSpPr>
          <a:xfrm rot="0">
            <a:off x="16002000" y="6089904"/>
            <a:ext cx="1554480" cy="512064"/>
            <a:chOff x="0" y="0"/>
            <a:chExt cx="2072640" cy="682752"/>
          </a:xfrm>
        </p:grpSpPr>
        <p:sp>
          <p:nvSpPr>
            <p:cNvPr name="Freeform 74" id="74"/>
            <p:cNvSpPr/>
            <p:nvPr/>
          </p:nvSpPr>
          <p:spPr>
            <a:xfrm flipH="false" flipV="false" rot="0">
              <a:off x="0" y="0"/>
              <a:ext cx="2072640" cy="682752"/>
            </a:xfrm>
            <a:custGeom>
              <a:avLst/>
              <a:gdLst/>
              <a:ahLst/>
              <a:cxnLst/>
              <a:rect r="r" b="b" t="t" l="l"/>
              <a:pathLst>
                <a:path h="682752" w="2072640">
                  <a:moveTo>
                    <a:pt x="0" y="97536"/>
                  </a:moveTo>
                  <a:cubicBezTo>
                    <a:pt x="0" y="43688"/>
                    <a:pt x="43688" y="0"/>
                    <a:pt x="97536" y="0"/>
                  </a:cubicBezTo>
                  <a:lnTo>
                    <a:pt x="1975104" y="0"/>
                  </a:lnTo>
                  <a:cubicBezTo>
                    <a:pt x="2028952" y="0"/>
                    <a:pt x="2072640" y="43688"/>
                    <a:pt x="2072640" y="97536"/>
                  </a:cubicBezTo>
                  <a:lnTo>
                    <a:pt x="2072640" y="585216"/>
                  </a:lnTo>
                  <a:cubicBezTo>
                    <a:pt x="2072640" y="639064"/>
                    <a:pt x="2028952" y="682752"/>
                    <a:pt x="1975104" y="682752"/>
                  </a:cubicBezTo>
                  <a:lnTo>
                    <a:pt x="97536" y="682752"/>
                  </a:lnTo>
                  <a:cubicBezTo>
                    <a:pt x="43688" y="682752"/>
                    <a:pt x="0" y="639064"/>
                    <a:pt x="0" y="585216"/>
                  </a:cubicBezTo>
                  <a:close/>
                </a:path>
              </a:pathLst>
            </a:custGeom>
            <a:solidFill>
              <a:srgbClr val="1A1A2E"/>
            </a:solidFill>
          </p:spPr>
        </p:sp>
      </p:grpSp>
      <p:grpSp>
        <p:nvGrpSpPr>
          <p:cNvPr name="Group 75" id="75"/>
          <p:cNvGrpSpPr/>
          <p:nvPr/>
        </p:nvGrpSpPr>
        <p:grpSpPr>
          <a:xfrm rot="0">
            <a:off x="16002000" y="6126480"/>
            <a:ext cx="1554480" cy="438912"/>
            <a:chOff x="0" y="0"/>
            <a:chExt cx="2072640" cy="585216"/>
          </a:xfrm>
        </p:grpSpPr>
        <p:sp>
          <p:nvSpPr>
            <p:cNvPr name="Freeform 76" id="76"/>
            <p:cNvSpPr/>
            <p:nvPr/>
          </p:nvSpPr>
          <p:spPr>
            <a:xfrm flipH="false" flipV="false" rot="0">
              <a:off x="0" y="0"/>
              <a:ext cx="2072640" cy="585216"/>
            </a:xfrm>
            <a:custGeom>
              <a:avLst/>
              <a:gdLst/>
              <a:ahLst/>
              <a:cxnLst/>
              <a:rect r="r" b="b" t="t" l="l"/>
              <a:pathLst>
                <a:path h="585216" w="2072640">
                  <a:moveTo>
                    <a:pt x="0" y="0"/>
                  </a:moveTo>
                  <a:lnTo>
                    <a:pt x="2072640" y="0"/>
                  </a:lnTo>
                  <a:lnTo>
                    <a:pt x="2072640" y="585216"/>
                  </a:lnTo>
                  <a:lnTo>
                    <a:pt x="0" y="585216"/>
                  </a:lnTo>
                  <a:close/>
                </a:path>
              </a:pathLst>
            </a:custGeom>
            <a:blipFill>
              <a:blip r:embed="rId3">
                <a:alphaModFix amt="0"/>
              </a:blip>
              <a:stretch>
                <a:fillRect l="0" t="-19009" r="0" b="-19009"/>
              </a:stretch>
            </a:blipFill>
          </p:spPr>
        </p:sp>
        <p:sp>
          <p:nvSpPr>
            <p:cNvPr name="TextBox 77" id="77"/>
            <p:cNvSpPr txBox="true"/>
            <p:nvPr/>
          </p:nvSpPr>
          <p:spPr>
            <a:xfrm>
              <a:off x="0" y="-19050"/>
              <a:ext cx="2072640" cy="604266"/>
            </a:xfrm>
            <a:prstGeom prst="rect">
              <a:avLst/>
            </a:prstGeom>
          </p:spPr>
          <p:txBody>
            <a:bodyPr anchor="ctr" rtlCol="false" tIns="0" lIns="0" bIns="0" rIns="0"/>
            <a:lstStyle/>
            <a:p>
              <a:pPr algn="ctr">
                <a:lnSpc>
                  <a:spcPts val="2039"/>
                </a:lnSpc>
              </a:pPr>
              <a:r>
                <a:rPr lang="en-US" sz="1700" b="true">
                  <a:solidFill>
                    <a:srgbClr val="FFFFFF"/>
                  </a:solidFill>
                  <a:latin typeface="Helios Extended Bold"/>
                  <a:ea typeface="Helios Extended Bold"/>
                  <a:cs typeface="Helios Extended Bold"/>
                  <a:sym typeface="Helios Extended Bold"/>
                </a:rPr>
                <a:t>Ablation</a:t>
              </a:r>
            </a:p>
          </p:txBody>
        </p:sp>
      </p:grpSp>
      <p:grpSp>
        <p:nvGrpSpPr>
          <p:cNvPr name="Group 78" id="78"/>
          <p:cNvGrpSpPr/>
          <p:nvPr/>
        </p:nvGrpSpPr>
        <p:grpSpPr>
          <a:xfrm rot="0">
            <a:off x="535943" y="7137911"/>
            <a:ext cx="17216123" cy="1159259"/>
            <a:chOff x="0" y="0"/>
            <a:chExt cx="22954831" cy="1545679"/>
          </a:xfrm>
        </p:grpSpPr>
        <p:sp>
          <p:nvSpPr>
            <p:cNvPr name="Freeform 79" id="79"/>
            <p:cNvSpPr/>
            <p:nvPr/>
          </p:nvSpPr>
          <p:spPr>
            <a:xfrm flipH="false" flipV="false" rot="0">
              <a:off x="16891" y="16891"/>
              <a:ext cx="22920960" cy="1511808"/>
            </a:xfrm>
            <a:custGeom>
              <a:avLst/>
              <a:gdLst/>
              <a:ahLst/>
              <a:cxnLst/>
              <a:rect r="r" b="b" t="t" l="l"/>
              <a:pathLst>
                <a:path h="1511808" w="22920960">
                  <a:moveTo>
                    <a:pt x="0" y="0"/>
                  </a:moveTo>
                  <a:lnTo>
                    <a:pt x="22920960" y="0"/>
                  </a:lnTo>
                  <a:lnTo>
                    <a:pt x="22920960" y="1511808"/>
                  </a:lnTo>
                  <a:lnTo>
                    <a:pt x="0" y="1511808"/>
                  </a:lnTo>
                  <a:close/>
                </a:path>
              </a:pathLst>
            </a:custGeom>
            <a:solidFill>
              <a:srgbClr val="38A169">
                <a:alpha val="33725"/>
              </a:srgbClr>
            </a:solidFill>
          </p:spPr>
        </p:sp>
        <p:sp>
          <p:nvSpPr>
            <p:cNvPr name="Freeform 80" id="80"/>
            <p:cNvSpPr/>
            <p:nvPr/>
          </p:nvSpPr>
          <p:spPr>
            <a:xfrm flipH="false" flipV="false" rot="0">
              <a:off x="0" y="0"/>
              <a:ext cx="22954743" cy="1545590"/>
            </a:xfrm>
            <a:custGeom>
              <a:avLst/>
              <a:gdLst/>
              <a:ahLst/>
              <a:cxnLst/>
              <a:rect r="r" b="b" t="t" l="l"/>
              <a:pathLst>
                <a:path h="1545590" w="22954743">
                  <a:moveTo>
                    <a:pt x="16891" y="0"/>
                  </a:moveTo>
                  <a:lnTo>
                    <a:pt x="22937851" y="0"/>
                  </a:lnTo>
                  <a:cubicBezTo>
                    <a:pt x="22947249" y="0"/>
                    <a:pt x="22954743" y="7620"/>
                    <a:pt x="22954743" y="16891"/>
                  </a:cubicBezTo>
                  <a:lnTo>
                    <a:pt x="22954743" y="1528699"/>
                  </a:lnTo>
                  <a:cubicBezTo>
                    <a:pt x="22954743" y="1538097"/>
                    <a:pt x="22947123" y="1545590"/>
                    <a:pt x="2293785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2937851" y="1511808"/>
                  </a:lnTo>
                  <a:lnTo>
                    <a:pt x="22937851" y="1528699"/>
                  </a:lnTo>
                  <a:lnTo>
                    <a:pt x="22920961" y="1528699"/>
                  </a:lnTo>
                  <a:lnTo>
                    <a:pt x="22920961" y="16891"/>
                  </a:lnTo>
                  <a:lnTo>
                    <a:pt x="22937851" y="16891"/>
                  </a:lnTo>
                  <a:lnTo>
                    <a:pt x="22937851" y="33909"/>
                  </a:lnTo>
                  <a:lnTo>
                    <a:pt x="16891" y="33909"/>
                  </a:lnTo>
                  <a:close/>
                </a:path>
              </a:pathLst>
            </a:custGeom>
            <a:solidFill>
              <a:srgbClr val="E2E8F0">
                <a:alpha val="33725"/>
              </a:srgbClr>
            </a:solidFill>
          </p:spPr>
        </p:sp>
      </p:grpSp>
      <p:grpSp>
        <p:nvGrpSpPr>
          <p:cNvPr name="Group 81" id="81"/>
          <p:cNvGrpSpPr/>
          <p:nvPr/>
        </p:nvGrpSpPr>
        <p:grpSpPr>
          <a:xfrm rot="0">
            <a:off x="548640" y="7150608"/>
            <a:ext cx="219456" cy="1133856"/>
            <a:chOff x="0" y="0"/>
            <a:chExt cx="292608" cy="1511808"/>
          </a:xfrm>
        </p:grpSpPr>
        <p:sp>
          <p:nvSpPr>
            <p:cNvPr name="Freeform 82" id="82"/>
            <p:cNvSpPr/>
            <p:nvPr/>
          </p:nvSpPr>
          <p:spPr>
            <a:xfrm flipH="false" flipV="false" rot="0">
              <a:off x="0" y="0"/>
              <a:ext cx="292608" cy="1511808"/>
            </a:xfrm>
            <a:custGeom>
              <a:avLst/>
              <a:gdLst/>
              <a:ahLst/>
              <a:cxnLst/>
              <a:rect r="r" b="b" t="t" l="l"/>
              <a:pathLst>
                <a:path h="1511808" w="292608">
                  <a:moveTo>
                    <a:pt x="0" y="0"/>
                  </a:moveTo>
                  <a:lnTo>
                    <a:pt x="292608" y="0"/>
                  </a:lnTo>
                  <a:lnTo>
                    <a:pt x="292608" y="1511808"/>
                  </a:lnTo>
                  <a:lnTo>
                    <a:pt x="0" y="1511808"/>
                  </a:lnTo>
                  <a:close/>
                </a:path>
              </a:pathLst>
            </a:custGeom>
            <a:solidFill>
              <a:srgbClr val="3D4D55"/>
            </a:solidFill>
          </p:spPr>
        </p:sp>
      </p:grpSp>
      <p:grpSp>
        <p:nvGrpSpPr>
          <p:cNvPr name="Group 83" id="83"/>
          <p:cNvGrpSpPr/>
          <p:nvPr/>
        </p:nvGrpSpPr>
        <p:grpSpPr>
          <a:xfrm rot="0">
            <a:off x="1005840" y="7223760"/>
            <a:ext cx="2468880" cy="572486"/>
            <a:chOff x="0" y="0"/>
            <a:chExt cx="3291840" cy="763315"/>
          </a:xfrm>
        </p:grpSpPr>
        <p:sp>
          <p:nvSpPr>
            <p:cNvPr name="Freeform 84" id="84"/>
            <p:cNvSpPr/>
            <p:nvPr/>
          </p:nvSpPr>
          <p:spPr>
            <a:xfrm flipH="false" flipV="false" rot="0">
              <a:off x="0" y="0"/>
              <a:ext cx="3291840" cy="763315"/>
            </a:xfrm>
            <a:custGeom>
              <a:avLst/>
              <a:gdLst/>
              <a:ahLst/>
              <a:cxnLst/>
              <a:rect r="r" b="b" t="t" l="l"/>
              <a:pathLst>
                <a:path h="763315" w="3291840">
                  <a:moveTo>
                    <a:pt x="0" y="0"/>
                  </a:moveTo>
                  <a:lnTo>
                    <a:pt x="3291840" y="0"/>
                  </a:lnTo>
                  <a:lnTo>
                    <a:pt x="3291840" y="763315"/>
                  </a:lnTo>
                  <a:lnTo>
                    <a:pt x="0" y="763315"/>
                  </a:lnTo>
                  <a:close/>
                </a:path>
              </a:pathLst>
            </a:custGeom>
            <a:blipFill>
              <a:blip r:embed="rId3">
                <a:alphaModFix amt="0"/>
              </a:blip>
              <a:stretch>
                <a:fillRect l="0" t="-42502" r="0" b="-25558"/>
              </a:stretch>
            </a:blipFill>
          </p:spPr>
        </p:sp>
        <p:sp>
          <p:nvSpPr>
            <p:cNvPr name="TextBox 85" id="85"/>
            <p:cNvSpPr txBox="true"/>
            <p:nvPr/>
          </p:nvSpPr>
          <p:spPr>
            <a:xfrm>
              <a:off x="0" y="-57150"/>
              <a:ext cx="3291840" cy="820465"/>
            </a:xfrm>
            <a:prstGeom prst="rect">
              <a:avLst/>
            </a:prstGeom>
          </p:spPr>
          <p:txBody>
            <a:bodyPr anchor="ctr" rtlCol="false" tIns="0" lIns="0" bIns="0" rIns="0"/>
            <a:lstStyle/>
            <a:p>
              <a:pPr algn="l">
                <a:lnSpc>
                  <a:spcPts val="3480"/>
                </a:lnSpc>
              </a:pPr>
              <a:r>
                <a:rPr lang="en-US" b="true" sz="2900">
                  <a:solidFill>
                    <a:srgbClr val="000000"/>
                  </a:solidFill>
                  <a:latin typeface="Consolas Bold"/>
                  <a:ea typeface="Consolas Bold"/>
                  <a:cs typeface="Consolas Bold"/>
                  <a:sym typeface="Consolas Bold"/>
                </a:rPr>
                <a:t>C_wt</a:t>
              </a:r>
            </a:p>
          </p:txBody>
        </p:sp>
      </p:grpSp>
      <p:grpSp>
        <p:nvGrpSpPr>
          <p:cNvPr name="Group 86" id="86"/>
          <p:cNvGrpSpPr/>
          <p:nvPr/>
        </p:nvGrpSpPr>
        <p:grpSpPr>
          <a:xfrm rot="0">
            <a:off x="1005840" y="7735824"/>
            <a:ext cx="4023360" cy="457200"/>
            <a:chOff x="0" y="0"/>
            <a:chExt cx="5364480" cy="609600"/>
          </a:xfrm>
        </p:grpSpPr>
        <p:sp>
          <p:nvSpPr>
            <p:cNvPr name="Freeform 87" id="87"/>
            <p:cNvSpPr/>
            <p:nvPr/>
          </p:nvSpPr>
          <p:spPr>
            <a:xfrm flipH="false" flipV="false" rot="0">
              <a:off x="0" y="0"/>
              <a:ext cx="5364480" cy="609600"/>
            </a:xfrm>
            <a:custGeom>
              <a:avLst/>
              <a:gdLst/>
              <a:ahLst/>
              <a:cxnLst/>
              <a:rect r="r" b="b" t="t" l="l"/>
              <a:pathLst>
                <a:path h="609600" w="5364480">
                  <a:moveTo>
                    <a:pt x="0" y="0"/>
                  </a:moveTo>
                  <a:lnTo>
                    <a:pt x="5364480" y="0"/>
                  </a:lnTo>
                  <a:lnTo>
                    <a:pt x="5364480" y="609600"/>
                  </a:lnTo>
                  <a:lnTo>
                    <a:pt x="0" y="609600"/>
                  </a:lnTo>
                  <a:close/>
                </a:path>
              </a:pathLst>
            </a:custGeom>
            <a:blipFill>
              <a:blip r:embed="rId3">
                <a:alphaModFix amt="0"/>
              </a:blip>
              <a:stretch>
                <a:fillRect l="0" t="-121468" r="0" b="-121468"/>
              </a:stretch>
            </a:blipFill>
          </p:spPr>
        </p:sp>
        <p:sp>
          <p:nvSpPr>
            <p:cNvPr name="TextBox 88" id="88"/>
            <p:cNvSpPr txBox="true"/>
            <p:nvPr/>
          </p:nvSpPr>
          <p:spPr>
            <a:xfrm>
              <a:off x="0" y="-19050"/>
              <a:ext cx="5364480" cy="628650"/>
            </a:xfrm>
            <a:prstGeom prst="rect">
              <a:avLst/>
            </a:prstGeom>
          </p:spPr>
          <p:txBody>
            <a:bodyPr anchor="ctr" rtlCol="false" tIns="0" lIns="0" bIns="0" rIns="0"/>
            <a:lstStyle/>
            <a:p>
              <a:pPr algn="l">
                <a:lnSpc>
                  <a:spcPts val="2280"/>
                </a:lnSpc>
              </a:pPr>
              <a:r>
                <a:rPr lang="en-US" sz="1900">
                  <a:solidFill>
                    <a:srgbClr val="000000"/>
                  </a:solidFill>
                  <a:latin typeface="Helios Extended"/>
                  <a:ea typeface="Helios Extended"/>
                  <a:cs typeface="Helios Extended"/>
                  <a:sym typeface="Helios Extended"/>
                </a:rPr>
                <a:t>Weighted Loss</a:t>
              </a:r>
            </a:p>
          </p:txBody>
        </p:sp>
      </p:grpSp>
      <p:grpSp>
        <p:nvGrpSpPr>
          <p:cNvPr name="Group 89" id="89"/>
          <p:cNvGrpSpPr/>
          <p:nvPr/>
        </p:nvGrpSpPr>
        <p:grpSpPr>
          <a:xfrm rot="0">
            <a:off x="5514975" y="7370064"/>
            <a:ext cx="10241280" cy="768096"/>
            <a:chOff x="0" y="0"/>
            <a:chExt cx="13655040" cy="1024128"/>
          </a:xfrm>
        </p:grpSpPr>
        <p:sp>
          <p:nvSpPr>
            <p:cNvPr name="Freeform 90" id="90"/>
            <p:cNvSpPr/>
            <p:nvPr/>
          </p:nvSpPr>
          <p:spPr>
            <a:xfrm flipH="false" flipV="false" rot="0">
              <a:off x="0" y="0"/>
              <a:ext cx="13655039" cy="1024128"/>
            </a:xfrm>
            <a:custGeom>
              <a:avLst/>
              <a:gdLst/>
              <a:ahLst/>
              <a:cxnLst/>
              <a:rect r="r" b="b" t="t" l="l"/>
              <a:pathLst>
                <a:path h="1024128" w="13655039">
                  <a:moveTo>
                    <a:pt x="0" y="0"/>
                  </a:moveTo>
                  <a:lnTo>
                    <a:pt x="13655039" y="0"/>
                  </a:lnTo>
                  <a:lnTo>
                    <a:pt x="13655039" y="1024128"/>
                  </a:lnTo>
                  <a:lnTo>
                    <a:pt x="0" y="1024128"/>
                  </a:lnTo>
                  <a:close/>
                </a:path>
              </a:pathLst>
            </a:custGeom>
            <a:blipFill>
              <a:blip r:embed="rId3">
                <a:alphaModFix amt="0"/>
              </a:blip>
              <a:stretch>
                <a:fillRect l="0" t="-209800" r="0" b="-209800"/>
              </a:stretch>
            </a:blipFill>
          </p:spPr>
        </p:sp>
        <p:sp>
          <p:nvSpPr>
            <p:cNvPr name="TextBox 91" id="91"/>
            <p:cNvSpPr txBox="true"/>
            <p:nvPr/>
          </p:nvSpPr>
          <p:spPr>
            <a:xfrm>
              <a:off x="0" y="-19050"/>
              <a:ext cx="13655040" cy="1043178"/>
            </a:xfrm>
            <a:prstGeom prst="rect">
              <a:avLst/>
            </a:prstGeom>
          </p:spPr>
          <p:txBody>
            <a:bodyPr anchor="ctr" rtlCol="false" tIns="0" lIns="0" bIns="0" rIns="0"/>
            <a:lstStyle/>
            <a:p>
              <a:pPr algn="l">
                <a:lnSpc>
                  <a:spcPts val="2640"/>
                </a:lnSpc>
              </a:pPr>
              <a:r>
                <a:rPr lang="en-US" sz="2200">
                  <a:solidFill>
                    <a:srgbClr val="000000"/>
                  </a:solidFill>
                  <a:latin typeface="Helios Extended"/>
                  <a:ea typeface="Helios Extended"/>
                  <a:cs typeface="Helios Extended"/>
                  <a:sym typeface="Helios Extended"/>
                </a:rPr>
                <a:t>10× multiplier on classification tokens — targets gradient imbalance.</a:t>
              </a:r>
            </a:p>
          </p:txBody>
        </p:sp>
      </p:grpSp>
      <p:grpSp>
        <p:nvGrpSpPr>
          <p:cNvPr name="Group 92" id="92"/>
          <p:cNvGrpSpPr/>
          <p:nvPr/>
        </p:nvGrpSpPr>
        <p:grpSpPr>
          <a:xfrm rot="0">
            <a:off x="16002000" y="7443216"/>
            <a:ext cx="1554480" cy="512064"/>
            <a:chOff x="0" y="0"/>
            <a:chExt cx="2072640" cy="682752"/>
          </a:xfrm>
        </p:grpSpPr>
        <p:sp>
          <p:nvSpPr>
            <p:cNvPr name="Freeform 93" id="93"/>
            <p:cNvSpPr/>
            <p:nvPr/>
          </p:nvSpPr>
          <p:spPr>
            <a:xfrm flipH="false" flipV="false" rot="0">
              <a:off x="0" y="0"/>
              <a:ext cx="2072640" cy="682752"/>
            </a:xfrm>
            <a:custGeom>
              <a:avLst/>
              <a:gdLst/>
              <a:ahLst/>
              <a:cxnLst/>
              <a:rect r="r" b="b" t="t" l="l"/>
              <a:pathLst>
                <a:path h="682752" w="2072640">
                  <a:moveTo>
                    <a:pt x="0" y="97536"/>
                  </a:moveTo>
                  <a:cubicBezTo>
                    <a:pt x="0" y="43688"/>
                    <a:pt x="43688" y="0"/>
                    <a:pt x="97536" y="0"/>
                  </a:cubicBezTo>
                  <a:lnTo>
                    <a:pt x="1975104" y="0"/>
                  </a:lnTo>
                  <a:cubicBezTo>
                    <a:pt x="2028952" y="0"/>
                    <a:pt x="2072640" y="43688"/>
                    <a:pt x="2072640" y="97536"/>
                  </a:cubicBezTo>
                  <a:lnTo>
                    <a:pt x="2072640" y="585216"/>
                  </a:lnTo>
                  <a:cubicBezTo>
                    <a:pt x="2072640" y="639064"/>
                    <a:pt x="2028952" y="682752"/>
                    <a:pt x="1975104" y="682752"/>
                  </a:cubicBezTo>
                  <a:lnTo>
                    <a:pt x="97536" y="682752"/>
                  </a:lnTo>
                  <a:cubicBezTo>
                    <a:pt x="43688" y="682752"/>
                    <a:pt x="0" y="639064"/>
                    <a:pt x="0" y="585216"/>
                  </a:cubicBezTo>
                  <a:close/>
                </a:path>
              </a:pathLst>
            </a:custGeom>
            <a:solidFill>
              <a:srgbClr val="1A1A2E"/>
            </a:solidFill>
          </p:spPr>
        </p:sp>
      </p:grpSp>
      <p:grpSp>
        <p:nvGrpSpPr>
          <p:cNvPr name="Group 94" id="94"/>
          <p:cNvGrpSpPr/>
          <p:nvPr/>
        </p:nvGrpSpPr>
        <p:grpSpPr>
          <a:xfrm rot="0">
            <a:off x="16002000" y="7479792"/>
            <a:ext cx="1554480" cy="438912"/>
            <a:chOff x="0" y="0"/>
            <a:chExt cx="2072640" cy="585216"/>
          </a:xfrm>
        </p:grpSpPr>
        <p:sp>
          <p:nvSpPr>
            <p:cNvPr name="Freeform 95" id="95"/>
            <p:cNvSpPr/>
            <p:nvPr/>
          </p:nvSpPr>
          <p:spPr>
            <a:xfrm flipH="false" flipV="false" rot="0">
              <a:off x="0" y="0"/>
              <a:ext cx="2072640" cy="585216"/>
            </a:xfrm>
            <a:custGeom>
              <a:avLst/>
              <a:gdLst/>
              <a:ahLst/>
              <a:cxnLst/>
              <a:rect r="r" b="b" t="t" l="l"/>
              <a:pathLst>
                <a:path h="585216" w="2072640">
                  <a:moveTo>
                    <a:pt x="0" y="0"/>
                  </a:moveTo>
                  <a:lnTo>
                    <a:pt x="2072640" y="0"/>
                  </a:lnTo>
                  <a:lnTo>
                    <a:pt x="2072640" y="585216"/>
                  </a:lnTo>
                  <a:lnTo>
                    <a:pt x="0" y="585216"/>
                  </a:lnTo>
                  <a:close/>
                </a:path>
              </a:pathLst>
            </a:custGeom>
            <a:solidFill>
              <a:srgbClr val="02901D">
                <a:alpha val="0"/>
              </a:srgbClr>
            </a:solidFill>
          </p:spPr>
        </p:sp>
        <p:sp>
          <p:nvSpPr>
            <p:cNvPr name="TextBox 96" id="96"/>
            <p:cNvSpPr txBox="true"/>
            <p:nvPr/>
          </p:nvSpPr>
          <p:spPr>
            <a:xfrm>
              <a:off x="0" y="-19050"/>
              <a:ext cx="2072640" cy="604266"/>
            </a:xfrm>
            <a:prstGeom prst="rect">
              <a:avLst/>
            </a:prstGeom>
          </p:spPr>
          <p:txBody>
            <a:bodyPr anchor="ctr" rtlCol="false" tIns="0" lIns="0" bIns="0" rIns="0"/>
            <a:lstStyle/>
            <a:p>
              <a:pPr algn="ctr">
                <a:lnSpc>
                  <a:spcPts val="2039"/>
                </a:lnSpc>
              </a:pPr>
              <a:r>
                <a:rPr lang="en-US" sz="1700" b="true">
                  <a:solidFill>
                    <a:srgbClr val="FFFFFF"/>
                  </a:solidFill>
                  <a:latin typeface="Helios Extended Bold"/>
                  <a:ea typeface="Helios Extended Bold"/>
                  <a:cs typeface="Helios Extended Bold"/>
                  <a:sym typeface="Helios Extended Bold"/>
                </a:rPr>
                <a:t>Proposed</a:t>
              </a:r>
            </a:p>
          </p:txBody>
        </p:sp>
      </p:grpSp>
      <p:grpSp>
        <p:nvGrpSpPr>
          <p:cNvPr name="Group 97" id="97"/>
          <p:cNvGrpSpPr/>
          <p:nvPr/>
        </p:nvGrpSpPr>
        <p:grpSpPr>
          <a:xfrm rot="0">
            <a:off x="535943" y="8491223"/>
            <a:ext cx="17216123" cy="1159259"/>
            <a:chOff x="0" y="0"/>
            <a:chExt cx="22954831" cy="1545679"/>
          </a:xfrm>
        </p:grpSpPr>
        <p:sp>
          <p:nvSpPr>
            <p:cNvPr name="Freeform 98" id="98"/>
            <p:cNvSpPr/>
            <p:nvPr/>
          </p:nvSpPr>
          <p:spPr>
            <a:xfrm flipH="false" flipV="false" rot="0">
              <a:off x="16891" y="16891"/>
              <a:ext cx="22920960" cy="1511808"/>
            </a:xfrm>
            <a:custGeom>
              <a:avLst/>
              <a:gdLst/>
              <a:ahLst/>
              <a:cxnLst/>
              <a:rect r="r" b="b" t="t" l="l"/>
              <a:pathLst>
                <a:path h="1511808" w="22920960">
                  <a:moveTo>
                    <a:pt x="0" y="0"/>
                  </a:moveTo>
                  <a:lnTo>
                    <a:pt x="22920960" y="0"/>
                  </a:lnTo>
                  <a:lnTo>
                    <a:pt x="22920960" y="1511808"/>
                  </a:lnTo>
                  <a:lnTo>
                    <a:pt x="0" y="1511808"/>
                  </a:lnTo>
                  <a:close/>
                </a:path>
              </a:pathLst>
            </a:custGeom>
            <a:solidFill>
              <a:srgbClr val="38A169">
                <a:alpha val="34902"/>
              </a:srgbClr>
            </a:solidFill>
          </p:spPr>
        </p:sp>
        <p:sp>
          <p:nvSpPr>
            <p:cNvPr name="Freeform 99" id="99"/>
            <p:cNvSpPr/>
            <p:nvPr/>
          </p:nvSpPr>
          <p:spPr>
            <a:xfrm flipH="false" flipV="false" rot="0">
              <a:off x="0" y="0"/>
              <a:ext cx="22954743" cy="1545590"/>
            </a:xfrm>
            <a:custGeom>
              <a:avLst/>
              <a:gdLst/>
              <a:ahLst/>
              <a:cxnLst/>
              <a:rect r="r" b="b" t="t" l="l"/>
              <a:pathLst>
                <a:path h="1545590" w="22954743">
                  <a:moveTo>
                    <a:pt x="16891" y="0"/>
                  </a:moveTo>
                  <a:lnTo>
                    <a:pt x="22937851" y="0"/>
                  </a:lnTo>
                  <a:cubicBezTo>
                    <a:pt x="22947249" y="0"/>
                    <a:pt x="22954743" y="7620"/>
                    <a:pt x="22954743" y="16891"/>
                  </a:cubicBezTo>
                  <a:lnTo>
                    <a:pt x="22954743" y="1528699"/>
                  </a:lnTo>
                  <a:cubicBezTo>
                    <a:pt x="22954743" y="1538097"/>
                    <a:pt x="22947123" y="1545590"/>
                    <a:pt x="2293785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2937851" y="1511808"/>
                  </a:lnTo>
                  <a:lnTo>
                    <a:pt x="22937851" y="1528699"/>
                  </a:lnTo>
                  <a:lnTo>
                    <a:pt x="22920961" y="1528699"/>
                  </a:lnTo>
                  <a:lnTo>
                    <a:pt x="22920961" y="16891"/>
                  </a:lnTo>
                  <a:lnTo>
                    <a:pt x="22937851" y="16891"/>
                  </a:lnTo>
                  <a:lnTo>
                    <a:pt x="22937851" y="33909"/>
                  </a:lnTo>
                  <a:lnTo>
                    <a:pt x="16891" y="33909"/>
                  </a:lnTo>
                  <a:close/>
                </a:path>
              </a:pathLst>
            </a:custGeom>
            <a:solidFill>
              <a:srgbClr val="E2E8F0">
                <a:alpha val="34902"/>
              </a:srgbClr>
            </a:solidFill>
          </p:spPr>
        </p:sp>
      </p:grpSp>
      <p:grpSp>
        <p:nvGrpSpPr>
          <p:cNvPr name="Group 100" id="100"/>
          <p:cNvGrpSpPr/>
          <p:nvPr/>
        </p:nvGrpSpPr>
        <p:grpSpPr>
          <a:xfrm rot="0">
            <a:off x="548640" y="8503920"/>
            <a:ext cx="219456" cy="1133856"/>
            <a:chOff x="0" y="0"/>
            <a:chExt cx="292608" cy="1511808"/>
          </a:xfrm>
        </p:grpSpPr>
        <p:sp>
          <p:nvSpPr>
            <p:cNvPr name="Freeform 101" id="101"/>
            <p:cNvSpPr/>
            <p:nvPr/>
          </p:nvSpPr>
          <p:spPr>
            <a:xfrm flipH="false" flipV="false" rot="0">
              <a:off x="0" y="0"/>
              <a:ext cx="292608" cy="1511808"/>
            </a:xfrm>
            <a:custGeom>
              <a:avLst/>
              <a:gdLst/>
              <a:ahLst/>
              <a:cxnLst/>
              <a:rect r="r" b="b" t="t" l="l"/>
              <a:pathLst>
                <a:path h="1511808" w="292608">
                  <a:moveTo>
                    <a:pt x="0" y="0"/>
                  </a:moveTo>
                  <a:lnTo>
                    <a:pt x="292608" y="0"/>
                  </a:lnTo>
                  <a:lnTo>
                    <a:pt x="292608" y="1511808"/>
                  </a:lnTo>
                  <a:lnTo>
                    <a:pt x="0" y="1511808"/>
                  </a:lnTo>
                  <a:close/>
                </a:path>
              </a:pathLst>
            </a:custGeom>
            <a:solidFill>
              <a:srgbClr val="3D4D55"/>
            </a:solidFill>
          </p:spPr>
        </p:sp>
      </p:grpSp>
      <p:grpSp>
        <p:nvGrpSpPr>
          <p:cNvPr name="Group 102" id="102"/>
          <p:cNvGrpSpPr/>
          <p:nvPr/>
        </p:nvGrpSpPr>
        <p:grpSpPr>
          <a:xfrm rot="0">
            <a:off x="1005840" y="8577072"/>
            <a:ext cx="2468880" cy="572486"/>
            <a:chOff x="0" y="0"/>
            <a:chExt cx="3291840" cy="763315"/>
          </a:xfrm>
        </p:grpSpPr>
        <p:sp>
          <p:nvSpPr>
            <p:cNvPr name="Freeform 103" id="103"/>
            <p:cNvSpPr/>
            <p:nvPr/>
          </p:nvSpPr>
          <p:spPr>
            <a:xfrm flipH="false" flipV="false" rot="0">
              <a:off x="0" y="0"/>
              <a:ext cx="3291840" cy="763315"/>
            </a:xfrm>
            <a:custGeom>
              <a:avLst/>
              <a:gdLst/>
              <a:ahLst/>
              <a:cxnLst/>
              <a:rect r="r" b="b" t="t" l="l"/>
              <a:pathLst>
                <a:path h="763315" w="3291840">
                  <a:moveTo>
                    <a:pt x="0" y="0"/>
                  </a:moveTo>
                  <a:lnTo>
                    <a:pt x="3291840" y="0"/>
                  </a:lnTo>
                  <a:lnTo>
                    <a:pt x="3291840" y="763315"/>
                  </a:lnTo>
                  <a:lnTo>
                    <a:pt x="0" y="763315"/>
                  </a:lnTo>
                  <a:close/>
                </a:path>
              </a:pathLst>
            </a:custGeom>
            <a:blipFill>
              <a:blip r:embed="rId3">
                <a:alphaModFix amt="0"/>
              </a:blip>
              <a:stretch>
                <a:fillRect l="0" t="-42502" r="0" b="-25558"/>
              </a:stretch>
            </a:blipFill>
          </p:spPr>
        </p:sp>
        <p:sp>
          <p:nvSpPr>
            <p:cNvPr name="TextBox 104" id="104"/>
            <p:cNvSpPr txBox="true"/>
            <p:nvPr/>
          </p:nvSpPr>
          <p:spPr>
            <a:xfrm>
              <a:off x="0" y="-57150"/>
              <a:ext cx="3291840" cy="820465"/>
            </a:xfrm>
            <a:prstGeom prst="rect">
              <a:avLst/>
            </a:prstGeom>
          </p:spPr>
          <p:txBody>
            <a:bodyPr anchor="ctr" rtlCol="false" tIns="0" lIns="0" bIns="0" rIns="0"/>
            <a:lstStyle/>
            <a:p>
              <a:pPr algn="l">
                <a:lnSpc>
                  <a:spcPts val="3480"/>
                </a:lnSpc>
              </a:pPr>
              <a:r>
                <a:rPr lang="en-US" b="true" sz="2900">
                  <a:solidFill>
                    <a:srgbClr val="000000"/>
                  </a:solidFill>
                  <a:latin typeface="Consolas Bold"/>
                  <a:ea typeface="Consolas Bold"/>
                  <a:cs typeface="Consolas Bold"/>
                  <a:sym typeface="Consolas Bold"/>
                </a:rPr>
                <a:t>C_compact</a:t>
              </a:r>
            </a:p>
          </p:txBody>
        </p:sp>
      </p:grpSp>
      <p:grpSp>
        <p:nvGrpSpPr>
          <p:cNvPr name="Group 105" id="105"/>
          <p:cNvGrpSpPr/>
          <p:nvPr/>
        </p:nvGrpSpPr>
        <p:grpSpPr>
          <a:xfrm rot="0">
            <a:off x="1005840" y="9089136"/>
            <a:ext cx="4023360" cy="457200"/>
            <a:chOff x="0" y="0"/>
            <a:chExt cx="5364480" cy="609600"/>
          </a:xfrm>
        </p:grpSpPr>
        <p:sp>
          <p:nvSpPr>
            <p:cNvPr name="Freeform 106" id="106"/>
            <p:cNvSpPr/>
            <p:nvPr/>
          </p:nvSpPr>
          <p:spPr>
            <a:xfrm flipH="false" flipV="false" rot="0">
              <a:off x="0" y="0"/>
              <a:ext cx="5364480" cy="609600"/>
            </a:xfrm>
            <a:custGeom>
              <a:avLst/>
              <a:gdLst/>
              <a:ahLst/>
              <a:cxnLst/>
              <a:rect r="r" b="b" t="t" l="l"/>
              <a:pathLst>
                <a:path h="609600" w="5364480">
                  <a:moveTo>
                    <a:pt x="0" y="0"/>
                  </a:moveTo>
                  <a:lnTo>
                    <a:pt x="5364480" y="0"/>
                  </a:lnTo>
                  <a:lnTo>
                    <a:pt x="5364480" y="609600"/>
                  </a:lnTo>
                  <a:lnTo>
                    <a:pt x="0" y="609600"/>
                  </a:lnTo>
                  <a:close/>
                </a:path>
              </a:pathLst>
            </a:custGeom>
            <a:blipFill>
              <a:blip r:embed="rId3">
                <a:alphaModFix amt="0"/>
              </a:blip>
              <a:stretch>
                <a:fillRect l="0" t="-121468" r="0" b="-121468"/>
              </a:stretch>
            </a:blipFill>
          </p:spPr>
        </p:sp>
        <p:sp>
          <p:nvSpPr>
            <p:cNvPr name="TextBox 107" id="107"/>
            <p:cNvSpPr txBox="true"/>
            <p:nvPr/>
          </p:nvSpPr>
          <p:spPr>
            <a:xfrm>
              <a:off x="0" y="-19050"/>
              <a:ext cx="5364480" cy="628650"/>
            </a:xfrm>
            <a:prstGeom prst="rect">
              <a:avLst/>
            </a:prstGeom>
          </p:spPr>
          <p:txBody>
            <a:bodyPr anchor="ctr" rtlCol="false" tIns="0" lIns="0" bIns="0" rIns="0"/>
            <a:lstStyle/>
            <a:p>
              <a:pPr algn="l">
                <a:lnSpc>
                  <a:spcPts val="2280"/>
                </a:lnSpc>
              </a:pPr>
              <a:r>
                <a:rPr lang="en-US" sz="1900">
                  <a:solidFill>
                    <a:srgbClr val="000000"/>
                  </a:solidFill>
                  <a:latin typeface="Helios Extended"/>
                  <a:ea typeface="Helios Extended"/>
                  <a:cs typeface="Helios Extended"/>
                  <a:sym typeface="Helios Extended"/>
                </a:rPr>
                <a:t>Compact CoT (All 3 Fixes)</a:t>
              </a:r>
            </a:p>
          </p:txBody>
        </p:sp>
      </p:grpSp>
      <p:grpSp>
        <p:nvGrpSpPr>
          <p:cNvPr name="Group 108" id="108"/>
          <p:cNvGrpSpPr/>
          <p:nvPr/>
        </p:nvGrpSpPr>
        <p:grpSpPr>
          <a:xfrm rot="0">
            <a:off x="5486400" y="8723376"/>
            <a:ext cx="10241280" cy="768096"/>
            <a:chOff x="0" y="0"/>
            <a:chExt cx="13655040" cy="1024128"/>
          </a:xfrm>
        </p:grpSpPr>
        <p:sp>
          <p:nvSpPr>
            <p:cNvPr name="Freeform 109" id="109"/>
            <p:cNvSpPr/>
            <p:nvPr/>
          </p:nvSpPr>
          <p:spPr>
            <a:xfrm flipH="false" flipV="false" rot="0">
              <a:off x="0" y="0"/>
              <a:ext cx="13655039" cy="1024128"/>
            </a:xfrm>
            <a:custGeom>
              <a:avLst/>
              <a:gdLst/>
              <a:ahLst/>
              <a:cxnLst/>
              <a:rect r="r" b="b" t="t" l="l"/>
              <a:pathLst>
                <a:path h="1024128" w="13655039">
                  <a:moveTo>
                    <a:pt x="0" y="0"/>
                  </a:moveTo>
                  <a:lnTo>
                    <a:pt x="13655039" y="0"/>
                  </a:lnTo>
                  <a:lnTo>
                    <a:pt x="13655039" y="1024128"/>
                  </a:lnTo>
                  <a:lnTo>
                    <a:pt x="0" y="1024128"/>
                  </a:lnTo>
                  <a:close/>
                </a:path>
              </a:pathLst>
            </a:custGeom>
            <a:blipFill>
              <a:blip r:embed="rId3">
                <a:alphaModFix amt="0"/>
              </a:blip>
              <a:stretch>
                <a:fillRect l="0" t="-209800" r="0" b="-209800"/>
              </a:stretch>
            </a:blipFill>
          </p:spPr>
        </p:sp>
        <p:sp>
          <p:nvSpPr>
            <p:cNvPr name="TextBox 110" id="110"/>
            <p:cNvSpPr txBox="true"/>
            <p:nvPr/>
          </p:nvSpPr>
          <p:spPr>
            <a:xfrm>
              <a:off x="0" y="-19050"/>
              <a:ext cx="13655040" cy="1043178"/>
            </a:xfrm>
            <a:prstGeom prst="rect">
              <a:avLst/>
            </a:prstGeom>
          </p:spPr>
          <p:txBody>
            <a:bodyPr anchor="ctr" rtlCol="false" tIns="0" lIns="0" bIns="0" rIns="0"/>
            <a:lstStyle/>
            <a:p>
              <a:pPr algn="l">
                <a:lnSpc>
                  <a:spcPts val="2640"/>
                </a:lnSpc>
              </a:pPr>
              <a:r>
                <a:rPr lang="en-US" sz="2200">
                  <a:solidFill>
                    <a:srgbClr val="000000"/>
                  </a:solidFill>
                  <a:latin typeface="Helios Extended"/>
                  <a:ea typeface="Helios Extended"/>
                  <a:cs typeface="Helios Extended"/>
                  <a:sym typeface="Helios Extended"/>
                </a:rPr>
                <a:t>100-word CoT + weighted loss + aggressive resampling (T=0.25).</a:t>
              </a:r>
            </a:p>
          </p:txBody>
        </p:sp>
      </p:grpSp>
      <p:grpSp>
        <p:nvGrpSpPr>
          <p:cNvPr name="Group 111" id="111"/>
          <p:cNvGrpSpPr/>
          <p:nvPr/>
        </p:nvGrpSpPr>
        <p:grpSpPr>
          <a:xfrm rot="0">
            <a:off x="16002000" y="8796528"/>
            <a:ext cx="1554480" cy="512064"/>
            <a:chOff x="0" y="0"/>
            <a:chExt cx="2072640" cy="682752"/>
          </a:xfrm>
        </p:grpSpPr>
        <p:sp>
          <p:nvSpPr>
            <p:cNvPr name="Freeform 112" id="112"/>
            <p:cNvSpPr/>
            <p:nvPr/>
          </p:nvSpPr>
          <p:spPr>
            <a:xfrm flipH="false" flipV="false" rot="0">
              <a:off x="0" y="0"/>
              <a:ext cx="2072640" cy="682752"/>
            </a:xfrm>
            <a:custGeom>
              <a:avLst/>
              <a:gdLst/>
              <a:ahLst/>
              <a:cxnLst/>
              <a:rect r="r" b="b" t="t" l="l"/>
              <a:pathLst>
                <a:path h="682752" w="2072640">
                  <a:moveTo>
                    <a:pt x="0" y="97536"/>
                  </a:moveTo>
                  <a:cubicBezTo>
                    <a:pt x="0" y="43688"/>
                    <a:pt x="43688" y="0"/>
                    <a:pt x="97536" y="0"/>
                  </a:cubicBezTo>
                  <a:lnTo>
                    <a:pt x="1975104" y="0"/>
                  </a:lnTo>
                  <a:cubicBezTo>
                    <a:pt x="2028952" y="0"/>
                    <a:pt x="2072640" y="43688"/>
                    <a:pt x="2072640" y="97536"/>
                  </a:cubicBezTo>
                  <a:lnTo>
                    <a:pt x="2072640" y="585216"/>
                  </a:lnTo>
                  <a:cubicBezTo>
                    <a:pt x="2072640" y="639064"/>
                    <a:pt x="2028952" y="682752"/>
                    <a:pt x="1975104" y="682752"/>
                  </a:cubicBezTo>
                  <a:lnTo>
                    <a:pt x="97536" y="682752"/>
                  </a:lnTo>
                  <a:cubicBezTo>
                    <a:pt x="43688" y="682752"/>
                    <a:pt x="0" y="639064"/>
                    <a:pt x="0" y="585216"/>
                  </a:cubicBezTo>
                  <a:close/>
                </a:path>
              </a:pathLst>
            </a:custGeom>
            <a:solidFill>
              <a:srgbClr val="1A1A2E"/>
            </a:solidFill>
          </p:spPr>
        </p:sp>
      </p:grpSp>
      <p:grpSp>
        <p:nvGrpSpPr>
          <p:cNvPr name="Group 113" id="113"/>
          <p:cNvGrpSpPr/>
          <p:nvPr/>
        </p:nvGrpSpPr>
        <p:grpSpPr>
          <a:xfrm rot="0">
            <a:off x="16002000" y="8833104"/>
            <a:ext cx="1554480" cy="438912"/>
            <a:chOff x="0" y="0"/>
            <a:chExt cx="2072640" cy="585216"/>
          </a:xfrm>
        </p:grpSpPr>
        <p:sp>
          <p:nvSpPr>
            <p:cNvPr name="Freeform 114" id="114"/>
            <p:cNvSpPr/>
            <p:nvPr/>
          </p:nvSpPr>
          <p:spPr>
            <a:xfrm flipH="false" flipV="false" rot="0">
              <a:off x="0" y="0"/>
              <a:ext cx="2072640" cy="585216"/>
            </a:xfrm>
            <a:custGeom>
              <a:avLst/>
              <a:gdLst/>
              <a:ahLst/>
              <a:cxnLst/>
              <a:rect r="r" b="b" t="t" l="l"/>
              <a:pathLst>
                <a:path h="585216" w="2072640">
                  <a:moveTo>
                    <a:pt x="0" y="0"/>
                  </a:moveTo>
                  <a:lnTo>
                    <a:pt x="2072640" y="0"/>
                  </a:lnTo>
                  <a:lnTo>
                    <a:pt x="2072640" y="585216"/>
                  </a:lnTo>
                  <a:lnTo>
                    <a:pt x="0" y="585216"/>
                  </a:lnTo>
                  <a:close/>
                </a:path>
              </a:pathLst>
            </a:custGeom>
            <a:blipFill>
              <a:blip r:embed="rId3">
                <a:alphaModFix amt="0"/>
              </a:blip>
              <a:stretch>
                <a:fillRect l="0" t="-19009" r="0" b="-19009"/>
              </a:stretch>
            </a:blipFill>
          </p:spPr>
        </p:sp>
        <p:sp>
          <p:nvSpPr>
            <p:cNvPr name="TextBox 115" id="115"/>
            <p:cNvSpPr txBox="true"/>
            <p:nvPr/>
          </p:nvSpPr>
          <p:spPr>
            <a:xfrm>
              <a:off x="0" y="-19050"/>
              <a:ext cx="2072640" cy="604266"/>
            </a:xfrm>
            <a:prstGeom prst="rect">
              <a:avLst/>
            </a:prstGeom>
          </p:spPr>
          <p:txBody>
            <a:bodyPr anchor="ctr" rtlCol="false" tIns="0" lIns="0" bIns="0" rIns="0"/>
            <a:lstStyle/>
            <a:p>
              <a:pPr algn="ctr">
                <a:lnSpc>
                  <a:spcPts val="2039"/>
                </a:lnSpc>
              </a:pPr>
              <a:r>
                <a:rPr lang="en-US" sz="1700" b="true">
                  <a:solidFill>
                    <a:srgbClr val="FFFFFF"/>
                  </a:solidFill>
                  <a:latin typeface="Helios Extended Bold"/>
                  <a:ea typeface="Helios Extended Bold"/>
                  <a:cs typeface="Helios Extended Bold"/>
                  <a:sym typeface="Helios Extended Bold"/>
                </a:rPr>
                <a:t>Proposed</a:t>
              </a:r>
            </a:p>
          </p:txBody>
        </p:sp>
      </p:grpSp>
      <p:sp>
        <p:nvSpPr>
          <p:cNvPr name="TextBox 116" id="1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grpSp>
        <p:nvGrpSpPr>
          <p:cNvPr name="Group 117" id="117"/>
          <p:cNvGrpSpPr/>
          <p:nvPr/>
        </p:nvGrpSpPr>
        <p:grpSpPr>
          <a:xfrm rot="0">
            <a:off x="15198681" y="365760"/>
            <a:ext cx="2723559" cy="585216"/>
            <a:chOff x="0" y="0"/>
            <a:chExt cx="3631412" cy="780288"/>
          </a:xfrm>
        </p:grpSpPr>
        <p:sp>
          <p:nvSpPr>
            <p:cNvPr name="Freeform 118" id="118"/>
            <p:cNvSpPr/>
            <p:nvPr/>
          </p:nvSpPr>
          <p:spPr>
            <a:xfrm flipH="false" flipV="false" rot="0">
              <a:off x="0" y="0"/>
              <a:ext cx="3631412" cy="780288"/>
            </a:xfrm>
            <a:custGeom>
              <a:avLst/>
              <a:gdLst/>
              <a:ahLst/>
              <a:cxnLst/>
              <a:rect r="r" b="b" t="t" l="l"/>
              <a:pathLst>
                <a:path h="780288" w="3631412">
                  <a:moveTo>
                    <a:pt x="0" y="121920"/>
                  </a:moveTo>
                  <a:cubicBezTo>
                    <a:pt x="0" y="54610"/>
                    <a:pt x="62560" y="0"/>
                    <a:pt x="139670" y="0"/>
                  </a:cubicBezTo>
                  <a:lnTo>
                    <a:pt x="3491742" y="0"/>
                  </a:lnTo>
                  <a:cubicBezTo>
                    <a:pt x="3568852" y="0"/>
                    <a:pt x="3631412" y="54610"/>
                    <a:pt x="3631412" y="121920"/>
                  </a:cubicBezTo>
                  <a:lnTo>
                    <a:pt x="3631412" y="658368"/>
                  </a:lnTo>
                  <a:cubicBezTo>
                    <a:pt x="3631412" y="725678"/>
                    <a:pt x="3568852" y="780288"/>
                    <a:pt x="3491742" y="780288"/>
                  </a:cubicBezTo>
                  <a:lnTo>
                    <a:pt x="139670" y="780288"/>
                  </a:lnTo>
                  <a:cubicBezTo>
                    <a:pt x="62560" y="780288"/>
                    <a:pt x="0" y="725678"/>
                    <a:pt x="0" y="658368"/>
                  </a:cubicBezTo>
                  <a:close/>
                </a:path>
              </a:pathLst>
            </a:custGeom>
            <a:solidFill>
              <a:srgbClr val="3D4D55"/>
            </a:solidFill>
          </p:spPr>
        </p:sp>
      </p:grpSp>
      <p:grpSp>
        <p:nvGrpSpPr>
          <p:cNvPr name="Group 119" id="119"/>
          <p:cNvGrpSpPr/>
          <p:nvPr/>
        </p:nvGrpSpPr>
        <p:grpSpPr>
          <a:xfrm rot="0">
            <a:off x="15301097" y="402336"/>
            <a:ext cx="2518728" cy="512064"/>
            <a:chOff x="0" y="0"/>
            <a:chExt cx="3358303" cy="682752"/>
          </a:xfrm>
        </p:grpSpPr>
        <p:sp>
          <p:nvSpPr>
            <p:cNvPr name="Freeform 120" id="120"/>
            <p:cNvSpPr/>
            <p:nvPr/>
          </p:nvSpPr>
          <p:spPr>
            <a:xfrm flipH="false" flipV="false" rot="0">
              <a:off x="0" y="0"/>
              <a:ext cx="3358304" cy="682752"/>
            </a:xfrm>
            <a:custGeom>
              <a:avLst/>
              <a:gdLst/>
              <a:ahLst/>
              <a:cxnLst/>
              <a:rect r="r" b="b" t="t" l="l"/>
              <a:pathLst>
                <a:path h="682752" w="3358304">
                  <a:moveTo>
                    <a:pt x="0" y="0"/>
                  </a:moveTo>
                  <a:lnTo>
                    <a:pt x="3358304" y="0"/>
                  </a:lnTo>
                  <a:lnTo>
                    <a:pt x="3358304" y="682752"/>
                  </a:lnTo>
                  <a:lnTo>
                    <a:pt x="0" y="682752"/>
                  </a:lnTo>
                  <a:close/>
                </a:path>
              </a:pathLst>
            </a:custGeom>
            <a:blipFill>
              <a:blip r:embed="rId3">
                <a:alphaModFix amt="0"/>
              </a:blip>
              <a:stretch>
                <a:fillRect l="0" t="-40466" r="5609" b="-40466"/>
              </a:stretch>
            </a:blipFill>
          </p:spPr>
        </p:sp>
        <p:sp>
          <p:nvSpPr>
            <p:cNvPr name="TextBox 121" id="121"/>
            <p:cNvSpPr txBox="true"/>
            <p:nvPr/>
          </p:nvSpPr>
          <p:spPr>
            <a:xfrm>
              <a:off x="0" y="-9525"/>
              <a:ext cx="3358303" cy="692277"/>
            </a:xfrm>
            <a:prstGeom prst="rect">
              <a:avLst/>
            </a:prstGeom>
          </p:spPr>
          <p:txBody>
            <a:bodyPr anchor="ctr" rtlCol="false" tIns="0" lIns="0" bIns="0" rIns="0"/>
            <a:lstStyle/>
            <a:p>
              <a:pPr algn="ctr">
                <a:lnSpc>
                  <a:spcPts val="2160"/>
                </a:lnSpc>
              </a:pPr>
              <a:r>
                <a:rPr lang="en-US" sz="1800" b="true">
                  <a:solidFill>
                    <a:srgbClr val="FFFFFF"/>
                  </a:solidFill>
                  <a:latin typeface="Helios Extended Bold"/>
                  <a:ea typeface="Helios Extended Bold"/>
                  <a:cs typeface="Helios Extended Bold"/>
                  <a:sym typeface="Helios Extended Bold"/>
                </a:rPr>
                <a:t>5. Proposed Fixes</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50036" y="686630"/>
            <a:ext cx="12801600" cy="1037615"/>
            <a:chOff x="0" y="0"/>
            <a:chExt cx="17068800" cy="1383487"/>
          </a:xfrm>
        </p:grpSpPr>
        <p:sp>
          <p:nvSpPr>
            <p:cNvPr name="Freeform 3" id="3"/>
            <p:cNvSpPr/>
            <p:nvPr/>
          </p:nvSpPr>
          <p:spPr>
            <a:xfrm flipH="false" flipV="false" rot="0">
              <a:off x="0" y="0"/>
              <a:ext cx="17068800" cy="1383487"/>
            </a:xfrm>
            <a:custGeom>
              <a:avLst/>
              <a:gdLst/>
              <a:ahLst/>
              <a:cxnLst/>
              <a:rect r="r" b="b" t="t" l="l"/>
              <a:pathLst>
                <a:path h="1383487" w="17068800">
                  <a:moveTo>
                    <a:pt x="0" y="0"/>
                  </a:moveTo>
                  <a:lnTo>
                    <a:pt x="17068800" y="0"/>
                  </a:lnTo>
                  <a:lnTo>
                    <a:pt x="17068800" y="1383487"/>
                  </a:lnTo>
                  <a:lnTo>
                    <a:pt x="0" y="1383487"/>
                  </a:lnTo>
                  <a:close/>
                </a:path>
              </a:pathLst>
            </a:custGeom>
            <a:blipFill>
              <a:blip r:embed="rId3">
                <a:alphaModFix amt="0"/>
              </a:blip>
              <a:stretch>
                <a:fillRect l="0" t="-191928" r="0" b="-188865"/>
              </a:stretch>
            </a:blipFill>
          </p:spPr>
        </p:sp>
        <p:sp>
          <p:nvSpPr>
            <p:cNvPr name="TextBox 4" id="4"/>
            <p:cNvSpPr txBox="true"/>
            <p:nvPr/>
          </p:nvSpPr>
          <p:spPr>
            <a:xfrm>
              <a:off x="0" y="-38100"/>
              <a:ext cx="17068800" cy="1421587"/>
            </a:xfrm>
            <a:prstGeom prst="rect">
              <a:avLst/>
            </a:prstGeom>
          </p:spPr>
          <p:txBody>
            <a:bodyPr anchor="ctr" rtlCol="false" tIns="0" lIns="0" bIns="0" rIns="0"/>
            <a:lstStyle/>
            <a:p>
              <a:pPr algn="l">
                <a:lnSpc>
                  <a:spcPts val="6839"/>
                </a:lnSpc>
              </a:pPr>
              <a:r>
                <a:rPr lang="en-US" b="true" sz="5700">
                  <a:solidFill>
                    <a:srgbClr val="000000"/>
                  </a:solidFill>
                  <a:latin typeface="Helios Extended Bold"/>
                  <a:ea typeface="Helios Extended Bold"/>
                  <a:cs typeface="Helios Extended Bold"/>
                  <a:sym typeface="Helios Extended Bold"/>
                </a:rPr>
                <a:t>Limitations</a:t>
              </a:r>
            </a:p>
          </p:txBody>
        </p:sp>
      </p:grpSp>
      <p:grpSp>
        <p:nvGrpSpPr>
          <p:cNvPr name="Group 5" id="5"/>
          <p:cNvGrpSpPr/>
          <p:nvPr/>
        </p:nvGrpSpPr>
        <p:grpSpPr>
          <a:xfrm rot="0">
            <a:off x="1055103" y="6907007"/>
            <a:ext cx="14489697" cy="1690872"/>
            <a:chOff x="0" y="0"/>
            <a:chExt cx="19319596" cy="2254496"/>
          </a:xfrm>
        </p:grpSpPr>
        <p:sp>
          <p:nvSpPr>
            <p:cNvPr name="Freeform 6" id="6"/>
            <p:cNvSpPr/>
            <p:nvPr/>
          </p:nvSpPr>
          <p:spPr>
            <a:xfrm flipH="false" flipV="false" rot="0">
              <a:off x="11563" y="9884"/>
              <a:ext cx="19296543" cy="2234792"/>
            </a:xfrm>
            <a:custGeom>
              <a:avLst/>
              <a:gdLst/>
              <a:ahLst/>
              <a:cxnLst/>
              <a:rect r="r" b="b" t="t" l="l"/>
              <a:pathLst>
                <a:path h="2234792" w="19296543">
                  <a:moveTo>
                    <a:pt x="0" y="0"/>
                  </a:moveTo>
                  <a:lnTo>
                    <a:pt x="19296544" y="0"/>
                  </a:lnTo>
                  <a:lnTo>
                    <a:pt x="19296544" y="2234793"/>
                  </a:lnTo>
                  <a:lnTo>
                    <a:pt x="0" y="2234793"/>
                  </a:lnTo>
                  <a:close/>
                </a:path>
              </a:pathLst>
            </a:custGeom>
            <a:solidFill>
              <a:srgbClr val="F5F5F5"/>
            </a:solidFill>
          </p:spPr>
        </p:sp>
        <p:sp>
          <p:nvSpPr>
            <p:cNvPr name="Freeform 7" id="7"/>
            <p:cNvSpPr/>
            <p:nvPr/>
          </p:nvSpPr>
          <p:spPr>
            <a:xfrm flipH="false" flipV="false" rot="0">
              <a:off x="0" y="0"/>
              <a:ext cx="19319684" cy="2254585"/>
            </a:xfrm>
            <a:custGeom>
              <a:avLst/>
              <a:gdLst/>
              <a:ahLst/>
              <a:cxnLst/>
              <a:rect r="r" b="b" t="t" l="l"/>
              <a:pathLst>
                <a:path h="2254585" w="19319684">
                  <a:moveTo>
                    <a:pt x="11563" y="0"/>
                  </a:moveTo>
                  <a:lnTo>
                    <a:pt x="19308107" y="0"/>
                  </a:lnTo>
                  <a:cubicBezTo>
                    <a:pt x="19314485" y="0"/>
                    <a:pt x="19319684" y="4434"/>
                    <a:pt x="19319684" y="9884"/>
                  </a:cubicBezTo>
                  <a:lnTo>
                    <a:pt x="19319684" y="2244677"/>
                  </a:lnTo>
                  <a:cubicBezTo>
                    <a:pt x="19319684" y="2250127"/>
                    <a:pt x="19314485" y="2254585"/>
                    <a:pt x="19308107" y="2254585"/>
                  </a:cubicBezTo>
                  <a:lnTo>
                    <a:pt x="11563" y="2254585"/>
                  </a:lnTo>
                  <a:cubicBezTo>
                    <a:pt x="5187" y="2254585"/>
                    <a:pt x="0" y="2250127"/>
                    <a:pt x="0" y="2244677"/>
                  </a:cubicBezTo>
                  <a:lnTo>
                    <a:pt x="0" y="9884"/>
                  </a:lnTo>
                  <a:cubicBezTo>
                    <a:pt x="0" y="4434"/>
                    <a:pt x="5187" y="0"/>
                    <a:pt x="11563" y="0"/>
                  </a:cubicBezTo>
                  <a:moveTo>
                    <a:pt x="11563" y="19676"/>
                  </a:moveTo>
                  <a:lnTo>
                    <a:pt x="11563" y="9884"/>
                  </a:lnTo>
                  <a:lnTo>
                    <a:pt x="23018" y="9884"/>
                  </a:lnTo>
                  <a:lnTo>
                    <a:pt x="23018" y="2244677"/>
                  </a:lnTo>
                  <a:lnTo>
                    <a:pt x="11563" y="2244677"/>
                  </a:lnTo>
                  <a:lnTo>
                    <a:pt x="11563" y="2234792"/>
                  </a:lnTo>
                  <a:lnTo>
                    <a:pt x="19308107" y="2234792"/>
                  </a:lnTo>
                  <a:lnTo>
                    <a:pt x="19308107" y="2244677"/>
                  </a:lnTo>
                  <a:lnTo>
                    <a:pt x="19296545" y="2244677"/>
                  </a:lnTo>
                  <a:lnTo>
                    <a:pt x="19296545" y="9884"/>
                  </a:lnTo>
                  <a:lnTo>
                    <a:pt x="19308107" y="9884"/>
                  </a:lnTo>
                  <a:lnTo>
                    <a:pt x="19308107" y="19676"/>
                  </a:lnTo>
                  <a:lnTo>
                    <a:pt x="11563" y="19676"/>
                  </a:lnTo>
                  <a:close/>
                </a:path>
              </a:pathLst>
            </a:custGeom>
            <a:solidFill>
              <a:srgbClr val="E8E8E8"/>
            </a:solidFill>
          </p:spPr>
        </p:sp>
      </p:grpSp>
      <p:grpSp>
        <p:nvGrpSpPr>
          <p:cNvPr name="Group 8" id="8"/>
          <p:cNvGrpSpPr/>
          <p:nvPr/>
        </p:nvGrpSpPr>
        <p:grpSpPr>
          <a:xfrm rot="0">
            <a:off x="1052570" y="6905164"/>
            <a:ext cx="171707" cy="1694572"/>
            <a:chOff x="0" y="0"/>
            <a:chExt cx="228943" cy="2259429"/>
          </a:xfrm>
        </p:grpSpPr>
        <p:sp>
          <p:nvSpPr>
            <p:cNvPr name="Freeform 9" id="9"/>
            <p:cNvSpPr/>
            <p:nvPr/>
          </p:nvSpPr>
          <p:spPr>
            <a:xfrm flipH="false" flipV="false" rot="0">
              <a:off x="16891" y="12286"/>
              <a:ext cx="195072" cy="2234792"/>
            </a:xfrm>
            <a:custGeom>
              <a:avLst/>
              <a:gdLst/>
              <a:ahLst/>
              <a:cxnLst/>
              <a:rect r="r" b="b" t="t" l="l"/>
              <a:pathLst>
                <a:path h="2234792" w="195072">
                  <a:moveTo>
                    <a:pt x="0" y="0"/>
                  </a:moveTo>
                  <a:lnTo>
                    <a:pt x="195072" y="0"/>
                  </a:lnTo>
                  <a:lnTo>
                    <a:pt x="195072" y="2234792"/>
                  </a:lnTo>
                  <a:lnTo>
                    <a:pt x="0" y="2234792"/>
                  </a:lnTo>
                  <a:close/>
                </a:path>
              </a:pathLst>
            </a:custGeom>
            <a:solidFill>
              <a:srgbClr val="E8A020"/>
            </a:solidFill>
          </p:spPr>
        </p:sp>
        <p:sp>
          <p:nvSpPr>
            <p:cNvPr name="Freeform 10" id="10"/>
            <p:cNvSpPr/>
            <p:nvPr/>
          </p:nvSpPr>
          <p:spPr>
            <a:xfrm flipH="false" flipV="false" rot="0">
              <a:off x="0" y="0"/>
              <a:ext cx="228854" cy="2259364"/>
            </a:xfrm>
            <a:custGeom>
              <a:avLst/>
              <a:gdLst/>
              <a:ahLst/>
              <a:cxnLst/>
              <a:rect r="r" b="b" t="t" l="l"/>
              <a:pathLst>
                <a:path h="2259364" w="228854">
                  <a:moveTo>
                    <a:pt x="16891" y="0"/>
                  </a:moveTo>
                  <a:lnTo>
                    <a:pt x="211963" y="0"/>
                  </a:lnTo>
                  <a:cubicBezTo>
                    <a:pt x="221361" y="0"/>
                    <a:pt x="228854" y="5543"/>
                    <a:pt x="228854" y="12286"/>
                  </a:cubicBezTo>
                  <a:lnTo>
                    <a:pt x="228854" y="2247078"/>
                  </a:lnTo>
                  <a:cubicBezTo>
                    <a:pt x="228854" y="2253914"/>
                    <a:pt x="221234" y="2259364"/>
                    <a:pt x="211963" y="2259364"/>
                  </a:cubicBezTo>
                  <a:lnTo>
                    <a:pt x="16891" y="2259364"/>
                  </a:lnTo>
                  <a:cubicBezTo>
                    <a:pt x="7493" y="2259364"/>
                    <a:pt x="0" y="2253822"/>
                    <a:pt x="0" y="2247078"/>
                  </a:cubicBezTo>
                  <a:lnTo>
                    <a:pt x="0" y="12286"/>
                  </a:lnTo>
                  <a:cubicBezTo>
                    <a:pt x="0" y="5543"/>
                    <a:pt x="7620" y="0"/>
                    <a:pt x="16891" y="0"/>
                  </a:cubicBezTo>
                  <a:moveTo>
                    <a:pt x="16891" y="24665"/>
                  </a:moveTo>
                  <a:lnTo>
                    <a:pt x="16891" y="12286"/>
                  </a:lnTo>
                  <a:lnTo>
                    <a:pt x="33909" y="12286"/>
                  </a:lnTo>
                  <a:lnTo>
                    <a:pt x="33909" y="2247078"/>
                  </a:lnTo>
                  <a:lnTo>
                    <a:pt x="16891" y="2247078"/>
                  </a:lnTo>
                  <a:lnTo>
                    <a:pt x="16891" y="2234792"/>
                  </a:lnTo>
                  <a:lnTo>
                    <a:pt x="211963" y="2234792"/>
                  </a:lnTo>
                  <a:lnTo>
                    <a:pt x="211963" y="2247078"/>
                  </a:lnTo>
                  <a:lnTo>
                    <a:pt x="195072" y="2247078"/>
                  </a:lnTo>
                  <a:lnTo>
                    <a:pt x="195072" y="12286"/>
                  </a:lnTo>
                  <a:lnTo>
                    <a:pt x="211963" y="12286"/>
                  </a:lnTo>
                  <a:lnTo>
                    <a:pt x="211963" y="24665"/>
                  </a:lnTo>
                  <a:lnTo>
                    <a:pt x="16891" y="24665"/>
                  </a:lnTo>
                  <a:close/>
                </a:path>
              </a:pathLst>
            </a:custGeom>
            <a:solidFill>
              <a:srgbClr val="E8A020"/>
            </a:solidFill>
          </p:spPr>
        </p:sp>
      </p:grpSp>
      <p:grpSp>
        <p:nvGrpSpPr>
          <p:cNvPr name="Group 11" id="11"/>
          <p:cNvGrpSpPr/>
          <p:nvPr/>
        </p:nvGrpSpPr>
        <p:grpSpPr>
          <a:xfrm rot="0">
            <a:off x="1467602" y="7119029"/>
            <a:ext cx="10058400" cy="672871"/>
            <a:chOff x="0" y="0"/>
            <a:chExt cx="13411200" cy="897161"/>
          </a:xfrm>
        </p:grpSpPr>
        <p:sp>
          <p:nvSpPr>
            <p:cNvPr name="Freeform 12" id="12"/>
            <p:cNvSpPr/>
            <p:nvPr/>
          </p:nvSpPr>
          <p:spPr>
            <a:xfrm flipH="false" flipV="false" rot="0">
              <a:off x="0" y="0"/>
              <a:ext cx="13411200" cy="897161"/>
            </a:xfrm>
            <a:custGeom>
              <a:avLst/>
              <a:gdLst/>
              <a:ahLst/>
              <a:cxnLst/>
              <a:rect r="r" b="b" t="t" l="l"/>
              <a:pathLst>
                <a:path h="897161" w="13411200">
                  <a:moveTo>
                    <a:pt x="0" y="0"/>
                  </a:moveTo>
                  <a:lnTo>
                    <a:pt x="13411200" y="0"/>
                  </a:lnTo>
                  <a:lnTo>
                    <a:pt x="13411200" y="897161"/>
                  </a:lnTo>
                  <a:lnTo>
                    <a:pt x="0" y="897161"/>
                  </a:lnTo>
                  <a:close/>
                </a:path>
              </a:pathLst>
            </a:custGeom>
            <a:blipFill>
              <a:blip r:embed="rId3">
                <a:alphaModFix amt="0"/>
              </a:blip>
              <a:stretch>
                <a:fillRect l="0" t="-247785" r="0" b="-234758"/>
              </a:stretch>
            </a:blipFill>
          </p:spPr>
        </p:sp>
        <p:sp>
          <p:nvSpPr>
            <p:cNvPr name="TextBox 13" id="13"/>
            <p:cNvSpPr txBox="true"/>
            <p:nvPr/>
          </p:nvSpPr>
          <p:spPr>
            <a:xfrm>
              <a:off x="0" y="-28575"/>
              <a:ext cx="13411200" cy="925736"/>
            </a:xfrm>
            <a:prstGeom prst="rect">
              <a:avLst/>
            </a:prstGeom>
          </p:spPr>
          <p:txBody>
            <a:bodyPr anchor="ctr" rtlCol="false" tIns="0" lIns="0" bIns="0" rIns="0"/>
            <a:lstStyle/>
            <a:p>
              <a:pPr algn="l">
                <a:lnSpc>
                  <a:spcPts val="4439"/>
                </a:lnSpc>
              </a:pPr>
              <a:r>
                <a:rPr lang="en-US" sz="3699" b="true">
                  <a:solidFill>
                    <a:srgbClr val="1A1A1A"/>
                  </a:solidFill>
                  <a:latin typeface="Helios Extended Bold"/>
                  <a:ea typeface="Helios Extended Bold"/>
                  <a:cs typeface="Helios Extended Bold"/>
                  <a:sym typeface="Helios Extended Bold"/>
                </a:rPr>
                <a:t>3.  Class Imbalance is Still Severe</a:t>
              </a:r>
            </a:p>
          </p:txBody>
        </p:sp>
      </p:grpSp>
      <p:grpSp>
        <p:nvGrpSpPr>
          <p:cNvPr name="Group 14" id="14"/>
          <p:cNvGrpSpPr/>
          <p:nvPr/>
        </p:nvGrpSpPr>
        <p:grpSpPr>
          <a:xfrm rot="0">
            <a:off x="1052570" y="2324304"/>
            <a:ext cx="14492230" cy="1668815"/>
            <a:chOff x="0" y="0"/>
            <a:chExt cx="19322974" cy="2225086"/>
          </a:xfrm>
        </p:grpSpPr>
        <p:sp>
          <p:nvSpPr>
            <p:cNvPr name="Freeform 15" id="15"/>
            <p:cNvSpPr/>
            <p:nvPr/>
          </p:nvSpPr>
          <p:spPr>
            <a:xfrm flipH="false" flipV="false" rot="0">
              <a:off x="11565" y="9755"/>
              <a:ext cx="19299918" cy="2205639"/>
            </a:xfrm>
            <a:custGeom>
              <a:avLst/>
              <a:gdLst/>
              <a:ahLst/>
              <a:cxnLst/>
              <a:rect r="r" b="b" t="t" l="l"/>
              <a:pathLst>
                <a:path h="2205639" w="19299918">
                  <a:moveTo>
                    <a:pt x="0" y="0"/>
                  </a:moveTo>
                  <a:lnTo>
                    <a:pt x="19299918" y="0"/>
                  </a:lnTo>
                  <a:lnTo>
                    <a:pt x="19299918" y="2205640"/>
                  </a:lnTo>
                  <a:lnTo>
                    <a:pt x="0" y="2205640"/>
                  </a:lnTo>
                  <a:close/>
                </a:path>
              </a:pathLst>
            </a:custGeom>
            <a:solidFill>
              <a:srgbClr val="F5F5F5"/>
            </a:solidFill>
          </p:spPr>
        </p:sp>
        <p:sp>
          <p:nvSpPr>
            <p:cNvPr name="Freeform 16" id="16"/>
            <p:cNvSpPr/>
            <p:nvPr/>
          </p:nvSpPr>
          <p:spPr>
            <a:xfrm flipH="false" flipV="false" rot="0">
              <a:off x="0" y="0"/>
              <a:ext cx="19323062" cy="2225175"/>
            </a:xfrm>
            <a:custGeom>
              <a:avLst/>
              <a:gdLst/>
              <a:ahLst/>
              <a:cxnLst/>
              <a:rect r="r" b="b" t="t" l="l"/>
              <a:pathLst>
                <a:path h="2225175" w="19323062">
                  <a:moveTo>
                    <a:pt x="11565" y="0"/>
                  </a:moveTo>
                  <a:lnTo>
                    <a:pt x="19311483" y="0"/>
                  </a:lnTo>
                  <a:cubicBezTo>
                    <a:pt x="19317861" y="0"/>
                    <a:pt x="19323062" y="4376"/>
                    <a:pt x="19323062" y="9755"/>
                  </a:cubicBezTo>
                  <a:lnTo>
                    <a:pt x="19323062" y="2215395"/>
                  </a:lnTo>
                  <a:cubicBezTo>
                    <a:pt x="19323062" y="2220774"/>
                    <a:pt x="19317861" y="2225175"/>
                    <a:pt x="19311483" y="2225175"/>
                  </a:cubicBezTo>
                  <a:lnTo>
                    <a:pt x="11565" y="2225175"/>
                  </a:lnTo>
                  <a:cubicBezTo>
                    <a:pt x="5188" y="2225175"/>
                    <a:pt x="0" y="2220774"/>
                    <a:pt x="0" y="2215395"/>
                  </a:cubicBezTo>
                  <a:lnTo>
                    <a:pt x="0" y="9755"/>
                  </a:lnTo>
                  <a:cubicBezTo>
                    <a:pt x="0" y="4376"/>
                    <a:pt x="5188" y="0"/>
                    <a:pt x="11565" y="0"/>
                  </a:cubicBezTo>
                  <a:moveTo>
                    <a:pt x="11565" y="19420"/>
                  </a:moveTo>
                  <a:lnTo>
                    <a:pt x="11565" y="9755"/>
                  </a:lnTo>
                  <a:lnTo>
                    <a:pt x="23022" y="9755"/>
                  </a:lnTo>
                  <a:lnTo>
                    <a:pt x="23022" y="2215395"/>
                  </a:lnTo>
                  <a:lnTo>
                    <a:pt x="11565" y="2215395"/>
                  </a:lnTo>
                  <a:lnTo>
                    <a:pt x="11565" y="2205639"/>
                  </a:lnTo>
                  <a:lnTo>
                    <a:pt x="19311483" y="2205639"/>
                  </a:lnTo>
                  <a:lnTo>
                    <a:pt x="19311483" y="2215395"/>
                  </a:lnTo>
                  <a:lnTo>
                    <a:pt x="19299918" y="2215395"/>
                  </a:lnTo>
                  <a:lnTo>
                    <a:pt x="19299918" y="9755"/>
                  </a:lnTo>
                  <a:lnTo>
                    <a:pt x="19311483" y="9755"/>
                  </a:lnTo>
                  <a:lnTo>
                    <a:pt x="19311483" y="19420"/>
                  </a:lnTo>
                  <a:lnTo>
                    <a:pt x="11565" y="19420"/>
                  </a:lnTo>
                  <a:close/>
                </a:path>
              </a:pathLst>
            </a:custGeom>
            <a:solidFill>
              <a:srgbClr val="E8E8E8"/>
            </a:solidFill>
          </p:spPr>
        </p:sp>
      </p:grpSp>
      <p:grpSp>
        <p:nvGrpSpPr>
          <p:cNvPr name="Group 17" id="17"/>
          <p:cNvGrpSpPr/>
          <p:nvPr/>
        </p:nvGrpSpPr>
        <p:grpSpPr>
          <a:xfrm rot="0">
            <a:off x="1050036" y="2322485"/>
            <a:ext cx="171707" cy="1672466"/>
            <a:chOff x="0" y="0"/>
            <a:chExt cx="228943" cy="2229955"/>
          </a:xfrm>
        </p:grpSpPr>
        <p:sp>
          <p:nvSpPr>
            <p:cNvPr name="Freeform 18" id="18"/>
            <p:cNvSpPr/>
            <p:nvPr/>
          </p:nvSpPr>
          <p:spPr>
            <a:xfrm flipH="false" flipV="false" rot="0">
              <a:off x="16891" y="12126"/>
              <a:ext cx="195072" cy="2205639"/>
            </a:xfrm>
            <a:custGeom>
              <a:avLst/>
              <a:gdLst/>
              <a:ahLst/>
              <a:cxnLst/>
              <a:rect r="r" b="b" t="t" l="l"/>
              <a:pathLst>
                <a:path h="2205639" w="195072">
                  <a:moveTo>
                    <a:pt x="0" y="0"/>
                  </a:moveTo>
                  <a:lnTo>
                    <a:pt x="195072" y="0"/>
                  </a:lnTo>
                  <a:lnTo>
                    <a:pt x="195072" y="2205639"/>
                  </a:lnTo>
                  <a:lnTo>
                    <a:pt x="0" y="2205639"/>
                  </a:lnTo>
                  <a:close/>
                </a:path>
              </a:pathLst>
            </a:custGeom>
            <a:solidFill>
              <a:srgbClr val="E8A020"/>
            </a:solidFill>
          </p:spPr>
        </p:sp>
        <p:sp>
          <p:nvSpPr>
            <p:cNvPr name="Freeform 19" id="19"/>
            <p:cNvSpPr/>
            <p:nvPr/>
          </p:nvSpPr>
          <p:spPr>
            <a:xfrm flipH="false" flipV="false" rot="0">
              <a:off x="0" y="0"/>
              <a:ext cx="228854" cy="2229891"/>
            </a:xfrm>
            <a:custGeom>
              <a:avLst/>
              <a:gdLst/>
              <a:ahLst/>
              <a:cxnLst/>
              <a:rect r="r" b="b" t="t" l="l"/>
              <a:pathLst>
                <a:path h="2229891" w="228854">
                  <a:moveTo>
                    <a:pt x="16891" y="0"/>
                  </a:moveTo>
                  <a:lnTo>
                    <a:pt x="211963" y="0"/>
                  </a:lnTo>
                  <a:cubicBezTo>
                    <a:pt x="221361" y="0"/>
                    <a:pt x="228854" y="5470"/>
                    <a:pt x="228854" y="12126"/>
                  </a:cubicBezTo>
                  <a:lnTo>
                    <a:pt x="228854" y="2217765"/>
                  </a:lnTo>
                  <a:cubicBezTo>
                    <a:pt x="228854" y="2224512"/>
                    <a:pt x="221234" y="2229891"/>
                    <a:pt x="211963" y="2229891"/>
                  </a:cubicBezTo>
                  <a:lnTo>
                    <a:pt x="16891" y="2229891"/>
                  </a:lnTo>
                  <a:cubicBezTo>
                    <a:pt x="7493" y="2229891"/>
                    <a:pt x="0" y="2224421"/>
                    <a:pt x="0" y="2217765"/>
                  </a:cubicBezTo>
                  <a:lnTo>
                    <a:pt x="0" y="12126"/>
                  </a:lnTo>
                  <a:cubicBezTo>
                    <a:pt x="0" y="5470"/>
                    <a:pt x="7620" y="0"/>
                    <a:pt x="16891" y="0"/>
                  </a:cubicBezTo>
                  <a:moveTo>
                    <a:pt x="16891" y="24343"/>
                  </a:moveTo>
                  <a:lnTo>
                    <a:pt x="16891" y="12126"/>
                  </a:lnTo>
                  <a:lnTo>
                    <a:pt x="33909" y="12126"/>
                  </a:lnTo>
                  <a:lnTo>
                    <a:pt x="33909" y="2217765"/>
                  </a:lnTo>
                  <a:lnTo>
                    <a:pt x="16891" y="2217765"/>
                  </a:lnTo>
                  <a:lnTo>
                    <a:pt x="16891" y="2205639"/>
                  </a:lnTo>
                  <a:lnTo>
                    <a:pt x="211963" y="2205639"/>
                  </a:lnTo>
                  <a:lnTo>
                    <a:pt x="211963" y="2217765"/>
                  </a:lnTo>
                  <a:lnTo>
                    <a:pt x="195072" y="2217765"/>
                  </a:lnTo>
                  <a:lnTo>
                    <a:pt x="195072" y="12126"/>
                  </a:lnTo>
                  <a:lnTo>
                    <a:pt x="211963" y="12126"/>
                  </a:lnTo>
                  <a:lnTo>
                    <a:pt x="211963" y="24343"/>
                  </a:lnTo>
                  <a:lnTo>
                    <a:pt x="16891" y="24343"/>
                  </a:lnTo>
                  <a:close/>
                </a:path>
              </a:pathLst>
            </a:custGeom>
            <a:solidFill>
              <a:srgbClr val="E8A020"/>
            </a:solidFill>
          </p:spPr>
        </p:sp>
      </p:grpSp>
      <p:grpSp>
        <p:nvGrpSpPr>
          <p:cNvPr name="Group 20" id="20"/>
          <p:cNvGrpSpPr/>
          <p:nvPr/>
        </p:nvGrpSpPr>
        <p:grpSpPr>
          <a:xfrm rot="0">
            <a:off x="1465069" y="2536350"/>
            <a:ext cx="10058400" cy="672871"/>
            <a:chOff x="0" y="0"/>
            <a:chExt cx="13411200" cy="897161"/>
          </a:xfrm>
        </p:grpSpPr>
        <p:sp>
          <p:nvSpPr>
            <p:cNvPr name="Freeform 21" id="21"/>
            <p:cNvSpPr/>
            <p:nvPr/>
          </p:nvSpPr>
          <p:spPr>
            <a:xfrm flipH="false" flipV="false" rot="0">
              <a:off x="0" y="0"/>
              <a:ext cx="13411200" cy="897161"/>
            </a:xfrm>
            <a:custGeom>
              <a:avLst/>
              <a:gdLst/>
              <a:ahLst/>
              <a:cxnLst/>
              <a:rect r="r" b="b" t="t" l="l"/>
              <a:pathLst>
                <a:path h="897161" w="13411200">
                  <a:moveTo>
                    <a:pt x="0" y="0"/>
                  </a:moveTo>
                  <a:lnTo>
                    <a:pt x="13411200" y="0"/>
                  </a:lnTo>
                  <a:lnTo>
                    <a:pt x="13411200" y="897161"/>
                  </a:lnTo>
                  <a:lnTo>
                    <a:pt x="0" y="897161"/>
                  </a:lnTo>
                  <a:close/>
                </a:path>
              </a:pathLst>
            </a:custGeom>
            <a:blipFill>
              <a:blip r:embed="rId3">
                <a:alphaModFix amt="0"/>
              </a:blip>
              <a:stretch>
                <a:fillRect l="0" t="-247785" r="0" b="-234758"/>
              </a:stretch>
            </a:blipFill>
          </p:spPr>
        </p:sp>
        <p:sp>
          <p:nvSpPr>
            <p:cNvPr name="TextBox 22" id="22"/>
            <p:cNvSpPr txBox="true"/>
            <p:nvPr/>
          </p:nvSpPr>
          <p:spPr>
            <a:xfrm>
              <a:off x="0" y="-28575"/>
              <a:ext cx="13411200" cy="925736"/>
            </a:xfrm>
            <a:prstGeom prst="rect">
              <a:avLst/>
            </a:prstGeom>
          </p:spPr>
          <p:txBody>
            <a:bodyPr anchor="ctr" rtlCol="false" tIns="0" lIns="0" bIns="0" rIns="0"/>
            <a:lstStyle/>
            <a:p>
              <a:pPr algn="l">
                <a:lnSpc>
                  <a:spcPts val="4439"/>
                </a:lnSpc>
              </a:pPr>
              <a:r>
                <a:rPr lang="en-US" sz="3699" b="true">
                  <a:solidFill>
                    <a:srgbClr val="1A1A1A"/>
                  </a:solidFill>
                  <a:latin typeface="Helios Extended Bold"/>
                  <a:ea typeface="Helios Extended Bold"/>
                  <a:cs typeface="Helios Extended Bold"/>
                  <a:sym typeface="Helios Extended Bold"/>
                </a:rPr>
                <a:t>1</a:t>
              </a:r>
              <a:r>
                <a:rPr lang="en-US" sz="3699" b="true">
                  <a:solidFill>
                    <a:srgbClr val="1A1A1A"/>
                  </a:solidFill>
                  <a:latin typeface="Helios Extended Bold"/>
                  <a:ea typeface="Helios Extended Bold"/>
                  <a:cs typeface="Helios Extended Bold"/>
                  <a:sym typeface="Helios Extended Bold"/>
                </a:rPr>
                <a:t>.  Sparse Drug Context</a:t>
              </a:r>
            </a:p>
          </p:txBody>
        </p:sp>
      </p:grpSp>
      <p:grpSp>
        <p:nvGrpSpPr>
          <p:cNvPr name="Group 23" id="23"/>
          <p:cNvGrpSpPr/>
          <p:nvPr/>
        </p:nvGrpSpPr>
        <p:grpSpPr>
          <a:xfrm rot="0">
            <a:off x="2366306" y="3149893"/>
            <a:ext cx="8860000" cy="618992"/>
            <a:chOff x="0" y="0"/>
            <a:chExt cx="11813333" cy="825322"/>
          </a:xfrm>
        </p:grpSpPr>
        <p:sp>
          <p:nvSpPr>
            <p:cNvPr name="Freeform 24" id="24"/>
            <p:cNvSpPr/>
            <p:nvPr/>
          </p:nvSpPr>
          <p:spPr>
            <a:xfrm flipH="false" flipV="false" rot="0">
              <a:off x="0" y="0"/>
              <a:ext cx="11813332" cy="825322"/>
            </a:xfrm>
            <a:custGeom>
              <a:avLst/>
              <a:gdLst/>
              <a:ahLst/>
              <a:cxnLst/>
              <a:rect r="r" b="b" t="t" l="l"/>
              <a:pathLst>
                <a:path h="825322" w="11813332">
                  <a:moveTo>
                    <a:pt x="0" y="0"/>
                  </a:moveTo>
                  <a:lnTo>
                    <a:pt x="11813332" y="0"/>
                  </a:lnTo>
                  <a:lnTo>
                    <a:pt x="11813332" y="825322"/>
                  </a:lnTo>
                  <a:lnTo>
                    <a:pt x="0" y="825322"/>
                  </a:lnTo>
                  <a:close/>
                </a:path>
              </a:pathLst>
            </a:custGeom>
            <a:blipFill>
              <a:blip r:embed="rId3">
                <a:alphaModFix amt="0"/>
              </a:blip>
              <a:stretch>
                <a:fillRect l="0" t="-81115" r="38076" b="-164293"/>
              </a:stretch>
            </a:blipFill>
          </p:spPr>
        </p:sp>
        <p:sp>
          <p:nvSpPr>
            <p:cNvPr name="TextBox 25" id="25"/>
            <p:cNvSpPr txBox="true"/>
            <p:nvPr/>
          </p:nvSpPr>
          <p:spPr>
            <a:xfrm>
              <a:off x="0" y="-19050"/>
              <a:ext cx="11813333" cy="844372"/>
            </a:xfrm>
            <a:prstGeom prst="rect">
              <a:avLst/>
            </a:prstGeom>
          </p:spPr>
          <p:txBody>
            <a:bodyPr anchor="ctr" rtlCol="false" tIns="0" lIns="0" bIns="0" rIns="0"/>
            <a:lstStyle/>
            <a:p>
              <a:pPr algn="l">
                <a:lnSpc>
                  <a:spcPts val="2879"/>
                </a:lnSpc>
              </a:pPr>
              <a:r>
                <a:rPr lang="en-US" sz="2399" i="true">
                  <a:solidFill>
                    <a:srgbClr val="CC2200"/>
                  </a:solidFill>
                  <a:latin typeface="Helios Extended Italics"/>
                  <a:ea typeface="Helios Extended Italics"/>
                  <a:cs typeface="Helios Extended Italics"/>
                  <a:sym typeface="Helios Extended Italics"/>
                </a:rPr>
                <a:t>Enrich with DrugBank / PubChem full profiles</a:t>
              </a:r>
            </a:p>
          </p:txBody>
        </p:sp>
      </p:grpSp>
      <p:grpSp>
        <p:nvGrpSpPr>
          <p:cNvPr name="Group 26" id="26"/>
          <p:cNvGrpSpPr/>
          <p:nvPr/>
        </p:nvGrpSpPr>
        <p:grpSpPr>
          <a:xfrm rot="0">
            <a:off x="2381536" y="7759462"/>
            <a:ext cx="8230533" cy="529909"/>
            <a:chOff x="0" y="0"/>
            <a:chExt cx="10974043" cy="706545"/>
          </a:xfrm>
        </p:grpSpPr>
        <p:sp>
          <p:nvSpPr>
            <p:cNvPr name="Freeform 27" id="27"/>
            <p:cNvSpPr/>
            <p:nvPr/>
          </p:nvSpPr>
          <p:spPr>
            <a:xfrm flipH="false" flipV="false" rot="0">
              <a:off x="0" y="0"/>
              <a:ext cx="10974043" cy="706545"/>
            </a:xfrm>
            <a:custGeom>
              <a:avLst/>
              <a:gdLst/>
              <a:ahLst/>
              <a:cxnLst/>
              <a:rect r="r" b="b" t="t" l="l"/>
              <a:pathLst>
                <a:path h="706545" w="10974043">
                  <a:moveTo>
                    <a:pt x="0" y="0"/>
                  </a:moveTo>
                  <a:lnTo>
                    <a:pt x="10974043" y="0"/>
                  </a:lnTo>
                  <a:lnTo>
                    <a:pt x="10974043" y="706545"/>
                  </a:lnTo>
                  <a:lnTo>
                    <a:pt x="0" y="706545"/>
                  </a:lnTo>
                  <a:close/>
                </a:path>
              </a:pathLst>
            </a:custGeom>
            <a:blipFill>
              <a:blip r:embed="rId3">
                <a:alphaModFix amt="0"/>
              </a:blip>
              <a:stretch>
                <a:fillRect l="0" t="-94752" r="33340" b="-208724"/>
              </a:stretch>
            </a:blipFill>
          </p:spPr>
        </p:sp>
        <p:sp>
          <p:nvSpPr>
            <p:cNvPr name="TextBox 28" id="28"/>
            <p:cNvSpPr txBox="true"/>
            <p:nvPr/>
          </p:nvSpPr>
          <p:spPr>
            <a:xfrm>
              <a:off x="0" y="-19050"/>
              <a:ext cx="10974043" cy="725595"/>
            </a:xfrm>
            <a:prstGeom prst="rect">
              <a:avLst/>
            </a:prstGeom>
          </p:spPr>
          <p:txBody>
            <a:bodyPr anchor="ctr" rtlCol="false" tIns="0" lIns="0" bIns="0" rIns="0"/>
            <a:lstStyle/>
            <a:p>
              <a:pPr algn="l">
                <a:lnSpc>
                  <a:spcPts val="2879"/>
                </a:lnSpc>
              </a:pPr>
              <a:r>
                <a:rPr lang="en-US" sz="2399" i="true">
                  <a:solidFill>
                    <a:srgbClr val="CC2200"/>
                  </a:solidFill>
                  <a:latin typeface="Helios Extended Italics"/>
                  <a:ea typeface="Helios Extended Italics"/>
                  <a:cs typeface="Helios Extended Italics"/>
                  <a:sym typeface="Helios Extended Italics"/>
                </a:rPr>
                <a:t>Focal loss function, synthetic oversampling</a:t>
              </a:r>
            </a:p>
          </p:txBody>
        </p:sp>
      </p:grpSp>
      <p:grpSp>
        <p:nvGrpSpPr>
          <p:cNvPr name="Group 29" id="29"/>
          <p:cNvGrpSpPr/>
          <p:nvPr/>
        </p:nvGrpSpPr>
        <p:grpSpPr>
          <a:xfrm rot="0">
            <a:off x="1039873" y="4596886"/>
            <a:ext cx="14504927" cy="1706329"/>
            <a:chOff x="0" y="0"/>
            <a:chExt cx="19339903" cy="2275105"/>
          </a:xfrm>
        </p:grpSpPr>
        <p:sp>
          <p:nvSpPr>
            <p:cNvPr name="Freeform 30" id="30"/>
            <p:cNvSpPr/>
            <p:nvPr/>
          </p:nvSpPr>
          <p:spPr>
            <a:xfrm flipH="false" flipV="false" rot="0">
              <a:off x="11575" y="9975"/>
              <a:ext cx="19316828" cy="2255221"/>
            </a:xfrm>
            <a:custGeom>
              <a:avLst/>
              <a:gdLst/>
              <a:ahLst/>
              <a:cxnLst/>
              <a:rect r="r" b="b" t="t" l="l"/>
              <a:pathLst>
                <a:path h="2255221" w="19316828">
                  <a:moveTo>
                    <a:pt x="0" y="0"/>
                  </a:moveTo>
                  <a:lnTo>
                    <a:pt x="19316828" y="0"/>
                  </a:lnTo>
                  <a:lnTo>
                    <a:pt x="19316828" y="2255221"/>
                  </a:lnTo>
                  <a:lnTo>
                    <a:pt x="0" y="2255221"/>
                  </a:lnTo>
                  <a:close/>
                </a:path>
              </a:pathLst>
            </a:custGeom>
            <a:solidFill>
              <a:srgbClr val="F5F5F5"/>
            </a:solidFill>
          </p:spPr>
        </p:sp>
        <p:sp>
          <p:nvSpPr>
            <p:cNvPr name="Freeform 31" id="31"/>
            <p:cNvSpPr/>
            <p:nvPr/>
          </p:nvSpPr>
          <p:spPr>
            <a:xfrm flipH="false" flipV="false" rot="0">
              <a:off x="0" y="0"/>
              <a:ext cx="19339992" cy="2275194"/>
            </a:xfrm>
            <a:custGeom>
              <a:avLst/>
              <a:gdLst/>
              <a:ahLst/>
              <a:cxnLst/>
              <a:rect r="r" b="b" t="t" l="l"/>
              <a:pathLst>
                <a:path h="2275194" w="19339992">
                  <a:moveTo>
                    <a:pt x="11575" y="0"/>
                  </a:moveTo>
                  <a:lnTo>
                    <a:pt x="19328403" y="0"/>
                  </a:lnTo>
                  <a:cubicBezTo>
                    <a:pt x="19334786" y="0"/>
                    <a:pt x="19339992" y="4475"/>
                    <a:pt x="19339992" y="9975"/>
                  </a:cubicBezTo>
                  <a:lnTo>
                    <a:pt x="19339992" y="2265196"/>
                  </a:lnTo>
                  <a:cubicBezTo>
                    <a:pt x="19339992" y="2270696"/>
                    <a:pt x="19334786" y="2275194"/>
                    <a:pt x="19328403" y="2275194"/>
                  </a:cubicBezTo>
                  <a:lnTo>
                    <a:pt x="11575" y="2275194"/>
                  </a:lnTo>
                  <a:cubicBezTo>
                    <a:pt x="5193" y="2275194"/>
                    <a:pt x="0" y="2270696"/>
                    <a:pt x="0" y="2265196"/>
                  </a:cubicBezTo>
                  <a:lnTo>
                    <a:pt x="0" y="9975"/>
                  </a:lnTo>
                  <a:cubicBezTo>
                    <a:pt x="0" y="4475"/>
                    <a:pt x="5193" y="0"/>
                    <a:pt x="11575" y="0"/>
                  </a:cubicBezTo>
                  <a:moveTo>
                    <a:pt x="11575" y="19856"/>
                  </a:moveTo>
                  <a:lnTo>
                    <a:pt x="11575" y="9975"/>
                  </a:lnTo>
                  <a:lnTo>
                    <a:pt x="23043" y="9975"/>
                  </a:lnTo>
                  <a:lnTo>
                    <a:pt x="23043" y="2265196"/>
                  </a:lnTo>
                  <a:lnTo>
                    <a:pt x="11575" y="2265196"/>
                  </a:lnTo>
                  <a:lnTo>
                    <a:pt x="11575" y="2255221"/>
                  </a:lnTo>
                  <a:lnTo>
                    <a:pt x="19328403" y="2255221"/>
                  </a:lnTo>
                  <a:lnTo>
                    <a:pt x="19328403" y="2265196"/>
                  </a:lnTo>
                  <a:lnTo>
                    <a:pt x="19316827" y="2265196"/>
                  </a:lnTo>
                  <a:lnTo>
                    <a:pt x="19316827" y="9975"/>
                  </a:lnTo>
                  <a:lnTo>
                    <a:pt x="19328403" y="9975"/>
                  </a:lnTo>
                  <a:lnTo>
                    <a:pt x="19328403" y="19856"/>
                  </a:lnTo>
                  <a:lnTo>
                    <a:pt x="11575" y="19856"/>
                  </a:lnTo>
                  <a:close/>
                </a:path>
              </a:pathLst>
            </a:custGeom>
            <a:solidFill>
              <a:srgbClr val="E8E8E8"/>
            </a:solidFill>
          </p:spPr>
        </p:sp>
      </p:grpSp>
      <p:grpSp>
        <p:nvGrpSpPr>
          <p:cNvPr name="Group 32" id="32"/>
          <p:cNvGrpSpPr/>
          <p:nvPr/>
        </p:nvGrpSpPr>
        <p:grpSpPr>
          <a:xfrm rot="0">
            <a:off x="1037339" y="4595026"/>
            <a:ext cx="171707" cy="1710063"/>
            <a:chOff x="0" y="0"/>
            <a:chExt cx="228943" cy="2280083"/>
          </a:xfrm>
        </p:grpSpPr>
        <p:sp>
          <p:nvSpPr>
            <p:cNvPr name="Freeform 33" id="33"/>
            <p:cNvSpPr/>
            <p:nvPr/>
          </p:nvSpPr>
          <p:spPr>
            <a:xfrm flipH="false" flipV="false" rot="0">
              <a:off x="16891" y="12398"/>
              <a:ext cx="195072" cy="2255221"/>
            </a:xfrm>
            <a:custGeom>
              <a:avLst/>
              <a:gdLst/>
              <a:ahLst/>
              <a:cxnLst/>
              <a:rect r="r" b="b" t="t" l="l"/>
              <a:pathLst>
                <a:path h="2255221" w="195072">
                  <a:moveTo>
                    <a:pt x="0" y="0"/>
                  </a:moveTo>
                  <a:lnTo>
                    <a:pt x="195072" y="0"/>
                  </a:lnTo>
                  <a:lnTo>
                    <a:pt x="195072" y="2255222"/>
                  </a:lnTo>
                  <a:lnTo>
                    <a:pt x="0" y="2255222"/>
                  </a:lnTo>
                  <a:close/>
                </a:path>
              </a:pathLst>
            </a:custGeom>
            <a:solidFill>
              <a:srgbClr val="E8A020"/>
            </a:solidFill>
          </p:spPr>
        </p:sp>
        <p:sp>
          <p:nvSpPr>
            <p:cNvPr name="Freeform 34" id="34"/>
            <p:cNvSpPr/>
            <p:nvPr/>
          </p:nvSpPr>
          <p:spPr>
            <a:xfrm flipH="false" flipV="false" rot="0">
              <a:off x="0" y="0"/>
              <a:ext cx="228854" cy="2280018"/>
            </a:xfrm>
            <a:custGeom>
              <a:avLst/>
              <a:gdLst/>
              <a:ahLst/>
              <a:cxnLst/>
              <a:rect r="r" b="b" t="t" l="l"/>
              <a:pathLst>
                <a:path h="2280018" w="228854">
                  <a:moveTo>
                    <a:pt x="16891" y="0"/>
                  </a:moveTo>
                  <a:lnTo>
                    <a:pt x="211963" y="0"/>
                  </a:lnTo>
                  <a:cubicBezTo>
                    <a:pt x="221361" y="0"/>
                    <a:pt x="228854" y="5593"/>
                    <a:pt x="228854" y="12398"/>
                  </a:cubicBezTo>
                  <a:lnTo>
                    <a:pt x="228854" y="2267620"/>
                  </a:lnTo>
                  <a:cubicBezTo>
                    <a:pt x="228854" y="2274518"/>
                    <a:pt x="221234" y="2280018"/>
                    <a:pt x="211963" y="2280018"/>
                  </a:cubicBezTo>
                  <a:lnTo>
                    <a:pt x="16891" y="2280018"/>
                  </a:lnTo>
                  <a:cubicBezTo>
                    <a:pt x="7493" y="2280018"/>
                    <a:pt x="0" y="2274425"/>
                    <a:pt x="0" y="2267620"/>
                  </a:cubicBezTo>
                  <a:lnTo>
                    <a:pt x="0" y="12398"/>
                  </a:lnTo>
                  <a:cubicBezTo>
                    <a:pt x="0" y="5593"/>
                    <a:pt x="7620" y="0"/>
                    <a:pt x="16891" y="0"/>
                  </a:cubicBezTo>
                  <a:moveTo>
                    <a:pt x="16891" y="24890"/>
                  </a:moveTo>
                  <a:lnTo>
                    <a:pt x="16891" y="12398"/>
                  </a:lnTo>
                  <a:lnTo>
                    <a:pt x="33909" y="12398"/>
                  </a:lnTo>
                  <a:lnTo>
                    <a:pt x="33909" y="2267620"/>
                  </a:lnTo>
                  <a:lnTo>
                    <a:pt x="16891" y="2267620"/>
                  </a:lnTo>
                  <a:lnTo>
                    <a:pt x="16891" y="2255221"/>
                  </a:lnTo>
                  <a:lnTo>
                    <a:pt x="211963" y="2255221"/>
                  </a:lnTo>
                  <a:lnTo>
                    <a:pt x="211963" y="2267620"/>
                  </a:lnTo>
                  <a:lnTo>
                    <a:pt x="195072" y="2267620"/>
                  </a:lnTo>
                  <a:lnTo>
                    <a:pt x="195072" y="12398"/>
                  </a:lnTo>
                  <a:lnTo>
                    <a:pt x="211963" y="12398"/>
                  </a:lnTo>
                  <a:lnTo>
                    <a:pt x="211963" y="24890"/>
                  </a:lnTo>
                  <a:lnTo>
                    <a:pt x="16891" y="24890"/>
                  </a:lnTo>
                  <a:close/>
                </a:path>
              </a:pathLst>
            </a:custGeom>
            <a:solidFill>
              <a:srgbClr val="E8A020"/>
            </a:solidFill>
          </p:spPr>
        </p:sp>
      </p:grpSp>
      <p:grpSp>
        <p:nvGrpSpPr>
          <p:cNvPr name="Group 35" id="35"/>
          <p:cNvGrpSpPr/>
          <p:nvPr/>
        </p:nvGrpSpPr>
        <p:grpSpPr>
          <a:xfrm rot="0">
            <a:off x="2353609" y="5587731"/>
            <a:ext cx="8870717" cy="541988"/>
            <a:chOff x="0" y="0"/>
            <a:chExt cx="11827622" cy="722650"/>
          </a:xfrm>
        </p:grpSpPr>
        <p:sp>
          <p:nvSpPr>
            <p:cNvPr name="Freeform 36" id="36"/>
            <p:cNvSpPr/>
            <p:nvPr/>
          </p:nvSpPr>
          <p:spPr>
            <a:xfrm flipH="false" flipV="false" rot="0">
              <a:off x="0" y="0"/>
              <a:ext cx="11827622" cy="722650"/>
            </a:xfrm>
            <a:custGeom>
              <a:avLst/>
              <a:gdLst/>
              <a:ahLst/>
              <a:cxnLst/>
              <a:rect r="r" b="b" t="t" l="l"/>
              <a:pathLst>
                <a:path h="722650" w="11827622">
                  <a:moveTo>
                    <a:pt x="0" y="0"/>
                  </a:moveTo>
                  <a:lnTo>
                    <a:pt x="11827622" y="0"/>
                  </a:lnTo>
                  <a:lnTo>
                    <a:pt x="11827622" y="722650"/>
                  </a:lnTo>
                  <a:lnTo>
                    <a:pt x="0" y="722650"/>
                  </a:lnTo>
                  <a:close/>
                </a:path>
              </a:pathLst>
            </a:custGeom>
            <a:blipFill>
              <a:blip r:embed="rId3">
                <a:alphaModFix amt="0"/>
              </a:blip>
              <a:stretch>
                <a:fillRect l="0" t="-92640" r="38151" b="-201843"/>
              </a:stretch>
            </a:blipFill>
          </p:spPr>
        </p:sp>
        <p:sp>
          <p:nvSpPr>
            <p:cNvPr name="TextBox 37" id="37"/>
            <p:cNvSpPr txBox="true"/>
            <p:nvPr/>
          </p:nvSpPr>
          <p:spPr>
            <a:xfrm>
              <a:off x="0" y="-19050"/>
              <a:ext cx="11827622" cy="741700"/>
            </a:xfrm>
            <a:prstGeom prst="rect">
              <a:avLst/>
            </a:prstGeom>
          </p:spPr>
          <p:txBody>
            <a:bodyPr anchor="ctr" rtlCol="false" tIns="0" lIns="0" bIns="0" rIns="0"/>
            <a:lstStyle/>
            <a:p>
              <a:pPr algn="l">
                <a:lnSpc>
                  <a:spcPts val="2879"/>
                </a:lnSpc>
              </a:pPr>
              <a:r>
                <a:rPr lang="en-US" sz="2399" i="true">
                  <a:solidFill>
                    <a:srgbClr val="CC2200"/>
                  </a:solidFill>
                  <a:latin typeface="Helios Extended Italics"/>
                  <a:ea typeface="Helios Extended Italics"/>
                  <a:cs typeface="Helios Extended Italics"/>
                  <a:sym typeface="Helios Extended Italics"/>
                </a:rPr>
                <a:t>Medical-domain LLM judges or human expert review</a:t>
              </a:r>
            </a:p>
          </p:txBody>
        </p:sp>
      </p:grpSp>
      <p:grpSp>
        <p:nvGrpSpPr>
          <p:cNvPr name="Group 38" id="38"/>
          <p:cNvGrpSpPr/>
          <p:nvPr/>
        </p:nvGrpSpPr>
        <p:grpSpPr>
          <a:xfrm rot="0">
            <a:off x="1452372" y="4936907"/>
            <a:ext cx="11652374" cy="672871"/>
            <a:chOff x="0" y="0"/>
            <a:chExt cx="15536498" cy="897161"/>
          </a:xfrm>
        </p:grpSpPr>
        <p:sp>
          <p:nvSpPr>
            <p:cNvPr name="Freeform 39" id="39"/>
            <p:cNvSpPr/>
            <p:nvPr/>
          </p:nvSpPr>
          <p:spPr>
            <a:xfrm flipH="false" flipV="false" rot="0">
              <a:off x="0" y="0"/>
              <a:ext cx="15536498" cy="897161"/>
            </a:xfrm>
            <a:custGeom>
              <a:avLst/>
              <a:gdLst/>
              <a:ahLst/>
              <a:cxnLst/>
              <a:rect r="r" b="b" t="t" l="l"/>
              <a:pathLst>
                <a:path h="897161" w="15536498">
                  <a:moveTo>
                    <a:pt x="0" y="0"/>
                  </a:moveTo>
                  <a:lnTo>
                    <a:pt x="15536498" y="0"/>
                  </a:lnTo>
                  <a:lnTo>
                    <a:pt x="15536498" y="897161"/>
                  </a:lnTo>
                  <a:lnTo>
                    <a:pt x="0" y="897161"/>
                  </a:lnTo>
                  <a:close/>
                </a:path>
              </a:pathLst>
            </a:custGeom>
            <a:blipFill>
              <a:blip r:embed="rId3">
                <a:alphaModFix amt="0"/>
              </a:blip>
              <a:stretch>
                <a:fillRect l="0" t="-247785" r="13679" b="-234758"/>
              </a:stretch>
            </a:blipFill>
          </p:spPr>
        </p:sp>
        <p:sp>
          <p:nvSpPr>
            <p:cNvPr name="TextBox 40" id="40"/>
            <p:cNvSpPr txBox="true"/>
            <p:nvPr/>
          </p:nvSpPr>
          <p:spPr>
            <a:xfrm>
              <a:off x="0" y="-28575"/>
              <a:ext cx="15536498" cy="925736"/>
            </a:xfrm>
            <a:prstGeom prst="rect">
              <a:avLst/>
            </a:prstGeom>
          </p:spPr>
          <p:txBody>
            <a:bodyPr anchor="ctr" rtlCol="false" tIns="0" lIns="0" bIns="0" rIns="0"/>
            <a:lstStyle/>
            <a:p>
              <a:pPr algn="l">
                <a:lnSpc>
                  <a:spcPts val="4439"/>
                </a:lnSpc>
              </a:pPr>
              <a:r>
                <a:rPr lang="en-US" sz="3699" b="true">
                  <a:solidFill>
                    <a:srgbClr val="1A1A1A"/>
                  </a:solidFill>
                  <a:latin typeface="Helios Extended Bold"/>
                  <a:ea typeface="Helios Extended Bold"/>
                  <a:cs typeface="Helios Extended Bold"/>
                  <a:sym typeface="Helios Extended Bold"/>
                </a:rPr>
                <a:t>2</a:t>
              </a:r>
              <a:r>
                <a:rPr lang="en-US" sz="3699" b="true">
                  <a:solidFill>
                    <a:srgbClr val="1A1A1A"/>
                  </a:solidFill>
                  <a:latin typeface="Helios Extended Bold"/>
                  <a:ea typeface="Helios Extended Bold"/>
                  <a:cs typeface="Helios Extended Bold"/>
                  <a:sym typeface="Helios Extended Bold"/>
                </a:rPr>
                <a:t>.  Reasoning Quality Is Hard to Evaluate </a:t>
              </a:r>
            </a:p>
          </p:txBody>
        </p:sp>
      </p:grpSp>
      <p:sp>
        <p:nvSpPr>
          <p:cNvPr name="TextBox 41" id="41"/>
          <p:cNvSpPr txBox="true"/>
          <p:nvPr/>
        </p:nvSpPr>
        <p:spPr>
          <a:xfrm rot="0">
            <a:off x="17259300" y="9220200"/>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15</a:t>
            </a:r>
          </a:p>
        </p:txBody>
      </p:sp>
      <p:grpSp>
        <p:nvGrpSpPr>
          <p:cNvPr name="Group 42" id="42"/>
          <p:cNvGrpSpPr/>
          <p:nvPr/>
        </p:nvGrpSpPr>
        <p:grpSpPr>
          <a:xfrm rot="0">
            <a:off x="15544800" y="365760"/>
            <a:ext cx="2377440" cy="585216"/>
            <a:chOff x="0" y="0"/>
            <a:chExt cx="3169920" cy="780288"/>
          </a:xfrm>
        </p:grpSpPr>
        <p:sp>
          <p:nvSpPr>
            <p:cNvPr name="Freeform 43" id="43"/>
            <p:cNvSpPr/>
            <p:nvPr/>
          </p:nvSpPr>
          <p:spPr>
            <a:xfrm flipH="false" flipV="false" rot="0">
              <a:off x="0" y="0"/>
              <a:ext cx="3169920" cy="780288"/>
            </a:xfrm>
            <a:custGeom>
              <a:avLst/>
              <a:gdLst/>
              <a:ahLst/>
              <a:cxnLst/>
              <a:rect r="r" b="b" t="t" l="l"/>
              <a:pathLst>
                <a:path h="780288" w="3169920">
                  <a:moveTo>
                    <a:pt x="0" y="121920"/>
                  </a:moveTo>
                  <a:cubicBezTo>
                    <a:pt x="0" y="54610"/>
                    <a:pt x="54610" y="0"/>
                    <a:pt x="121920" y="0"/>
                  </a:cubicBezTo>
                  <a:lnTo>
                    <a:pt x="3048000" y="0"/>
                  </a:lnTo>
                  <a:cubicBezTo>
                    <a:pt x="3115310" y="0"/>
                    <a:pt x="3169920" y="54610"/>
                    <a:pt x="3169920" y="121920"/>
                  </a:cubicBezTo>
                  <a:lnTo>
                    <a:pt x="3169920" y="658368"/>
                  </a:lnTo>
                  <a:cubicBezTo>
                    <a:pt x="3169920" y="725678"/>
                    <a:pt x="3115310" y="780288"/>
                    <a:pt x="3048000" y="780288"/>
                  </a:cubicBezTo>
                  <a:lnTo>
                    <a:pt x="121920" y="780288"/>
                  </a:lnTo>
                  <a:cubicBezTo>
                    <a:pt x="54610" y="780288"/>
                    <a:pt x="0" y="725678"/>
                    <a:pt x="0" y="658368"/>
                  </a:cubicBezTo>
                  <a:close/>
                </a:path>
              </a:pathLst>
            </a:custGeom>
            <a:solidFill>
              <a:srgbClr val="3D4D55"/>
            </a:solidFill>
          </p:spPr>
        </p:sp>
      </p:grpSp>
      <p:grpSp>
        <p:nvGrpSpPr>
          <p:cNvPr name="Group 44" id="44"/>
          <p:cNvGrpSpPr/>
          <p:nvPr/>
        </p:nvGrpSpPr>
        <p:grpSpPr>
          <a:xfrm rot="0">
            <a:off x="15544800" y="402336"/>
            <a:ext cx="2377440" cy="512064"/>
            <a:chOff x="0" y="0"/>
            <a:chExt cx="3169920" cy="682752"/>
          </a:xfrm>
        </p:grpSpPr>
        <p:sp>
          <p:nvSpPr>
            <p:cNvPr name="Freeform 45" id="45"/>
            <p:cNvSpPr/>
            <p:nvPr/>
          </p:nvSpPr>
          <p:spPr>
            <a:xfrm flipH="false" flipV="false" rot="0">
              <a:off x="0" y="0"/>
              <a:ext cx="3169920" cy="682752"/>
            </a:xfrm>
            <a:custGeom>
              <a:avLst/>
              <a:gdLst/>
              <a:ahLst/>
              <a:cxnLst/>
              <a:rect r="r" b="b" t="t" l="l"/>
              <a:pathLst>
                <a:path h="682752" w="3169920">
                  <a:moveTo>
                    <a:pt x="0" y="0"/>
                  </a:moveTo>
                  <a:lnTo>
                    <a:pt x="3169920" y="0"/>
                  </a:lnTo>
                  <a:lnTo>
                    <a:pt x="3169920" y="682752"/>
                  </a:lnTo>
                  <a:lnTo>
                    <a:pt x="0" y="682752"/>
                  </a:lnTo>
                  <a:close/>
                </a:path>
              </a:pathLst>
            </a:custGeom>
            <a:blipFill>
              <a:blip r:embed="rId3">
                <a:alphaModFix amt="0"/>
              </a:blip>
              <a:stretch>
                <a:fillRect l="0" t="-40466" r="0" b="-40466"/>
              </a:stretch>
            </a:blipFill>
          </p:spPr>
        </p:sp>
        <p:sp>
          <p:nvSpPr>
            <p:cNvPr name="TextBox 46" id="46"/>
            <p:cNvSpPr txBox="true"/>
            <p:nvPr/>
          </p:nvSpPr>
          <p:spPr>
            <a:xfrm>
              <a:off x="0" y="-19050"/>
              <a:ext cx="3169920" cy="701802"/>
            </a:xfrm>
            <a:prstGeom prst="rect">
              <a:avLst/>
            </a:prstGeom>
          </p:spPr>
          <p:txBody>
            <a:bodyPr anchor="ctr" rtlCol="false" tIns="0" lIns="0" bIns="0" rIns="0"/>
            <a:lstStyle/>
            <a:p>
              <a:pPr algn="ctr">
                <a:lnSpc>
                  <a:spcPts val="2279"/>
                </a:lnSpc>
              </a:pPr>
              <a:r>
                <a:rPr lang="en-US" sz="1899" b="true">
                  <a:solidFill>
                    <a:srgbClr val="FFFFFF"/>
                  </a:solidFill>
                  <a:latin typeface="Helios Extended Bold"/>
                  <a:ea typeface="Helios Extended Bold"/>
                  <a:cs typeface="Helios Extended Bold"/>
                  <a:sym typeface="Helios Extended Bold"/>
                </a:rPr>
                <a:t>6. Limitations</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97280" y="365760"/>
            <a:ext cx="13716000" cy="1097280"/>
            <a:chOff x="0" y="0"/>
            <a:chExt cx="18288000" cy="1463040"/>
          </a:xfrm>
        </p:grpSpPr>
        <p:sp>
          <p:nvSpPr>
            <p:cNvPr name="Freeform 3" id="3"/>
            <p:cNvSpPr/>
            <p:nvPr/>
          </p:nvSpPr>
          <p:spPr>
            <a:xfrm flipH="false" flipV="false" rot="0">
              <a:off x="0" y="0"/>
              <a:ext cx="18288000" cy="1463040"/>
            </a:xfrm>
            <a:custGeom>
              <a:avLst/>
              <a:gdLst/>
              <a:ahLst/>
              <a:cxnLst/>
              <a:rect r="r" b="b" t="t" l="l"/>
              <a:pathLst>
                <a:path h="1463040" w="18288000">
                  <a:moveTo>
                    <a:pt x="0" y="0"/>
                  </a:moveTo>
                  <a:lnTo>
                    <a:pt x="18288000" y="0"/>
                  </a:lnTo>
                  <a:lnTo>
                    <a:pt x="18288000" y="1463040"/>
                  </a:lnTo>
                  <a:lnTo>
                    <a:pt x="0" y="1463040"/>
                  </a:lnTo>
                  <a:close/>
                </a:path>
              </a:pathLst>
            </a:custGeom>
            <a:solidFill>
              <a:srgbClr val="000000">
                <a:alpha val="0"/>
              </a:srgbClr>
            </a:solidFill>
          </p:spPr>
        </p:sp>
        <p:sp>
          <p:nvSpPr>
            <p:cNvPr name="TextBox 4" id="4"/>
            <p:cNvSpPr txBox="true"/>
            <p:nvPr/>
          </p:nvSpPr>
          <p:spPr>
            <a:xfrm>
              <a:off x="0" y="-47625"/>
              <a:ext cx="18288000" cy="1510665"/>
            </a:xfrm>
            <a:prstGeom prst="rect">
              <a:avLst/>
            </a:prstGeom>
          </p:spPr>
          <p:txBody>
            <a:bodyPr anchor="ctr" rtlCol="false" tIns="0" lIns="0" bIns="0" rIns="0"/>
            <a:lstStyle/>
            <a:p>
              <a:pPr algn="l">
                <a:lnSpc>
                  <a:spcPts val="6240"/>
                </a:lnSpc>
              </a:pPr>
              <a:r>
                <a:rPr lang="en-US" b="true" sz="5200">
                  <a:solidFill>
                    <a:srgbClr val="000000"/>
                  </a:solidFill>
                  <a:latin typeface="Helios Extended Bold"/>
                  <a:ea typeface="Helios Extended Bold"/>
                  <a:cs typeface="Helios Extended Bold"/>
                  <a:sym typeface="Helios Extended Bold"/>
                </a:rPr>
                <a:t>Conclusion &amp; Next Steps</a:t>
              </a:r>
            </a:p>
          </p:txBody>
        </p:sp>
      </p:grpSp>
      <p:grpSp>
        <p:nvGrpSpPr>
          <p:cNvPr name="Group 5" id="5"/>
          <p:cNvGrpSpPr/>
          <p:nvPr/>
        </p:nvGrpSpPr>
        <p:grpSpPr>
          <a:xfrm rot="0">
            <a:off x="901703" y="1724663"/>
            <a:ext cx="16484603" cy="1159259"/>
            <a:chOff x="0" y="0"/>
            <a:chExt cx="21979471" cy="1545679"/>
          </a:xfrm>
        </p:grpSpPr>
        <p:sp>
          <p:nvSpPr>
            <p:cNvPr name="Freeform 6" id="6"/>
            <p:cNvSpPr/>
            <p:nvPr/>
          </p:nvSpPr>
          <p:spPr>
            <a:xfrm flipH="false" flipV="false" rot="0">
              <a:off x="16891" y="16891"/>
              <a:ext cx="21945599" cy="1511808"/>
            </a:xfrm>
            <a:custGeom>
              <a:avLst/>
              <a:gdLst/>
              <a:ahLst/>
              <a:cxnLst/>
              <a:rect r="r" b="b" t="t" l="l"/>
              <a:pathLst>
                <a:path h="1511808" w="21945599">
                  <a:moveTo>
                    <a:pt x="0" y="0"/>
                  </a:moveTo>
                  <a:lnTo>
                    <a:pt x="21945599" y="0"/>
                  </a:lnTo>
                  <a:lnTo>
                    <a:pt x="21945599" y="1511808"/>
                  </a:lnTo>
                  <a:lnTo>
                    <a:pt x="0" y="1511808"/>
                  </a:lnTo>
                  <a:close/>
                </a:path>
              </a:pathLst>
            </a:custGeom>
            <a:solidFill>
              <a:srgbClr val="F2F1F1"/>
            </a:solidFill>
          </p:spPr>
        </p:sp>
        <p:sp>
          <p:nvSpPr>
            <p:cNvPr name="Freeform 7" id="7"/>
            <p:cNvSpPr/>
            <p:nvPr/>
          </p:nvSpPr>
          <p:spPr>
            <a:xfrm flipH="false" flipV="false" rot="0">
              <a:off x="0" y="0"/>
              <a:ext cx="21979382" cy="1545590"/>
            </a:xfrm>
            <a:custGeom>
              <a:avLst/>
              <a:gdLst/>
              <a:ahLst/>
              <a:cxnLst/>
              <a:rect r="r" b="b" t="t" l="l"/>
              <a:pathLst>
                <a:path h="1545590" w="21979382">
                  <a:moveTo>
                    <a:pt x="16891" y="0"/>
                  </a:moveTo>
                  <a:lnTo>
                    <a:pt x="21962490" y="0"/>
                  </a:lnTo>
                  <a:cubicBezTo>
                    <a:pt x="21971890" y="0"/>
                    <a:pt x="21979382" y="7620"/>
                    <a:pt x="21979382" y="16891"/>
                  </a:cubicBezTo>
                  <a:lnTo>
                    <a:pt x="21979382" y="1528699"/>
                  </a:lnTo>
                  <a:cubicBezTo>
                    <a:pt x="21979382" y="1538097"/>
                    <a:pt x="21971763" y="1545590"/>
                    <a:pt x="21962490"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1962490" y="1511808"/>
                  </a:lnTo>
                  <a:lnTo>
                    <a:pt x="21962490" y="1528699"/>
                  </a:lnTo>
                  <a:lnTo>
                    <a:pt x="21945600" y="1528699"/>
                  </a:lnTo>
                  <a:lnTo>
                    <a:pt x="21945600" y="16891"/>
                  </a:lnTo>
                  <a:lnTo>
                    <a:pt x="21962490" y="16891"/>
                  </a:lnTo>
                  <a:lnTo>
                    <a:pt x="21962490" y="33909"/>
                  </a:lnTo>
                  <a:lnTo>
                    <a:pt x="16891" y="33909"/>
                  </a:lnTo>
                  <a:close/>
                </a:path>
              </a:pathLst>
            </a:custGeom>
            <a:solidFill>
              <a:srgbClr val="38A169"/>
            </a:solidFill>
          </p:spPr>
        </p:sp>
      </p:grpSp>
      <p:grpSp>
        <p:nvGrpSpPr>
          <p:cNvPr name="Group 8" id="8"/>
          <p:cNvGrpSpPr/>
          <p:nvPr/>
        </p:nvGrpSpPr>
        <p:grpSpPr>
          <a:xfrm rot="0">
            <a:off x="1188720" y="1792224"/>
            <a:ext cx="731520" cy="1005840"/>
            <a:chOff x="0" y="0"/>
            <a:chExt cx="975360" cy="1341120"/>
          </a:xfrm>
        </p:grpSpPr>
        <p:sp>
          <p:nvSpPr>
            <p:cNvPr name="Freeform 9" id="9"/>
            <p:cNvSpPr/>
            <p:nvPr/>
          </p:nvSpPr>
          <p:spPr>
            <a:xfrm flipH="false" flipV="false" rot="0">
              <a:off x="0" y="0"/>
              <a:ext cx="975360" cy="1341120"/>
            </a:xfrm>
            <a:custGeom>
              <a:avLst/>
              <a:gdLst/>
              <a:ahLst/>
              <a:cxnLst/>
              <a:rect r="r" b="b" t="t" l="l"/>
              <a:pathLst>
                <a:path h="1341120" w="975360">
                  <a:moveTo>
                    <a:pt x="0" y="0"/>
                  </a:moveTo>
                  <a:lnTo>
                    <a:pt x="975360" y="0"/>
                  </a:lnTo>
                  <a:lnTo>
                    <a:pt x="975360" y="1341120"/>
                  </a:lnTo>
                  <a:lnTo>
                    <a:pt x="0" y="1341120"/>
                  </a:lnTo>
                  <a:close/>
                </a:path>
              </a:pathLst>
            </a:custGeom>
            <a:blipFill>
              <a:blip r:embed="rId3">
                <a:alphaModFix amt="0"/>
              </a:blip>
              <a:stretch>
                <a:fillRect l="-126417" t="0" r="-126417" b="0"/>
              </a:stretch>
            </a:blipFill>
          </p:spPr>
        </p:sp>
        <p:sp>
          <p:nvSpPr>
            <p:cNvPr name="TextBox 10" id="10"/>
            <p:cNvSpPr txBox="true"/>
            <p:nvPr/>
          </p:nvSpPr>
          <p:spPr>
            <a:xfrm>
              <a:off x="0" y="-28575"/>
              <a:ext cx="975360" cy="1369695"/>
            </a:xfrm>
            <a:prstGeom prst="rect">
              <a:avLst/>
            </a:prstGeom>
          </p:spPr>
          <p:txBody>
            <a:bodyPr anchor="ctr" rtlCol="false" tIns="0" lIns="0" bIns="0" rIns="0"/>
            <a:lstStyle/>
            <a:p>
              <a:pPr algn="l">
                <a:lnSpc>
                  <a:spcPts val="5159"/>
                </a:lnSpc>
              </a:pPr>
              <a:r>
                <a:rPr lang="en-US" sz="4299" b="true">
                  <a:solidFill>
                    <a:srgbClr val="38A169"/>
                  </a:solidFill>
                  <a:latin typeface="Helios Extended Bold"/>
                  <a:ea typeface="Helios Extended Bold"/>
                  <a:cs typeface="Helios Extended Bold"/>
                  <a:sym typeface="Helios Extended Bold"/>
                </a:rPr>
                <a:t>✓</a:t>
              </a:r>
            </a:p>
          </p:txBody>
        </p:sp>
      </p:grpSp>
      <p:grpSp>
        <p:nvGrpSpPr>
          <p:cNvPr name="Group 11" id="11"/>
          <p:cNvGrpSpPr/>
          <p:nvPr/>
        </p:nvGrpSpPr>
        <p:grpSpPr>
          <a:xfrm rot="0">
            <a:off x="2103120" y="1792224"/>
            <a:ext cx="14813280" cy="1005840"/>
            <a:chOff x="0" y="0"/>
            <a:chExt cx="19751040" cy="1341120"/>
          </a:xfrm>
        </p:grpSpPr>
        <p:sp>
          <p:nvSpPr>
            <p:cNvPr name="Freeform 12" id="12"/>
            <p:cNvSpPr/>
            <p:nvPr/>
          </p:nvSpPr>
          <p:spPr>
            <a:xfrm flipH="false" flipV="false" rot="0">
              <a:off x="0" y="0"/>
              <a:ext cx="19751039" cy="1341120"/>
            </a:xfrm>
            <a:custGeom>
              <a:avLst/>
              <a:gdLst/>
              <a:ahLst/>
              <a:cxnLst/>
              <a:rect r="r" b="b" t="t" l="l"/>
              <a:pathLst>
                <a:path h="1341120" w="19751039">
                  <a:moveTo>
                    <a:pt x="0" y="0"/>
                  </a:moveTo>
                  <a:lnTo>
                    <a:pt x="19751039" y="0"/>
                  </a:lnTo>
                  <a:lnTo>
                    <a:pt x="19751039" y="1341120"/>
                  </a:lnTo>
                  <a:lnTo>
                    <a:pt x="0" y="1341120"/>
                  </a:lnTo>
                  <a:close/>
                </a:path>
              </a:pathLst>
            </a:custGeom>
            <a:blipFill>
              <a:blip r:embed="rId3">
                <a:alphaModFix amt="0"/>
              </a:blip>
              <a:stretch>
                <a:fillRect l="0" t="-236961" r="0" b="-236961"/>
              </a:stretch>
            </a:blipFill>
          </p:spPr>
        </p:sp>
        <p:sp>
          <p:nvSpPr>
            <p:cNvPr name="TextBox 13" id="13"/>
            <p:cNvSpPr txBox="true"/>
            <p:nvPr/>
          </p:nvSpPr>
          <p:spPr>
            <a:xfrm>
              <a:off x="0" y="-19050"/>
              <a:ext cx="19751040" cy="1360170"/>
            </a:xfrm>
            <a:prstGeom prst="rect">
              <a:avLst/>
            </a:prstGeom>
          </p:spPr>
          <p:txBody>
            <a:bodyPr anchor="ctr" rtlCol="false" tIns="0" lIns="0" bIns="0" rIns="0"/>
            <a:lstStyle/>
            <a:p>
              <a:pPr algn="l">
                <a:lnSpc>
                  <a:spcPts val="2999"/>
                </a:lnSpc>
              </a:pPr>
              <a:r>
                <a:rPr lang="en-US" sz="2499">
                  <a:solidFill>
                    <a:srgbClr val="000000"/>
                  </a:solidFill>
                  <a:latin typeface="Helios Extended"/>
                  <a:ea typeface="Helios Extended"/>
                  <a:cs typeface="Helios Extended"/>
                  <a:sym typeface="Helios Extended"/>
                </a:rPr>
                <a:t>First CoT distillation framework applied to DDI prediction — a novel biomedical molecular NLP setting with extreme class imbalance</a:t>
              </a:r>
            </a:p>
          </p:txBody>
        </p:sp>
      </p:grpSp>
      <p:grpSp>
        <p:nvGrpSpPr>
          <p:cNvPr name="Group 14" id="14"/>
          <p:cNvGrpSpPr/>
          <p:nvPr/>
        </p:nvGrpSpPr>
        <p:grpSpPr>
          <a:xfrm rot="0">
            <a:off x="901703" y="3077975"/>
            <a:ext cx="16484603" cy="1159259"/>
            <a:chOff x="0" y="0"/>
            <a:chExt cx="21979471" cy="1545679"/>
          </a:xfrm>
        </p:grpSpPr>
        <p:sp>
          <p:nvSpPr>
            <p:cNvPr name="Freeform 15" id="15"/>
            <p:cNvSpPr/>
            <p:nvPr/>
          </p:nvSpPr>
          <p:spPr>
            <a:xfrm flipH="false" flipV="false" rot="0">
              <a:off x="16891" y="16891"/>
              <a:ext cx="21945599" cy="1511808"/>
            </a:xfrm>
            <a:custGeom>
              <a:avLst/>
              <a:gdLst/>
              <a:ahLst/>
              <a:cxnLst/>
              <a:rect r="r" b="b" t="t" l="l"/>
              <a:pathLst>
                <a:path h="1511808" w="21945599">
                  <a:moveTo>
                    <a:pt x="0" y="0"/>
                  </a:moveTo>
                  <a:lnTo>
                    <a:pt x="21945599" y="0"/>
                  </a:lnTo>
                  <a:lnTo>
                    <a:pt x="21945599" y="1511808"/>
                  </a:lnTo>
                  <a:lnTo>
                    <a:pt x="0" y="1511808"/>
                  </a:lnTo>
                  <a:close/>
                </a:path>
              </a:pathLst>
            </a:custGeom>
            <a:solidFill>
              <a:srgbClr val="F2F1F1"/>
            </a:solidFill>
          </p:spPr>
        </p:sp>
        <p:sp>
          <p:nvSpPr>
            <p:cNvPr name="Freeform 16" id="16"/>
            <p:cNvSpPr/>
            <p:nvPr/>
          </p:nvSpPr>
          <p:spPr>
            <a:xfrm flipH="false" flipV="false" rot="0">
              <a:off x="0" y="0"/>
              <a:ext cx="21979382" cy="1545590"/>
            </a:xfrm>
            <a:custGeom>
              <a:avLst/>
              <a:gdLst/>
              <a:ahLst/>
              <a:cxnLst/>
              <a:rect r="r" b="b" t="t" l="l"/>
              <a:pathLst>
                <a:path h="1545590" w="21979382">
                  <a:moveTo>
                    <a:pt x="16891" y="0"/>
                  </a:moveTo>
                  <a:lnTo>
                    <a:pt x="21962490" y="0"/>
                  </a:lnTo>
                  <a:cubicBezTo>
                    <a:pt x="21971890" y="0"/>
                    <a:pt x="21979382" y="7620"/>
                    <a:pt x="21979382" y="16891"/>
                  </a:cubicBezTo>
                  <a:lnTo>
                    <a:pt x="21979382" y="1528699"/>
                  </a:lnTo>
                  <a:cubicBezTo>
                    <a:pt x="21979382" y="1538097"/>
                    <a:pt x="21971763" y="1545590"/>
                    <a:pt x="21962490"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1962490" y="1511808"/>
                  </a:lnTo>
                  <a:lnTo>
                    <a:pt x="21962490" y="1528699"/>
                  </a:lnTo>
                  <a:lnTo>
                    <a:pt x="21945600" y="1528699"/>
                  </a:lnTo>
                  <a:lnTo>
                    <a:pt x="21945600" y="16891"/>
                  </a:lnTo>
                  <a:lnTo>
                    <a:pt x="21962490" y="16891"/>
                  </a:lnTo>
                  <a:lnTo>
                    <a:pt x="21962490" y="33909"/>
                  </a:lnTo>
                  <a:lnTo>
                    <a:pt x="16891" y="33909"/>
                  </a:lnTo>
                  <a:close/>
                </a:path>
              </a:pathLst>
            </a:custGeom>
            <a:solidFill>
              <a:srgbClr val="38A169"/>
            </a:solidFill>
          </p:spPr>
        </p:sp>
      </p:grpSp>
      <p:grpSp>
        <p:nvGrpSpPr>
          <p:cNvPr name="Group 17" id="17"/>
          <p:cNvGrpSpPr/>
          <p:nvPr/>
        </p:nvGrpSpPr>
        <p:grpSpPr>
          <a:xfrm rot="0">
            <a:off x="1188720" y="3145536"/>
            <a:ext cx="731520" cy="1005840"/>
            <a:chOff x="0" y="0"/>
            <a:chExt cx="975360" cy="1341120"/>
          </a:xfrm>
        </p:grpSpPr>
        <p:sp>
          <p:nvSpPr>
            <p:cNvPr name="Freeform 18" id="18"/>
            <p:cNvSpPr/>
            <p:nvPr/>
          </p:nvSpPr>
          <p:spPr>
            <a:xfrm flipH="false" flipV="false" rot="0">
              <a:off x="0" y="0"/>
              <a:ext cx="975360" cy="1341120"/>
            </a:xfrm>
            <a:custGeom>
              <a:avLst/>
              <a:gdLst/>
              <a:ahLst/>
              <a:cxnLst/>
              <a:rect r="r" b="b" t="t" l="l"/>
              <a:pathLst>
                <a:path h="1341120" w="975360">
                  <a:moveTo>
                    <a:pt x="0" y="0"/>
                  </a:moveTo>
                  <a:lnTo>
                    <a:pt x="975360" y="0"/>
                  </a:lnTo>
                  <a:lnTo>
                    <a:pt x="975360" y="1341120"/>
                  </a:lnTo>
                  <a:lnTo>
                    <a:pt x="0" y="1341120"/>
                  </a:lnTo>
                  <a:close/>
                </a:path>
              </a:pathLst>
            </a:custGeom>
            <a:blipFill>
              <a:blip r:embed="rId3">
                <a:alphaModFix amt="0"/>
              </a:blip>
              <a:stretch>
                <a:fillRect l="-126417" t="0" r="-126417" b="0"/>
              </a:stretch>
            </a:blipFill>
          </p:spPr>
        </p:sp>
        <p:sp>
          <p:nvSpPr>
            <p:cNvPr name="TextBox 19" id="19"/>
            <p:cNvSpPr txBox="true"/>
            <p:nvPr/>
          </p:nvSpPr>
          <p:spPr>
            <a:xfrm>
              <a:off x="0" y="-28575"/>
              <a:ext cx="975360" cy="1369695"/>
            </a:xfrm>
            <a:prstGeom prst="rect">
              <a:avLst/>
            </a:prstGeom>
          </p:spPr>
          <p:txBody>
            <a:bodyPr anchor="ctr" rtlCol="false" tIns="0" lIns="0" bIns="0" rIns="0"/>
            <a:lstStyle/>
            <a:p>
              <a:pPr algn="l">
                <a:lnSpc>
                  <a:spcPts val="5159"/>
                </a:lnSpc>
              </a:pPr>
              <a:r>
                <a:rPr lang="en-US" sz="4299" b="true">
                  <a:solidFill>
                    <a:srgbClr val="38A169"/>
                  </a:solidFill>
                  <a:latin typeface="Helios Extended Bold"/>
                  <a:ea typeface="Helios Extended Bold"/>
                  <a:cs typeface="Helios Extended Bold"/>
                  <a:sym typeface="Helios Extended Bold"/>
                </a:rPr>
                <a:t>✓</a:t>
              </a:r>
            </a:p>
          </p:txBody>
        </p:sp>
      </p:grpSp>
      <p:grpSp>
        <p:nvGrpSpPr>
          <p:cNvPr name="Group 20" id="20"/>
          <p:cNvGrpSpPr/>
          <p:nvPr/>
        </p:nvGrpSpPr>
        <p:grpSpPr>
          <a:xfrm rot="0">
            <a:off x="2103120" y="3145536"/>
            <a:ext cx="14813280" cy="1005840"/>
            <a:chOff x="0" y="0"/>
            <a:chExt cx="19751040" cy="1341120"/>
          </a:xfrm>
        </p:grpSpPr>
        <p:sp>
          <p:nvSpPr>
            <p:cNvPr name="Freeform 21" id="21"/>
            <p:cNvSpPr/>
            <p:nvPr/>
          </p:nvSpPr>
          <p:spPr>
            <a:xfrm flipH="false" flipV="false" rot="0">
              <a:off x="0" y="0"/>
              <a:ext cx="19751039" cy="1341120"/>
            </a:xfrm>
            <a:custGeom>
              <a:avLst/>
              <a:gdLst/>
              <a:ahLst/>
              <a:cxnLst/>
              <a:rect r="r" b="b" t="t" l="l"/>
              <a:pathLst>
                <a:path h="1341120" w="19751039">
                  <a:moveTo>
                    <a:pt x="0" y="0"/>
                  </a:moveTo>
                  <a:lnTo>
                    <a:pt x="19751039" y="0"/>
                  </a:lnTo>
                  <a:lnTo>
                    <a:pt x="19751039" y="1341120"/>
                  </a:lnTo>
                  <a:lnTo>
                    <a:pt x="0" y="1341120"/>
                  </a:lnTo>
                  <a:close/>
                </a:path>
              </a:pathLst>
            </a:custGeom>
            <a:blipFill>
              <a:blip r:embed="rId3">
                <a:alphaModFix amt="0"/>
              </a:blip>
              <a:stretch>
                <a:fillRect l="0" t="-236961" r="0" b="-236961"/>
              </a:stretch>
            </a:blipFill>
          </p:spPr>
        </p:sp>
        <p:sp>
          <p:nvSpPr>
            <p:cNvPr name="TextBox 22" id="22"/>
            <p:cNvSpPr txBox="true"/>
            <p:nvPr/>
          </p:nvSpPr>
          <p:spPr>
            <a:xfrm>
              <a:off x="0" y="-19050"/>
              <a:ext cx="19751040" cy="1360170"/>
            </a:xfrm>
            <a:prstGeom prst="rect">
              <a:avLst/>
            </a:prstGeom>
          </p:spPr>
          <p:txBody>
            <a:bodyPr anchor="ctr" rtlCol="false" tIns="0" lIns="0" bIns="0" rIns="0"/>
            <a:lstStyle/>
            <a:p>
              <a:pPr algn="l">
                <a:lnSpc>
                  <a:spcPts val="2999"/>
                </a:lnSpc>
              </a:pPr>
              <a:r>
                <a:rPr lang="en-US" sz="2499">
                  <a:solidFill>
                    <a:srgbClr val="000000"/>
                  </a:solidFill>
                  <a:latin typeface="Helios Extended"/>
                  <a:ea typeface="Helios Extended"/>
                  <a:cs typeface="Helios Extended"/>
                  <a:sym typeface="Helios Extended"/>
                </a:rPr>
                <a:t>Label-only baseline (B) achieves strong Macro F1 = 0.9196 on 86-class task, confirming Qwen2.5-7B + LoRA is highly capable</a:t>
              </a:r>
            </a:p>
          </p:txBody>
        </p:sp>
      </p:grpSp>
      <p:grpSp>
        <p:nvGrpSpPr>
          <p:cNvPr name="Group 23" id="23"/>
          <p:cNvGrpSpPr/>
          <p:nvPr/>
        </p:nvGrpSpPr>
        <p:grpSpPr>
          <a:xfrm rot="0">
            <a:off x="901703" y="4431287"/>
            <a:ext cx="16484603" cy="1159259"/>
            <a:chOff x="0" y="0"/>
            <a:chExt cx="21979471" cy="1545679"/>
          </a:xfrm>
        </p:grpSpPr>
        <p:sp>
          <p:nvSpPr>
            <p:cNvPr name="Freeform 24" id="24"/>
            <p:cNvSpPr/>
            <p:nvPr/>
          </p:nvSpPr>
          <p:spPr>
            <a:xfrm flipH="false" flipV="false" rot="0">
              <a:off x="16891" y="16891"/>
              <a:ext cx="21945599" cy="1511808"/>
            </a:xfrm>
            <a:custGeom>
              <a:avLst/>
              <a:gdLst/>
              <a:ahLst/>
              <a:cxnLst/>
              <a:rect r="r" b="b" t="t" l="l"/>
              <a:pathLst>
                <a:path h="1511808" w="21945599">
                  <a:moveTo>
                    <a:pt x="0" y="0"/>
                  </a:moveTo>
                  <a:lnTo>
                    <a:pt x="21945599" y="0"/>
                  </a:lnTo>
                  <a:lnTo>
                    <a:pt x="21945599" y="1511808"/>
                  </a:lnTo>
                  <a:lnTo>
                    <a:pt x="0" y="1511808"/>
                  </a:lnTo>
                  <a:close/>
                </a:path>
              </a:pathLst>
            </a:custGeom>
            <a:solidFill>
              <a:srgbClr val="F2F1F1"/>
            </a:solidFill>
          </p:spPr>
        </p:sp>
        <p:sp>
          <p:nvSpPr>
            <p:cNvPr name="Freeform 25" id="25"/>
            <p:cNvSpPr/>
            <p:nvPr/>
          </p:nvSpPr>
          <p:spPr>
            <a:xfrm flipH="false" flipV="false" rot="0">
              <a:off x="0" y="0"/>
              <a:ext cx="21979382" cy="1545590"/>
            </a:xfrm>
            <a:custGeom>
              <a:avLst/>
              <a:gdLst/>
              <a:ahLst/>
              <a:cxnLst/>
              <a:rect r="r" b="b" t="t" l="l"/>
              <a:pathLst>
                <a:path h="1545590" w="21979382">
                  <a:moveTo>
                    <a:pt x="16891" y="0"/>
                  </a:moveTo>
                  <a:lnTo>
                    <a:pt x="21962490" y="0"/>
                  </a:lnTo>
                  <a:cubicBezTo>
                    <a:pt x="21971890" y="0"/>
                    <a:pt x="21979382" y="7620"/>
                    <a:pt x="21979382" y="16891"/>
                  </a:cubicBezTo>
                  <a:lnTo>
                    <a:pt x="21979382" y="1528699"/>
                  </a:lnTo>
                  <a:cubicBezTo>
                    <a:pt x="21979382" y="1538097"/>
                    <a:pt x="21971763" y="1545590"/>
                    <a:pt x="21962490"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1962490" y="1511808"/>
                  </a:lnTo>
                  <a:lnTo>
                    <a:pt x="21962490" y="1528699"/>
                  </a:lnTo>
                  <a:lnTo>
                    <a:pt x="21945600" y="1528699"/>
                  </a:lnTo>
                  <a:lnTo>
                    <a:pt x="21945600" y="16891"/>
                  </a:lnTo>
                  <a:lnTo>
                    <a:pt x="21962490" y="16891"/>
                  </a:lnTo>
                  <a:lnTo>
                    <a:pt x="21962490" y="33909"/>
                  </a:lnTo>
                  <a:lnTo>
                    <a:pt x="16891" y="33909"/>
                  </a:lnTo>
                  <a:close/>
                </a:path>
              </a:pathLst>
            </a:custGeom>
            <a:solidFill>
              <a:srgbClr val="E53E3E"/>
            </a:solidFill>
          </p:spPr>
        </p:sp>
      </p:grpSp>
      <p:grpSp>
        <p:nvGrpSpPr>
          <p:cNvPr name="Group 26" id="26"/>
          <p:cNvGrpSpPr/>
          <p:nvPr/>
        </p:nvGrpSpPr>
        <p:grpSpPr>
          <a:xfrm rot="0">
            <a:off x="1188720" y="4498848"/>
            <a:ext cx="731520" cy="1005840"/>
            <a:chOff x="0" y="0"/>
            <a:chExt cx="975360" cy="1341120"/>
          </a:xfrm>
        </p:grpSpPr>
        <p:sp>
          <p:nvSpPr>
            <p:cNvPr name="Freeform 27" id="27"/>
            <p:cNvSpPr/>
            <p:nvPr/>
          </p:nvSpPr>
          <p:spPr>
            <a:xfrm flipH="false" flipV="false" rot="0">
              <a:off x="0" y="0"/>
              <a:ext cx="975360" cy="1341120"/>
            </a:xfrm>
            <a:custGeom>
              <a:avLst/>
              <a:gdLst/>
              <a:ahLst/>
              <a:cxnLst/>
              <a:rect r="r" b="b" t="t" l="l"/>
              <a:pathLst>
                <a:path h="1341120" w="975360">
                  <a:moveTo>
                    <a:pt x="0" y="0"/>
                  </a:moveTo>
                  <a:lnTo>
                    <a:pt x="975360" y="0"/>
                  </a:lnTo>
                  <a:lnTo>
                    <a:pt x="975360" y="1341120"/>
                  </a:lnTo>
                  <a:lnTo>
                    <a:pt x="0" y="1341120"/>
                  </a:lnTo>
                  <a:close/>
                </a:path>
              </a:pathLst>
            </a:custGeom>
            <a:blipFill>
              <a:blip r:embed="rId3">
                <a:alphaModFix amt="0"/>
              </a:blip>
              <a:stretch>
                <a:fillRect l="-126417" t="0" r="-126417" b="0"/>
              </a:stretch>
            </a:blipFill>
          </p:spPr>
        </p:sp>
        <p:sp>
          <p:nvSpPr>
            <p:cNvPr name="TextBox 28" id="28"/>
            <p:cNvSpPr txBox="true"/>
            <p:nvPr/>
          </p:nvSpPr>
          <p:spPr>
            <a:xfrm>
              <a:off x="0" y="-28575"/>
              <a:ext cx="975360" cy="1369695"/>
            </a:xfrm>
            <a:prstGeom prst="rect">
              <a:avLst/>
            </a:prstGeom>
          </p:spPr>
          <p:txBody>
            <a:bodyPr anchor="ctr" rtlCol="false" tIns="0" lIns="0" bIns="0" rIns="0"/>
            <a:lstStyle/>
            <a:p>
              <a:pPr algn="l">
                <a:lnSpc>
                  <a:spcPts val="5159"/>
                </a:lnSpc>
              </a:pPr>
              <a:r>
                <a:rPr lang="en-US" sz="4299" b="true">
                  <a:solidFill>
                    <a:srgbClr val="E53E3E"/>
                  </a:solidFill>
                  <a:latin typeface="Helios Extended Bold"/>
                  <a:ea typeface="Helios Extended Bold"/>
                  <a:cs typeface="Helios Extended Bold"/>
                  <a:sym typeface="Helios Extended Bold"/>
                </a:rPr>
                <a:t>⚠</a:t>
              </a:r>
            </a:p>
          </p:txBody>
        </p:sp>
      </p:grpSp>
      <p:grpSp>
        <p:nvGrpSpPr>
          <p:cNvPr name="Group 29" id="29"/>
          <p:cNvGrpSpPr/>
          <p:nvPr/>
        </p:nvGrpSpPr>
        <p:grpSpPr>
          <a:xfrm rot="0">
            <a:off x="2103120" y="4498848"/>
            <a:ext cx="14813280" cy="1005840"/>
            <a:chOff x="0" y="0"/>
            <a:chExt cx="19751040" cy="1341120"/>
          </a:xfrm>
        </p:grpSpPr>
        <p:sp>
          <p:nvSpPr>
            <p:cNvPr name="Freeform 30" id="30"/>
            <p:cNvSpPr/>
            <p:nvPr/>
          </p:nvSpPr>
          <p:spPr>
            <a:xfrm flipH="false" flipV="false" rot="0">
              <a:off x="0" y="0"/>
              <a:ext cx="19751039" cy="1341120"/>
            </a:xfrm>
            <a:custGeom>
              <a:avLst/>
              <a:gdLst/>
              <a:ahLst/>
              <a:cxnLst/>
              <a:rect r="r" b="b" t="t" l="l"/>
              <a:pathLst>
                <a:path h="1341120" w="19751039">
                  <a:moveTo>
                    <a:pt x="0" y="0"/>
                  </a:moveTo>
                  <a:lnTo>
                    <a:pt x="19751039" y="0"/>
                  </a:lnTo>
                  <a:lnTo>
                    <a:pt x="19751039" y="1341120"/>
                  </a:lnTo>
                  <a:lnTo>
                    <a:pt x="0" y="1341120"/>
                  </a:lnTo>
                  <a:close/>
                </a:path>
              </a:pathLst>
            </a:custGeom>
            <a:blipFill>
              <a:blip r:embed="rId3">
                <a:alphaModFix amt="0"/>
              </a:blip>
              <a:stretch>
                <a:fillRect l="0" t="-236961" r="0" b="-236961"/>
              </a:stretch>
            </a:blipFill>
          </p:spPr>
        </p:sp>
        <p:sp>
          <p:nvSpPr>
            <p:cNvPr name="TextBox 31" id="31"/>
            <p:cNvSpPr txBox="true"/>
            <p:nvPr/>
          </p:nvSpPr>
          <p:spPr>
            <a:xfrm>
              <a:off x="0" y="-19050"/>
              <a:ext cx="19751040" cy="1360170"/>
            </a:xfrm>
            <a:prstGeom prst="rect">
              <a:avLst/>
            </a:prstGeom>
          </p:spPr>
          <p:txBody>
            <a:bodyPr anchor="ctr" rtlCol="false" tIns="0" lIns="0" bIns="0" rIns="0"/>
            <a:lstStyle/>
            <a:p>
              <a:pPr algn="l">
                <a:lnSpc>
                  <a:spcPts val="2999"/>
                </a:lnSpc>
              </a:pPr>
              <a:r>
                <a:rPr lang="en-US" sz="2499">
                  <a:solidFill>
                    <a:srgbClr val="000000"/>
                  </a:solidFill>
                  <a:latin typeface="Helios Extended"/>
                  <a:ea typeface="Helios Extended"/>
                  <a:cs typeface="Helios Extended"/>
                  <a:sym typeface="Helios Extended"/>
                </a:rPr>
                <a:t>Naive CoT distillation: 94.9/5.1% token split means 95% of gradient trains reasoning, not classification</a:t>
              </a:r>
            </a:p>
          </p:txBody>
        </p:sp>
      </p:grpSp>
      <p:grpSp>
        <p:nvGrpSpPr>
          <p:cNvPr name="Group 32" id="32"/>
          <p:cNvGrpSpPr/>
          <p:nvPr/>
        </p:nvGrpSpPr>
        <p:grpSpPr>
          <a:xfrm rot="0">
            <a:off x="901703" y="5784599"/>
            <a:ext cx="16484603" cy="1159259"/>
            <a:chOff x="0" y="0"/>
            <a:chExt cx="21979471" cy="1545679"/>
          </a:xfrm>
        </p:grpSpPr>
        <p:sp>
          <p:nvSpPr>
            <p:cNvPr name="Freeform 33" id="33"/>
            <p:cNvSpPr/>
            <p:nvPr/>
          </p:nvSpPr>
          <p:spPr>
            <a:xfrm flipH="false" flipV="false" rot="0">
              <a:off x="16891" y="16891"/>
              <a:ext cx="21945599" cy="1511808"/>
            </a:xfrm>
            <a:custGeom>
              <a:avLst/>
              <a:gdLst/>
              <a:ahLst/>
              <a:cxnLst/>
              <a:rect r="r" b="b" t="t" l="l"/>
              <a:pathLst>
                <a:path h="1511808" w="21945599">
                  <a:moveTo>
                    <a:pt x="0" y="0"/>
                  </a:moveTo>
                  <a:lnTo>
                    <a:pt x="21945599" y="0"/>
                  </a:lnTo>
                  <a:lnTo>
                    <a:pt x="21945599" y="1511808"/>
                  </a:lnTo>
                  <a:lnTo>
                    <a:pt x="0" y="1511808"/>
                  </a:lnTo>
                  <a:close/>
                </a:path>
              </a:pathLst>
            </a:custGeom>
            <a:solidFill>
              <a:srgbClr val="F2F1F1"/>
            </a:solidFill>
          </p:spPr>
        </p:sp>
        <p:sp>
          <p:nvSpPr>
            <p:cNvPr name="Freeform 34" id="34"/>
            <p:cNvSpPr/>
            <p:nvPr/>
          </p:nvSpPr>
          <p:spPr>
            <a:xfrm flipH="false" flipV="false" rot="0">
              <a:off x="0" y="0"/>
              <a:ext cx="21979382" cy="1545590"/>
            </a:xfrm>
            <a:custGeom>
              <a:avLst/>
              <a:gdLst/>
              <a:ahLst/>
              <a:cxnLst/>
              <a:rect r="r" b="b" t="t" l="l"/>
              <a:pathLst>
                <a:path h="1545590" w="21979382">
                  <a:moveTo>
                    <a:pt x="16891" y="0"/>
                  </a:moveTo>
                  <a:lnTo>
                    <a:pt x="21962490" y="0"/>
                  </a:lnTo>
                  <a:cubicBezTo>
                    <a:pt x="21971890" y="0"/>
                    <a:pt x="21979382" y="7620"/>
                    <a:pt x="21979382" y="16891"/>
                  </a:cubicBezTo>
                  <a:lnTo>
                    <a:pt x="21979382" y="1528699"/>
                  </a:lnTo>
                  <a:cubicBezTo>
                    <a:pt x="21979382" y="1538097"/>
                    <a:pt x="21971763" y="1545590"/>
                    <a:pt x="21962490"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1962490" y="1511808"/>
                  </a:lnTo>
                  <a:lnTo>
                    <a:pt x="21962490" y="1528699"/>
                  </a:lnTo>
                  <a:lnTo>
                    <a:pt x="21945600" y="1528699"/>
                  </a:lnTo>
                  <a:lnTo>
                    <a:pt x="21945600" y="16891"/>
                  </a:lnTo>
                  <a:lnTo>
                    <a:pt x="21962490" y="16891"/>
                  </a:lnTo>
                  <a:lnTo>
                    <a:pt x="21962490" y="33909"/>
                  </a:lnTo>
                  <a:lnTo>
                    <a:pt x="16891" y="33909"/>
                  </a:lnTo>
                  <a:close/>
                </a:path>
              </a:pathLst>
            </a:custGeom>
            <a:solidFill>
              <a:srgbClr val="F59E0B"/>
            </a:solidFill>
          </p:spPr>
        </p:sp>
      </p:grpSp>
      <p:grpSp>
        <p:nvGrpSpPr>
          <p:cNvPr name="Group 35" id="35"/>
          <p:cNvGrpSpPr/>
          <p:nvPr/>
        </p:nvGrpSpPr>
        <p:grpSpPr>
          <a:xfrm rot="0">
            <a:off x="1188720" y="5852160"/>
            <a:ext cx="731520" cy="1005840"/>
            <a:chOff x="0" y="0"/>
            <a:chExt cx="975360" cy="1341120"/>
          </a:xfrm>
        </p:grpSpPr>
        <p:sp>
          <p:nvSpPr>
            <p:cNvPr name="Freeform 36" id="36"/>
            <p:cNvSpPr/>
            <p:nvPr/>
          </p:nvSpPr>
          <p:spPr>
            <a:xfrm flipH="false" flipV="false" rot="0">
              <a:off x="0" y="0"/>
              <a:ext cx="975360" cy="1341120"/>
            </a:xfrm>
            <a:custGeom>
              <a:avLst/>
              <a:gdLst/>
              <a:ahLst/>
              <a:cxnLst/>
              <a:rect r="r" b="b" t="t" l="l"/>
              <a:pathLst>
                <a:path h="1341120" w="975360">
                  <a:moveTo>
                    <a:pt x="0" y="0"/>
                  </a:moveTo>
                  <a:lnTo>
                    <a:pt x="975360" y="0"/>
                  </a:lnTo>
                  <a:lnTo>
                    <a:pt x="975360" y="1341120"/>
                  </a:lnTo>
                  <a:lnTo>
                    <a:pt x="0" y="1341120"/>
                  </a:lnTo>
                  <a:close/>
                </a:path>
              </a:pathLst>
            </a:custGeom>
            <a:blipFill>
              <a:blip r:embed="rId3">
                <a:alphaModFix amt="0"/>
              </a:blip>
              <a:stretch>
                <a:fillRect l="-126417" t="0" r="-126417" b="0"/>
              </a:stretch>
            </a:blipFill>
          </p:spPr>
        </p:sp>
        <p:sp>
          <p:nvSpPr>
            <p:cNvPr name="TextBox 37" id="37"/>
            <p:cNvSpPr txBox="true"/>
            <p:nvPr/>
          </p:nvSpPr>
          <p:spPr>
            <a:xfrm>
              <a:off x="0" y="-28575"/>
              <a:ext cx="975360" cy="1369695"/>
            </a:xfrm>
            <a:prstGeom prst="rect">
              <a:avLst/>
            </a:prstGeom>
          </p:spPr>
          <p:txBody>
            <a:bodyPr anchor="ctr" rtlCol="false" tIns="0" lIns="0" bIns="0" rIns="0"/>
            <a:lstStyle/>
            <a:p>
              <a:pPr algn="l">
                <a:lnSpc>
                  <a:spcPts val="5159"/>
                </a:lnSpc>
              </a:pPr>
              <a:r>
                <a:rPr lang="en-US" sz="4299" b="true">
                  <a:solidFill>
                    <a:srgbClr val="F59E0B"/>
                  </a:solidFill>
                  <a:latin typeface="Helios Extended Bold"/>
                  <a:ea typeface="Helios Extended Bold"/>
                  <a:cs typeface="Helios Extended Bold"/>
                  <a:sym typeface="Helios Extended Bold"/>
                </a:rPr>
                <a:t>→</a:t>
              </a:r>
            </a:p>
          </p:txBody>
        </p:sp>
      </p:grpSp>
      <p:grpSp>
        <p:nvGrpSpPr>
          <p:cNvPr name="Group 38" id="38"/>
          <p:cNvGrpSpPr/>
          <p:nvPr/>
        </p:nvGrpSpPr>
        <p:grpSpPr>
          <a:xfrm rot="0">
            <a:off x="2103120" y="5852160"/>
            <a:ext cx="14813280" cy="1005840"/>
            <a:chOff x="0" y="0"/>
            <a:chExt cx="19751040" cy="1341120"/>
          </a:xfrm>
        </p:grpSpPr>
        <p:sp>
          <p:nvSpPr>
            <p:cNvPr name="Freeform 39" id="39"/>
            <p:cNvSpPr/>
            <p:nvPr/>
          </p:nvSpPr>
          <p:spPr>
            <a:xfrm flipH="false" flipV="false" rot="0">
              <a:off x="0" y="0"/>
              <a:ext cx="19751039" cy="1341120"/>
            </a:xfrm>
            <a:custGeom>
              <a:avLst/>
              <a:gdLst/>
              <a:ahLst/>
              <a:cxnLst/>
              <a:rect r="r" b="b" t="t" l="l"/>
              <a:pathLst>
                <a:path h="1341120" w="19751039">
                  <a:moveTo>
                    <a:pt x="0" y="0"/>
                  </a:moveTo>
                  <a:lnTo>
                    <a:pt x="19751039" y="0"/>
                  </a:lnTo>
                  <a:lnTo>
                    <a:pt x="19751039" y="1341120"/>
                  </a:lnTo>
                  <a:lnTo>
                    <a:pt x="0" y="1341120"/>
                  </a:lnTo>
                  <a:close/>
                </a:path>
              </a:pathLst>
            </a:custGeom>
            <a:blipFill>
              <a:blip r:embed="rId3">
                <a:alphaModFix amt="0"/>
              </a:blip>
              <a:stretch>
                <a:fillRect l="0" t="-236961" r="0" b="-236961"/>
              </a:stretch>
            </a:blipFill>
          </p:spPr>
        </p:sp>
        <p:sp>
          <p:nvSpPr>
            <p:cNvPr name="TextBox 40" id="40"/>
            <p:cNvSpPr txBox="true"/>
            <p:nvPr/>
          </p:nvSpPr>
          <p:spPr>
            <a:xfrm>
              <a:off x="0" y="-19050"/>
              <a:ext cx="19751040" cy="1360170"/>
            </a:xfrm>
            <a:prstGeom prst="rect">
              <a:avLst/>
            </a:prstGeom>
          </p:spPr>
          <p:txBody>
            <a:bodyPr anchor="ctr" rtlCol="false" tIns="0" lIns="0" bIns="0" rIns="0"/>
            <a:lstStyle/>
            <a:p>
              <a:pPr algn="l">
                <a:lnSpc>
                  <a:spcPts val="2999"/>
                </a:lnSpc>
              </a:pPr>
              <a:r>
                <a:rPr lang="en-US" sz="2499">
                  <a:solidFill>
                    <a:srgbClr val="000000"/>
                  </a:solidFill>
                  <a:latin typeface="Helios Extended"/>
                  <a:ea typeface="Helios Extended"/>
                  <a:cs typeface="Helios Extended"/>
                  <a:sym typeface="Helios Extended"/>
                </a:rPr>
                <a:t>Sequential curriculum (C_seq) recovers to Macro F1 = 0.8475, driven by CYP450-class confusion from verbose reasoning</a:t>
              </a:r>
            </a:p>
          </p:txBody>
        </p:sp>
      </p:grpSp>
      <p:grpSp>
        <p:nvGrpSpPr>
          <p:cNvPr name="Group 41" id="41"/>
          <p:cNvGrpSpPr/>
          <p:nvPr/>
        </p:nvGrpSpPr>
        <p:grpSpPr>
          <a:xfrm rot="0">
            <a:off x="901703" y="7220083"/>
            <a:ext cx="16484603" cy="2775227"/>
            <a:chOff x="0" y="0"/>
            <a:chExt cx="21979471" cy="3700302"/>
          </a:xfrm>
        </p:grpSpPr>
        <p:sp>
          <p:nvSpPr>
            <p:cNvPr name="Freeform 42" id="42"/>
            <p:cNvSpPr/>
            <p:nvPr/>
          </p:nvSpPr>
          <p:spPr>
            <a:xfrm flipH="false" flipV="false" rot="0">
              <a:off x="16891" y="20280"/>
              <a:ext cx="21945599" cy="3659635"/>
            </a:xfrm>
            <a:custGeom>
              <a:avLst/>
              <a:gdLst/>
              <a:ahLst/>
              <a:cxnLst/>
              <a:rect r="r" b="b" t="t" l="l"/>
              <a:pathLst>
                <a:path h="3659635" w="21945599">
                  <a:moveTo>
                    <a:pt x="0" y="0"/>
                  </a:moveTo>
                  <a:lnTo>
                    <a:pt x="21945599" y="0"/>
                  </a:lnTo>
                  <a:lnTo>
                    <a:pt x="21945599" y="3659635"/>
                  </a:lnTo>
                  <a:lnTo>
                    <a:pt x="0" y="3659635"/>
                  </a:lnTo>
                  <a:close/>
                </a:path>
              </a:pathLst>
            </a:custGeom>
            <a:solidFill>
              <a:srgbClr val="F2F1F1"/>
            </a:solidFill>
          </p:spPr>
        </p:sp>
        <p:sp>
          <p:nvSpPr>
            <p:cNvPr name="Freeform 43" id="43"/>
            <p:cNvSpPr/>
            <p:nvPr/>
          </p:nvSpPr>
          <p:spPr>
            <a:xfrm flipH="false" flipV="false" rot="0">
              <a:off x="0" y="0"/>
              <a:ext cx="21979382" cy="3700196"/>
            </a:xfrm>
            <a:custGeom>
              <a:avLst/>
              <a:gdLst/>
              <a:ahLst/>
              <a:cxnLst/>
              <a:rect r="r" b="b" t="t" l="l"/>
              <a:pathLst>
                <a:path h="3700196" w="21979382">
                  <a:moveTo>
                    <a:pt x="16891" y="0"/>
                  </a:moveTo>
                  <a:lnTo>
                    <a:pt x="21962490" y="0"/>
                  </a:lnTo>
                  <a:cubicBezTo>
                    <a:pt x="21971890" y="0"/>
                    <a:pt x="21979382" y="9149"/>
                    <a:pt x="21979382" y="20280"/>
                  </a:cubicBezTo>
                  <a:lnTo>
                    <a:pt x="21979382" y="3679915"/>
                  </a:lnTo>
                  <a:cubicBezTo>
                    <a:pt x="21979382" y="3691199"/>
                    <a:pt x="21971763" y="3700196"/>
                    <a:pt x="21962490" y="3700196"/>
                  </a:cubicBezTo>
                  <a:lnTo>
                    <a:pt x="16891" y="3700196"/>
                  </a:lnTo>
                  <a:cubicBezTo>
                    <a:pt x="7493" y="3700196"/>
                    <a:pt x="0" y="3691047"/>
                    <a:pt x="0" y="3679915"/>
                  </a:cubicBezTo>
                  <a:lnTo>
                    <a:pt x="0" y="20280"/>
                  </a:lnTo>
                  <a:cubicBezTo>
                    <a:pt x="0" y="9149"/>
                    <a:pt x="7620" y="0"/>
                    <a:pt x="16891" y="0"/>
                  </a:cubicBezTo>
                  <a:moveTo>
                    <a:pt x="16891" y="40713"/>
                  </a:moveTo>
                  <a:lnTo>
                    <a:pt x="16891" y="20280"/>
                  </a:lnTo>
                  <a:lnTo>
                    <a:pt x="33909" y="20280"/>
                  </a:lnTo>
                  <a:lnTo>
                    <a:pt x="33909" y="3679915"/>
                  </a:lnTo>
                  <a:lnTo>
                    <a:pt x="16891" y="3679915"/>
                  </a:lnTo>
                  <a:lnTo>
                    <a:pt x="16891" y="3659635"/>
                  </a:lnTo>
                  <a:lnTo>
                    <a:pt x="21962490" y="3659635"/>
                  </a:lnTo>
                  <a:lnTo>
                    <a:pt x="21962490" y="3679915"/>
                  </a:lnTo>
                  <a:lnTo>
                    <a:pt x="21945600" y="3679915"/>
                  </a:lnTo>
                  <a:lnTo>
                    <a:pt x="21945600" y="20280"/>
                  </a:lnTo>
                  <a:lnTo>
                    <a:pt x="21962490" y="20280"/>
                  </a:lnTo>
                  <a:lnTo>
                    <a:pt x="21962490" y="40713"/>
                  </a:lnTo>
                  <a:lnTo>
                    <a:pt x="16891" y="40713"/>
                  </a:lnTo>
                  <a:close/>
                </a:path>
              </a:pathLst>
            </a:custGeom>
            <a:solidFill>
              <a:srgbClr val="3D4D55"/>
            </a:solidFill>
          </p:spPr>
        </p:sp>
      </p:grpSp>
      <p:grpSp>
        <p:nvGrpSpPr>
          <p:cNvPr name="Group 44" id="44"/>
          <p:cNvGrpSpPr/>
          <p:nvPr/>
        </p:nvGrpSpPr>
        <p:grpSpPr>
          <a:xfrm rot="0">
            <a:off x="1280160" y="7386409"/>
            <a:ext cx="6400800" cy="548640"/>
            <a:chOff x="0" y="0"/>
            <a:chExt cx="8534400" cy="731520"/>
          </a:xfrm>
        </p:grpSpPr>
        <p:sp>
          <p:nvSpPr>
            <p:cNvPr name="Freeform 45" id="45"/>
            <p:cNvSpPr/>
            <p:nvPr/>
          </p:nvSpPr>
          <p:spPr>
            <a:xfrm flipH="false" flipV="false" rot="0">
              <a:off x="0" y="0"/>
              <a:ext cx="8534400" cy="731520"/>
            </a:xfrm>
            <a:custGeom>
              <a:avLst/>
              <a:gdLst/>
              <a:ahLst/>
              <a:cxnLst/>
              <a:rect r="r" b="b" t="t" l="l"/>
              <a:pathLst>
                <a:path h="731520" w="8534400">
                  <a:moveTo>
                    <a:pt x="0" y="0"/>
                  </a:moveTo>
                  <a:lnTo>
                    <a:pt x="8534400" y="0"/>
                  </a:lnTo>
                  <a:lnTo>
                    <a:pt x="8534400" y="731520"/>
                  </a:lnTo>
                  <a:lnTo>
                    <a:pt x="0" y="731520"/>
                  </a:lnTo>
                  <a:close/>
                </a:path>
              </a:pathLst>
            </a:custGeom>
            <a:blipFill>
              <a:blip r:embed="rId3">
                <a:alphaModFix amt="0"/>
              </a:blip>
              <a:stretch>
                <a:fillRect l="0" t="-177325" r="0" b="-177325"/>
              </a:stretch>
            </a:blipFill>
          </p:spPr>
        </p:sp>
        <p:sp>
          <p:nvSpPr>
            <p:cNvPr name="TextBox 46" id="46"/>
            <p:cNvSpPr txBox="true"/>
            <p:nvPr/>
          </p:nvSpPr>
          <p:spPr>
            <a:xfrm>
              <a:off x="0" y="-19050"/>
              <a:ext cx="8534400" cy="750570"/>
            </a:xfrm>
            <a:prstGeom prst="rect">
              <a:avLst/>
            </a:prstGeom>
          </p:spPr>
          <p:txBody>
            <a:bodyPr anchor="ctr" rtlCol="false" tIns="0" lIns="0" bIns="0" rIns="0"/>
            <a:lstStyle/>
            <a:p>
              <a:pPr algn="l">
                <a:lnSpc>
                  <a:spcPts val="3359"/>
                </a:lnSpc>
              </a:pPr>
              <a:r>
                <a:rPr lang="en-US" b="true" sz="2799">
                  <a:solidFill>
                    <a:srgbClr val="000000"/>
                  </a:solidFill>
                  <a:latin typeface="Helios Extended Bold"/>
                  <a:ea typeface="Helios Extended Bold"/>
                  <a:cs typeface="Helios Extended Bold"/>
                  <a:sym typeface="Helios Extended Bold"/>
                </a:rPr>
                <a:t>Remaining Work</a:t>
              </a:r>
            </a:p>
          </p:txBody>
        </p:sp>
      </p:grpSp>
      <p:grpSp>
        <p:nvGrpSpPr>
          <p:cNvPr name="Group 47" id="47"/>
          <p:cNvGrpSpPr/>
          <p:nvPr/>
        </p:nvGrpSpPr>
        <p:grpSpPr>
          <a:xfrm rot="0">
            <a:off x="1280160" y="8042761"/>
            <a:ext cx="15727680" cy="1800149"/>
            <a:chOff x="0" y="0"/>
            <a:chExt cx="20970240" cy="2400199"/>
          </a:xfrm>
        </p:grpSpPr>
        <p:sp>
          <p:nvSpPr>
            <p:cNvPr name="Freeform 48" id="48"/>
            <p:cNvSpPr/>
            <p:nvPr/>
          </p:nvSpPr>
          <p:spPr>
            <a:xfrm flipH="false" flipV="false" rot="0">
              <a:off x="0" y="0"/>
              <a:ext cx="20970239" cy="2400198"/>
            </a:xfrm>
            <a:custGeom>
              <a:avLst/>
              <a:gdLst/>
              <a:ahLst/>
              <a:cxnLst/>
              <a:rect r="r" b="b" t="t" l="l"/>
              <a:pathLst>
                <a:path h="2400198" w="20970239">
                  <a:moveTo>
                    <a:pt x="0" y="0"/>
                  </a:moveTo>
                  <a:lnTo>
                    <a:pt x="20970239" y="0"/>
                  </a:lnTo>
                  <a:lnTo>
                    <a:pt x="20970239" y="2400198"/>
                  </a:lnTo>
                  <a:lnTo>
                    <a:pt x="0" y="2400198"/>
                  </a:lnTo>
                  <a:close/>
                </a:path>
              </a:pathLst>
            </a:custGeom>
            <a:blipFill>
              <a:blip r:embed="rId3">
                <a:alphaModFix amt="0"/>
              </a:blip>
              <a:stretch>
                <a:fillRect l="0" t="-160079" r="0" b="-80397"/>
              </a:stretch>
            </a:blipFill>
          </p:spPr>
        </p:sp>
        <p:sp>
          <p:nvSpPr>
            <p:cNvPr name="TextBox 49" id="49"/>
            <p:cNvSpPr txBox="true"/>
            <p:nvPr/>
          </p:nvSpPr>
          <p:spPr>
            <a:xfrm>
              <a:off x="0" y="-95250"/>
              <a:ext cx="20970240" cy="2495449"/>
            </a:xfrm>
            <a:prstGeom prst="rect">
              <a:avLst/>
            </a:prstGeom>
          </p:spPr>
          <p:txBody>
            <a:bodyPr anchor="ctr" rtlCol="false" tIns="0" lIns="0" bIns="0" rIns="0"/>
            <a:lstStyle/>
            <a:p>
              <a:pPr algn="just" marL="518158" indent="-259079" lvl="1">
                <a:lnSpc>
                  <a:spcPts val="3671"/>
                </a:lnSpc>
                <a:buAutoNum type="arabicPeriod" startAt="1"/>
              </a:pPr>
              <a:r>
                <a:rPr lang="en-US" sz="2399">
                  <a:solidFill>
                    <a:srgbClr val="000000"/>
                  </a:solidFill>
                  <a:latin typeface="Helios Extended"/>
                  <a:ea typeface="Helios Extended"/>
                  <a:cs typeface="Helios Extended"/>
                  <a:sym typeface="Helios Extended"/>
                </a:rPr>
                <a:t>Complete C_wt and C_compact training runs and compile full ablation table</a:t>
              </a:r>
            </a:p>
            <a:p>
              <a:pPr algn="just" marL="518158" indent="-259079" lvl="1">
                <a:lnSpc>
                  <a:spcPts val="3671"/>
                </a:lnSpc>
                <a:buAutoNum type="arabicPeriod" startAt="1"/>
              </a:pPr>
              <a:r>
                <a:rPr lang="en-US" sz="2399">
                  <a:solidFill>
                    <a:srgbClr val="000000"/>
                  </a:solidFill>
                  <a:latin typeface="Helios Extended"/>
                  <a:ea typeface="Helios Extended"/>
                  <a:cs typeface="Helios Extended"/>
                  <a:sym typeface="Helios Extended"/>
                </a:rPr>
                <a:t>Layer 2 reasoning evaluation via LLM-as-judge with Krippendorff's α inter-judge agreement</a:t>
              </a:r>
            </a:p>
            <a:p>
              <a:pPr algn="just" marL="518158" indent="-259079" lvl="1">
                <a:lnSpc>
                  <a:spcPts val="3671"/>
                </a:lnSpc>
                <a:buAutoNum type="arabicPeriod" startAt="1"/>
              </a:pPr>
              <a:r>
                <a:rPr lang="en-US" sz="2399">
                  <a:solidFill>
                    <a:srgbClr val="000000"/>
                  </a:solidFill>
                  <a:latin typeface="Helios Extended"/>
                  <a:ea typeface="Helios Extended"/>
                  <a:cs typeface="Helios Extended"/>
                  <a:sym typeface="Helios Extended"/>
                </a:rPr>
                <a:t>Qualitative error analysis of CYP450 confusion classes (Y=47, Y=49, Y=73)</a:t>
              </a:r>
            </a:p>
            <a:p>
              <a:pPr algn="just" marL="518158" indent="-259079" lvl="1">
                <a:lnSpc>
                  <a:spcPts val="3671"/>
                </a:lnSpc>
                <a:buAutoNum type="arabicPeriod" startAt="1"/>
              </a:pPr>
              <a:r>
                <a:rPr lang="en-US" sz="2399">
                  <a:solidFill>
                    <a:srgbClr val="000000"/>
                  </a:solidFill>
                  <a:latin typeface="Helios Extended"/>
                  <a:ea typeface="Helios Extended"/>
                  <a:cs typeface="Helios Extended"/>
                  <a:sym typeface="Helios Extended"/>
                </a:rPr>
                <a:t>Complete final report</a:t>
              </a:r>
            </a:p>
          </p:txBody>
        </p:sp>
      </p:grpSp>
      <p:sp>
        <p:nvSpPr>
          <p:cNvPr name="TextBox 50" id="5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grpSp>
        <p:nvGrpSpPr>
          <p:cNvPr name="Group 51" id="51"/>
          <p:cNvGrpSpPr/>
          <p:nvPr/>
        </p:nvGrpSpPr>
        <p:grpSpPr>
          <a:xfrm rot="0">
            <a:off x="15544800" y="365760"/>
            <a:ext cx="2377440" cy="585216"/>
            <a:chOff x="0" y="0"/>
            <a:chExt cx="3169920" cy="780288"/>
          </a:xfrm>
        </p:grpSpPr>
        <p:sp>
          <p:nvSpPr>
            <p:cNvPr name="Freeform 52" id="52"/>
            <p:cNvSpPr/>
            <p:nvPr/>
          </p:nvSpPr>
          <p:spPr>
            <a:xfrm flipH="false" flipV="false" rot="0">
              <a:off x="0" y="0"/>
              <a:ext cx="3169920" cy="780288"/>
            </a:xfrm>
            <a:custGeom>
              <a:avLst/>
              <a:gdLst/>
              <a:ahLst/>
              <a:cxnLst/>
              <a:rect r="r" b="b" t="t" l="l"/>
              <a:pathLst>
                <a:path h="780288" w="3169920">
                  <a:moveTo>
                    <a:pt x="0" y="121920"/>
                  </a:moveTo>
                  <a:cubicBezTo>
                    <a:pt x="0" y="54610"/>
                    <a:pt x="54610" y="0"/>
                    <a:pt x="121920" y="0"/>
                  </a:cubicBezTo>
                  <a:lnTo>
                    <a:pt x="3048000" y="0"/>
                  </a:lnTo>
                  <a:cubicBezTo>
                    <a:pt x="3115310" y="0"/>
                    <a:pt x="3169920" y="54610"/>
                    <a:pt x="3169920" y="121920"/>
                  </a:cubicBezTo>
                  <a:lnTo>
                    <a:pt x="3169920" y="658368"/>
                  </a:lnTo>
                  <a:cubicBezTo>
                    <a:pt x="3169920" y="725678"/>
                    <a:pt x="3115310" y="780288"/>
                    <a:pt x="3048000" y="780288"/>
                  </a:cubicBezTo>
                  <a:lnTo>
                    <a:pt x="121920" y="780288"/>
                  </a:lnTo>
                  <a:cubicBezTo>
                    <a:pt x="54610" y="780288"/>
                    <a:pt x="0" y="725678"/>
                    <a:pt x="0" y="658368"/>
                  </a:cubicBezTo>
                  <a:close/>
                </a:path>
              </a:pathLst>
            </a:custGeom>
            <a:solidFill>
              <a:srgbClr val="3D4D55"/>
            </a:solidFill>
          </p:spPr>
        </p:sp>
      </p:grpSp>
      <p:grpSp>
        <p:nvGrpSpPr>
          <p:cNvPr name="Group 53" id="53"/>
          <p:cNvGrpSpPr/>
          <p:nvPr/>
        </p:nvGrpSpPr>
        <p:grpSpPr>
          <a:xfrm rot="0">
            <a:off x="15544800" y="402336"/>
            <a:ext cx="2377440" cy="512064"/>
            <a:chOff x="0" y="0"/>
            <a:chExt cx="3169920" cy="682752"/>
          </a:xfrm>
        </p:grpSpPr>
        <p:sp>
          <p:nvSpPr>
            <p:cNvPr name="Freeform 54" id="54"/>
            <p:cNvSpPr/>
            <p:nvPr/>
          </p:nvSpPr>
          <p:spPr>
            <a:xfrm flipH="false" flipV="false" rot="0">
              <a:off x="0" y="0"/>
              <a:ext cx="3169920" cy="682752"/>
            </a:xfrm>
            <a:custGeom>
              <a:avLst/>
              <a:gdLst/>
              <a:ahLst/>
              <a:cxnLst/>
              <a:rect r="r" b="b" t="t" l="l"/>
              <a:pathLst>
                <a:path h="682752" w="3169920">
                  <a:moveTo>
                    <a:pt x="0" y="0"/>
                  </a:moveTo>
                  <a:lnTo>
                    <a:pt x="3169920" y="0"/>
                  </a:lnTo>
                  <a:lnTo>
                    <a:pt x="3169920" y="682752"/>
                  </a:lnTo>
                  <a:lnTo>
                    <a:pt x="0" y="682752"/>
                  </a:lnTo>
                  <a:close/>
                </a:path>
              </a:pathLst>
            </a:custGeom>
            <a:blipFill>
              <a:blip r:embed="rId3">
                <a:alphaModFix amt="0"/>
              </a:blip>
              <a:stretch>
                <a:fillRect l="0" t="-40466" r="0" b="-40466"/>
              </a:stretch>
            </a:blipFill>
          </p:spPr>
        </p:sp>
        <p:sp>
          <p:nvSpPr>
            <p:cNvPr name="TextBox 55" id="55"/>
            <p:cNvSpPr txBox="true"/>
            <p:nvPr/>
          </p:nvSpPr>
          <p:spPr>
            <a:xfrm>
              <a:off x="0" y="-9525"/>
              <a:ext cx="3169920" cy="692277"/>
            </a:xfrm>
            <a:prstGeom prst="rect">
              <a:avLst/>
            </a:prstGeom>
          </p:spPr>
          <p:txBody>
            <a:bodyPr anchor="ctr" rtlCol="false" tIns="0" lIns="0" bIns="0" rIns="0"/>
            <a:lstStyle/>
            <a:p>
              <a:pPr algn="ctr">
                <a:lnSpc>
                  <a:spcPts val="2160"/>
                </a:lnSpc>
              </a:pPr>
              <a:r>
                <a:rPr lang="en-US" sz="1800" b="true">
                  <a:solidFill>
                    <a:srgbClr val="FFFFFF"/>
                  </a:solidFill>
                  <a:latin typeface="Helios Extended Bold"/>
                  <a:ea typeface="Helios Extended Bold"/>
                  <a:cs typeface="Helios Extended Bold"/>
                  <a:sym typeface="Helios Extended Bold"/>
                </a:rPr>
                <a:t>7. Conclusion</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97280" y="365760"/>
            <a:ext cx="13716000" cy="1097280"/>
            <a:chOff x="0" y="0"/>
            <a:chExt cx="18288000" cy="1463040"/>
          </a:xfrm>
        </p:grpSpPr>
        <p:sp>
          <p:nvSpPr>
            <p:cNvPr name="Freeform 3" id="3"/>
            <p:cNvSpPr/>
            <p:nvPr/>
          </p:nvSpPr>
          <p:spPr>
            <a:xfrm flipH="false" flipV="false" rot="0">
              <a:off x="0" y="0"/>
              <a:ext cx="18288000" cy="1463040"/>
            </a:xfrm>
            <a:custGeom>
              <a:avLst/>
              <a:gdLst/>
              <a:ahLst/>
              <a:cxnLst/>
              <a:rect r="r" b="b" t="t" l="l"/>
              <a:pathLst>
                <a:path h="1463040" w="18288000">
                  <a:moveTo>
                    <a:pt x="0" y="0"/>
                  </a:moveTo>
                  <a:lnTo>
                    <a:pt x="18288000" y="0"/>
                  </a:lnTo>
                  <a:lnTo>
                    <a:pt x="18288000" y="1463040"/>
                  </a:lnTo>
                  <a:lnTo>
                    <a:pt x="0" y="1463040"/>
                  </a:lnTo>
                  <a:close/>
                </a:path>
              </a:pathLst>
            </a:custGeom>
            <a:solidFill>
              <a:srgbClr val="000000">
                <a:alpha val="0"/>
              </a:srgbClr>
            </a:solidFill>
          </p:spPr>
        </p:sp>
        <p:sp>
          <p:nvSpPr>
            <p:cNvPr name="TextBox 4" id="4"/>
            <p:cNvSpPr txBox="true"/>
            <p:nvPr/>
          </p:nvSpPr>
          <p:spPr>
            <a:xfrm>
              <a:off x="0" y="-47625"/>
              <a:ext cx="18288000" cy="1510665"/>
            </a:xfrm>
            <a:prstGeom prst="rect">
              <a:avLst/>
            </a:prstGeom>
          </p:spPr>
          <p:txBody>
            <a:bodyPr anchor="ctr" rtlCol="false" tIns="0" lIns="0" bIns="0" rIns="0"/>
            <a:lstStyle/>
            <a:p>
              <a:pPr algn="l">
                <a:lnSpc>
                  <a:spcPts val="6240"/>
                </a:lnSpc>
              </a:pPr>
              <a:r>
                <a:rPr lang="en-US" sz="5200" b="true">
                  <a:solidFill>
                    <a:srgbClr val="000000"/>
                  </a:solidFill>
                  <a:latin typeface="Helios Extended Bold"/>
                  <a:ea typeface="Helios Extended Bold"/>
                  <a:cs typeface="Helios Extended Bold"/>
                  <a:sym typeface="Helios Extended Bold"/>
                </a:rPr>
                <a:t>References</a:t>
              </a:r>
            </a:p>
          </p:txBody>
        </p:sp>
      </p:grpSp>
      <p:sp>
        <p:nvSpPr>
          <p:cNvPr name="TextBox 5" id="5"/>
          <p:cNvSpPr txBox="true"/>
          <p:nvPr/>
        </p:nvSpPr>
        <p:spPr>
          <a:xfrm rot="0">
            <a:off x="493716" y="1434465"/>
            <a:ext cx="17124242" cy="9782175"/>
          </a:xfrm>
          <a:prstGeom prst="rect">
            <a:avLst/>
          </a:prstGeom>
        </p:spPr>
        <p:txBody>
          <a:bodyPr anchor="t" rtlCol="false" tIns="0" lIns="0" bIns="0" rIns="0">
            <a:spAutoFit/>
          </a:bodyPr>
          <a:lstStyle/>
          <a:p>
            <a:pPr algn="l">
              <a:lnSpc>
                <a:spcPts val="2400"/>
              </a:lnSpc>
              <a:spcBef>
                <a:spcPct val="0"/>
              </a:spcBef>
            </a:pPr>
            <a:r>
              <a:rPr lang="en-US" sz="2000">
                <a:solidFill>
                  <a:srgbClr val="000000"/>
                </a:solidFill>
                <a:latin typeface="Helios Extended"/>
                <a:ea typeface="Helios Extended"/>
                <a:cs typeface="Helios Extended"/>
                <a:sym typeface="Helios Extended"/>
              </a:rPr>
              <a:t>Lynch, T., &amp; Price, A. (2007). The effect of cytochrome P450 metabolism on drug response, interactions, and adverse effects. American Family Physician, 76(3), 391–396.</a:t>
            </a:r>
          </a:p>
          <a:p>
            <a:pPr algn="l">
              <a:lnSpc>
                <a:spcPts val="2400"/>
              </a:lnSpc>
              <a:spcBef>
                <a:spcPct val="0"/>
              </a:spcBef>
            </a:pPr>
          </a:p>
          <a:p>
            <a:pPr algn="l">
              <a:lnSpc>
                <a:spcPts val="2400"/>
              </a:lnSpc>
              <a:spcBef>
                <a:spcPct val="0"/>
              </a:spcBef>
            </a:pPr>
            <a:r>
              <a:rPr lang="en-US" sz="2000">
                <a:solidFill>
                  <a:srgbClr val="000000"/>
                </a:solidFill>
                <a:latin typeface="Helios Extended"/>
                <a:ea typeface="Helios Extended"/>
                <a:cs typeface="Helios Extended"/>
                <a:sym typeface="Helios Extended"/>
              </a:rPr>
              <a:t>Geoffrey Hinton, Oriol Vinyals, and Jeff Dean. 2015. Distilling the knowledge in a neural network. arXiv preprint arXiv:1503.02531</a:t>
            </a:r>
          </a:p>
          <a:p>
            <a:pPr algn="l">
              <a:lnSpc>
                <a:spcPts val="2400"/>
              </a:lnSpc>
              <a:spcBef>
                <a:spcPct val="0"/>
              </a:spcBef>
            </a:pPr>
          </a:p>
          <a:p>
            <a:pPr algn="l">
              <a:lnSpc>
                <a:spcPts val="2400"/>
              </a:lnSpc>
              <a:spcBef>
                <a:spcPct val="0"/>
              </a:spcBef>
            </a:pPr>
            <a:r>
              <a:rPr lang="en-US" sz="2000">
                <a:solidFill>
                  <a:srgbClr val="000000"/>
                </a:solidFill>
                <a:latin typeface="Helios Extended"/>
                <a:ea typeface="Helios Extended"/>
                <a:cs typeface="Helios Extended"/>
                <a:sym typeface="Helios Extended"/>
              </a:rPr>
              <a:t>Zhou, H., Liu, F., Wu, J. et al. A collaborative large language model for drug analysis. Nat. Biomed. Eng (2025). https://doi.org/10.1038/s41551-025-01471-z</a:t>
            </a:r>
          </a:p>
          <a:p>
            <a:pPr algn="l">
              <a:lnSpc>
                <a:spcPts val="2400"/>
              </a:lnSpc>
              <a:spcBef>
                <a:spcPct val="0"/>
              </a:spcBef>
            </a:pPr>
          </a:p>
          <a:p>
            <a:pPr algn="l">
              <a:lnSpc>
                <a:spcPts val="2400"/>
              </a:lnSpc>
              <a:spcBef>
                <a:spcPct val="0"/>
              </a:spcBef>
            </a:pPr>
            <a:r>
              <a:rPr lang="en-US" sz="2000">
                <a:solidFill>
                  <a:srgbClr val="000000"/>
                </a:solidFill>
                <a:latin typeface="Helios Extended"/>
                <a:ea typeface="Helios Extended"/>
                <a:cs typeface="Helios Extended"/>
                <a:sym typeface="Helios Extended"/>
              </a:rPr>
              <a:t>Meng, X., Yan, X., Zhang, K., Liu, D., Cui, X., Yang, Y., &amp; Zhang, M. (2023). The application of large language models in medicine: A scoping review. Cureus, 15(7), e42833. https://doi.org/10.7759/cureus.42833</a:t>
            </a:r>
          </a:p>
          <a:p>
            <a:pPr algn="l">
              <a:lnSpc>
                <a:spcPts val="2400"/>
              </a:lnSpc>
              <a:spcBef>
                <a:spcPct val="0"/>
              </a:spcBef>
            </a:pPr>
          </a:p>
          <a:p>
            <a:pPr algn="l">
              <a:lnSpc>
                <a:spcPts val="2400"/>
              </a:lnSpc>
              <a:spcBef>
                <a:spcPct val="0"/>
              </a:spcBef>
            </a:pPr>
            <a:r>
              <a:rPr lang="en-US" sz="2000">
                <a:solidFill>
                  <a:srgbClr val="000000"/>
                </a:solidFill>
                <a:latin typeface="Helios Extended"/>
                <a:ea typeface="Helios Extended"/>
                <a:cs typeface="Helios Extended"/>
                <a:sym typeface="Helios Extended"/>
              </a:rPr>
              <a:t>Güvenilir, H. A., &amp; Doğan, T. (2023). How to approach machine learning-based prediction of drug/compound–target interactions. Journal of Cheminformatics, 15(1), 16. https://doi.org/10.1186/s13321-023-00689-w</a:t>
            </a:r>
          </a:p>
          <a:p>
            <a:pPr algn="l">
              <a:lnSpc>
                <a:spcPts val="2400"/>
              </a:lnSpc>
              <a:spcBef>
                <a:spcPct val="0"/>
              </a:spcBef>
            </a:pPr>
          </a:p>
          <a:p>
            <a:pPr algn="l">
              <a:lnSpc>
                <a:spcPts val="2400"/>
              </a:lnSpc>
              <a:spcBef>
                <a:spcPct val="0"/>
              </a:spcBef>
            </a:pPr>
            <a:r>
              <a:rPr lang="en-US" sz="2000">
                <a:solidFill>
                  <a:srgbClr val="000000"/>
                </a:solidFill>
                <a:latin typeface="Helios Extended"/>
                <a:ea typeface="Helios Extended"/>
                <a:cs typeface="Helios Extended"/>
                <a:sym typeface="Helios Extended"/>
              </a:rPr>
              <a:t>De Vito, G., Ferrucci, F., &amp; Angelakis, A. (2026). LLMs for drug-drug interaction prediction using textual drug descriptors. Knowledge-Based Systems, 115486. https://doi.org/10.1016/j.knosys.2026.115486</a:t>
            </a:r>
          </a:p>
          <a:p>
            <a:pPr algn="l">
              <a:lnSpc>
                <a:spcPts val="2400"/>
              </a:lnSpc>
              <a:spcBef>
                <a:spcPct val="0"/>
              </a:spcBef>
            </a:pPr>
          </a:p>
          <a:p>
            <a:pPr algn="l">
              <a:lnSpc>
                <a:spcPts val="2400"/>
              </a:lnSpc>
              <a:spcBef>
                <a:spcPct val="0"/>
              </a:spcBef>
            </a:pPr>
            <a:r>
              <a:rPr lang="en-US" sz="2000">
                <a:solidFill>
                  <a:srgbClr val="000000"/>
                </a:solidFill>
                <a:latin typeface="Helios Extended"/>
                <a:ea typeface="Helios Extended"/>
                <a:cs typeface="Helios Extended"/>
                <a:sym typeface="Helios Extended"/>
              </a:rPr>
              <a:t>Wei, J., Wang, X., Schuurmans, D., Bosma, M., Ichter, B., Xia, F., Chi, E., Le, Q., &amp; Zhou, D. (2022). Chain-of-thought prompting elicits reasoning in large language models. Advances in Neural Information Processing Systems, 35, 24824–24837. https://arxiv.org/abs/2201.11903</a:t>
            </a:r>
          </a:p>
          <a:p>
            <a:pPr algn="l">
              <a:lnSpc>
                <a:spcPts val="2400"/>
              </a:lnSpc>
              <a:spcBef>
                <a:spcPct val="0"/>
              </a:spcBef>
            </a:pPr>
          </a:p>
          <a:p>
            <a:pPr algn="l">
              <a:lnSpc>
                <a:spcPts val="2400"/>
              </a:lnSpc>
              <a:spcBef>
                <a:spcPct val="0"/>
              </a:spcBef>
            </a:pPr>
            <a:r>
              <a:rPr lang="en-US" sz="2000">
                <a:solidFill>
                  <a:srgbClr val="000000"/>
                </a:solidFill>
                <a:latin typeface="Helios Extended"/>
                <a:ea typeface="Helios Extended"/>
                <a:cs typeface="Helios Extended"/>
                <a:sym typeface="Helios Extended"/>
              </a:rPr>
              <a:t>Hinton, G., Vinyals, O., &amp; Dean, J. (2015). Distilling the knowledge in a neural network. arXiv. https://arxiv.org/abs/1503.02531</a:t>
            </a:r>
          </a:p>
          <a:p>
            <a:pPr algn="l">
              <a:lnSpc>
                <a:spcPts val="2400"/>
              </a:lnSpc>
              <a:spcBef>
                <a:spcPct val="0"/>
              </a:spcBef>
            </a:pPr>
          </a:p>
          <a:p>
            <a:pPr algn="l">
              <a:lnSpc>
                <a:spcPts val="2400"/>
              </a:lnSpc>
              <a:spcBef>
                <a:spcPct val="0"/>
              </a:spcBef>
            </a:pPr>
            <a:r>
              <a:rPr lang="en-US" sz="2000">
                <a:solidFill>
                  <a:srgbClr val="000000"/>
                </a:solidFill>
                <a:latin typeface="Helios Extended"/>
                <a:ea typeface="Helios Extended"/>
                <a:cs typeface="Helios Extended"/>
                <a:sym typeface="Helios Extended"/>
              </a:rPr>
              <a:t>Magister, L. C., Shridhar, K., Margatina, K., Mallinas, E., &amp; Flanagan, M. (2023). Teaching small language models to reason. In Proceedings of the 61st Annual Meeting of the Association for Computational Linguistics (pp. 1773–1781). Association for Computational Linguistics. https://doi.org/10.18653/v1/2023.acl-short.151</a:t>
            </a:r>
          </a:p>
          <a:p>
            <a:pPr algn="l">
              <a:lnSpc>
                <a:spcPts val="2400"/>
              </a:lnSpc>
              <a:spcBef>
                <a:spcPct val="0"/>
              </a:spcBef>
            </a:pPr>
          </a:p>
          <a:p>
            <a:pPr algn="l">
              <a:lnSpc>
                <a:spcPts val="2400"/>
              </a:lnSpc>
              <a:spcBef>
                <a:spcPct val="0"/>
              </a:spcBef>
            </a:pPr>
          </a:p>
          <a:p>
            <a:pPr algn="l">
              <a:lnSpc>
                <a:spcPts val="2400"/>
              </a:lnSpc>
              <a:spcBef>
                <a:spcPct val="0"/>
              </a:spcBef>
            </a:pPr>
          </a:p>
          <a:p>
            <a:pPr algn="l">
              <a:lnSpc>
                <a:spcPts val="2400"/>
              </a:lnSpc>
              <a:spcBef>
                <a:spcPct val="0"/>
              </a:spcBef>
            </a:pPr>
          </a:p>
          <a:p>
            <a:pPr algn="l">
              <a:lnSpc>
                <a:spcPts val="2400"/>
              </a:lnSpc>
              <a:spcBef>
                <a:spcPct val="0"/>
              </a:spcBef>
            </a:pP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grpSp>
        <p:nvGrpSpPr>
          <p:cNvPr name="Group 7" id="7"/>
          <p:cNvGrpSpPr/>
          <p:nvPr/>
        </p:nvGrpSpPr>
        <p:grpSpPr>
          <a:xfrm rot="0">
            <a:off x="15544800" y="365760"/>
            <a:ext cx="2377440" cy="585216"/>
            <a:chOff x="0" y="0"/>
            <a:chExt cx="3169920" cy="780288"/>
          </a:xfrm>
        </p:grpSpPr>
        <p:sp>
          <p:nvSpPr>
            <p:cNvPr name="Freeform 8" id="8"/>
            <p:cNvSpPr/>
            <p:nvPr/>
          </p:nvSpPr>
          <p:spPr>
            <a:xfrm flipH="false" flipV="false" rot="0">
              <a:off x="0" y="0"/>
              <a:ext cx="3169920" cy="780288"/>
            </a:xfrm>
            <a:custGeom>
              <a:avLst/>
              <a:gdLst/>
              <a:ahLst/>
              <a:cxnLst/>
              <a:rect r="r" b="b" t="t" l="l"/>
              <a:pathLst>
                <a:path h="780288" w="3169920">
                  <a:moveTo>
                    <a:pt x="0" y="121920"/>
                  </a:moveTo>
                  <a:cubicBezTo>
                    <a:pt x="0" y="54610"/>
                    <a:pt x="54610" y="0"/>
                    <a:pt x="121920" y="0"/>
                  </a:cubicBezTo>
                  <a:lnTo>
                    <a:pt x="3048000" y="0"/>
                  </a:lnTo>
                  <a:cubicBezTo>
                    <a:pt x="3115310" y="0"/>
                    <a:pt x="3169920" y="54610"/>
                    <a:pt x="3169920" y="121920"/>
                  </a:cubicBezTo>
                  <a:lnTo>
                    <a:pt x="3169920" y="658368"/>
                  </a:lnTo>
                  <a:cubicBezTo>
                    <a:pt x="3169920" y="725678"/>
                    <a:pt x="3115310" y="780288"/>
                    <a:pt x="3048000" y="780288"/>
                  </a:cubicBezTo>
                  <a:lnTo>
                    <a:pt x="121920" y="780288"/>
                  </a:lnTo>
                  <a:cubicBezTo>
                    <a:pt x="54610" y="780288"/>
                    <a:pt x="0" y="725678"/>
                    <a:pt x="0" y="658368"/>
                  </a:cubicBezTo>
                  <a:close/>
                </a:path>
              </a:pathLst>
            </a:custGeom>
            <a:solidFill>
              <a:srgbClr val="3D4D55"/>
            </a:solidFill>
          </p:spPr>
        </p:sp>
      </p:grpSp>
      <p:grpSp>
        <p:nvGrpSpPr>
          <p:cNvPr name="Group 9" id="9"/>
          <p:cNvGrpSpPr/>
          <p:nvPr/>
        </p:nvGrpSpPr>
        <p:grpSpPr>
          <a:xfrm rot="0">
            <a:off x="15544800" y="402336"/>
            <a:ext cx="2377440" cy="512064"/>
            <a:chOff x="0" y="0"/>
            <a:chExt cx="3169920" cy="682752"/>
          </a:xfrm>
        </p:grpSpPr>
        <p:sp>
          <p:nvSpPr>
            <p:cNvPr name="Freeform 10" id="10"/>
            <p:cNvSpPr/>
            <p:nvPr/>
          </p:nvSpPr>
          <p:spPr>
            <a:xfrm flipH="false" flipV="false" rot="0">
              <a:off x="0" y="0"/>
              <a:ext cx="3169920" cy="682752"/>
            </a:xfrm>
            <a:custGeom>
              <a:avLst/>
              <a:gdLst/>
              <a:ahLst/>
              <a:cxnLst/>
              <a:rect r="r" b="b" t="t" l="l"/>
              <a:pathLst>
                <a:path h="682752" w="3169920">
                  <a:moveTo>
                    <a:pt x="0" y="0"/>
                  </a:moveTo>
                  <a:lnTo>
                    <a:pt x="3169920" y="0"/>
                  </a:lnTo>
                  <a:lnTo>
                    <a:pt x="3169920" y="682752"/>
                  </a:lnTo>
                  <a:lnTo>
                    <a:pt x="0" y="682752"/>
                  </a:lnTo>
                  <a:close/>
                </a:path>
              </a:pathLst>
            </a:custGeom>
            <a:blipFill>
              <a:blip r:embed="rId2">
                <a:alphaModFix amt="0"/>
              </a:blip>
              <a:stretch>
                <a:fillRect l="0" t="-40466" r="0" b="-40466"/>
              </a:stretch>
            </a:blipFill>
          </p:spPr>
        </p:sp>
        <p:sp>
          <p:nvSpPr>
            <p:cNvPr name="TextBox 11" id="11"/>
            <p:cNvSpPr txBox="true"/>
            <p:nvPr/>
          </p:nvSpPr>
          <p:spPr>
            <a:xfrm>
              <a:off x="0" y="-9525"/>
              <a:ext cx="3169920" cy="692277"/>
            </a:xfrm>
            <a:prstGeom prst="rect">
              <a:avLst/>
            </a:prstGeom>
          </p:spPr>
          <p:txBody>
            <a:bodyPr anchor="ctr" rtlCol="false" tIns="0" lIns="0" bIns="0" rIns="0"/>
            <a:lstStyle/>
            <a:p>
              <a:pPr algn="ctr">
                <a:lnSpc>
                  <a:spcPts val="2160"/>
                </a:lnSpc>
              </a:pPr>
              <a:r>
                <a:rPr lang="en-US" sz="1800" b="true">
                  <a:solidFill>
                    <a:srgbClr val="FFFFFF"/>
                  </a:solidFill>
                  <a:latin typeface="Helios Extended Bold"/>
                  <a:ea typeface="Helios Extended Bold"/>
                  <a:cs typeface="Helios Extended Bold"/>
                  <a:sym typeface="Helios Extended Bold"/>
                </a:rPr>
                <a:t>8. References</a:t>
              </a:r>
            </a:p>
          </p:txBody>
        </p:sp>
      </p:gr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944078" y="1326430"/>
            <a:ext cx="21203378" cy="7634140"/>
            <a:chOff x="0" y="0"/>
            <a:chExt cx="1128752" cy="406400"/>
          </a:xfrm>
        </p:grpSpPr>
        <p:sp>
          <p:nvSpPr>
            <p:cNvPr name="Freeform 3" id="3"/>
            <p:cNvSpPr/>
            <p:nvPr/>
          </p:nvSpPr>
          <p:spPr>
            <a:xfrm flipH="false" flipV="false" rot="0">
              <a:off x="0" y="0"/>
              <a:ext cx="1128752" cy="406400"/>
            </a:xfrm>
            <a:custGeom>
              <a:avLst/>
              <a:gdLst/>
              <a:ahLst/>
              <a:cxnLst/>
              <a:rect r="r" b="b" t="t" l="l"/>
              <a:pathLst>
                <a:path h="406400" w="1128752">
                  <a:moveTo>
                    <a:pt x="925552" y="0"/>
                  </a:moveTo>
                  <a:cubicBezTo>
                    <a:pt x="1037776" y="0"/>
                    <a:pt x="1128752" y="90976"/>
                    <a:pt x="1128752" y="203200"/>
                  </a:cubicBezTo>
                  <a:cubicBezTo>
                    <a:pt x="1128752" y="315424"/>
                    <a:pt x="1037776" y="406400"/>
                    <a:pt x="925552" y="406400"/>
                  </a:cubicBezTo>
                  <a:lnTo>
                    <a:pt x="203200" y="406400"/>
                  </a:lnTo>
                  <a:cubicBezTo>
                    <a:pt x="90976" y="406400"/>
                    <a:pt x="0" y="315424"/>
                    <a:pt x="0" y="203200"/>
                  </a:cubicBezTo>
                  <a:cubicBezTo>
                    <a:pt x="0" y="90976"/>
                    <a:pt x="90976" y="0"/>
                    <a:pt x="203200" y="0"/>
                  </a:cubicBezTo>
                  <a:close/>
                </a:path>
              </a:pathLst>
            </a:custGeom>
            <a:solidFill>
              <a:srgbClr val="F2F1F1">
                <a:alpha val="80000"/>
              </a:srgbClr>
            </a:solidFill>
          </p:spPr>
        </p:sp>
        <p:sp>
          <p:nvSpPr>
            <p:cNvPr name="TextBox 4" id="4"/>
            <p:cNvSpPr txBox="true"/>
            <p:nvPr/>
          </p:nvSpPr>
          <p:spPr>
            <a:xfrm>
              <a:off x="0" y="-66675"/>
              <a:ext cx="1128752" cy="473075"/>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2958126" y="3970422"/>
            <a:ext cx="12371749" cy="2060405"/>
          </a:xfrm>
          <a:prstGeom prst="rect">
            <a:avLst/>
          </a:prstGeom>
        </p:spPr>
        <p:txBody>
          <a:bodyPr anchor="t" rtlCol="false" tIns="0" lIns="0" bIns="0" rIns="0">
            <a:spAutoFit/>
          </a:bodyPr>
          <a:lstStyle/>
          <a:p>
            <a:pPr algn="ctr" marL="0" indent="0" lvl="0">
              <a:lnSpc>
                <a:spcPts val="16238"/>
              </a:lnSpc>
            </a:pPr>
            <a:r>
              <a:rPr lang="en-US" b="true" sz="11598" spc="579">
                <a:solidFill>
                  <a:srgbClr val="000000"/>
                </a:solidFill>
                <a:latin typeface="Helios Extended Bold"/>
                <a:ea typeface="Helios Extended Bold"/>
                <a:cs typeface="Helios Extended Bold"/>
                <a:sym typeface="Helios Extended Bold"/>
              </a:rPr>
              <a:t>THANK YOU</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DAHD221WOZg</dc:identifier>
  <dcterms:modified xsi:type="dcterms:W3CDTF">2011-08-01T06:04:30Z</dcterms:modified>
  <cp:revision>1</cp:revision>
  <dc:title>drug_discovery_final</dc:title>
</cp:coreProperties>
</file>