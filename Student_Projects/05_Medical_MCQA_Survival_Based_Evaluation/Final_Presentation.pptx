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69" r:id="rId2"/>
    <p:sldId id="257" r:id="rId3"/>
    <p:sldId id="258" r:id="rId4"/>
    <p:sldId id="259" r:id="rId5"/>
    <p:sldId id="270" r:id="rId6"/>
    <p:sldId id="260" r:id="rId7"/>
    <p:sldId id="271" r:id="rId8"/>
    <p:sldId id="272" r:id="rId9"/>
    <p:sldId id="261" r:id="rId10"/>
    <p:sldId id="263" r:id="rId11"/>
    <p:sldId id="264" r:id="rId12"/>
    <p:sldId id="265" r:id="rId13"/>
    <p:sldId id="266" r:id="rId14"/>
    <p:sldId id="267" r:id="rId15"/>
    <p:sldId id="268" r:id="rId16"/>
    <p:sldId id="273"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5090"/>
    <a:srgbClr val="E06C0D"/>
    <a:srgbClr val="F0F2F1"/>
    <a:srgbClr val="4472C4"/>
    <a:srgbClr val="BF3A2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F2A1B6-4E8A-9D9A-8035-F1FB09F4AF49}" v="545" dt="2026-03-17T00:20:20.701"/>
    <p1510:client id="{55791D23-F0F4-F5FD-0070-C31BCEE62A34}" v="3" dt="2026-03-15T15:46:01.434"/>
    <p1510:client id="{86EB5E57-6DC5-DFCD-5749-FA6543DF9838}" v="2766" dt="2026-03-16T08:06:15.314"/>
    <p1510:client id="{963C512C-79EE-4F65-6E06-DFDD42CF3065}" v="126" dt="2026-03-17T03:57:48.672"/>
    <p1510:client id="{9CFCF72F-7CBE-FC7C-54CF-B24C0B9A7154}" v="8" dt="2026-03-17T14:42:50.576"/>
    <p1510:client id="{E5FE7FAE-723A-C4D4-9B41-B1273F35EEAB}" v="25" dt="2026-03-17T04:09:01.48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9" d="100"/>
          <a:sy n="119" d="100"/>
        </p:scale>
        <p:origin x="41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23076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a:t>Hello everyone.</a:t>
            </a:r>
            <a:br>
              <a:rPr lang="en-US">
                <a:cs typeface="+mn-lt"/>
              </a:rPr>
            </a:br>
            <a:r>
              <a:rPr lang="en-US"/>
              <a:t>We are presenting our project titled “Beyond Accuracy: A Survival-Based Evaluation Framework for Elimination Reasoning in Medical Multiple-Choice Question Answering.”</a:t>
            </a:r>
            <a:endParaRPr lang="en-US">
              <a:ea typeface="Calibri"/>
              <a:cs typeface="Calibri"/>
            </a:endParaRPr>
          </a:p>
          <a:p>
            <a:endParaRPr lang="en-US">
              <a:ea typeface="Calibri"/>
              <a:cs typeface="Calibri"/>
            </a:endParaRPr>
          </a:p>
        </p:txBody>
      </p:sp>
    </p:spTree>
    <p:extLst>
      <p:ext uri="{BB962C8B-B14F-4D97-AF65-F5344CB8AC3E}">
        <p14:creationId xmlns:p14="http://schemas.microsoft.com/office/powerpoint/2010/main" val="31600806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a:t>In standard multiple-choice evaluation, LLM model receives a question and four options, and it directly predicts the final answer - usually A, B, C, or D.</a:t>
            </a:r>
          </a:p>
          <a:p>
            <a:pPr marL="228600" indent="-228600">
              <a:buAutoNum type="arabicPeriod"/>
            </a:pPr>
            <a:r>
              <a:rPr lang="en-US"/>
              <a:t>The only evaluation metric we use is accuracy, which simply checks whether the final answer is correct.</a:t>
            </a:r>
            <a:endParaRPr lang="en-US">
              <a:ea typeface="Calibri" panose="020F0502020204030204"/>
              <a:cs typeface="Calibri" panose="020F0502020204030204"/>
            </a:endParaRPr>
          </a:p>
          <a:p>
            <a:pPr marL="228600" indent="-228600">
              <a:buAutoNum type="arabicPeriod"/>
            </a:pPr>
            <a:r>
              <a:rPr lang="en-US"/>
              <a:t>However, this evaluation ignores the reasoning process that leads to the answer.</a:t>
            </a:r>
            <a:endParaRPr lang="en-US">
              <a:ea typeface="Calibri" panose="020F0502020204030204"/>
              <a:cs typeface="Calibri" panose="020F0502020204030204"/>
            </a:endParaRPr>
          </a:p>
          <a:p>
            <a:pPr marL="228600" indent="-228600">
              <a:buAutoNum type="arabicPeriod"/>
            </a:pPr>
            <a:r>
              <a:rPr lang="en-US"/>
              <a:t>Two models can have identical accuracy but behave very differently internally. </a:t>
            </a:r>
          </a:p>
          <a:p>
            <a:pPr marL="228600" indent="-228600">
              <a:buAutoNum type="arabicPeriod"/>
            </a:pPr>
            <a:r>
              <a:rPr lang="en-US"/>
              <a:t>Because accuracy only measures the final outcome, it cannot detect the differences in reasoning behavior of LLM models.</a:t>
            </a:r>
            <a:endParaRPr lang="en-US">
              <a:ea typeface="Calibri" panose="020F0502020204030204"/>
              <a:cs typeface="Calibri" panose="020F0502020204030204"/>
            </a:endParaRPr>
          </a:p>
          <a:p>
            <a:pPr marL="228600" indent="-228600">
              <a:buAutoNum type="arabicPeriod"/>
            </a:pPr>
            <a:r>
              <a:rPr lang="en-US"/>
              <a:t>This blind spot in evaluation is the core problem our project addresses.</a:t>
            </a:r>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a:t>Our study evaluates 4,183 medical exam questions across two open-source language models, and proposes 5 new metrics to make this reasoning behavior visible. </a:t>
            </a:r>
            <a:endParaRPr lang="en-US">
              <a:ea typeface="Calibri" panose="020F0502020204030204"/>
              <a:cs typeface="Calibri" panose="020F0502020204030204"/>
            </a:endParaRPr>
          </a:p>
          <a:p>
            <a:pPr marL="228600" indent="-228600">
              <a:buAutoNum type="arabicPeriod"/>
            </a:pPr>
            <a:r>
              <a:rPr lang="en-US"/>
              <a:t>To study this behavior, we compare </a:t>
            </a:r>
            <a:r>
              <a:rPr lang="en-US" b="1"/>
              <a:t>three inference strategies</a:t>
            </a:r>
            <a:r>
              <a:rPr lang="en-US"/>
              <a:t>:</a:t>
            </a:r>
            <a:br>
              <a:rPr lang="en-US">
                <a:cs typeface="+mn-lt"/>
              </a:rPr>
            </a:br>
            <a:r>
              <a:rPr lang="en-US"/>
              <a:t> Direct selection from model; </a:t>
            </a:r>
            <a:endParaRPr lang="en-US">
              <a:ea typeface="Calibri" panose="020F0502020204030204"/>
              <a:cs typeface="Calibri" panose="020F0502020204030204"/>
            </a:endParaRPr>
          </a:p>
          <a:p>
            <a:r>
              <a:rPr lang="en-US"/>
              <a:t>        Confidence Guided Elimination in a zero-shot setting; and </a:t>
            </a:r>
            <a:endParaRPr lang="en-US">
              <a:ea typeface="Calibri" panose="020F0502020204030204"/>
              <a:cs typeface="Calibri" panose="020F0502020204030204"/>
            </a:endParaRPr>
          </a:p>
          <a:p>
            <a:r>
              <a:rPr lang="en-US"/>
              <a:t>        Confidence-Guided Elimination with few-shot prompting.</a:t>
            </a:r>
            <a:endParaRPr lang="en-US">
              <a:ea typeface="Calibri" panose="020F0502020204030204"/>
              <a:cs typeface="Calibri" panose="020F0502020204030204"/>
            </a:endParaRPr>
          </a:p>
          <a:p>
            <a:r>
              <a:rPr lang="en-US"/>
              <a:t>3. We ask two research questions:</a:t>
            </a:r>
          </a:p>
          <a:p>
            <a:r>
              <a:rPr lang="en-US"/>
              <a:t>     RQ1: Can LLMs perform meaningful elimination reasoning on medical MCQs, protecting the correct answer across rounds beyond what chance would predict? </a:t>
            </a:r>
          </a:p>
          <a:p>
            <a:r>
              <a:rPr lang="en-US"/>
              <a:t>     And RQ2: Can survival-based metrics reveal reliability properties that final accuracy cannot and if so, what is the root cause </a:t>
            </a:r>
            <a:r>
              <a:rPr lang="en-US">
                <a:solidFill>
                  <a:srgbClr val="2D3550"/>
                </a:solidFill>
              </a:rPr>
              <a:t>of elimination failures?</a:t>
            </a:r>
            <a:endParaRPr lang="en-US"/>
          </a:p>
          <a:p>
            <a:endParaRPr lang="en-US">
              <a:solidFill>
                <a:srgbClr val="2D3550"/>
              </a:solidFill>
            </a:endParaRPr>
          </a:p>
          <a:p>
            <a:r>
              <a:rPr lang="en-US"/>
              <a:t>I will now hand over to Member 2.</a:t>
            </a:r>
            <a:endParaRPr lang="en-US">
              <a:ea typeface="Calibri" panose="020F0502020204030204"/>
              <a:cs typeface="Calibri" panose="020F0502020204030204"/>
            </a:endParaRP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Prior work related to our project falls into four areas.</a:t>
            </a:r>
            <a:br>
              <a:rPr lang="en-US">
                <a:cs typeface="+mn-lt"/>
              </a:rPr>
            </a:br>
            <a:r>
              <a:rPr lang="en-US"/>
              <a:t> 1. First, medical MCQA studies evaluate how well LLMs answer medical exam questions, but they usually focus only on final accuracy.</a:t>
            </a:r>
            <a:br>
              <a:rPr lang="en-US">
                <a:cs typeface="+mn-lt"/>
              </a:rPr>
            </a:br>
            <a:r>
              <a:rPr lang="en-US"/>
              <a:t> 2. Second, reasoning approaches such as Chain-of-Thought improve structured reasoning, yet they still measure success through final correctness.</a:t>
            </a:r>
            <a:br>
              <a:rPr lang="en-US">
                <a:cs typeface="+mn-lt"/>
              </a:rPr>
            </a:br>
            <a:r>
              <a:rPr lang="en-US"/>
              <a:t> 3. Third, elimination-based methods like Process of Elimination show that models can remove options iteratively, but they do not analyze whether the correct answer survives through each round.</a:t>
            </a:r>
            <a:br>
              <a:rPr lang="en-US">
                <a:cs typeface="+mn-lt"/>
              </a:rPr>
            </a:br>
            <a:r>
              <a:rPr lang="en-US"/>
              <a:t> 4. Finally, calibration research studies whether model confidence is reliable, but not how confidence behaves during sequential elimination.</a:t>
            </a:r>
          </a:p>
          <a:p>
            <a:r>
              <a:rPr lang="en-US"/>
              <a:t>So the main gap in the literature is that these areas remain disconnected. Existing work does not provide a framework for analyzing round-by-round survival of the correct answer during elimination reasoning. Our work addresses this gap through a survival-based evaluation framework for medical MCQA.</a:t>
            </a:r>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a:t>Our work have 3 main contributions.</a:t>
            </a:r>
            <a:endParaRPr lang="en-US">
              <a:ea typeface="Calibri"/>
              <a:cs typeface="Calibri"/>
            </a:endParaRPr>
          </a:p>
          <a:p>
            <a:pPr marL="228600" indent="-228600">
              <a:buAutoNum type="arabicPeriod"/>
            </a:pPr>
            <a:r>
              <a:rPr lang="en-US"/>
              <a:t>First, we introduce a Survival-Based Evaluation Framework with five new metrics.</a:t>
            </a:r>
            <a:endParaRPr lang="en-US">
              <a:ea typeface="Calibri"/>
              <a:cs typeface="Calibri"/>
            </a:endParaRPr>
          </a:p>
          <a:p>
            <a:pPr marL="228600" indent="-228600">
              <a:buAutoNum type="arabicPeriod"/>
            </a:pPr>
            <a:r>
              <a:rPr lang="en-US"/>
              <a:t>Second, we propose Confidence-Guided Elimination inference strategy. </a:t>
            </a:r>
            <a:endParaRPr lang="en-US">
              <a:ea typeface="Calibri" panose="020F0502020204030204"/>
              <a:cs typeface="Calibri" panose="020F0502020204030204"/>
            </a:endParaRPr>
          </a:p>
          <a:p>
            <a:pPr marL="228600" indent="-228600">
              <a:buAutoNum type="arabicPeriod"/>
            </a:pPr>
            <a:r>
              <a:rPr lang="en-US"/>
              <a:t>Third, we analyze elimination failures and identify a phenomenon we call the verbalization gap, where models internally know the correct answer but fail to express that knowledge through numerical confidence scores.</a:t>
            </a:r>
            <a:endParaRPr lang="en-US">
              <a:ea typeface="Calibri"/>
              <a:cs typeface="Calibri"/>
            </a:endParaRPr>
          </a:p>
          <a:p>
            <a:endParaRPr lang="en-US">
              <a:ea typeface="Calibri"/>
              <a:cs typeface="Calibri"/>
            </a:endParaRPr>
          </a:p>
        </p:txBody>
      </p:sp>
    </p:spTree>
    <p:extLst>
      <p:ext uri="{BB962C8B-B14F-4D97-AF65-F5344CB8AC3E}">
        <p14:creationId xmlns:p14="http://schemas.microsoft.com/office/powerpoint/2010/main" val="8415468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a:t>For our dataset we used </a:t>
            </a:r>
            <a:r>
              <a:rPr lang="en-US" err="1"/>
              <a:t>MedMCQA</a:t>
            </a:r>
            <a:r>
              <a:rPr lang="en-US"/>
              <a:t> data, it has Indian medical entrance exam questions covering 21 clinical subjects. It has exactly four options per question.</a:t>
            </a:r>
          </a:p>
          <a:p>
            <a:endParaRPr lang="en-US">
              <a:ea typeface="Calibri" panose="020F0502020204030204"/>
              <a:cs typeface="Calibri" panose="020F0502020204030204"/>
            </a:endParaRPr>
          </a:p>
          <a:p>
            <a:r>
              <a:rPr lang="en-US"/>
              <a:t>2. Dataset has three splits - train, validation, and test. We do not use the training set because our models are not trained or fine-tuned on </a:t>
            </a:r>
            <a:r>
              <a:rPr lang="en-US" err="1"/>
              <a:t>MedMCQA</a:t>
            </a:r>
            <a:r>
              <a:rPr lang="en-US"/>
              <a:t>.</a:t>
            </a:r>
            <a:endParaRPr lang="en-US">
              <a:ea typeface="Calibri"/>
              <a:cs typeface="Calibri"/>
            </a:endParaRPr>
          </a:p>
          <a:p>
            <a:r>
              <a:rPr lang="en-US"/>
              <a:t>We are measuring pre-trained knowledge, not learned performance. </a:t>
            </a:r>
          </a:p>
          <a:p>
            <a:r>
              <a:rPr lang="en-US"/>
              <a:t>We evaluate the full 4,183-question validation split because the test set labels are not publicly released.</a:t>
            </a:r>
            <a:endParaRPr lang="en-US">
              <a:ea typeface="Calibri"/>
              <a:cs typeface="Calibri"/>
            </a:endParaRPr>
          </a:p>
          <a:p>
            <a:endParaRPr lang="en-US"/>
          </a:p>
          <a:p>
            <a:r>
              <a:rPr lang="en-US"/>
              <a:t>3. For models, we chose Qwen2.5-7B-Instruct and LLaMA-3.1-8B-Instruct. Both are evaluated purely on pre-trained medical knowledge. </a:t>
            </a:r>
          </a:p>
          <a:p>
            <a:r>
              <a:rPr lang="en-US"/>
              <a:t>The LLM is used purely at inference time through prompting. </a:t>
            </a:r>
          </a:p>
          <a:p>
            <a:r>
              <a:rPr lang="en-US"/>
              <a:t>For sequential data handling, each question is tokenized using each model's native tokenizer with a maximum of 512 tokens.</a:t>
            </a:r>
            <a:endParaRPr lang="en-US">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a:t>Confidence Guided Elimination works as follows.</a:t>
            </a:r>
          </a:p>
          <a:p>
            <a:pPr marL="228600" indent="-228600">
              <a:buAutoNum type="arabicPeriod"/>
            </a:pPr>
            <a:r>
              <a:rPr lang="en-US"/>
              <a:t>In  first round, the model assigns a score from 0 to 10 to each option. The option with the lowest score gets eliminated.</a:t>
            </a:r>
            <a:endParaRPr lang="en-US">
              <a:ea typeface="Calibri"/>
              <a:cs typeface="Calibri"/>
            </a:endParaRPr>
          </a:p>
          <a:p>
            <a:r>
              <a:rPr lang="en-US"/>
              <a:t>2. In the second round, the model scores the remaining three options, and the lowest is eliminated again.</a:t>
            </a:r>
          </a:p>
          <a:p>
            <a:r>
              <a:rPr lang="en-US"/>
              <a:t>3. Finally, in the third round, the model scores the remaining two options and the lowest is eliminated.</a:t>
            </a:r>
          </a:p>
          <a:p>
            <a:r>
              <a:rPr lang="en-US"/>
              <a:t>The last surviving option becomes the model’s final answer.</a:t>
            </a:r>
            <a:endParaRPr lang="en-US">
              <a:ea typeface="Calibri"/>
              <a:cs typeface="Calibri"/>
            </a:endParaRPr>
          </a:p>
          <a:p>
            <a:endParaRPr lang="en-US">
              <a:ea typeface="Calibri"/>
              <a:cs typeface="Calibri"/>
            </a:endParaRPr>
          </a:p>
        </p:txBody>
      </p:sp>
    </p:spTree>
    <p:extLst>
      <p:ext uri="{BB962C8B-B14F-4D97-AF65-F5344CB8AC3E}">
        <p14:creationId xmlns:p14="http://schemas.microsoft.com/office/powerpoint/2010/main" val="5070785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a:t>To analyze the elimination process, we introduce five survival-based metrics.</a:t>
            </a:r>
          </a:p>
          <a:p>
            <a:pPr marL="228600" indent="-228600">
              <a:buAutoNum type="arabicPeriod"/>
            </a:pPr>
            <a:r>
              <a:rPr lang="en-US"/>
              <a:t>Survival@3 measures whether the correct answer survives the first elimination round.</a:t>
            </a:r>
            <a:endParaRPr lang="en-US">
              <a:ea typeface="Calibri"/>
              <a:cs typeface="Calibri"/>
            </a:endParaRPr>
          </a:p>
          <a:p>
            <a:pPr marL="228600" indent="-228600">
              <a:buAutoNum type="arabicPeriod"/>
            </a:pPr>
            <a:r>
              <a:rPr lang="en-US"/>
              <a:t>Survival@2 measures whether it survives the second round.</a:t>
            </a:r>
            <a:endParaRPr lang="en-US">
              <a:ea typeface="Calibri"/>
              <a:cs typeface="Calibri"/>
            </a:endParaRPr>
          </a:p>
          <a:p>
            <a:pPr marL="228600" indent="-228600">
              <a:buAutoNum type="arabicPeriod"/>
            </a:pPr>
            <a:r>
              <a:rPr lang="en-US"/>
              <a:t>Accuracy@1 measures the final answer accuracy.</a:t>
            </a:r>
            <a:endParaRPr lang="en-US">
              <a:ea typeface="Calibri"/>
              <a:cs typeface="Calibri"/>
            </a:endParaRPr>
          </a:p>
          <a:p>
            <a:pPr marL="228600" indent="-228600">
              <a:buAutoNum type="arabicPeriod"/>
            </a:pPr>
            <a:r>
              <a:rPr lang="en-US"/>
              <a:t>Catastrophic Failure Rate measures how often the correct answer is eliminated in the first round itself.</a:t>
            </a:r>
            <a:endParaRPr lang="en-US">
              <a:ea typeface="Calibri"/>
              <a:cs typeface="Calibri"/>
            </a:endParaRPr>
          </a:p>
          <a:p>
            <a:pPr marL="228600" indent="-228600">
              <a:buAutoNum type="arabicPeriod"/>
            </a:pPr>
            <a:r>
              <a:rPr lang="en-US"/>
              <a:t>Lastly Confidence-Survival Correlation - It measures how often the model’s highest-confidence option in round 1 actually survives the elimination process and becomes the final correct answer.</a:t>
            </a:r>
            <a:endParaRPr lang="en-US">
              <a:ea typeface="Calibri"/>
              <a:cs typeface="Calibri"/>
            </a:endParaRPr>
          </a:p>
        </p:txBody>
      </p:sp>
    </p:spTree>
    <p:extLst>
      <p:ext uri="{BB962C8B-B14F-4D97-AF65-F5344CB8AC3E}">
        <p14:creationId xmlns:p14="http://schemas.microsoft.com/office/powerpoint/2010/main" val="27288998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diagram shows our system pipeline</a:t>
            </a:r>
            <a:endParaRPr lang="en-US">
              <a:ea typeface="Calibri"/>
              <a:cs typeface="Calibri"/>
            </a:endParaRPr>
          </a:p>
          <a:p>
            <a:r>
              <a:rPr lang="en-US"/>
              <a:t>We begin with the </a:t>
            </a:r>
            <a:r>
              <a:rPr lang="en-US" err="1"/>
              <a:t>MedMCQA</a:t>
            </a:r>
            <a:r>
              <a:rPr lang="en-US"/>
              <a:t> validation split data. The data then goes through three preprocessing steps. </a:t>
            </a:r>
            <a:endParaRPr lang="en-US">
              <a:ea typeface="Calibri"/>
              <a:cs typeface="Calibri"/>
            </a:endParaRPr>
          </a:p>
          <a:p>
            <a:r>
              <a:rPr lang="en-US"/>
              <a:t>First, the questions are tokenized using the model’s native tokenizer. </a:t>
            </a:r>
            <a:endParaRPr lang="en-US">
              <a:ea typeface="Calibri"/>
              <a:cs typeface="Calibri"/>
            </a:endParaRPr>
          </a:p>
          <a:p>
            <a:r>
              <a:rPr lang="en-US"/>
              <a:t>Second, we perform truncation and cleaning, removing null bytes and ensuring inputs fit within the token limit. </a:t>
            </a:r>
            <a:endParaRPr lang="en-US">
              <a:ea typeface="Calibri"/>
              <a:cs typeface="Calibri"/>
            </a:endParaRPr>
          </a:p>
          <a:p>
            <a:r>
              <a:rPr lang="en-US"/>
              <a:t>Third, we perform prompt construction, where we prepare prompts for three strategies: Direct prediction, CGE zero-shot, and CGE few-shot.</a:t>
            </a:r>
            <a:endParaRPr lang="en-US">
              <a:ea typeface="Calibri"/>
              <a:cs typeface="Calibri"/>
            </a:endParaRPr>
          </a:p>
          <a:p>
            <a:endParaRPr lang="en-US">
              <a:ea typeface="Calibri"/>
              <a:cs typeface="Calibri"/>
            </a:endParaRPr>
          </a:p>
          <a:p>
            <a:r>
              <a:rPr lang="en-US"/>
              <a:t>These prompts are then fed into two large language models: Qwen and </a:t>
            </a:r>
            <a:r>
              <a:rPr lang="en-US" err="1"/>
              <a:t>LLaMA</a:t>
            </a:r>
            <a:r>
              <a:rPr lang="en-US"/>
              <a:t>.</a:t>
            </a:r>
            <a:endParaRPr lang="en-US">
              <a:ea typeface="Calibri"/>
              <a:cs typeface="Calibri"/>
            </a:endParaRPr>
          </a:p>
          <a:p>
            <a:r>
              <a:rPr lang="en-US"/>
              <a:t>For the elimination strategies, the model assigns confidence scores from 0 to 10 for each option, and this process runs for three elimination rounds.</a:t>
            </a:r>
            <a:endParaRPr lang="en-US">
              <a:ea typeface="Calibri"/>
              <a:cs typeface="Calibri"/>
            </a:endParaRPr>
          </a:p>
          <a:p>
            <a:r>
              <a:rPr lang="en-US"/>
              <a:t>The outputs are then processed by our output parser.</a:t>
            </a:r>
            <a:endParaRPr lang="en-US">
              <a:ea typeface="Calibri"/>
              <a:cs typeface="Calibri"/>
            </a:endParaRPr>
          </a:p>
          <a:p>
            <a:endParaRPr lang="en-US">
              <a:ea typeface="Calibri"/>
              <a:cs typeface="Calibri"/>
            </a:endParaRPr>
          </a:p>
          <a:p>
            <a:r>
              <a:rPr lang="en-US"/>
              <a:t>Finally, we compute our evaluation metrics which together allow us to analyze the model’s reasoning behavior rather than just final accuracy.</a:t>
            </a:r>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Our main results show that Confidence-Guided Elimination improves performance compared to direct prediction.</a:t>
            </a:r>
          </a:p>
          <a:p>
            <a:r>
              <a:rPr lang="en-US"/>
              <a:t>For Qwen, CGE Zero-shot raises accuracy from 34.4% to 41.6% </a:t>
            </a:r>
          </a:p>
          <a:p>
            <a:r>
              <a:rPr lang="en-US"/>
              <a:t>For </a:t>
            </a:r>
            <a:r>
              <a:rPr lang="en-US" err="1"/>
              <a:t>LLaMA</a:t>
            </a:r>
            <a:r>
              <a:rPr lang="en-US"/>
              <a:t>, the gain is even larger: 32.5% to 43.9% </a:t>
            </a:r>
            <a:endParaRPr lang="en-US">
              <a:ea typeface="Calibri"/>
              <a:cs typeface="Calibri"/>
            </a:endParaRPr>
          </a:p>
          <a:p>
            <a:endParaRPr lang="en-US"/>
          </a:p>
          <a:p>
            <a:r>
              <a:rPr lang="en-US"/>
              <a:t>Both models achieve survival rates above the random baseline and lower catastrophic failure rates than random elimination.</a:t>
            </a:r>
          </a:p>
          <a:p>
            <a:r>
              <a:rPr lang="en-US"/>
              <a:t>This indicates CGE is not just getting more questions right. It is doing so while reasoning more carefully at every step of elimination.</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Arial"/>
              <a:buChar char="•"/>
            </a:pPr>
            <a:endParaRPr lang="en-US">
              <a:ea typeface="Calibri" panose="020F0502020204030204"/>
              <a:cs typeface="Calibri" panose="020F0502020204030204"/>
            </a:endParaRPr>
          </a:p>
          <a:p>
            <a:pPr marL="171450" indent="-171450">
              <a:buFont typeface="Arial"/>
              <a:buChar char="•"/>
            </a:pPr>
            <a:r>
              <a:rPr lang="en-US"/>
              <a:t>So let's look at how the models actually fail.</a:t>
            </a:r>
            <a:endParaRPr lang="en-US">
              <a:ea typeface="Calibri" panose="020F0502020204030204"/>
              <a:cs typeface="Calibri" panose="020F0502020204030204"/>
            </a:endParaRPr>
          </a:p>
          <a:p>
            <a:pPr marL="171450" indent="-171450">
              <a:buFont typeface="Arial"/>
              <a:buChar char="•"/>
            </a:pPr>
            <a:r>
              <a:rPr lang="en-US"/>
              <a:t>The biggest failure mode is not catastrophic — it's late. About 35 to 40 percent of questions, the model correctly protects the right answer in Round 1, but then picks the wrong one at the final two-option stage. So the bottleneck is fine-grained discrimination at the end, not gross errors at the beginning.</a:t>
            </a:r>
            <a:endParaRPr lang="en-US">
              <a:ea typeface="Calibri" panose="020F0502020204030204"/>
              <a:cs typeface="Calibri" panose="020F0502020204030204"/>
            </a:endParaRPr>
          </a:p>
          <a:p>
            <a:pPr marL="171450" indent="-171450">
              <a:buFont typeface="Arial"/>
              <a:buChar char="•"/>
            </a:pPr>
            <a:r>
              <a:rPr lang="en-US"/>
              <a:t>On the right side, we have our few-shot finding. We added three worked examples to help the model — but it actually hurt. Qwen's catastrophic failure rate went up. Our interpretation is that the model just copied the scoring pattern from the examples instead of actually reasoning about the question. So zero-shot is more reliable for this kind of task.</a:t>
            </a:r>
            <a:endParaRPr lang="en-US">
              <a:ea typeface="Calibri" panose="020F0502020204030204"/>
              <a:cs typeface="Calibri" panose="020F0502020204030204"/>
            </a:endParaRPr>
          </a:p>
          <a:p>
            <a:pPr marL="171450" indent="-171450">
              <a:buFont typeface="Arial"/>
              <a:buChar char="•"/>
            </a:pPr>
            <a:r>
              <a:rPr lang="en-US"/>
              <a:t>Finally, we checked if question length was causing any of this. It wasn't. Accuracy was almost the same across short, medium, and long questions."</a:t>
            </a:r>
            <a:endParaRPr lang="en-US">
              <a:ea typeface="Calibri" panose="020F0502020204030204"/>
              <a:cs typeface="Calibri" panose="020F0502020204030204"/>
            </a:endParaRPr>
          </a:p>
          <a:p>
            <a:pPr>
              <a:buFont typeface="Arial"/>
              <a:buChar char="•"/>
            </a:pPr>
            <a:endParaRPr lang="en-US"/>
          </a:p>
          <a:p>
            <a:endParaRPr lang="en-US">
              <a:ea typeface="Calibri" panose="020F0502020204030204"/>
              <a:cs typeface="Calibri" panose="020F0502020204030204"/>
            </a:endParaRPr>
          </a:p>
          <a:p>
            <a:pPr marL="228600" indent="-228600">
              <a:buFont typeface="Arial"/>
              <a:buChar char="•"/>
            </a:pPr>
            <a:r>
              <a:rPr lang="en-US"/>
              <a:t>Looking at how failures are distributed: the dominant failure mode is late failure, not catastrophic failure. </a:t>
            </a:r>
            <a:endParaRPr lang="en-US">
              <a:ea typeface="Calibri" panose="020F0502020204030204"/>
              <a:cs typeface="Calibri" panose="020F0502020204030204"/>
            </a:endParaRPr>
          </a:p>
          <a:p>
            <a:pPr marL="228600" indent="-228600">
              <a:buFont typeface="Arial"/>
              <a:buChar char="•"/>
            </a:pPr>
            <a:r>
              <a:rPr lang="en-US"/>
              <a:t>About 35 to 40% of questions result in the correct answer surviving Round 1 but failing at the final two-option stage. </a:t>
            </a:r>
            <a:endParaRPr lang="en-US">
              <a:ea typeface="Calibri" panose="020F0502020204030204"/>
              <a:cs typeface="Calibri" panose="020F0502020204030204"/>
            </a:endParaRPr>
          </a:p>
          <a:p>
            <a:pPr marL="228600" indent="-228600">
              <a:buFont typeface="Arial"/>
              <a:buChar char="•"/>
            </a:pPr>
            <a:r>
              <a:rPr lang="en-US"/>
              <a:t>On the right is few-shot finding. Adding three worked examples slightly hurts both models. Qwen's CFR increases from with few shot examples. </a:t>
            </a:r>
            <a:endParaRPr lang="en-US">
              <a:ea typeface="Calibri"/>
              <a:cs typeface="Calibri"/>
            </a:endParaRPr>
          </a:p>
          <a:p>
            <a:pPr marL="228600" indent="-228600">
              <a:buFont typeface="Arial"/>
              <a:buChar char="•"/>
            </a:pPr>
            <a:r>
              <a:rPr lang="en-US"/>
              <a:t>Our interpretation is it happened </a:t>
            </a:r>
            <a:r>
              <a:rPr lang="en-US" err="1"/>
              <a:t>bcz</a:t>
            </a:r>
            <a:r>
              <a:rPr lang="en-US"/>
              <a:t> of pattern and matching bias, the model copies the example's scoring structure rather than reasoning about the specific question in front of it. Zero-shot CGE is more reliable.</a:t>
            </a:r>
            <a:endParaRPr lang="en-US">
              <a:ea typeface="Calibri" panose="020F0502020204030204"/>
              <a:cs typeface="Calibri" panose="020F0502020204030204"/>
            </a:endParaRPr>
          </a:p>
          <a:p>
            <a:pPr marL="228600" indent="-228600">
              <a:buFont typeface="Arial"/>
              <a:buChar char="•"/>
            </a:pPr>
            <a:r>
              <a:rPr lang="en-US"/>
              <a:t>We also confirm that question length is not a problem, accuracy is near-uniform across short, medium, and long questions.</a:t>
            </a:r>
            <a:endParaRPr lang="en-US">
              <a:ea typeface="Calibri" panose="020F0502020204030204"/>
              <a:cs typeface="Calibri" panose="020F0502020204030204"/>
            </a:endParaRPr>
          </a:p>
          <a:p>
            <a:endParaRPr lang="en-US">
              <a:ea typeface="Calibri" panose="020F0502020204030204"/>
              <a:cs typeface="Calibri" panose="020F0502020204030204"/>
            </a:endParaRP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a:t>This is our most important diagnostic finding. When CGE fails catastrophically, eliminating the correct answer in Round 1. The question comes: is this because the model does not know the answer, or because it cannot express that knowledge as numerical scores?</a:t>
            </a:r>
          </a:p>
          <a:p>
            <a:pPr marL="228600" indent="-228600">
              <a:buAutoNum type="arabicPeriod"/>
            </a:pPr>
            <a:r>
              <a:rPr lang="en-US"/>
              <a:t>Experiment 3 tests this with Chain-of-Thought prompting on the exact questions CGE failed. CGE has 0% accuracy on these questions. But </a:t>
            </a:r>
            <a:r>
              <a:rPr lang="en-US" err="1"/>
              <a:t>CoT</a:t>
            </a:r>
            <a:r>
              <a:rPr lang="en-US"/>
              <a:t> achieves 36.7% for Qwen and 43.3% for </a:t>
            </a:r>
            <a:r>
              <a:rPr lang="en-US" err="1"/>
              <a:t>LLaMA</a:t>
            </a:r>
            <a:r>
              <a:rPr lang="en-US"/>
              <a:t> on the same questions. Same models, same questions but better results under free-form reasoning.</a:t>
            </a:r>
            <a:endParaRPr lang="en-US">
              <a:ea typeface="Calibri"/>
              <a:cs typeface="Calibri"/>
            </a:endParaRPr>
          </a:p>
          <a:p>
            <a:pPr marL="228600" indent="-228600">
              <a:buAutoNum type="arabicPeriod"/>
            </a:pPr>
            <a:r>
              <a:rPr lang="en-US"/>
              <a:t>This proves the knowledge exists in models. The numerical format is the problem.</a:t>
            </a:r>
            <a:endParaRPr lang="en-US">
              <a:ea typeface="Calibri" panose="020F0502020204030204"/>
              <a:cs typeface="Calibri" panose="020F0502020204030204"/>
            </a:endParaRPr>
          </a:p>
          <a:p>
            <a:pPr marL="228600" indent="-228600">
              <a:buAutoNum type="arabicPeriod"/>
            </a:pPr>
            <a:r>
              <a:rPr lang="en-US"/>
              <a:t>Experiment 4 confirms this at the internal level. We extract raw </a:t>
            </a:r>
            <a:r>
              <a:rPr lang="en-US" err="1"/>
              <a:t>softmax</a:t>
            </a:r>
            <a:r>
              <a:rPr lang="en-US"/>
              <a:t> probabilities over the four answer tokens directly from model weights. On flat confidence cases, where verbalized scores are nearly identical, Qwen's internal </a:t>
            </a:r>
            <a:r>
              <a:rPr lang="en-US" err="1"/>
              <a:t>softmax</a:t>
            </a:r>
            <a:r>
              <a:rPr lang="en-US"/>
              <a:t> spread is 0.791. Its verbalized spread is only 0.52. </a:t>
            </a:r>
            <a:r>
              <a:rPr lang="en-US" err="1"/>
              <a:t>LLaMA</a:t>
            </a:r>
            <a:r>
              <a:rPr lang="en-US"/>
              <a:t> shows the same pattern: 0.379 internal versus 0.24 verbalized.</a:t>
            </a:r>
            <a:endParaRPr lang="en-US">
              <a:ea typeface="Calibri"/>
              <a:cs typeface="Calibri"/>
            </a:endParaRPr>
          </a:p>
          <a:p>
            <a:pPr marL="228600" indent="-228600">
              <a:buAutoNum type="arabicPeriod"/>
            </a:pPr>
            <a:r>
              <a:rPr lang="en-US"/>
              <a:t>The model internally knows which answer is most likely. It simply cannot translate that into discriminative numerical scores. We call this the verbalization gap.</a:t>
            </a:r>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Both models beat all random baselines across all survival metrics. </a:t>
            </a:r>
          </a:p>
          <a:p>
            <a:r>
              <a:rPr lang="en-US"/>
              <a:t>Two models with similar accuracy have measurably different confidence calibration versus Confidence-Survival Correlation. </a:t>
            </a:r>
          </a:p>
          <a:p>
            <a:r>
              <a:rPr lang="en-US"/>
              <a:t>The survival framework reveals this difference; accuracy alone cannot.</a:t>
            </a:r>
          </a:p>
          <a:p>
            <a:r>
              <a:rPr lang="en-US"/>
              <a:t>The most surprising finding is that few-shot hurts CGE. We expected examples to help. </a:t>
            </a:r>
          </a:p>
          <a:p>
            <a:r>
              <a:rPr lang="en-US"/>
              <a:t>This suggests zero-shot is the more reliable condition for structured scoring tasks.</a:t>
            </a:r>
          </a:p>
          <a:p>
            <a:r>
              <a:rPr lang="en-US"/>
              <a:t>Also CGE failures are caused by the verbalization gap, not knowledge gaps. Models possess the medical knowledge internally but cannot express it as numerical confidence scores.</a:t>
            </a:r>
            <a:endParaRPr lang="en-US">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Some of the limitations are:</a:t>
            </a:r>
          </a:p>
          <a:p>
            <a:pPr marL="228600" indent="-228600">
              <a:buAutoNum type="arabicPeriod"/>
            </a:pPr>
            <a:r>
              <a:rPr lang="en-US"/>
              <a:t>We only tested 7 to 8B models. Results may not generalize to larger scales. </a:t>
            </a:r>
          </a:p>
          <a:p>
            <a:pPr marL="228600" indent="-228600">
              <a:buAutoNum type="arabicPeriod"/>
            </a:pPr>
            <a:r>
              <a:rPr lang="en-US"/>
              <a:t>We evaluated one dataset so generalization to general reasoning benchmarks is untested. </a:t>
            </a:r>
            <a:endParaRPr lang="en-US">
              <a:ea typeface="Calibri"/>
              <a:cs typeface="Calibri"/>
            </a:endParaRPr>
          </a:p>
          <a:p>
            <a:pPr marL="228600" indent="-228600">
              <a:buAutoNum type="arabicPeriod"/>
            </a:pPr>
            <a:r>
              <a:rPr lang="en-US"/>
              <a:t>Our Chain and Thoughts and logit analyses use small targeted samples - 30 and 25 questions, which are diagnostic rather than statistically robust. </a:t>
            </a:r>
            <a:endParaRPr lang="en-US">
              <a:ea typeface="Calibri"/>
              <a:cs typeface="Calibri"/>
            </a:endParaRPr>
          </a:p>
          <a:p>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summary, we identified a major limitation in standard evaluation of LLM reasoning for medical MCQ tasks.</a:t>
            </a:r>
          </a:p>
          <a:p>
            <a:r>
              <a:rPr lang="en-US"/>
              <a:t>We proposed a survival-based evaluation framework that tracks the correct answer across elimination rounds.</a:t>
            </a:r>
            <a:endParaRPr lang="en-US">
              <a:ea typeface="Calibri"/>
              <a:cs typeface="Calibri"/>
            </a:endParaRPr>
          </a:p>
          <a:p>
            <a:r>
              <a:rPr lang="en-US"/>
              <a:t>Using our Confidence-Guided Elimination strategy, we demonstrated improved accuracy and reduced catastrophic failures compared to direct prediction.</a:t>
            </a:r>
            <a:endParaRPr lang="en-US">
              <a:ea typeface="Calibri"/>
              <a:cs typeface="Calibri"/>
            </a:endParaRPr>
          </a:p>
          <a:p>
            <a:r>
              <a:rPr lang="en-US"/>
              <a:t>Finally, our analysis revealed a verbalization gap, where models possess correct internal knowledge but struggle to express it through numerical confidence scores.</a:t>
            </a:r>
            <a:endParaRPr lang="en-US">
              <a:ea typeface="Calibri"/>
              <a:cs typeface="Calibri"/>
            </a:endParaRPr>
          </a:p>
          <a:p>
            <a:r>
              <a:rPr lang="en-US"/>
              <a:t>We believe our framework can serve as a useful diagnostic tool for evaluating reasoning reliability in high-stakes domains such as healthcare.</a:t>
            </a:r>
          </a:p>
          <a:p>
            <a:endParaRPr lang="en-US"/>
          </a:p>
          <a:p>
            <a:r>
              <a:rPr lang="en-US"/>
              <a:t>Our next steps are to finalize and clean the codebase and complete the full ACL-style paper for submission.</a:t>
            </a:r>
            <a:endParaRPr lang="en-US">
              <a:ea typeface="Calibri" panose="020F0502020204030204"/>
              <a:cs typeface="Calibri" panose="020F0502020204030204"/>
            </a:endParaRP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a:t>Thank you. We are happy to take questions</a:t>
            </a:r>
          </a:p>
        </p:txBody>
      </p:sp>
    </p:spTree>
    <p:extLst>
      <p:ext uri="{BB962C8B-B14F-4D97-AF65-F5344CB8AC3E}">
        <p14:creationId xmlns:p14="http://schemas.microsoft.com/office/powerpoint/2010/main" val="2606193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19D32F93-50AC-4C46-A5DB-291C60DDB7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close up of a text&#10;&#10;AI-generated content may be incorrect.">
            <a:extLst>
              <a:ext uri="{FF2B5EF4-FFF2-40B4-BE49-F238E27FC236}">
                <a16:creationId xmlns:a16="http://schemas.microsoft.com/office/drawing/2014/main" id="{30F22C63-2F6C-7515-3176-36B5ACC0C642}"/>
              </a:ext>
            </a:extLst>
          </p:cNvPr>
          <p:cNvPicPr>
            <a:picLocks noChangeAspect="1"/>
          </p:cNvPicPr>
          <p:nvPr/>
        </p:nvPicPr>
        <p:blipFill>
          <a:blip r:embed="rId3"/>
          <a:srcRect l="26" r="-114" b="1770"/>
          <a:stretch>
            <a:fillRect/>
          </a:stretch>
        </p:blipFill>
        <p:spPr>
          <a:xfrm>
            <a:off x="1161067" y="2697743"/>
            <a:ext cx="6834867" cy="1660226"/>
          </a:xfrm>
          <a:prstGeom prst="rect">
            <a:avLst/>
          </a:prstGeom>
        </p:spPr>
      </p:pic>
      <p:sp>
        <p:nvSpPr>
          <p:cNvPr id="9" name="Rectangle 8">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467456"/>
            <a:ext cx="8178790" cy="4205911"/>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F9D26A2E-7C24-CDEB-7247-BD541A789F64}"/>
              </a:ext>
            </a:extLst>
          </p:cNvPr>
          <p:cNvSpPr txBox="1"/>
          <p:nvPr/>
        </p:nvSpPr>
        <p:spPr>
          <a:xfrm>
            <a:off x="707809" y="688596"/>
            <a:ext cx="8436918" cy="1203400"/>
          </a:xfrm>
          <a:prstGeom prst="rect">
            <a:avLst/>
          </a:prstGeom>
        </p:spPr>
        <p:txBody>
          <a:bodyPr rot="0" spcFirstLastPara="0" vertOverflow="overflow" horzOverflow="overflow" vert="horz" lIns="91440" tIns="45720" rIns="91440" bIns="45720" numCol="1" spcCol="0" rtlCol="0" fromWordArt="0" anchor="b" anchorCtr="0" forceAA="0" compatLnSpc="1">
            <a:prstTxWarp prst="textNoShape">
              <a:avLst/>
            </a:prstTxWarp>
            <a:noAutofit/>
          </a:bodyPr>
          <a:lstStyle/>
          <a:p>
            <a:pPr>
              <a:lnSpc>
                <a:spcPct val="90000"/>
              </a:lnSpc>
              <a:spcBef>
                <a:spcPct val="0"/>
              </a:spcBef>
              <a:spcAft>
                <a:spcPts val="600"/>
              </a:spcAft>
            </a:pPr>
            <a:r>
              <a:rPr lang="en-US" sz="2400" b="1" kern="1200">
                <a:latin typeface="Times New Roman"/>
                <a:ea typeface="+mj-ea"/>
                <a:cs typeface="Times New Roman"/>
              </a:rPr>
              <a:t>Beyond Accuracy:</a:t>
            </a:r>
          </a:p>
          <a:p>
            <a:pPr>
              <a:lnSpc>
                <a:spcPct val="90000"/>
              </a:lnSpc>
              <a:spcBef>
                <a:spcPct val="0"/>
              </a:spcBef>
              <a:spcAft>
                <a:spcPts val="600"/>
              </a:spcAft>
            </a:pPr>
            <a:r>
              <a:rPr lang="en-US" sz="2400" b="1" kern="1200">
                <a:latin typeface="Times New Roman"/>
                <a:ea typeface="+mj-ea"/>
                <a:cs typeface="Times New Roman"/>
              </a:rPr>
              <a:t>A Survival-Based Evaluation Framework for Elimination Reasoning in Medical Multiple-Choice Question Answering</a:t>
            </a:r>
          </a:p>
        </p:txBody>
      </p:sp>
    </p:spTree>
    <p:extLst>
      <p:ext uri="{BB962C8B-B14F-4D97-AF65-F5344CB8AC3E}">
        <p14:creationId xmlns:p14="http://schemas.microsoft.com/office/powerpoint/2010/main" val="15563935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3A6B"/>
          </a:solidFill>
          <a:ln w="12700">
            <a:solidFill>
              <a:srgbClr val="1B3A6B"/>
            </a:solidFill>
            <a:prstDash val="solid"/>
          </a:ln>
        </p:spPr>
      </p:sp>
      <p:sp>
        <p:nvSpPr>
          <p:cNvPr id="4" name="Text 2"/>
          <p:cNvSpPr/>
          <p:nvPr/>
        </p:nvSpPr>
        <p:spPr>
          <a:xfrm>
            <a:off x="292608" y="0"/>
            <a:ext cx="7132320" cy="658368"/>
          </a:xfrm>
          <a:prstGeom prst="rect">
            <a:avLst/>
          </a:prstGeom>
          <a:noFill/>
          <a:ln/>
        </p:spPr>
        <p:txBody>
          <a:bodyPr wrap="square" lIns="0" tIns="0" rIns="0" bIns="0" rtlCol="0" anchor="ctr"/>
          <a:lstStyle/>
          <a:p>
            <a:pPr marL="0" indent="0">
              <a:buNone/>
            </a:pPr>
            <a:r>
              <a:rPr lang="en-US" sz="2400" b="1">
                <a:solidFill>
                  <a:srgbClr val="FFFFFF"/>
                </a:solidFill>
                <a:latin typeface="Times New Roman"/>
                <a:cs typeface="Times New Roman"/>
              </a:rPr>
              <a:t>The Problem with Standard Accuracy</a:t>
            </a:r>
            <a:endParaRPr lang="en-US" sz="2400">
              <a:latin typeface="Times New Roman"/>
              <a:cs typeface="Times New Roman"/>
            </a:endParaRPr>
          </a:p>
        </p:txBody>
      </p:sp>
      <p:sp>
        <p:nvSpPr>
          <p:cNvPr id="9" name="Text 7"/>
          <p:cNvSpPr/>
          <p:nvPr/>
        </p:nvSpPr>
        <p:spPr>
          <a:xfrm>
            <a:off x="656902" y="931281"/>
            <a:ext cx="4945092" cy="1404809"/>
          </a:xfrm>
          <a:prstGeom prst="rect">
            <a:avLst/>
          </a:prstGeom>
          <a:noFill/>
          <a:ln/>
        </p:spPr>
        <p:txBody>
          <a:bodyPr wrap="square" lIns="91440" tIns="45720" rIns="91440" bIns="45720" rtlCol="0" anchor="ctr"/>
          <a:lstStyle/>
          <a:p>
            <a:pPr>
              <a:buSzPct val="100000"/>
            </a:pPr>
            <a:r>
              <a:rPr lang="en-US">
                <a:solidFill>
                  <a:srgbClr val="1B3A6B"/>
                </a:solidFill>
                <a:latin typeface="Times New Roman"/>
                <a:ea typeface="+mn-lt"/>
                <a:cs typeface="Times New Roman"/>
              </a:rPr>
              <a:t>Standard MCQA Evaluation</a:t>
            </a:r>
            <a:endParaRPr lang="en-US">
              <a:solidFill>
                <a:srgbClr val="000000"/>
              </a:solidFill>
              <a:latin typeface="Times New Roman"/>
              <a:ea typeface="+mn-lt"/>
              <a:cs typeface="Times New Roman"/>
            </a:endParaRPr>
          </a:p>
          <a:p>
            <a:pPr>
              <a:buSzPct val="100000"/>
            </a:pPr>
            <a:r>
              <a:rPr lang="en-US" sz="1600">
                <a:solidFill>
                  <a:srgbClr val="2D3550"/>
                </a:solidFill>
                <a:latin typeface="Times New Roman"/>
                <a:ea typeface="+mn-lt"/>
                <a:cs typeface="Times New Roman"/>
              </a:rPr>
              <a:t>LLM → directly selects one option (A/B/C/D)</a:t>
            </a:r>
            <a:endParaRPr lang="en-US" sz="1600">
              <a:latin typeface="Times New Roman"/>
              <a:ea typeface="Calibri" panose="020F0502020204030204"/>
              <a:cs typeface="Times New Roman"/>
            </a:endParaRPr>
          </a:p>
          <a:p>
            <a:endParaRPr lang="en-US" sz="1600">
              <a:solidFill>
                <a:srgbClr val="2D3550"/>
              </a:solidFill>
              <a:latin typeface="Times New Roman"/>
              <a:ea typeface="+mn-lt"/>
              <a:cs typeface="Times New Roman"/>
            </a:endParaRPr>
          </a:p>
          <a:p>
            <a:pPr>
              <a:buSzPct val="100000"/>
            </a:pPr>
            <a:r>
              <a:rPr lang="en-US" sz="1600">
                <a:solidFill>
                  <a:srgbClr val="2D3550"/>
                </a:solidFill>
                <a:latin typeface="Times New Roman"/>
                <a:ea typeface="+mn-lt"/>
                <a:cs typeface="Times New Roman"/>
              </a:rPr>
              <a:t>Evaluation metric:</a:t>
            </a:r>
            <a:endParaRPr lang="en-US" sz="1600">
              <a:latin typeface="Times New Roman"/>
              <a:ea typeface="+mn-lt"/>
              <a:cs typeface="Times New Roman"/>
            </a:endParaRPr>
          </a:p>
          <a:p>
            <a:pPr>
              <a:buSzPct val="100000"/>
            </a:pPr>
            <a:r>
              <a:rPr lang="en-US" sz="1600">
                <a:solidFill>
                  <a:srgbClr val="2D3550"/>
                </a:solidFill>
                <a:latin typeface="Times New Roman"/>
                <a:ea typeface="+mn-lt"/>
                <a:cs typeface="Times New Roman"/>
              </a:rPr>
              <a:t>Accuracy = Final answer correct ?</a:t>
            </a:r>
            <a:endParaRPr lang="en-US" sz="1600">
              <a:latin typeface="Times New Roman"/>
              <a:ea typeface="Calibri" panose="020F0502020204030204"/>
              <a:cs typeface="Times New Roman"/>
            </a:endParaRPr>
          </a:p>
        </p:txBody>
      </p:sp>
      <p:sp>
        <p:nvSpPr>
          <p:cNvPr id="10" name="Shape 8"/>
          <p:cNvSpPr/>
          <p:nvPr/>
        </p:nvSpPr>
        <p:spPr>
          <a:xfrm>
            <a:off x="656901" y="2746150"/>
            <a:ext cx="4125583" cy="1557499"/>
          </a:xfrm>
          <a:prstGeom prst="rect">
            <a:avLst/>
          </a:prstGeom>
          <a:solidFill>
            <a:srgbClr val="EEF2FA"/>
          </a:solidFill>
          <a:ln w="12700">
            <a:solidFill>
              <a:srgbClr val="2E5090"/>
            </a:solidFill>
            <a:prstDash val="solid"/>
          </a:ln>
          <a:effectLst>
            <a:outerShdw blurRad="50800" dist="25400" dir="8100000" algn="bl" rotWithShape="0">
              <a:srgbClr val="000000">
                <a:alpha val="8000"/>
              </a:srgbClr>
            </a:outerShdw>
          </a:effectLst>
        </p:spPr>
      </p:sp>
      <p:sp>
        <p:nvSpPr>
          <p:cNvPr id="11" name="Shape 9"/>
          <p:cNvSpPr/>
          <p:nvPr/>
        </p:nvSpPr>
        <p:spPr>
          <a:xfrm>
            <a:off x="656901" y="2746150"/>
            <a:ext cx="174426" cy="1557499"/>
          </a:xfrm>
          <a:prstGeom prst="rect">
            <a:avLst/>
          </a:prstGeom>
          <a:solidFill>
            <a:schemeClr val="accent1"/>
          </a:solidFill>
          <a:ln w="12700">
            <a:solidFill>
              <a:schemeClr val="accent1"/>
            </a:solidFill>
            <a:prstDash val="solid"/>
          </a:ln>
        </p:spPr>
      </p:sp>
      <p:sp>
        <p:nvSpPr>
          <p:cNvPr id="12" name="Text 10"/>
          <p:cNvSpPr/>
          <p:nvPr/>
        </p:nvSpPr>
        <p:spPr>
          <a:xfrm>
            <a:off x="834873" y="2744707"/>
            <a:ext cx="3956505" cy="1534438"/>
          </a:xfrm>
          <a:prstGeom prst="rect">
            <a:avLst/>
          </a:prstGeom>
          <a:noFill/>
          <a:ln/>
        </p:spPr>
        <p:txBody>
          <a:bodyPr wrap="square" lIns="91440" tIns="45720" rIns="91440" bIns="45720" rtlCol="0" anchor="ctr"/>
          <a:lstStyle/>
          <a:p>
            <a:r>
              <a:rPr lang="en-US" sz="1600">
                <a:solidFill>
                  <a:schemeClr val="accent1">
                    <a:lumMod val="49000"/>
                  </a:schemeClr>
                </a:solidFill>
                <a:latin typeface="Times New Roman"/>
                <a:cs typeface="Times New Roman"/>
              </a:rPr>
              <a:t>Two models, both with 70% accuracy.</a:t>
            </a:r>
          </a:p>
          <a:p>
            <a:r>
              <a:rPr lang="en-US" sz="1600">
                <a:solidFill>
                  <a:schemeClr val="accent1">
                    <a:lumMod val="49000"/>
                  </a:schemeClr>
                </a:solidFill>
                <a:latin typeface="Times New Roman"/>
                <a:cs typeface="Times New Roman"/>
              </a:rPr>
              <a:t>Both look identical.</a:t>
            </a:r>
          </a:p>
          <a:p>
            <a:endParaRPr lang="en-US" sz="1600">
              <a:solidFill>
                <a:schemeClr val="accent1">
                  <a:lumMod val="49000"/>
                </a:schemeClr>
              </a:solidFill>
              <a:latin typeface="Times New Roman"/>
              <a:ea typeface="Calibri" panose="020F0502020204030204"/>
              <a:cs typeface="Times New Roman"/>
            </a:endParaRPr>
          </a:p>
          <a:p>
            <a:r>
              <a:rPr lang="en-US" sz="1600">
                <a:solidFill>
                  <a:schemeClr val="accent1">
                    <a:lumMod val="49000"/>
                  </a:schemeClr>
                </a:solidFill>
                <a:latin typeface="Times New Roman"/>
                <a:ea typeface="Calibri" panose="020F0502020204030204"/>
                <a:cs typeface="Times New Roman"/>
              </a:rPr>
              <a:t>But Accuracy metrics is fundamentally blind to how the model reasoned</a:t>
            </a:r>
            <a:endParaRPr lang="en-US" sz="1600">
              <a:solidFill>
                <a:schemeClr val="accent1">
                  <a:lumMod val="49000"/>
                </a:schemeClr>
              </a:solidFill>
              <a:latin typeface="Times New Roman"/>
              <a:cs typeface="Times New Roman"/>
            </a:endParaRPr>
          </a:p>
        </p:txBody>
      </p:sp>
      <p:sp>
        <p:nvSpPr>
          <p:cNvPr id="13" name="Shape 11"/>
          <p:cNvSpPr/>
          <p:nvPr/>
        </p:nvSpPr>
        <p:spPr>
          <a:xfrm>
            <a:off x="5937180" y="2361383"/>
            <a:ext cx="2055129" cy="1019528"/>
          </a:xfrm>
          <a:prstGeom prst="rect">
            <a:avLst/>
          </a:prstGeom>
          <a:solidFill>
            <a:srgbClr val="EBF7EE"/>
          </a:solidFill>
          <a:ln w="12700">
            <a:solidFill>
              <a:srgbClr val="2D7D46"/>
            </a:solidFill>
            <a:prstDash val="solid"/>
          </a:ln>
          <a:effectLst>
            <a:outerShdw blurRad="50800" dist="25400" dir="8100000" algn="bl" rotWithShape="0">
              <a:srgbClr val="000000">
                <a:alpha val="8000"/>
              </a:srgbClr>
            </a:outerShdw>
          </a:effectLst>
        </p:spPr>
      </p:sp>
      <p:sp>
        <p:nvSpPr>
          <p:cNvPr id="14" name="Text 12"/>
          <p:cNvSpPr/>
          <p:nvPr/>
        </p:nvSpPr>
        <p:spPr>
          <a:xfrm>
            <a:off x="5915325" y="2337898"/>
            <a:ext cx="2056538" cy="1020935"/>
          </a:xfrm>
          <a:prstGeom prst="rect">
            <a:avLst/>
          </a:prstGeom>
          <a:noFill/>
          <a:ln/>
        </p:spPr>
        <p:txBody>
          <a:bodyPr wrap="square" lIns="91440" tIns="45720" rIns="91440" bIns="45720" rtlCol="0" anchor="ctr"/>
          <a:lstStyle/>
          <a:p>
            <a:pPr algn="ctr"/>
            <a:r>
              <a:rPr lang="en-US" sz="2000" b="1">
                <a:solidFill>
                  <a:srgbClr val="2D7D46"/>
                </a:solidFill>
              </a:rPr>
              <a:t>Model A   </a:t>
            </a:r>
            <a:endParaRPr lang="en-US" sz="2000" b="1">
              <a:solidFill>
                <a:srgbClr val="000000"/>
              </a:solidFill>
              <a:ea typeface="Calibri" panose="020F0502020204030204"/>
              <a:cs typeface="Calibri" panose="020F0502020204030204"/>
            </a:endParaRPr>
          </a:p>
          <a:p>
            <a:pPr algn="ctr"/>
            <a:r>
              <a:rPr lang="en-US" sz="2000" b="1">
                <a:solidFill>
                  <a:srgbClr val="2D7D46"/>
                </a:solidFill>
              </a:rPr>
              <a:t>70% Accuracy</a:t>
            </a:r>
            <a:endParaRPr lang="en-US" sz="2000" b="1">
              <a:ea typeface="Calibri"/>
              <a:cs typeface="Calibri"/>
            </a:endParaRPr>
          </a:p>
        </p:txBody>
      </p:sp>
      <p:sp>
        <p:nvSpPr>
          <p:cNvPr id="16" name="Shape 14"/>
          <p:cNvSpPr/>
          <p:nvPr/>
        </p:nvSpPr>
        <p:spPr>
          <a:xfrm>
            <a:off x="5915614" y="3582627"/>
            <a:ext cx="2055129" cy="1030310"/>
          </a:xfrm>
          <a:prstGeom prst="rect">
            <a:avLst/>
          </a:prstGeom>
          <a:solidFill>
            <a:srgbClr val="FBEAEA"/>
          </a:solidFill>
          <a:ln w="12700">
            <a:solidFill>
              <a:srgbClr val="C0392B"/>
            </a:solidFill>
            <a:prstDash val="solid"/>
          </a:ln>
          <a:effectLst>
            <a:outerShdw blurRad="50800" dist="25400" dir="8100000" algn="bl" rotWithShape="0">
              <a:srgbClr val="000000">
                <a:alpha val="8000"/>
              </a:srgbClr>
            </a:outerShdw>
          </a:effectLst>
        </p:spPr>
      </p:sp>
      <p:sp>
        <p:nvSpPr>
          <p:cNvPr id="17" name="Text 15"/>
          <p:cNvSpPr/>
          <p:nvPr/>
        </p:nvSpPr>
        <p:spPr>
          <a:xfrm>
            <a:off x="5915325" y="3601864"/>
            <a:ext cx="2056538" cy="1031718"/>
          </a:xfrm>
          <a:prstGeom prst="rect">
            <a:avLst/>
          </a:prstGeom>
          <a:noFill/>
          <a:ln/>
        </p:spPr>
        <p:txBody>
          <a:bodyPr wrap="square" lIns="91440" tIns="45720" rIns="91440" bIns="45720" rtlCol="0" anchor="ctr"/>
          <a:lstStyle/>
          <a:p>
            <a:pPr algn="ctr"/>
            <a:r>
              <a:rPr lang="en-US" sz="2000" b="1">
                <a:solidFill>
                  <a:srgbClr val="C0392B"/>
                </a:solidFill>
              </a:rPr>
              <a:t>Model B </a:t>
            </a:r>
            <a:endParaRPr lang="en-US" sz="2000">
              <a:solidFill>
                <a:srgbClr val="000000"/>
              </a:solidFill>
            </a:endParaRPr>
          </a:p>
          <a:p>
            <a:pPr algn="ctr"/>
            <a:r>
              <a:rPr lang="en-US" sz="2000" b="1">
                <a:solidFill>
                  <a:srgbClr val="C0392B"/>
                </a:solidFill>
              </a:rPr>
              <a:t>70% Accuracy</a:t>
            </a:r>
            <a:endParaRPr lang="en-US" sz="2000">
              <a:ea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3A6B"/>
          </a:solidFill>
          <a:ln w="12700">
            <a:solidFill>
              <a:srgbClr val="1B3A6B"/>
            </a:solidFill>
            <a:prstDash val="solid"/>
          </a:ln>
        </p:spPr>
      </p:sp>
      <p:sp>
        <p:nvSpPr>
          <p:cNvPr id="4" name="Text 2"/>
          <p:cNvSpPr/>
          <p:nvPr/>
        </p:nvSpPr>
        <p:spPr>
          <a:xfrm>
            <a:off x="292608" y="0"/>
            <a:ext cx="7132320" cy="658368"/>
          </a:xfrm>
          <a:prstGeom prst="rect">
            <a:avLst/>
          </a:prstGeom>
          <a:noFill/>
          <a:ln/>
        </p:spPr>
        <p:txBody>
          <a:bodyPr wrap="square" lIns="0" tIns="0" rIns="0" bIns="0" rtlCol="0" anchor="ctr"/>
          <a:lstStyle/>
          <a:p>
            <a:pPr marL="0" indent="0">
              <a:buNone/>
            </a:pPr>
            <a:r>
              <a:rPr lang="en-US" sz="2400" b="1">
                <a:solidFill>
                  <a:srgbClr val="FFFFFF"/>
                </a:solidFill>
                <a:latin typeface="Times New Roman"/>
                <a:ea typeface="Calibri"/>
                <a:cs typeface="Times New Roman"/>
              </a:rPr>
              <a:t>Why This Matters: Clinical Stakes &amp; Our Approach</a:t>
            </a:r>
            <a:endParaRPr lang="en-US" sz="2400">
              <a:latin typeface="Times New Roman"/>
              <a:ea typeface="Calibri"/>
              <a:cs typeface="Times New Roman"/>
            </a:endParaRPr>
          </a:p>
        </p:txBody>
      </p:sp>
      <p:sp>
        <p:nvSpPr>
          <p:cNvPr id="8" name="Shape 6"/>
          <p:cNvSpPr/>
          <p:nvPr/>
        </p:nvSpPr>
        <p:spPr>
          <a:xfrm>
            <a:off x="365760" y="871125"/>
            <a:ext cx="2468880" cy="1325880"/>
          </a:xfrm>
          <a:prstGeom prst="rect">
            <a:avLst/>
          </a:prstGeom>
          <a:solidFill>
            <a:srgbClr val="FFFFFF"/>
          </a:solidFill>
          <a:ln w="12700">
            <a:solidFill>
              <a:srgbClr val="1B3A6B"/>
            </a:solidFill>
            <a:prstDash val="solid"/>
          </a:ln>
          <a:effectLst>
            <a:outerShdw blurRad="63500" dist="25400" dir="8100000" algn="bl" rotWithShape="0">
              <a:srgbClr val="000000">
                <a:alpha val="10000"/>
              </a:srgbClr>
            </a:outerShdw>
          </a:effectLst>
        </p:spPr>
      </p:sp>
      <p:sp>
        <p:nvSpPr>
          <p:cNvPr id="9" name="Text 7"/>
          <p:cNvSpPr/>
          <p:nvPr/>
        </p:nvSpPr>
        <p:spPr>
          <a:xfrm>
            <a:off x="352470" y="1020671"/>
            <a:ext cx="2482170" cy="385910"/>
          </a:xfrm>
          <a:prstGeom prst="rect">
            <a:avLst/>
          </a:prstGeom>
          <a:noFill/>
          <a:ln/>
        </p:spPr>
        <p:txBody>
          <a:bodyPr wrap="square" lIns="91440" tIns="45720" rIns="91440" bIns="45720" rtlCol="0" anchor="ctr"/>
          <a:lstStyle/>
          <a:p>
            <a:pPr marL="0" indent="0" algn="ctr">
              <a:buNone/>
            </a:pPr>
            <a:r>
              <a:rPr lang="en-US" sz="3600" b="1">
                <a:solidFill>
                  <a:srgbClr val="1B3A6B"/>
                </a:solidFill>
                <a:latin typeface="Georgia"/>
                <a:cs typeface="Times New Roman"/>
              </a:rPr>
              <a:t>4,183</a:t>
            </a:r>
            <a:endParaRPr lang="en-US" sz="3600">
              <a:solidFill>
                <a:srgbClr val="000000"/>
              </a:solidFill>
              <a:latin typeface="Georgia"/>
              <a:cs typeface="Times New Roman"/>
            </a:endParaRPr>
          </a:p>
        </p:txBody>
      </p:sp>
      <p:sp>
        <p:nvSpPr>
          <p:cNvPr id="10" name="Text 8"/>
          <p:cNvSpPr/>
          <p:nvPr/>
        </p:nvSpPr>
        <p:spPr>
          <a:xfrm>
            <a:off x="365760" y="1547781"/>
            <a:ext cx="2468880" cy="548640"/>
          </a:xfrm>
          <a:prstGeom prst="rect">
            <a:avLst/>
          </a:prstGeom>
          <a:noFill/>
          <a:ln/>
        </p:spPr>
        <p:txBody>
          <a:bodyPr wrap="square" lIns="91440" tIns="45720" rIns="91440" bIns="45720" rtlCol="0" anchor="ctr"/>
          <a:lstStyle/>
          <a:p>
            <a:pPr marL="0" indent="0" algn="ctr">
              <a:buNone/>
            </a:pPr>
            <a:r>
              <a:rPr lang="en-US" sz="1400">
                <a:solidFill>
                  <a:srgbClr val="2D3550"/>
                </a:solidFill>
                <a:latin typeface="Times New Roman"/>
                <a:cs typeface="Times New Roman"/>
              </a:rPr>
              <a:t>Medical exam</a:t>
            </a:r>
            <a:endParaRPr lang="en-US" sz="1400">
              <a:latin typeface="Times New Roman"/>
              <a:cs typeface="Times New Roman"/>
            </a:endParaRPr>
          </a:p>
          <a:p>
            <a:pPr marL="0" indent="0" algn="ctr">
              <a:buNone/>
            </a:pPr>
            <a:r>
              <a:rPr lang="en-US" sz="1400">
                <a:solidFill>
                  <a:srgbClr val="2D3550"/>
                </a:solidFill>
                <a:latin typeface="Times New Roman"/>
                <a:cs typeface="Times New Roman"/>
              </a:rPr>
              <a:t>questions evaluated</a:t>
            </a:r>
            <a:endParaRPr lang="en-US" sz="1400">
              <a:latin typeface="Times New Roman"/>
              <a:cs typeface="Times New Roman"/>
            </a:endParaRPr>
          </a:p>
        </p:txBody>
      </p:sp>
      <p:sp>
        <p:nvSpPr>
          <p:cNvPr id="11" name="Shape 9"/>
          <p:cNvSpPr/>
          <p:nvPr/>
        </p:nvSpPr>
        <p:spPr>
          <a:xfrm>
            <a:off x="3200400" y="871125"/>
            <a:ext cx="2468880" cy="1325880"/>
          </a:xfrm>
          <a:prstGeom prst="rect">
            <a:avLst/>
          </a:prstGeom>
          <a:solidFill>
            <a:srgbClr val="FFFFFF"/>
          </a:solidFill>
          <a:ln w="12700">
            <a:solidFill>
              <a:srgbClr val="2E5090"/>
            </a:solidFill>
            <a:prstDash val="solid"/>
          </a:ln>
          <a:effectLst>
            <a:outerShdw blurRad="63500" dist="25400" dir="8100000" algn="bl" rotWithShape="0">
              <a:srgbClr val="000000">
                <a:alpha val="10000"/>
              </a:srgbClr>
            </a:outerShdw>
          </a:effectLst>
        </p:spPr>
      </p:sp>
      <p:sp>
        <p:nvSpPr>
          <p:cNvPr id="12" name="Text 10"/>
          <p:cNvSpPr/>
          <p:nvPr/>
        </p:nvSpPr>
        <p:spPr>
          <a:xfrm>
            <a:off x="3200400" y="1014025"/>
            <a:ext cx="2468880" cy="512172"/>
          </a:xfrm>
          <a:prstGeom prst="rect">
            <a:avLst/>
          </a:prstGeom>
          <a:noFill/>
          <a:ln/>
        </p:spPr>
        <p:txBody>
          <a:bodyPr wrap="square" lIns="91440" tIns="45720" rIns="91440" bIns="45720" rtlCol="0" anchor="ctr"/>
          <a:lstStyle/>
          <a:p>
            <a:pPr marL="0" indent="0" algn="ctr">
              <a:buNone/>
            </a:pPr>
            <a:r>
              <a:rPr lang="en-US" sz="3600" b="1">
                <a:solidFill>
                  <a:schemeClr val="accent1">
                    <a:lumMod val="49000"/>
                  </a:schemeClr>
                </a:solidFill>
                <a:latin typeface="Georgia"/>
                <a:ea typeface="Georgia" pitchFamily="34" charset="-122"/>
                <a:cs typeface="Georgia" pitchFamily="34" charset="-120"/>
              </a:rPr>
              <a:t>2</a:t>
            </a:r>
            <a:endParaRPr lang="en-US" sz="3600">
              <a:solidFill>
                <a:schemeClr val="accent1">
                  <a:lumMod val="49000"/>
                </a:schemeClr>
              </a:solidFill>
              <a:latin typeface="Georgia"/>
              <a:ea typeface="Calibri"/>
              <a:cs typeface="Calibri"/>
            </a:endParaRPr>
          </a:p>
        </p:txBody>
      </p:sp>
      <p:sp>
        <p:nvSpPr>
          <p:cNvPr id="13" name="Text 11"/>
          <p:cNvSpPr/>
          <p:nvPr/>
        </p:nvSpPr>
        <p:spPr>
          <a:xfrm>
            <a:off x="3200400" y="1534490"/>
            <a:ext cx="2468880" cy="548640"/>
          </a:xfrm>
          <a:prstGeom prst="rect">
            <a:avLst/>
          </a:prstGeom>
          <a:noFill/>
          <a:ln/>
        </p:spPr>
        <p:txBody>
          <a:bodyPr wrap="square" lIns="91440" tIns="45720" rIns="91440" bIns="45720" rtlCol="0" anchor="ctr"/>
          <a:lstStyle/>
          <a:p>
            <a:pPr marL="0" indent="0" algn="ctr">
              <a:buNone/>
            </a:pPr>
            <a:r>
              <a:rPr lang="en-US" sz="1400">
                <a:solidFill>
                  <a:srgbClr val="2D3550"/>
                </a:solidFill>
                <a:latin typeface="Times New Roman"/>
                <a:cs typeface="Times New Roman"/>
              </a:rPr>
              <a:t>Open-source LLMs</a:t>
            </a:r>
            <a:endParaRPr lang="en-US" sz="1400">
              <a:latin typeface="Times New Roman"/>
              <a:cs typeface="Times New Roman"/>
            </a:endParaRPr>
          </a:p>
          <a:p>
            <a:pPr marL="0" indent="0" algn="ctr">
              <a:buNone/>
            </a:pPr>
            <a:r>
              <a:rPr lang="en-US" sz="1400">
                <a:solidFill>
                  <a:srgbClr val="2D3550"/>
                </a:solidFill>
                <a:latin typeface="Times New Roman"/>
                <a:cs typeface="Times New Roman"/>
              </a:rPr>
              <a:t>tested</a:t>
            </a:r>
            <a:endParaRPr lang="en-US" sz="1400">
              <a:latin typeface="Times New Roman"/>
              <a:cs typeface="Times New Roman"/>
            </a:endParaRPr>
          </a:p>
        </p:txBody>
      </p:sp>
      <p:sp>
        <p:nvSpPr>
          <p:cNvPr id="14" name="Shape 12"/>
          <p:cNvSpPr/>
          <p:nvPr/>
        </p:nvSpPr>
        <p:spPr>
          <a:xfrm>
            <a:off x="6035040" y="871125"/>
            <a:ext cx="2468880" cy="1325880"/>
          </a:xfrm>
          <a:prstGeom prst="rect">
            <a:avLst/>
          </a:prstGeom>
          <a:solidFill>
            <a:srgbClr val="FFFFFF"/>
          </a:solidFill>
          <a:ln w="12700">
            <a:solidFill>
              <a:schemeClr val="accent1">
                <a:lumMod val="50000"/>
              </a:schemeClr>
            </a:solidFill>
            <a:prstDash val="solid"/>
          </a:ln>
          <a:effectLst>
            <a:outerShdw blurRad="63500" dist="25400" dir="8100000" algn="bl" rotWithShape="0">
              <a:srgbClr val="000000">
                <a:alpha val="10000"/>
              </a:srgbClr>
            </a:outerShdw>
          </a:effectLst>
        </p:spPr>
      </p:sp>
      <p:sp>
        <p:nvSpPr>
          <p:cNvPr id="15" name="Text 13"/>
          <p:cNvSpPr/>
          <p:nvPr/>
        </p:nvSpPr>
        <p:spPr>
          <a:xfrm>
            <a:off x="6035040" y="907701"/>
            <a:ext cx="2468880" cy="658368"/>
          </a:xfrm>
          <a:prstGeom prst="rect">
            <a:avLst/>
          </a:prstGeom>
          <a:noFill/>
          <a:ln/>
        </p:spPr>
        <p:txBody>
          <a:bodyPr wrap="square" lIns="91440" tIns="45720" rIns="91440" bIns="45720" rtlCol="0" anchor="ctr"/>
          <a:lstStyle/>
          <a:p>
            <a:pPr marL="0" indent="0" algn="ctr">
              <a:buNone/>
            </a:pPr>
            <a:r>
              <a:rPr lang="en-US" sz="3600" b="1">
                <a:solidFill>
                  <a:schemeClr val="accent1">
                    <a:lumMod val="49000"/>
                  </a:schemeClr>
                </a:solidFill>
                <a:latin typeface="Georgia"/>
                <a:ea typeface="Georgia" pitchFamily="34" charset="-122"/>
                <a:cs typeface="Georgia" pitchFamily="34" charset="-120"/>
              </a:rPr>
              <a:t>5</a:t>
            </a:r>
            <a:endParaRPr lang="en-US" sz="3600">
              <a:solidFill>
                <a:schemeClr val="accent1">
                  <a:lumMod val="49000"/>
                </a:schemeClr>
              </a:solidFill>
              <a:latin typeface="Georgia"/>
              <a:ea typeface="Calibri"/>
              <a:cs typeface="Calibri"/>
            </a:endParaRPr>
          </a:p>
        </p:txBody>
      </p:sp>
      <p:sp>
        <p:nvSpPr>
          <p:cNvPr id="16" name="Text 14"/>
          <p:cNvSpPr/>
          <p:nvPr/>
        </p:nvSpPr>
        <p:spPr>
          <a:xfrm>
            <a:off x="6035040" y="1547781"/>
            <a:ext cx="2468880" cy="548640"/>
          </a:xfrm>
          <a:prstGeom prst="rect">
            <a:avLst/>
          </a:prstGeom>
          <a:noFill/>
          <a:ln/>
        </p:spPr>
        <p:txBody>
          <a:bodyPr wrap="square" lIns="91440" tIns="45720" rIns="91440" bIns="45720" rtlCol="0" anchor="ctr"/>
          <a:lstStyle/>
          <a:p>
            <a:pPr algn="ctr"/>
            <a:r>
              <a:rPr lang="en-US" sz="1400">
                <a:solidFill>
                  <a:srgbClr val="2D3550"/>
                </a:solidFill>
                <a:latin typeface="Times New Roman"/>
                <a:cs typeface="Times New Roman"/>
              </a:rPr>
              <a:t>New survival-based</a:t>
            </a:r>
            <a:endParaRPr lang="en-US" sz="1400">
              <a:latin typeface="Times New Roman"/>
              <a:cs typeface="Times New Roman"/>
            </a:endParaRPr>
          </a:p>
          <a:p>
            <a:pPr algn="ctr"/>
            <a:r>
              <a:rPr lang="en-US" sz="1400">
                <a:solidFill>
                  <a:srgbClr val="2D3550"/>
                </a:solidFill>
                <a:latin typeface="Times New Roman"/>
                <a:cs typeface="Times New Roman"/>
              </a:rPr>
              <a:t>metrics proposed</a:t>
            </a:r>
            <a:endParaRPr lang="en-US" sz="1400">
              <a:latin typeface="Times New Roman"/>
              <a:cs typeface="Times New Roman"/>
            </a:endParaRPr>
          </a:p>
        </p:txBody>
      </p:sp>
      <p:sp>
        <p:nvSpPr>
          <p:cNvPr id="17" name="Shape 15"/>
          <p:cNvSpPr/>
          <p:nvPr/>
        </p:nvSpPr>
        <p:spPr>
          <a:xfrm>
            <a:off x="345825" y="2590037"/>
            <a:ext cx="8439062" cy="366557"/>
          </a:xfrm>
          <a:prstGeom prst="rect">
            <a:avLst/>
          </a:prstGeom>
          <a:solidFill>
            <a:srgbClr val="1B3A6B"/>
          </a:solidFill>
          <a:ln w="12700">
            <a:solidFill>
              <a:srgbClr val="1B3A6B"/>
            </a:solidFill>
            <a:prstDash val="solid"/>
          </a:ln>
        </p:spPr>
      </p:sp>
      <p:sp>
        <p:nvSpPr>
          <p:cNvPr id="18" name="Text 16"/>
          <p:cNvSpPr/>
          <p:nvPr/>
        </p:nvSpPr>
        <p:spPr>
          <a:xfrm>
            <a:off x="502920" y="2609974"/>
            <a:ext cx="8229600" cy="320040"/>
          </a:xfrm>
          <a:prstGeom prst="rect">
            <a:avLst/>
          </a:prstGeom>
          <a:noFill/>
          <a:ln/>
        </p:spPr>
        <p:txBody>
          <a:bodyPr wrap="square" lIns="0" tIns="0" rIns="0" bIns="0" rtlCol="0" anchor="ctr"/>
          <a:lstStyle/>
          <a:p>
            <a:pPr marL="0" indent="0">
              <a:buNone/>
            </a:pPr>
            <a:r>
              <a:rPr lang="en-US" sz="1600" b="1">
                <a:solidFill>
                  <a:srgbClr val="FFFFFF"/>
                </a:solidFill>
                <a:latin typeface="Times New Roman"/>
                <a:cs typeface="Times New Roman"/>
              </a:rPr>
              <a:t>Research Questions</a:t>
            </a:r>
            <a:endParaRPr lang="en-US" sz="1600">
              <a:latin typeface="Times New Roman"/>
              <a:cs typeface="Times New Roman"/>
            </a:endParaRPr>
          </a:p>
        </p:txBody>
      </p:sp>
      <p:sp>
        <p:nvSpPr>
          <p:cNvPr id="19" name="Shape 17"/>
          <p:cNvSpPr/>
          <p:nvPr/>
        </p:nvSpPr>
        <p:spPr>
          <a:xfrm>
            <a:off x="365760" y="2956595"/>
            <a:ext cx="8412480" cy="804672"/>
          </a:xfrm>
          <a:prstGeom prst="rect">
            <a:avLst/>
          </a:prstGeom>
          <a:solidFill>
            <a:srgbClr val="EEF2FA"/>
          </a:solidFill>
          <a:ln w="12700">
            <a:solidFill>
              <a:srgbClr val="E8ECF2"/>
            </a:solidFill>
            <a:prstDash val="solid"/>
          </a:ln>
          <a:effectLst>
            <a:outerShdw blurRad="38100" dist="12700" dir="8100000" algn="bl" rotWithShape="0">
              <a:srgbClr val="000000">
                <a:alpha val="7000"/>
              </a:srgbClr>
            </a:outerShdw>
          </a:effectLst>
        </p:spPr>
      </p:sp>
      <p:sp>
        <p:nvSpPr>
          <p:cNvPr id="20" name="Text 18"/>
          <p:cNvSpPr/>
          <p:nvPr/>
        </p:nvSpPr>
        <p:spPr>
          <a:xfrm>
            <a:off x="548640" y="3190883"/>
            <a:ext cx="8046720" cy="329184"/>
          </a:xfrm>
          <a:prstGeom prst="rect">
            <a:avLst/>
          </a:prstGeom>
          <a:noFill/>
          <a:ln/>
        </p:spPr>
        <p:txBody>
          <a:bodyPr wrap="square" lIns="91440" tIns="45720" rIns="91440" bIns="45720" rtlCol="0" anchor="ctr"/>
          <a:lstStyle/>
          <a:p>
            <a:r>
              <a:rPr lang="en-US" sz="1400" b="1">
                <a:solidFill>
                  <a:schemeClr val="accent1">
                    <a:lumMod val="49000"/>
                  </a:schemeClr>
                </a:solidFill>
                <a:latin typeface="Times New Roman"/>
                <a:cs typeface="Times New Roman"/>
              </a:rPr>
              <a:t>RQ1: </a:t>
            </a:r>
            <a:r>
              <a:rPr lang="en-US" sz="1400">
                <a:solidFill>
                  <a:schemeClr val="accent1">
                    <a:lumMod val="49000"/>
                  </a:schemeClr>
                </a:solidFill>
                <a:latin typeface="Times New Roman"/>
                <a:cs typeface="Times New Roman"/>
              </a:rPr>
              <a:t>Can LLMs perform meaningful elimination reasoning on medical MCQs, protecting the correct answer across sequential rounds beyond what chance predicts?</a:t>
            </a:r>
            <a:endParaRPr lang="en-US" sz="1400">
              <a:solidFill>
                <a:schemeClr val="accent1">
                  <a:lumMod val="49000"/>
                </a:schemeClr>
              </a:solidFill>
              <a:latin typeface="Times New Roman"/>
              <a:ea typeface="Calibri"/>
              <a:cs typeface="Times New Roman"/>
            </a:endParaRPr>
          </a:p>
        </p:txBody>
      </p:sp>
      <p:sp>
        <p:nvSpPr>
          <p:cNvPr id="21" name="Shape 19"/>
          <p:cNvSpPr/>
          <p:nvPr/>
        </p:nvSpPr>
        <p:spPr>
          <a:xfrm>
            <a:off x="365760" y="3814430"/>
            <a:ext cx="8412480" cy="804672"/>
          </a:xfrm>
          <a:prstGeom prst="rect">
            <a:avLst/>
          </a:prstGeom>
          <a:solidFill>
            <a:srgbClr val="EEF2FA"/>
          </a:solidFill>
          <a:ln w="12700">
            <a:solidFill>
              <a:srgbClr val="E8ECF2"/>
            </a:solidFill>
            <a:prstDash val="solid"/>
          </a:ln>
          <a:effectLst>
            <a:outerShdw blurRad="38100" dist="12700" dir="8100000" algn="bl" rotWithShape="0">
              <a:srgbClr val="000000">
                <a:alpha val="7000"/>
              </a:srgbClr>
            </a:outerShdw>
          </a:effectLst>
        </p:spPr>
      </p:sp>
      <p:sp>
        <p:nvSpPr>
          <p:cNvPr id="22" name="Text 20"/>
          <p:cNvSpPr/>
          <p:nvPr/>
        </p:nvSpPr>
        <p:spPr>
          <a:xfrm>
            <a:off x="515414" y="3975620"/>
            <a:ext cx="8079946" cy="475381"/>
          </a:xfrm>
          <a:prstGeom prst="rect">
            <a:avLst/>
          </a:prstGeom>
          <a:noFill/>
          <a:ln/>
        </p:spPr>
        <p:txBody>
          <a:bodyPr wrap="square" lIns="91440" tIns="45720" rIns="91440" bIns="45720" rtlCol="0" anchor="ctr"/>
          <a:lstStyle/>
          <a:p>
            <a:pPr marL="0" indent="0">
              <a:buNone/>
            </a:pPr>
            <a:r>
              <a:rPr lang="en-US" sz="1400" b="1">
                <a:solidFill>
                  <a:srgbClr val="1B3A6B"/>
                </a:solidFill>
                <a:latin typeface="Times New Roman"/>
                <a:cs typeface="Times New Roman"/>
              </a:rPr>
              <a:t>RQ2: </a:t>
            </a:r>
            <a:r>
              <a:rPr lang="en-US" sz="1400">
                <a:solidFill>
                  <a:srgbClr val="2D3550"/>
                </a:solidFill>
                <a:latin typeface="Times New Roman"/>
                <a:cs typeface="Times New Roman"/>
              </a:rPr>
              <a:t>Can survival-based metrics reveal reliability properties that final accuracy alone conceals, and what is the root cause of elimination failures?</a:t>
            </a:r>
            <a:endParaRPr lang="en-US" sz="1400">
              <a:latin typeface="Times New Roman"/>
              <a:cs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3A6B"/>
          </a:solidFill>
          <a:ln w="12700">
            <a:solidFill>
              <a:srgbClr val="1B3A6B"/>
            </a:solidFill>
            <a:prstDash val="solid"/>
          </a:ln>
        </p:spPr>
      </p:sp>
      <p:sp>
        <p:nvSpPr>
          <p:cNvPr id="4" name="Text 2"/>
          <p:cNvSpPr/>
          <p:nvPr/>
        </p:nvSpPr>
        <p:spPr>
          <a:xfrm>
            <a:off x="292608" y="0"/>
            <a:ext cx="7132320" cy="658368"/>
          </a:xfrm>
          <a:prstGeom prst="rect">
            <a:avLst/>
          </a:prstGeom>
          <a:noFill/>
          <a:ln/>
        </p:spPr>
        <p:txBody>
          <a:bodyPr wrap="square" lIns="0" tIns="0" rIns="0" bIns="0" rtlCol="0" anchor="ctr"/>
          <a:lstStyle/>
          <a:p>
            <a:pPr marL="0" indent="0">
              <a:buNone/>
            </a:pPr>
            <a:r>
              <a:rPr lang="en-US" sz="2400" b="1">
                <a:solidFill>
                  <a:srgbClr val="FFFFFF"/>
                </a:solidFill>
                <a:latin typeface="Times New Roman"/>
                <a:cs typeface="Times New Roman"/>
              </a:rPr>
              <a:t>Related Work: Three Themes and the Gap We Fill</a:t>
            </a:r>
            <a:endParaRPr lang="en-US" sz="2400">
              <a:latin typeface="Times New Roman"/>
              <a:ea typeface="Calibri"/>
              <a:cs typeface="Times New Roman"/>
            </a:endParaRPr>
          </a:p>
        </p:txBody>
      </p:sp>
      <p:sp>
        <p:nvSpPr>
          <p:cNvPr id="41" name="Shape 39"/>
          <p:cNvSpPr/>
          <p:nvPr/>
        </p:nvSpPr>
        <p:spPr>
          <a:xfrm>
            <a:off x="314191" y="3779396"/>
            <a:ext cx="8508970" cy="669852"/>
          </a:xfrm>
          <a:prstGeom prst="rect">
            <a:avLst/>
          </a:prstGeom>
          <a:solidFill>
            <a:srgbClr val="4472C4"/>
          </a:solidFill>
          <a:ln w="12700">
            <a:solidFill>
              <a:srgbClr val="1B3A6B"/>
            </a:solidFill>
            <a:prstDash val="solid"/>
          </a:ln>
        </p:spPr>
      </p:sp>
      <p:sp>
        <p:nvSpPr>
          <p:cNvPr id="43" name="Text 41"/>
          <p:cNvSpPr/>
          <p:nvPr/>
        </p:nvSpPr>
        <p:spPr>
          <a:xfrm>
            <a:off x="436467" y="3779398"/>
            <a:ext cx="8389086" cy="669849"/>
          </a:xfrm>
          <a:prstGeom prst="rect">
            <a:avLst/>
          </a:prstGeom>
          <a:noFill/>
          <a:ln/>
        </p:spPr>
        <p:txBody>
          <a:bodyPr wrap="square" lIns="0" tIns="0" rIns="0" bIns="0" rtlCol="0" anchor="ctr"/>
          <a:lstStyle/>
          <a:p>
            <a:r>
              <a:rPr lang="en-US" sz="1400" b="1">
                <a:solidFill>
                  <a:srgbClr val="FFFFFF"/>
                </a:solidFill>
                <a:latin typeface="Times New Roman"/>
                <a:ea typeface="Calibri"/>
                <a:cs typeface="Times New Roman"/>
              </a:rPr>
              <a:t>The Gap We Fill:</a:t>
            </a:r>
            <a:r>
              <a:rPr lang="en-US" sz="1400">
                <a:solidFill>
                  <a:srgbClr val="FFFFFF"/>
                </a:solidFill>
                <a:latin typeface="Times New Roman"/>
                <a:ea typeface="Calibri"/>
                <a:cs typeface="Times New Roman"/>
              </a:rPr>
              <a:t> No prior work applies elimination to </a:t>
            </a:r>
            <a:r>
              <a:rPr lang="en-US" sz="1400" err="1">
                <a:solidFill>
                  <a:srgbClr val="FFFFFF"/>
                </a:solidFill>
                <a:latin typeface="Times New Roman"/>
                <a:ea typeface="Calibri"/>
                <a:cs typeface="Times New Roman"/>
              </a:rPr>
              <a:t>MedMCQA</a:t>
            </a:r>
            <a:r>
              <a:rPr lang="en-US" sz="1400">
                <a:solidFill>
                  <a:srgbClr val="FFFFFF"/>
                </a:solidFill>
                <a:latin typeface="Times New Roman"/>
                <a:ea typeface="Calibri"/>
                <a:cs typeface="Times New Roman"/>
              </a:rPr>
              <a:t> data, measures round-by-round survival of the correct answer, or investigates why models </a:t>
            </a:r>
            <a:r>
              <a:rPr lang="en-US" sz="1400">
                <a:solidFill>
                  <a:srgbClr val="FFFFFF"/>
                </a:solidFill>
                <a:ea typeface="+mn-lt"/>
                <a:cs typeface="+mn-lt"/>
              </a:rPr>
              <a:t>fail to express reliable numerical confidence.</a:t>
            </a:r>
            <a:endParaRPr lang="en-US" sz="1400">
              <a:solidFill>
                <a:srgbClr val="000000"/>
              </a:solidFill>
              <a:ea typeface="+mn-lt"/>
              <a:cs typeface="+mn-lt"/>
            </a:endParaRPr>
          </a:p>
        </p:txBody>
      </p:sp>
      <p:graphicFrame>
        <p:nvGraphicFramePr>
          <p:cNvPr id="3" name="Table 2">
            <a:extLst>
              <a:ext uri="{FF2B5EF4-FFF2-40B4-BE49-F238E27FC236}">
                <a16:creationId xmlns:a16="http://schemas.microsoft.com/office/drawing/2014/main" id="{E9917E8E-F850-86EC-C850-7FCAC09BF10A}"/>
              </a:ext>
            </a:extLst>
          </p:cNvPr>
          <p:cNvGraphicFramePr>
            <a:graphicFrameLocks noGrp="1"/>
          </p:cNvGraphicFramePr>
          <p:nvPr>
            <p:extLst>
              <p:ext uri="{D42A27DB-BD31-4B8C-83A1-F6EECF244321}">
                <p14:modId xmlns:p14="http://schemas.microsoft.com/office/powerpoint/2010/main" val="1951375478"/>
              </p:ext>
            </p:extLst>
          </p:nvPr>
        </p:nvGraphicFramePr>
        <p:xfrm>
          <a:off x="263952" y="1001480"/>
          <a:ext cx="8733484" cy="2270760"/>
        </p:xfrm>
        <a:graphic>
          <a:graphicData uri="http://schemas.openxmlformats.org/drawingml/2006/table">
            <a:tbl>
              <a:tblPr firstRow="1" bandRow="1">
                <a:tableStyleId>{5C22544A-7EE6-4342-B048-85BDC9FD1C3A}</a:tableStyleId>
              </a:tblPr>
              <a:tblGrid>
                <a:gridCol w="2354418">
                  <a:extLst>
                    <a:ext uri="{9D8B030D-6E8A-4147-A177-3AD203B41FA5}">
                      <a16:colId xmlns:a16="http://schemas.microsoft.com/office/drawing/2014/main" val="3491284296"/>
                    </a:ext>
                  </a:extLst>
                </a:gridCol>
                <a:gridCol w="4074956">
                  <a:extLst>
                    <a:ext uri="{9D8B030D-6E8A-4147-A177-3AD203B41FA5}">
                      <a16:colId xmlns:a16="http://schemas.microsoft.com/office/drawing/2014/main" val="1458278557"/>
                    </a:ext>
                  </a:extLst>
                </a:gridCol>
                <a:gridCol w="2304110">
                  <a:extLst>
                    <a:ext uri="{9D8B030D-6E8A-4147-A177-3AD203B41FA5}">
                      <a16:colId xmlns:a16="http://schemas.microsoft.com/office/drawing/2014/main" val="3044928206"/>
                    </a:ext>
                  </a:extLst>
                </a:gridCol>
              </a:tblGrid>
              <a:tr h="370840">
                <a:tc>
                  <a:txBody>
                    <a:bodyPr/>
                    <a:lstStyle/>
                    <a:p>
                      <a:pPr lvl="0">
                        <a:buNone/>
                      </a:pPr>
                      <a:r>
                        <a:rPr lang="en-US" sz="1600" b="1" i="0" u="none" strike="noStrike" noProof="0">
                          <a:solidFill>
                            <a:schemeClr val="bg1"/>
                          </a:solidFill>
                          <a:latin typeface="Times New Roman"/>
                          <a:ea typeface="Calibri"/>
                          <a:cs typeface="Times New Roman"/>
                        </a:rPr>
                        <a:t>Theme</a:t>
                      </a:r>
                      <a:endParaRPr lang="en-US" sz="1600" b="1">
                        <a:solidFill>
                          <a:schemeClr val="bg1"/>
                        </a:solidFill>
                        <a:latin typeface="Times New Roman"/>
                        <a:cs typeface="Times New Roman"/>
                      </a:endParaRPr>
                    </a:p>
                  </a:txBody>
                  <a:tcPr/>
                </a:tc>
                <a:tc>
                  <a:txBody>
                    <a:bodyPr/>
                    <a:lstStyle/>
                    <a:p>
                      <a:pPr lvl="0">
                        <a:buNone/>
                      </a:pPr>
                      <a:r>
                        <a:rPr lang="en-US" sz="1600" b="1" i="0" u="none" strike="noStrike" noProof="0">
                          <a:solidFill>
                            <a:schemeClr val="bg1"/>
                          </a:solidFill>
                          <a:latin typeface="Times New Roman"/>
                          <a:ea typeface="Calibri"/>
                          <a:cs typeface="Times New Roman"/>
                        </a:rPr>
                        <a:t>What prior work does</a:t>
                      </a:r>
                      <a:endParaRPr lang="en-US" sz="1600" b="1">
                        <a:solidFill>
                          <a:schemeClr val="bg1"/>
                        </a:solidFill>
                        <a:latin typeface="Times New Roman"/>
                        <a:cs typeface="Times New Roman"/>
                      </a:endParaRPr>
                    </a:p>
                  </a:txBody>
                  <a:tcPr/>
                </a:tc>
                <a:tc>
                  <a:txBody>
                    <a:bodyPr/>
                    <a:lstStyle/>
                    <a:p>
                      <a:pPr lvl="0">
                        <a:buNone/>
                      </a:pPr>
                      <a:r>
                        <a:rPr lang="en-US" sz="1600" b="1" i="0" u="none" strike="noStrike" noProof="0">
                          <a:solidFill>
                            <a:schemeClr val="bg1"/>
                          </a:solidFill>
                          <a:latin typeface="Times New Roman"/>
                          <a:ea typeface="Calibri"/>
                          <a:cs typeface="Times New Roman"/>
                        </a:rPr>
                        <a:t>Limitation</a:t>
                      </a:r>
                      <a:endParaRPr lang="en-US" sz="1600" b="1">
                        <a:solidFill>
                          <a:schemeClr val="bg1"/>
                        </a:solidFill>
                        <a:latin typeface="Times New Roman"/>
                        <a:cs typeface="Times New Roman"/>
                      </a:endParaRPr>
                    </a:p>
                  </a:txBody>
                  <a:tcPr/>
                </a:tc>
                <a:extLst>
                  <a:ext uri="{0D108BD9-81ED-4DB2-BD59-A6C34878D82A}">
                    <a16:rowId xmlns:a16="http://schemas.microsoft.com/office/drawing/2014/main" val="3294504682"/>
                  </a:ext>
                </a:extLst>
              </a:tr>
              <a:tr h="370840">
                <a:tc>
                  <a:txBody>
                    <a:bodyPr/>
                    <a:lstStyle/>
                    <a:p>
                      <a:pPr lvl="0">
                        <a:buNone/>
                      </a:pPr>
                      <a:r>
                        <a:rPr lang="en-US" sz="1600" b="0" i="0" u="none" strike="noStrike" noProof="0">
                          <a:latin typeface="Times New Roman"/>
                          <a:ea typeface="Calibri"/>
                          <a:cs typeface="Times New Roman"/>
                        </a:rPr>
                        <a:t>Medical MCQA</a:t>
                      </a:r>
                      <a:endParaRPr lang="en-US" sz="1600">
                        <a:latin typeface="Times New Roman"/>
                        <a:cs typeface="Times New Roman"/>
                      </a:endParaRPr>
                    </a:p>
                  </a:txBody>
                  <a:tcPr/>
                </a:tc>
                <a:tc>
                  <a:txBody>
                    <a:bodyPr/>
                    <a:lstStyle/>
                    <a:p>
                      <a:pPr lvl="0">
                        <a:buNone/>
                      </a:pPr>
                      <a:r>
                        <a:rPr lang="en-US" sz="1600" b="0" i="0" u="none" strike="noStrike" noProof="0">
                          <a:latin typeface="Times New Roman"/>
                          <a:ea typeface="Calibri"/>
                          <a:cs typeface="Times New Roman"/>
                        </a:rPr>
                        <a:t>Evaluates medical knowledge</a:t>
                      </a:r>
                      <a:r>
                        <a:rPr lang="en-US" sz="1600" b="0" i="0" u="none" strike="noStrike" noProof="0"/>
                        <a:t>(Pal et al., 2022)</a:t>
                      </a:r>
                      <a:endParaRPr lang="en-US" sz="1600">
                        <a:latin typeface="Times New Roman"/>
                        <a:cs typeface="Times New Roman"/>
                      </a:endParaRPr>
                    </a:p>
                  </a:txBody>
                  <a:tcPr/>
                </a:tc>
                <a:tc>
                  <a:txBody>
                    <a:bodyPr/>
                    <a:lstStyle/>
                    <a:p>
                      <a:pPr lvl="0">
                        <a:buNone/>
                      </a:pPr>
                      <a:r>
                        <a:rPr lang="en-US" sz="1600" b="0" i="0" u="none" strike="noStrike" noProof="0">
                          <a:latin typeface="Times New Roman"/>
                          <a:ea typeface="Calibri"/>
                          <a:cs typeface="Times New Roman"/>
                        </a:rPr>
                        <a:t>Focus mostly accuracy-only</a:t>
                      </a:r>
                      <a:endParaRPr lang="en-US" sz="1600">
                        <a:latin typeface="Times New Roman"/>
                        <a:cs typeface="Times New Roman"/>
                      </a:endParaRPr>
                    </a:p>
                  </a:txBody>
                  <a:tcPr/>
                </a:tc>
                <a:extLst>
                  <a:ext uri="{0D108BD9-81ED-4DB2-BD59-A6C34878D82A}">
                    <a16:rowId xmlns:a16="http://schemas.microsoft.com/office/drawing/2014/main" val="248069079"/>
                  </a:ext>
                </a:extLst>
              </a:tr>
              <a:tr h="370840">
                <a:tc>
                  <a:txBody>
                    <a:bodyPr/>
                    <a:lstStyle/>
                    <a:p>
                      <a:pPr lvl="0">
                        <a:buNone/>
                      </a:pPr>
                      <a:r>
                        <a:rPr lang="en-US" sz="1600" b="0" i="0" u="none" strike="noStrike" noProof="0">
                          <a:latin typeface="Times New Roman"/>
                          <a:ea typeface="Calibri"/>
                          <a:cs typeface="Times New Roman"/>
                        </a:rPr>
                        <a:t>Prompting/</a:t>
                      </a:r>
                      <a:r>
                        <a:rPr lang="en-US" sz="1600" b="0" i="0" u="none" strike="noStrike" noProof="0" err="1">
                          <a:latin typeface="Times New Roman"/>
                          <a:ea typeface="Calibri"/>
                          <a:cs typeface="Times New Roman"/>
                        </a:rPr>
                        <a:t>CoT</a:t>
                      </a:r>
                      <a:endParaRPr lang="en-US" sz="1600">
                        <a:latin typeface="Times New Roman"/>
                        <a:cs typeface="Times New Roman"/>
                      </a:endParaRPr>
                    </a:p>
                  </a:txBody>
                  <a:tcPr/>
                </a:tc>
                <a:tc>
                  <a:txBody>
                    <a:bodyPr/>
                    <a:lstStyle/>
                    <a:p>
                      <a:pPr lvl="0">
                        <a:buNone/>
                      </a:pPr>
                      <a:r>
                        <a:rPr lang="en-US" sz="1600" b="0" i="0" u="none" strike="noStrike" noProof="0">
                          <a:latin typeface="Times New Roman"/>
                          <a:ea typeface="Calibri"/>
                          <a:cs typeface="Times New Roman"/>
                        </a:rPr>
                        <a:t>Improves reasoning</a:t>
                      </a:r>
                      <a:r>
                        <a:rPr lang="en-US" sz="1600" b="0" i="0" u="none" strike="noStrike" noProof="0"/>
                        <a:t>(Wei et al., 2022)</a:t>
                      </a:r>
                      <a:endParaRPr lang="en-US" sz="1600">
                        <a:latin typeface="Times New Roman"/>
                        <a:cs typeface="Times New Roman"/>
                      </a:endParaRPr>
                    </a:p>
                  </a:txBody>
                  <a:tcPr/>
                </a:tc>
                <a:tc>
                  <a:txBody>
                    <a:bodyPr/>
                    <a:lstStyle/>
                    <a:p>
                      <a:pPr lvl="0">
                        <a:buNone/>
                      </a:pPr>
                      <a:r>
                        <a:rPr lang="en-US" sz="1600" b="0" i="0" u="none" strike="noStrike" noProof="0">
                          <a:latin typeface="Times New Roman"/>
                          <a:ea typeface="Calibri"/>
                          <a:cs typeface="Times New Roman"/>
                        </a:rPr>
                        <a:t>No elimination trajectory</a:t>
                      </a:r>
                      <a:endParaRPr lang="en-US" sz="1600">
                        <a:latin typeface="Times New Roman"/>
                        <a:cs typeface="Times New Roman"/>
                      </a:endParaRPr>
                    </a:p>
                  </a:txBody>
                  <a:tcPr/>
                </a:tc>
                <a:extLst>
                  <a:ext uri="{0D108BD9-81ED-4DB2-BD59-A6C34878D82A}">
                    <a16:rowId xmlns:a16="http://schemas.microsoft.com/office/drawing/2014/main" val="12668030"/>
                  </a:ext>
                </a:extLst>
              </a:tr>
              <a:tr h="370840">
                <a:tc>
                  <a:txBody>
                    <a:bodyPr/>
                    <a:lstStyle/>
                    <a:p>
                      <a:pPr lvl="0">
                        <a:buNone/>
                      </a:pPr>
                      <a:r>
                        <a:rPr lang="en-US" sz="1600" b="0" i="0" u="none" strike="noStrike" noProof="0">
                          <a:latin typeface="Times New Roman"/>
                          <a:ea typeface="Calibri"/>
                          <a:cs typeface="Times New Roman"/>
                        </a:rPr>
                        <a:t>Elimination methods/PoE</a:t>
                      </a:r>
                      <a:endParaRPr lang="en-US" sz="1600">
                        <a:latin typeface="Times New Roman"/>
                        <a:cs typeface="Times New Roman"/>
                      </a:endParaRPr>
                    </a:p>
                  </a:txBody>
                  <a:tcPr/>
                </a:tc>
                <a:tc>
                  <a:txBody>
                    <a:bodyPr/>
                    <a:lstStyle/>
                    <a:p>
                      <a:pPr lvl="0">
                        <a:buNone/>
                      </a:pPr>
                      <a:r>
                        <a:rPr lang="en-US" sz="1600" b="0" i="0" u="none" strike="noStrike" noProof="0">
                          <a:latin typeface="Times New Roman"/>
                          <a:ea typeface="Calibri"/>
                          <a:cs typeface="Times New Roman"/>
                        </a:rPr>
                        <a:t>Removes options iteratively</a:t>
                      </a:r>
                      <a:r>
                        <a:rPr lang="en-US" sz="1600" b="0" i="0" u="none" strike="noStrike" noProof="0"/>
                        <a:t>(Ma &amp; Du, 2023)</a:t>
                      </a:r>
                      <a:endParaRPr lang="en-US" sz="1600">
                        <a:latin typeface="Times New Roman"/>
                        <a:cs typeface="Times New Roman"/>
                      </a:endParaRPr>
                    </a:p>
                  </a:txBody>
                  <a:tcPr/>
                </a:tc>
                <a:tc>
                  <a:txBody>
                    <a:bodyPr/>
                    <a:lstStyle/>
                    <a:p>
                      <a:pPr lvl="0">
                        <a:buNone/>
                      </a:pPr>
                      <a:r>
                        <a:rPr lang="en-US" sz="1600" b="0" i="0" u="none" strike="noStrike" noProof="0">
                          <a:latin typeface="Times New Roman"/>
                          <a:ea typeface="Calibri"/>
                          <a:cs typeface="Times New Roman"/>
                        </a:rPr>
                        <a:t>No survival analysis</a:t>
                      </a:r>
                      <a:endParaRPr lang="en-US" sz="1600">
                        <a:latin typeface="Times New Roman"/>
                        <a:cs typeface="Times New Roman"/>
                      </a:endParaRPr>
                    </a:p>
                  </a:txBody>
                  <a:tcPr/>
                </a:tc>
                <a:extLst>
                  <a:ext uri="{0D108BD9-81ED-4DB2-BD59-A6C34878D82A}">
                    <a16:rowId xmlns:a16="http://schemas.microsoft.com/office/drawing/2014/main" val="4177834776"/>
                  </a:ext>
                </a:extLst>
              </a:tr>
              <a:tr h="370840">
                <a:tc>
                  <a:txBody>
                    <a:bodyPr/>
                    <a:lstStyle/>
                    <a:p>
                      <a:pPr lvl="0">
                        <a:buNone/>
                      </a:pPr>
                      <a:r>
                        <a:rPr lang="en-US" sz="1600" b="0" i="0" u="none" strike="noStrike" noProof="0">
                          <a:latin typeface="Times New Roman"/>
                          <a:ea typeface="Calibri"/>
                          <a:cs typeface="Times New Roman"/>
                        </a:rPr>
                        <a:t>Calibration</a:t>
                      </a:r>
                      <a:endParaRPr lang="en-US" sz="1600">
                        <a:latin typeface="Times New Roman"/>
                        <a:cs typeface="Times New Roman"/>
                      </a:endParaRPr>
                    </a:p>
                  </a:txBody>
                  <a:tcPr/>
                </a:tc>
                <a:tc>
                  <a:txBody>
                    <a:bodyPr/>
                    <a:lstStyle/>
                    <a:p>
                      <a:pPr lvl="0">
                        <a:buNone/>
                      </a:pPr>
                      <a:r>
                        <a:rPr lang="en-US" sz="1600" b="0" i="0" u="none" strike="noStrike" noProof="0">
                          <a:latin typeface="Times New Roman"/>
                          <a:ea typeface="Calibri"/>
                          <a:cs typeface="Times New Roman"/>
                        </a:rPr>
                        <a:t>Studies confidence reliability</a:t>
                      </a:r>
                      <a:r>
                        <a:rPr lang="en-US" sz="1600" b="0" i="0" u="none" strike="noStrike" noProof="0"/>
                        <a:t>(Tian et al., 2023)</a:t>
                      </a:r>
                      <a:endParaRPr lang="en-US" sz="1600">
                        <a:latin typeface="Times New Roman"/>
                        <a:cs typeface="Times New Roman"/>
                      </a:endParaRPr>
                    </a:p>
                  </a:txBody>
                  <a:tcPr/>
                </a:tc>
                <a:tc>
                  <a:txBody>
                    <a:bodyPr/>
                    <a:lstStyle/>
                    <a:p>
                      <a:pPr lvl="0">
                        <a:buNone/>
                      </a:pPr>
                      <a:r>
                        <a:rPr lang="en-US" sz="1600" b="0" i="0" u="none" strike="noStrike" noProof="0">
                          <a:latin typeface="Times New Roman"/>
                          <a:ea typeface="Calibri"/>
                          <a:cs typeface="Times New Roman"/>
                        </a:rPr>
                        <a:t>No sequential elimination view</a:t>
                      </a:r>
                      <a:endParaRPr lang="en-US" sz="1600">
                        <a:latin typeface="Times New Roman"/>
                        <a:cs typeface="Times New Roman"/>
                      </a:endParaRPr>
                    </a:p>
                  </a:txBody>
                  <a:tcPr/>
                </a:tc>
                <a:extLst>
                  <a:ext uri="{0D108BD9-81ED-4DB2-BD59-A6C34878D82A}">
                    <a16:rowId xmlns:a16="http://schemas.microsoft.com/office/drawing/2014/main" val="2695619540"/>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Rounded Corners 12">
            <a:extLst>
              <a:ext uri="{FF2B5EF4-FFF2-40B4-BE49-F238E27FC236}">
                <a16:creationId xmlns:a16="http://schemas.microsoft.com/office/drawing/2014/main" id="{647BF78E-0D9B-9E65-0DEB-55B8896C19E2}"/>
              </a:ext>
            </a:extLst>
          </p:cNvPr>
          <p:cNvSpPr/>
          <p:nvPr/>
        </p:nvSpPr>
        <p:spPr>
          <a:xfrm>
            <a:off x="2122235" y="3699346"/>
            <a:ext cx="3963875" cy="102174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5A25C468-24ED-7FF1-6201-DF1942BDA7ED}"/>
              </a:ext>
            </a:extLst>
          </p:cNvPr>
          <p:cNvSpPr/>
          <p:nvPr/>
        </p:nvSpPr>
        <p:spPr>
          <a:xfrm>
            <a:off x="2122236" y="2388837"/>
            <a:ext cx="3963875" cy="102174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265A31C0-72F6-968F-98B8-2C175D151A89}"/>
              </a:ext>
            </a:extLst>
          </p:cNvPr>
          <p:cNvSpPr/>
          <p:nvPr/>
        </p:nvSpPr>
        <p:spPr>
          <a:xfrm>
            <a:off x="2122236" y="1127596"/>
            <a:ext cx="3963875" cy="102174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magnifying glass and a funnel&#10;&#10;AI-generated content may be incorrect.">
            <a:extLst>
              <a:ext uri="{FF2B5EF4-FFF2-40B4-BE49-F238E27FC236}">
                <a16:creationId xmlns:a16="http://schemas.microsoft.com/office/drawing/2014/main" id="{12BE0DFE-E375-5BF5-08EC-46941DB45F6D}"/>
              </a:ext>
            </a:extLst>
          </p:cNvPr>
          <p:cNvPicPr>
            <a:picLocks noChangeAspect="1"/>
          </p:cNvPicPr>
          <p:nvPr/>
        </p:nvPicPr>
        <p:blipFill>
          <a:blip r:embed="rId3"/>
          <a:stretch>
            <a:fillRect/>
          </a:stretch>
        </p:blipFill>
        <p:spPr>
          <a:xfrm>
            <a:off x="926916" y="1127826"/>
            <a:ext cx="1076769" cy="960696"/>
          </a:xfrm>
          <a:prstGeom prst="rect">
            <a:avLst/>
          </a:prstGeom>
          <a:ln>
            <a:solidFill>
              <a:schemeClr val="tx1"/>
            </a:solidFill>
          </a:ln>
        </p:spPr>
      </p:pic>
      <p:sp>
        <p:nvSpPr>
          <p:cNvPr id="3" name="TextBox 2">
            <a:extLst>
              <a:ext uri="{FF2B5EF4-FFF2-40B4-BE49-F238E27FC236}">
                <a16:creationId xmlns:a16="http://schemas.microsoft.com/office/drawing/2014/main" id="{FF8B5F83-2FF4-D7B0-705E-CA4035D595E5}"/>
              </a:ext>
            </a:extLst>
          </p:cNvPr>
          <p:cNvSpPr txBox="1"/>
          <p:nvPr/>
        </p:nvSpPr>
        <p:spPr>
          <a:xfrm>
            <a:off x="2126339" y="1233618"/>
            <a:ext cx="6159546"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Times New Roman"/>
                <a:ea typeface="Calibri"/>
                <a:cs typeface="Times New Roman"/>
              </a:rPr>
              <a:t>Contribution 1</a:t>
            </a:r>
          </a:p>
          <a:p>
            <a:r>
              <a:rPr lang="en-US">
                <a:latin typeface="Times New Roman"/>
                <a:ea typeface="Calibri"/>
                <a:cs typeface="Times New Roman"/>
              </a:rPr>
              <a:t>Survival-Based Evaluation Framework</a:t>
            </a:r>
          </a:p>
          <a:p>
            <a:endParaRPr lang="en-US">
              <a:latin typeface="Times New Roman"/>
              <a:ea typeface="Calibri"/>
              <a:cs typeface="Times New Roman"/>
            </a:endParaRPr>
          </a:p>
          <a:p>
            <a:endParaRPr lang="en-US">
              <a:latin typeface="Times New Roman"/>
              <a:ea typeface="Calibri"/>
              <a:cs typeface="Times New Roman"/>
            </a:endParaRPr>
          </a:p>
          <a:p>
            <a:endParaRPr lang="en-US">
              <a:latin typeface="Times New Roman"/>
              <a:ea typeface="Calibri"/>
              <a:cs typeface="Times New Roman"/>
            </a:endParaRPr>
          </a:p>
          <a:p>
            <a:r>
              <a:rPr lang="en-US">
                <a:latin typeface="Times New Roman"/>
                <a:ea typeface="Calibri"/>
                <a:cs typeface="Times New Roman"/>
              </a:rPr>
              <a:t>Contribution 2 </a:t>
            </a:r>
          </a:p>
          <a:p>
            <a:r>
              <a:rPr lang="en-US">
                <a:latin typeface="Times New Roman"/>
                <a:ea typeface="Calibri"/>
                <a:cs typeface="Times New Roman"/>
              </a:rPr>
              <a:t>Confidence-Guided Elimination, or CGE</a:t>
            </a:r>
          </a:p>
          <a:p>
            <a:endParaRPr lang="en-US">
              <a:latin typeface="Times New Roman"/>
              <a:ea typeface="Calibri"/>
              <a:cs typeface="Times New Roman"/>
            </a:endParaRPr>
          </a:p>
          <a:p>
            <a:endParaRPr lang="en-US">
              <a:latin typeface="Times New Roman"/>
              <a:ea typeface="Calibri"/>
              <a:cs typeface="Times New Roman"/>
            </a:endParaRPr>
          </a:p>
          <a:p>
            <a:endParaRPr lang="en-US">
              <a:latin typeface="Times New Roman"/>
              <a:ea typeface="Calibri"/>
              <a:cs typeface="Times New Roman"/>
            </a:endParaRPr>
          </a:p>
          <a:p>
            <a:r>
              <a:rPr lang="en-US">
                <a:latin typeface="Times New Roman"/>
                <a:ea typeface="Calibri"/>
                <a:cs typeface="Times New Roman"/>
              </a:rPr>
              <a:t>Contribution 3 </a:t>
            </a:r>
          </a:p>
          <a:p>
            <a:r>
              <a:rPr lang="en-US">
                <a:latin typeface="Times New Roman"/>
                <a:ea typeface="Calibri"/>
                <a:cs typeface="Times New Roman"/>
              </a:rPr>
              <a:t>Verbalization Gap</a:t>
            </a:r>
          </a:p>
        </p:txBody>
      </p:sp>
      <p:pic>
        <p:nvPicPr>
          <p:cNvPr id="4" name="Picture 3" descr="A black and white line drawing of gears and a arrow&#10;&#10;AI-generated content may be incorrect.">
            <a:extLst>
              <a:ext uri="{FF2B5EF4-FFF2-40B4-BE49-F238E27FC236}">
                <a16:creationId xmlns:a16="http://schemas.microsoft.com/office/drawing/2014/main" id="{93232717-9371-1778-BC03-C400C5996DB2}"/>
              </a:ext>
            </a:extLst>
          </p:cNvPr>
          <p:cNvPicPr>
            <a:picLocks noChangeAspect="1"/>
          </p:cNvPicPr>
          <p:nvPr/>
        </p:nvPicPr>
        <p:blipFill>
          <a:blip r:embed="rId4"/>
          <a:stretch>
            <a:fillRect/>
          </a:stretch>
        </p:blipFill>
        <p:spPr>
          <a:xfrm>
            <a:off x="925699" y="2416802"/>
            <a:ext cx="1072557" cy="961140"/>
          </a:xfrm>
          <a:prstGeom prst="rect">
            <a:avLst/>
          </a:prstGeom>
          <a:ln>
            <a:solidFill>
              <a:schemeClr val="tx1"/>
            </a:solidFill>
          </a:ln>
        </p:spPr>
      </p:pic>
      <p:pic>
        <p:nvPicPr>
          <p:cNvPr id="5" name="Picture 4">
            <a:extLst>
              <a:ext uri="{FF2B5EF4-FFF2-40B4-BE49-F238E27FC236}">
                <a16:creationId xmlns:a16="http://schemas.microsoft.com/office/drawing/2014/main" id="{AB1CA84F-ADD7-3677-EE94-782027139BB3}"/>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23703" y="3764680"/>
            <a:ext cx="1076549" cy="950790"/>
          </a:xfrm>
          <a:prstGeom prst="rect">
            <a:avLst/>
          </a:prstGeom>
          <a:ln>
            <a:solidFill>
              <a:schemeClr val="tx1"/>
            </a:solidFill>
          </a:ln>
        </p:spPr>
      </p:pic>
      <p:sp>
        <p:nvSpPr>
          <p:cNvPr id="8" name="Shape 0">
            <a:extLst>
              <a:ext uri="{FF2B5EF4-FFF2-40B4-BE49-F238E27FC236}">
                <a16:creationId xmlns:a16="http://schemas.microsoft.com/office/drawing/2014/main" id="{12D7870F-0138-883D-9F1C-A2B5DCF23A78}"/>
              </a:ext>
            </a:extLst>
          </p:cNvPr>
          <p:cNvSpPr/>
          <p:nvPr/>
        </p:nvSpPr>
        <p:spPr>
          <a:xfrm>
            <a:off x="0" y="0"/>
            <a:ext cx="9144000" cy="658368"/>
          </a:xfrm>
          <a:prstGeom prst="rect">
            <a:avLst/>
          </a:prstGeom>
          <a:solidFill>
            <a:srgbClr val="1B3A6B"/>
          </a:solidFill>
          <a:ln w="12700">
            <a:solidFill>
              <a:srgbClr val="1B3A6B"/>
            </a:solidFill>
            <a:prstDash val="solid"/>
          </a:ln>
        </p:spPr>
      </p:sp>
      <p:sp>
        <p:nvSpPr>
          <p:cNvPr id="6" name="TextBox 5">
            <a:extLst>
              <a:ext uri="{FF2B5EF4-FFF2-40B4-BE49-F238E27FC236}">
                <a16:creationId xmlns:a16="http://schemas.microsoft.com/office/drawing/2014/main" id="{64E7CA61-6DC5-1220-FCAE-72BCD5D840B2}"/>
              </a:ext>
            </a:extLst>
          </p:cNvPr>
          <p:cNvSpPr txBox="1"/>
          <p:nvPr/>
        </p:nvSpPr>
        <p:spPr>
          <a:xfrm>
            <a:off x="513518" y="93505"/>
            <a:ext cx="7421607"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solidFill>
                  <a:schemeClr val="bg1"/>
                </a:solidFill>
                <a:latin typeface="Times New Roman"/>
                <a:cs typeface="Times New Roman"/>
              </a:rPr>
              <a:t>Contribution/Novel Work</a:t>
            </a:r>
            <a:endParaRPr lang="en-US" sz="2400">
              <a:solidFill>
                <a:schemeClr val="bg1"/>
              </a:solidFill>
              <a:latin typeface="Times New Roman"/>
              <a:ea typeface="Calibri"/>
              <a:cs typeface="Times New Roman"/>
            </a:endParaRPr>
          </a:p>
        </p:txBody>
      </p:sp>
    </p:spTree>
    <p:extLst>
      <p:ext uri="{BB962C8B-B14F-4D97-AF65-F5344CB8AC3E}">
        <p14:creationId xmlns:p14="http://schemas.microsoft.com/office/powerpoint/2010/main" val="27931143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7F8FC"/>
        </a:solidFill>
        <a:effectLst/>
      </p:bgPr>
    </p:bg>
    <p:spTree>
      <p:nvGrpSpPr>
        <p:cNvPr id="1" name=""/>
        <p:cNvGrpSpPr/>
        <p:nvPr/>
      </p:nvGrpSpPr>
      <p:grpSpPr>
        <a:xfrm>
          <a:off x="0" y="0"/>
          <a:ext cx="0" cy="0"/>
          <a:chOff x="0" y="0"/>
          <a:chExt cx="0" cy="0"/>
        </a:xfrm>
      </p:grpSpPr>
      <p:sp>
        <p:nvSpPr>
          <p:cNvPr id="2" name="Shape 0"/>
          <p:cNvSpPr/>
          <p:nvPr/>
        </p:nvSpPr>
        <p:spPr>
          <a:xfrm>
            <a:off x="0" y="0"/>
            <a:ext cx="9117419" cy="658368"/>
          </a:xfrm>
          <a:prstGeom prst="rect">
            <a:avLst/>
          </a:prstGeom>
          <a:solidFill>
            <a:srgbClr val="1B3A6B"/>
          </a:solidFill>
          <a:ln w="12700">
            <a:solidFill>
              <a:srgbClr val="1B3A6B"/>
            </a:solidFill>
            <a:prstDash val="solid"/>
          </a:ln>
        </p:spPr>
      </p:sp>
      <p:sp>
        <p:nvSpPr>
          <p:cNvPr id="4" name="Text 2"/>
          <p:cNvSpPr/>
          <p:nvPr/>
        </p:nvSpPr>
        <p:spPr>
          <a:xfrm>
            <a:off x="292608" y="0"/>
            <a:ext cx="7132320" cy="658368"/>
          </a:xfrm>
          <a:prstGeom prst="rect">
            <a:avLst/>
          </a:prstGeom>
          <a:noFill/>
          <a:ln/>
        </p:spPr>
        <p:txBody>
          <a:bodyPr wrap="square" lIns="0" tIns="0" rIns="0" bIns="0" rtlCol="0" anchor="ctr"/>
          <a:lstStyle/>
          <a:p>
            <a:pPr marL="0" indent="0">
              <a:buNone/>
            </a:pPr>
            <a:r>
              <a:rPr lang="en-US" sz="2400" b="1">
                <a:solidFill>
                  <a:srgbClr val="FFFFFF"/>
                </a:solidFill>
                <a:latin typeface="Times New Roman"/>
                <a:cs typeface="Times New Roman"/>
              </a:rPr>
              <a:t>Methodology: Dataset, Task &amp; Models</a:t>
            </a:r>
            <a:endParaRPr lang="en-US" sz="2400">
              <a:latin typeface="Times New Roman"/>
              <a:cs typeface="Times New Roman"/>
            </a:endParaRPr>
          </a:p>
        </p:txBody>
      </p:sp>
      <p:sp>
        <p:nvSpPr>
          <p:cNvPr id="8" name="Shape 6"/>
          <p:cNvSpPr/>
          <p:nvPr/>
        </p:nvSpPr>
        <p:spPr>
          <a:xfrm>
            <a:off x="313395" y="817963"/>
            <a:ext cx="4213682" cy="2360960"/>
          </a:xfrm>
          <a:prstGeom prst="rect">
            <a:avLst/>
          </a:prstGeom>
          <a:solidFill>
            <a:srgbClr val="FFFFFF"/>
          </a:solidFill>
          <a:ln w="12700">
            <a:solidFill>
              <a:srgbClr val="E8ECF2"/>
            </a:solidFill>
            <a:prstDash val="solid"/>
          </a:ln>
          <a:effectLst>
            <a:outerShdw blurRad="63500" dist="25400" dir="8100000" algn="bl" rotWithShape="0">
              <a:srgbClr val="000000">
                <a:alpha val="9000"/>
              </a:srgbClr>
            </a:outerShdw>
          </a:effectLst>
        </p:spPr>
      </p:sp>
      <p:sp>
        <p:nvSpPr>
          <p:cNvPr id="9" name="Shape 7"/>
          <p:cNvSpPr/>
          <p:nvPr/>
        </p:nvSpPr>
        <p:spPr>
          <a:xfrm>
            <a:off x="313395" y="824608"/>
            <a:ext cx="4220327" cy="347472"/>
          </a:xfrm>
          <a:prstGeom prst="rect">
            <a:avLst/>
          </a:prstGeom>
          <a:solidFill>
            <a:srgbClr val="1B3A6B"/>
          </a:solidFill>
          <a:ln w="12700">
            <a:solidFill>
              <a:srgbClr val="1B3A6B"/>
            </a:solidFill>
            <a:prstDash val="solid"/>
          </a:ln>
        </p:spPr>
      </p:sp>
      <p:sp>
        <p:nvSpPr>
          <p:cNvPr id="10" name="Text 8"/>
          <p:cNvSpPr/>
          <p:nvPr/>
        </p:nvSpPr>
        <p:spPr>
          <a:xfrm>
            <a:off x="411480" y="824608"/>
            <a:ext cx="3977640" cy="347472"/>
          </a:xfrm>
          <a:prstGeom prst="rect">
            <a:avLst/>
          </a:prstGeom>
          <a:noFill/>
          <a:ln/>
        </p:spPr>
        <p:txBody>
          <a:bodyPr wrap="square" lIns="0" tIns="0" rIns="0" bIns="0" rtlCol="0" anchor="ctr"/>
          <a:lstStyle/>
          <a:p>
            <a:pPr marL="0" indent="0">
              <a:buNone/>
            </a:pPr>
            <a:r>
              <a:rPr lang="en-US" sz="1600" b="1">
                <a:solidFill>
                  <a:srgbClr val="FFFFFF"/>
                </a:solidFill>
              </a:rPr>
              <a:t>Dataset: MedMCQA  (Pal et al., 2022)</a:t>
            </a:r>
            <a:endParaRPr lang="en-US" sz="1600">
              <a:ea typeface="Calibri"/>
              <a:cs typeface="Calibri"/>
            </a:endParaRPr>
          </a:p>
        </p:txBody>
      </p:sp>
      <p:sp>
        <p:nvSpPr>
          <p:cNvPr id="12" name="Text 10"/>
          <p:cNvSpPr/>
          <p:nvPr/>
        </p:nvSpPr>
        <p:spPr>
          <a:xfrm>
            <a:off x="320305" y="1328270"/>
            <a:ext cx="4209163" cy="1869260"/>
          </a:xfrm>
          <a:prstGeom prst="rect">
            <a:avLst/>
          </a:prstGeom>
          <a:noFill/>
          <a:ln/>
        </p:spPr>
        <p:txBody>
          <a:bodyPr wrap="square" lIns="91440" tIns="45720" rIns="91440" bIns="45720" rtlCol="0" anchor="ctr"/>
          <a:lstStyle/>
          <a:p>
            <a:pPr marL="171450" indent="-171450">
              <a:buFont typeface="Wingdings"/>
              <a:buChar char="§"/>
            </a:pPr>
            <a:r>
              <a:rPr lang="en-US" sz="1400">
                <a:solidFill>
                  <a:srgbClr val="2D3550"/>
                </a:solidFill>
                <a:latin typeface="Times New Roman"/>
                <a:cs typeface="Times New Roman"/>
              </a:rPr>
              <a:t>Indian medical entrance exams (AIIMS PG, INICET)</a:t>
            </a:r>
            <a:endParaRPr lang="en-US" sz="1400">
              <a:latin typeface="Times New Roman"/>
              <a:cs typeface="Times New Roman"/>
            </a:endParaRPr>
          </a:p>
          <a:p>
            <a:pPr marL="171450" indent="-171450">
              <a:buFont typeface="Wingdings"/>
              <a:buChar char="§"/>
            </a:pPr>
            <a:endParaRPr lang="en-US" sz="1400">
              <a:solidFill>
                <a:srgbClr val="2D3550"/>
              </a:solidFill>
              <a:latin typeface="Times New Roman"/>
              <a:ea typeface="Calibri"/>
              <a:cs typeface="Times New Roman"/>
            </a:endParaRPr>
          </a:p>
          <a:p>
            <a:pPr marL="171450" indent="-171450">
              <a:buFont typeface="Wingdings"/>
              <a:buChar char="§"/>
            </a:pPr>
            <a:r>
              <a:rPr lang="en-US" sz="1400">
                <a:solidFill>
                  <a:srgbClr val="2D3550"/>
                </a:solidFill>
                <a:latin typeface="Times New Roman"/>
                <a:ea typeface="Calibri"/>
                <a:cs typeface="Times New Roman"/>
              </a:rPr>
              <a:t>21 clinical subjects (anatomy, pharmacology, surgery...)</a:t>
            </a:r>
            <a:endParaRPr lang="en-US" sz="1400">
              <a:solidFill>
                <a:srgbClr val="000000"/>
              </a:solidFill>
              <a:latin typeface="Times New Roman"/>
              <a:ea typeface="Calibri"/>
              <a:cs typeface="Times New Roman"/>
            </a:endParaRPr>
          </a:p>
          <a:p>
            <a:pPr marL="171450" indent="-171450">
              <a:buFont typeface="Wingdings"/>
              <a:buChar char="§"/>
            </a:pPr>
            <a:endParaRPr lang="en-US" sz="1400">
              <a:solidFill>
                <a:srgbClr val="2D3550"/>
              </a:solidFill>
              <a:latin typeface="Times New Roman"/>
              <a:ea typeface="Calibri"/>
              <a:cs typeface="Times New Roman"/>
            </a:endParaRPr>
          </a:p>
          <a:p>
            <a:pPr marL="171450" indent="-171450">
              <a:buFont typeface="Wingdings"/>
              <a:buChar char="§"/>
            </a:pPr>
            <a:r>
              <a:rPr lang="en-US" sz="1400">
                <a:solidFill>
                  <a:srgbClr val="2D3550"/>
                </a:solidFill>
                <a:latin typeface="Times New Roman"/>
                <a:ea typeface="Calibri"/>
                <a:cs typeface="Times New Roman"/>
              </a:rPr>
              <a:t>4 options MCQ format</a:t>
            </a:r>
            <a:endParaRPr lang="en-US" sz="1400">
              <a:solidFill>
                <a:srgbClr val="000000"/>
              </a:solidFill>
              <a:latin typeface="Times New Roman"/>
              <a:ea typeface="Calibri"/>
              <a:cs typeface="Times New Roman"/>
            </a:endParaRPr>
          </a:p>
          <a:p>
            <a:pPr marL="171450" indent="-171450">
              <a:buFont typeface="Wingdings"/>
              <a:buChar char="§"/>
            </a:pPr>
            <a:endParaRPr lang="en-US" sz="1400">
              <a:solidFill>
                <a:srgbClr val="2D3550"/>
              </a:solidFill>
              <a:latin typeface="Times New Roman"/>
              <a:ea typeface="Calibri"/>
              <a:cs typeface="Times New Roman"/>
            </a:endParaRPr>
          </a:p>
          <a:p>
            <a:pPr marL="171450" indent="-171450">
              <a:buFont typeface="Wingdings"/>
              <a:buChar char="§"/>
            </a:pPr>
            <a:r>
              <a:rPr lang="en-US" sz="1400">
                <a:solidFill>
                  <a:srgbClr val="2D3550"/>
                </a:solidFill>
                <a:latin typeface="Times New Roman"/>
                <a:ea typeface="Calibri"/>
                <a:cs typeface="Times New Roman"/>
              </a:rPr>
              <a:t>4,183 validation questions evaluated (SEED=42)</a:t>
            </a:r>
            <a:endParaRPr lang="en-US" sz="1400">
              <a:solidFill>
                <a:srgbClr val="000000"/>
              </a:solidFill>
              <a:latin typeface="Times New Roman"/>
              <a:ea typeface="Calibri"/>
              <a:cs typeface="Times New Roman"/>
            </a:endParaRPr>
          </a:p>
          <a:p>
            <a:pPr marL="171450" indent="-171450">
              <a:buFont typeface="Wingdings"/>
              <a:buChar char="§"/>
            </a:pPr>
            <a:endParaRPr lang="en-US" sz="1400">
              <a:solidFill>
                <a:srgbClr val="2D3550"/>
              </a:solidFill>
              <a:latin typeface="Times New Roman"/>
              <a:ea typeface="Calibri"/>
              <a:cs typeface="Times New Roman"/>
            </a:endParaRPr>
          </a:p>
        </p:txBody>
      </p:sp>
      <p:sp>
        <p:nvSpPr>
          <p:cNvPr id="21" name="Shape 19"/>
          <p:cNvSpPr/>
          <p:nvPr/>
        </p:nvSpPr>
        <p:spPr>
          <a:xfrm>
            <a:off x="4827978" y="817962"/>
            <a:ext cx="4082370" cy="3198272"/>
          </a:xfrm>
          <a:prstGeom prst="rect">
            <a:avLst/>
          </a:prstGeom>
          <a:solidFill>
            <a:srgbClr val="FFFFFF"/>
          </a:solidFill>
          <a:ln w="12700">
            <a:solidFill>
              <a:srgbClr val="E8ECF2"/>
            </a:solidFill>
            <a:prstDash val="solid"/>
          </a:ln>
          <a:effectLst>
            <a:outerShdw blurRad="63500" dist="25400" dir="8100000" algn="bl" rotWithShape="0">
              <a:srgbClr val="000000">
                <a:alpha val="9000"/>
              </a:srgbClr>
            </a:outerShdw>
          </a:effectLst>
        </p:spPr>
      </p:sp>
      <p:sp>
        <p:nvSpPr>
          <p:cNvPr id="22" name="Shape 20"/>
          <p:cNvSpPr/>
          <p:nvPr/>
        </p:nvSpPr>
        <p:spPr>
          <a:xfrm>
            <a:off x="4834624" y="804672"/>
            <a:ext cx="4069080" cy="347472"/>
          </a:xfrm>
          <a:prstGeom prst="rect">
            <a:avLst/>
          </a:prstGeom>
          <a:solidFill>
            <a:srgbClr val="2E5090"/>
          </a:solidFill>
          <a:ln w="12700">
            <a:solidFill>
              <a:srgbClr val="2E5090"/>
            </a:solidFill>
            <a:prstDash val="solid"/>
          </a:ln>
        </p:spPr>
      </p:sp>
      <p:sp>
        <p:nvSpPr>
          <p:cNvPr id="23" name="Text 21"/>
          <p:cNvSpPr/>
          <p:nvPr/>
        </p:nvSpPr>
        <p:spPr>
          <a:xfrm>
            <a:off x="4939354" y="817963"/>
            <a:ext cx="3839683" cy="347472"/>
          </a:xfrm>
          <a:prstGeom prst="rect">
            <a:avLst/>
          </a:prstGeom>
          <a:noFill/>
          <a:ln/>
        </p:spPr>
        <p:txBody>
          <a:bodyPr wrap="square" lIns="0" tIns="0" rIns="0" bIns="0" rtlCol="0" anchor="ctr"/>
          <a:lstStyle/>
          <a:p>
            <a:pPr marL="0" indent="0">
              <a:buNone/>
            </a:pPr>
            <a:r>
              <a:rPr lang="en-US" sz="1600" b="1">
                <a:solidFill>
                  <a:srgbClr val="FFFFFF"/>
                </a:solidFill>
              </a:rPr>
              <a:t>Model Selection</a:t>
            </a:r>
            <a:endParaRPr lang="en-US" sz="1600">
              <a:ea typeface="Calibri"/>
              <a:cs typeface="Calibri"/>
            </a:endParaRPr>
          </a:p>
        </p:txBody>
      </p:sp>
      <p:sp>
        <p:nvSpPr>
          <p:cNvPr id="24" name="Shape 22"/>
          <p:cNvSpPr/>
          <p:nvPr/>
        </p:nvSpPr>
        <p:spPr>
          <a:xfrm>
            <a:off x="4924416" y="1243582"/>
            <a:ext cx="3840480" cy="1291590"/>
          </a:xfrm>
          <a:prstGeom prst="rect">
            <a:avLst/>
          </a:prstGeom>
          <a:solidFill>
            <a:srgbClr val="EEF2FA"/>
          </a:solidFill>
          <a:ln w="12700">
            <a:solidFill>
              <a:srgbClr val="E8ECF2"/>
            </a:solidFill>
            <a:prstDash val="solid"/>
          </a:ln>
        </p:spPr>
      </p:sp>
      <p:sp>
        <p:nvSpPr>
          <p:cNvPr id="25" name="Text 23"/>
          <p:cNvSpPr/>
          <p:nvPr/>
        </p:nvSpPr>
        <p:spPr>
          <a:xfrm>
            <a:off x="5069018" y="1242786"/>
            <a:ext cx="3657600" cy="274320"/>
          </a:xfrm>
          <a:prstGeom prst="rect">
            <a:avLst/>
          </a:prstGeom>
          <a:noFill/>
          <a:ln/>
        </p:spPr>
        <p:txBody>
          <a:bodyPr wrap="square" lIns="91440" tIns="45720" rIns="91440" bIns="45720" rtlCol="0" anchor="ctr"/>
          <a:lstStyle/>
          <a:p>
            <a:pPr marL="0" indent="0">
              <a:buNone/>
            </a:pPr>
            <a:r>
              <a:rPr lang="en-US" sz="1400" b="1">
                <a:solidFill>
                  <a:srgbClr val="1B3A6B"/>
                </a:solidFill>
              </a:rPr>
              <a:t>Qwen2.5-7B-Instruct</a:t>
            </a:r>
            <a:endParaRPr lang="en-US" sz="1400">
              <a:ea typeface="Calibri"/>
              <a:cs typeface="Calibri"/>
            </a:endParaRPr>
          </a:p>
        </p:txBody>
      </p:sp>
      <p:sp>
        <p:nvSpPr>
          <p:cNvPr id="26" name="Text 24"/>
          <p:cNvSpPr/>
          <p:nvPr/>
        </p:nvSpPr>
        <p:spPr>
          <a:xfrm>
            <a:off x="4909531" y="1473088"/>
            <a:ext cx="3876896" cy="1172505"/>
          </a:xfrm>
          <a:prstGeom prst="rect">
            <a:avLst/>
          </a:prstGeom>
          <a:noFill/>
          <a:ln/>
        </p:spPr>
        <p:txBody>
          <a:bodyPr wrap="square" lIns="91440" tIns="45720" rIns="91440" bIns="45720" rtlCol="0" anchor="ctr"/>
          <a:lstStyle/>
          <a:p>
            <a:pPr marL="171450" indent="-171450">
              <a:buFont typeface="Wingdings"/>
              <a:buChar char="§"/>
            </a:pPr>
            <a:r>
              <a:rPr lang="en-US" sz="1200">
                <a:solidFill>
                  <a:srgbClr val="2D3550"/>
                </a:solidFill>
                <a:latin typeface="Times New Roman"/>
                <a:ea typeface="+mn-lt"/>
                <a:cs typeface="Times New Roman"/>
              </a:rPr>
              <a:t>Strong structured output compliance → critical for parsing 0 - 10 scores every round</a:t>
            </a:r>
            <a:endParaRPr lang="en-US">
              <a:latin typeface="Times New Roman"/>
              <a:ea typeface="Calibri" panose="020F0502020204030204"/>
              <a:cs typeface="Times New Roman"/>
            </a:endParaRPr>
          </a:p>
          <a:p>
            <a:pPr marL="171450" indent="-171450">
              <a:buFont typeface="Wingdings"/>
              <a:buChar char="§"/>
            </a:pPr>
            <a:r>
              <a:rPr lang="en-US" sz="1200">
                <a:solidFill>
                  <a:srgbClr val="2D3550"/>
                </a:solidFill>
                <a:latin typeface="Times New Roman"/>
                <a:ea typeface="+mn-lt"/>
                <a:cs typeface="Times New Roman"/>
              </a:rPr>
              <a:t>Competitive medical knowledge at 7B scale</a:t>
            </a:r>
            <a:endParaRPr lang="en-US">
              <a:latin typeface="Times New Roman"/>
              <a:ea typeface="Calibri" panose="020F0502020204030204"/>
              <a:cs typeface="Times New Roman"/>
            </a:endParaRPr>
          </a:p>
          <a:p>
            <a:pPr marL="171450" indent="-171450">
              <a:buFont typeface="Wingdings"/>
              <a:buChar char="§"/>
            </a:pPr>
            <a:r>
              <a:rPr lang="en-US" sz="1200">
                <a:solidFill>
                  <a:srgbClr val="2D3550"/>
                </a:solidFill>
                <a:latin typeface="Times New Roman"/>
                <a:ea typeface="+mn-lt"/>
                <a:cs typeface="Times New Roman"/>
              </a:rPr>
              <a:t>Fits within A100 40GB VRAM → reproducible without multi-GPU</a:t>
            </a:r>
            <a:endParaRPr lang="en-US">
              <a:latin typeface="Times New Roman"/>
              <a:ea typeface="Calibri" panose="020F0502020204030204"/>
              <a:cs typeface="Times New Roman"/>
            </a:endParaRPr>
          </a:p>
          <a:p>
            <a:pPr marL="0" indent="0">
              <a:buNone/>
            </a:pPr>
            <a:endParaRPr lang="en-US" sz="1200">
              <a:solidFill>
                <a:srgbClr val="2D3550"/>
              </a:solidFill>
              <a:latin typeface="Times New Roman"/>
              <a:ea typeface="Calibri"/>
              <a:cs typeface="Times New Roman"/>
            </a:endParaRPr>
          </a:p>
        </p:txBody>
      </p:sp>
      <p:sp>
        <p:nvSpPr>
          <p:cNvPr id="27" name="Shape 25"/>
          <p:cNvSpPr/>
          <p:nvPr/>
        </p:nvSpPr>
        <p:spPr>
          <a:xfrm>
            <a:off x="4931062" y="2644052"/>
            <a:ext cx="3860415" cy="1213440"/>
          </a:xfrm>
          <a:prstGeom prst="rect">
            <a:avLst/>
          </a:prstGeom>
          <a:solidFill>
            <a:srgbClr val="EEF2FA"/>
          </a:solidFill>
          <a:ln w="12700">
            <a:solidFill>
              <a:srgbClr val="E8ECF2"/>
            </a:solidFill>
            <a:prstDash val="solid"/>
          </a:ln>
        </p:spPr>
      </p:sp>
      <p:sp>
        <p:nvSpPr>
          <p:cNvPr id="28" name="Text 26"/>
          <p:cNvSpPr/>
          <p:nvPr/>
        </p:nvSpPr>
        <p:spPr>
          <a:xfrm>
            <a:off x="5088956" y="2643253"/>
            <a:ext cx="3657600" cy="274320"/>
          </a:xfrm>
          <a:prstGeom prst="rect">
            <a:avLst/>
          </a:prstGeom>
          <a:noFill/>
          <a:ln/>
        </p:spPr>
        <p:txBody>
          <a:bodyPr wrap="square" lIns="91440" tIns="45720" rIns="91440" bIns="45720" rtlCol="0" anchor="ctr"/>
          <a:lstStyle/>
          <a:p>
            <a:pPr marL="0" indent="0">
              <a:buNone/>
            </a:pPr>
            <a:r>
              <a:rPr lang="en-US" sz="1400" b="1">
                <a:solidFill>
                  <a:srgbClr val="2E5090"/>
                </a:solidFill>
              </a:rPr>
              <a:t>LLaMA-3.1-8B-Instruct</a:t>
            </a:r>
            <a:endParaRPr lang="en-US" sz="1400">
              <a:ea typeface="Calibri"/>
              <a:cs typeface="Calibri"/>
            </a:endParaRPr>
          </a:p>
        </p:txBody>
      </p:sp>
      <p:sp>
        <p:nvSpPr>
          <p:cNvPr id="29" name="Text 27"/>
          <p:cNvSpPr/>
          <p:nvPr/>
        </p:nvSpPr>
        <p:spPr>
          <a:xfrm>
            <a:off x="4929466" y="2751442"/>
            <a:ext cx="3856960" cy="1433267"/>
          </a:xfrm>
          <a:prstGeom prst="rect">
            <a:avLst/>
          </a:prstGeom>
          <a:noFill/>
          <a:ln/>
        </p:spPr>
        <p:txBody>
          <a:bodyPr wrap="square" lIns="91440" tIns="45720" rIns="91440" bIns="45720" rtlCol="0" anchor="ctr"/>
          <a:lstStyle/>
          <a:p>
            <a:pPr marL="171450" indent="-171450">
              <a:buFont typeface="Wingdings"/>
              <a:buChar char="§"/>
            </a:pPr>
            <a:r>
              <a:rPr lang="en-US" sz="1200">
                <a:solidFill>
                  <a:srgbClr val="2D3550"/>
                </a:solidFill>
                <a:ea typeface="+mn-lt"/>
                <a:cs typeface="+mn-lt"/>
              </a:rPr>
              <a:t>Most widely adopted open-source LLM family in NLP research</a:t>
            </a:r>
            <a:endParaRPr lang="en-US">
              <a:ea typeface="Calibri" panose="020F0502020204030204"/>
              <a:cs typeface="Calibri" panose="020F0502020204030204"/>
            </a:endParaRPr>
          </a:p>
          <a:p>
            <a:pPr marL="171450" indent="-171450">
              <a:buFont typeface="Wingdings"/>
              <a:buChar char="§"/>
            </a:pPr>
            <a:r>
              <a:rPr lang="en-US" sz="1200">
                <a:solidFill>
                  <a:srgbClr val="2D3550"/>
                </a:solidFill>
                <a:ea typeface="+mn-lt"/>
                <a:cs typeface="+mn-lt"/>
              </a:rPr>
              <a:t>Strong baseline → results directly comparable to existing literature</a:t>
            </a:r>
            <a:endParaRPr lang="en-US">
              <a:ea typeface="Calibri" panose="020F0502020204030204"/>
              <a:cs typeface="Calibri" panose="020F0502020204030204"/>
            </a:endParaRPr>
          </a:p>
          <a:p>
            <a:pPr marL="171450" indent="-171450">
              <a:buFont typeface="Wingdings"/>
              <a:buChar char="§"/>
            </a:pPr>
            <a:r>
              <a:rPr lang="en-US" sz="1200">
                <a:solidFill>
                  <a:srgbClr val="2D3550"/>
                </a:solidFill>
                <a:ea typeface="+mn-lt"/>
                <a:cs typeface="+mn-lt"/>
              </a:rPr>
              <a:t>Fits within A100 40GB VRAM → same compute budget</a:t>
            </a:r>
            <a:endParaRPr lang="en-US">
              <a:ea typeface="Calibri" panose="020F0502020204030204"/>
              <a:cs typeface="Calibri" panose="020F0502020204030204"/>
            </a:endParaRPr>
          </a:p>
          <a:p>
            <a:endParaRPr lang="en-US" sz="1200">
              <a:solidFill>
                <a:srgbClr val="2D3550"/>
              </a:solidFill>
              <a:ea typeface="Calibri"/>
              <a:cs typeface="Calibri"/>
            </a:endParaRPr>
          </a:p>
        </p:txBody>
      </p:sp>
      <p:sp>
        <p:nvSpPr>
          <p:cNvPr id="30" name="Shape 28"/>
          <p:cNvSpPr/>
          <p:nvPr/>
        </p:nvSpPr>
        <p:spPr>
          <a:xfrm>
            <a:off x="306750" y="3399973"/>
            <a:ext cx="4337286" cy="1540923"/>
          </a:xfrm>
          <a:prstGeom prst="rect">
            <a:avLst/>
          </a:prstGeom>
          <a:solidFill>
            <a:srgbClr val="FDF6E3"/>
          </a:solidFill>
          <a:ln w="12700">
            <a:solidFill>
              <a:srgbClr val="C8993A"/>
            </a:solidFill>
            <a:prstDash val="solid"/>
          </a:ln>
          <a:effectLst>
            <a:outerShdw blurRad="38100" dist="12700" dir="8100000" algn="bl" rotWithShape="0">
              <a:srgbClr val="000000">
                <a:alpha val="7000"/>
              </a:srgbClr>
            </a:outerShdw>
          </a:effectLst>
        </p:spPr>
      </p:sp>
      <p:sp>
        <p:nvSpPr>
          <p:cNvPr id="31" name="Text 29"/>
          <p:cNvSpPr/>
          <p:nvPr/>
        </p:nvSpPr>
        <p:spPr>
          <a:xfrm>
            <a:off x="641623" y="3521290"/>
            <a:ext cx="3657600" cy="256032"/>
          </a:xfrm>
          <a:prstGeom prst="rect">
            <a:avLst/>
          </a:prstGeom>
          <a:noFill/>
          <a:ln/>
        </p:spPr>
        <p:txBody>
          <a:bodyPr wrap="square" lIns="91440" tIns="45720" rIns="91440" bIns="45720" rtlCol="0" anchor="ctr"/>
          <a:lstStyle/>
          <a:p>
            <a:pPr marL="0" indent="0">
              <a:buNone/>
            </a:pPr>
            <a:r>
              <a:rPr lang="en-US" sz="1600" b="1">
                <a:solidFill>
                  <a:srgbClr val="C8993A"/>
                </a:solidFill>
              </a:rPr>
              <a:t>Setup &amp; Preprocessing</a:t>
            </a:r>
            <a:endParaRPr lang="en-US" sz="1600"/>
          </a:p>
        </p:txBody>
      </p:sp>
      <p:sp>
        <p:nvSpPr>
          <p:cNvPr id="32" name="Text 30"/>
          <p:cNvSpPr/>
          <p:nvPr/>
        </p:nvSpPr>
        <p:spPr>
          <a:xfrm>
            <a:off x="402391" y="3742449"/>
            <a:ext cx="4129420" cy="1190047"/>
          </a:xfrm>
          <a:prstGeom prst="rect">
            <a:avLst/>
          </a:prstGeom>
          <a:noFill/>
          <a:ln/>
        </p:spPr>
        <p:txBody>
          <a:bodyPr wrap="square" lIns="91440" tIns="45720" rIns="91440" bIns="45720" rtlCol="0" anchor="ctr"/>
          <a:lstStyle/>
          <a:p>
            <a:pPr marL="285750" indent="-285750">
              <a:buFont typeface="Wingdings"/>
              <a:buChar char="§"/>
            </a:pPr>
            <a:r>
              <a:rPr lang="en-US" sz="1400">
                <a:solidFill>
                  <a:srgbClr val="2D3550"/>
                </a:solidFill>
              </a:rPr>
              <a:t>Google </a:t>
            </a:r>
            <a:r>
              <a:rPr lang="en-US" sz="1400" err="1">
                <a:solidFill>
                  <a:srgbClr val="2D3550"/>
                </a:solidFill>
              </a:rPr>
              <a:t>Colab</a:t>
            </a:r>
            <a:r>
              <a:rPr lang="en-US" sz="1400">
                <a:solidFill>
                  <a:srgbClr val="2D3550"/>
                </a:solidFill>
              </a:rPr>
              <a:t> Pro - A100 40GB VRAM</a:t>
            </a:r>
            <a:endParaRPr lang="en-US" sz="1400">
              <a:solidFill>
                <a:srgbClr val="000000"/>
              </a:solidFill>
              <a:ea typeface="Calibri" panose="020F0502020204030204"/>
              <a:cs typeface="Calibri" panose="020F0502020204030204"/>
            </a:endParaRPr>
          </a:p>
          <a:p>
            <a:pPr marL="285750" indent="-285750">
              <a:buFont typeface="Wingdings"/>
              <a:buChar char="§"/>
            </a:pPr>
            <a:r>
              <a:rPr lang="en-US" sz="1400">
                <a:solidFill>
                  <a:srgbClr val="2D3550"/>
                </a:solidFill>
              </a:rPr>
              <a:t>Greedy decoding </a:t>
            </a:r>
            <a:endParaRPr lang="en-US" sz="1400">
              <a:solidFill>
                <a:srgbClr val="2D3550"/>
              </a:solidFill>
              <a:ea typeface="Calibri"/>
              <a:cs typeface="Calibri"/>
            </a:endParaRPr>
          </a:p>
          <a:p>
            <a:pPr marL="285750" indent="-285750">
              <a:buFont typeface="Wingdings"/>
              <a:buChar char="§"/>
            </a:pPr>
            <a:r>
              <a:rPr lang="en-US" sz="1400">
                <a:solidFill>
                  <a:srgbClr val="2D3550"/>
                </a:solidFill>
              </a:rPr>
              <a:t>Max 512 tokens</a:t>
            </a:r>
            <a:endParaRPr lang="en-US" sz="1400">
              <a:solidFill>
                <a:srgbClr val="000000"/>
              </a:solidFill>
              <a:ea typeface="Calibri" panose="020F0502020204030204"/>
              <a:cs typeface="Calibri" panose="020F0502020204030204"/>
            </a:endParaRPr>
          </a:p>
          <a:p>
            <a:pPr marL="285750" indent="-285750">
              <a:buFont typeface="Wingdings"/>
              <a:buChar char="§"/>
            </a:pPr>
            <a:r>
              <a:rPr lang="en-US" sz="1400">
                <a:solidFill>
                  <a:srgbClr val="2D3550"/>
                </a:solidFill>
              </a:rPr>
              <a:t>End-truncation preserving all options</a:t>
            </a:r>
            <a:endParaRPr lang="en-US" sz="1400">
              <a:ea typeface="Calibri"/>
              <a:cs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 0">
            <a:extLst>
              <a:ext uri="{FF2B5EF4-FFF2-40B4-BE49-F238E27FC236}">
                <a16:creationId xmlns:a16="http://schemas.microsoft.com/office/drawing/2014/main" id="{2DA06064-8385-3E48-1BAA-51734ACBD127}"/>
              </a:ext>
            </a:extLst>
          </p:cNvPr>
          <p:cNvSpPr/>
          <p:nvPr/>
        </p:nvSpPr>
        <p:spPr>
          <a:xfrm>
            <a:off x="0" y="0"/>
            <a:ext cx="9117419" cy="658368"/>
          </a:xfrm>
          <a:prstGeom prst="rect">
            <a:avLst/>
          </a:prstGeom>
          <a:solidFill>
            <a:srgbClr val="1B3A6B"/>
          </a:solidFill>
          <a:ln w="12700">
            <a:solidFill>
              <a:srgbClr val="1B3A6B"/>
            </a:solidFill>
            <a:prstDash val="solid"/>
          </a:ln>
        </p:spPr>
      </p:sp>
      <p:sp>
        <p:nvSpPr>
          <p:cNvPr id="3" name="TextBox 2">
            <a:extLst>
              <a:ext uri="{FF2B5EF4-FFF2-40B4-BE49-F238E27FC236}">
                <a16:creationId xmlns:a16="http://schemas.microsoft.com/office/drawing/2014/main" id="{8BE9BA32-D358-9CEF-F9D9-3BECCEE7A84B}"/>
              </a:ext>
            </a:extLst>
          </p:cNvPr>
          <p:cNvSpPr txBox="1"/>
          <p:nvPr/>
        </p:nvSpPr>
        <p:spPr>
          <a:xfrm>
            <a:off x="341490" y="132130"/>
            <a:ext cx="573021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solidFill>
                  <a:schemeClr val="bg1"/>
                </a:solidFill>
                <a:latin typeface="Times New Roman"/>
                <a:ea typeface="Calibri"/>
                <a:cs typeface="Times New Roman"/>
              </a:rPr>
              <a:t>Confidence Guided Elimination (CGE)</a:t>
            </a:r>
            <a:endParaRPr lang="en-US" sz="2400">
              <a:solidFill>
                <a:schemeClr val="bg1"/>
              </a:solidFill>
              <a:latin typeface="Times New Roman"/>
              <a:cs typeface="Times New Roman"/>
            </a:endParaRPr>
          </a:p>
        </p:txBody>
      </p:sp>
      <p:sp>
        <p:nvSpPr>
          <p:cNvPr id="2" name="TextBox 1">
            <a:extLst>
              <a:ext uri="{FF2B5EF4-FFF2-40B4-BE49-F238E27FC236}">
                <a16:creationId xmlns:a16="http://schemas.microsoft.com/office/drawing/2014/main" id="{58C52858-A876-BF49-A04D-EE91C5CF8F1A}"/>
              </a:ext>
            </a:extLst>
          </p:cNvPr>
          <p:cNvSpPr txBox="1"/>
          <p:nvPr/>
        </p:nvSpPr>
        <p:spPr>
          <a:xfrm>
            <a:off x="516994" y="1197659"/>
            <a:ext cx="4447477"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Times New Roman"/>
                <a:ea typeface="+mn-lt"/>
                <a:cs typeface="Times New Roman"/>
              </a:rPr>
              <a:t>LLM assigns confidence scores to each option and the lowest-scored option is eliminated in each round.</a:t>
            </a:r>
          </a:p>
          <a:p>
            <a:endParaRPr lang="en-US">
              <a:latin typeface="Times New Roman"/>
              <a:ea typeface="+mn-lt"/>
              <a:cs typeface="Times New Roman"/>
            </a:endParaRPr>
          </a:p>
        </p:txBody>
      </p:sp>
      <p:sp>
        <p:nvSpPr>
          <p:cNvPr id="4" name="TextBox 3">
            <a:extLst>
              <a:ext uri="{FF2B5EF4-FFF2-40B4-BE49-F238E27FC236}">
                <a16:creationId xmlns:a16="http://schemas.microsoft.com/office/drawing/2014/main" id="{42A716AB-02F7-C872-D3C8-DE0BA398751D}"/>
              </a:ext>
            </a:extLst>
          </p:cNvPr>
          <p:cNvSpPr txBox="1"/>
          <p:nvPr/>
        </p:nvSpPr>
        <p:spPr>
          <a:xfrm>
            <a:off x="516565" y="2826835"/>
            <a:ext cx="4328355" cy="1477328"/>
          </a:xfrm>
          <a:prstGeom prst="rect">
            <a:avLst/>
          </a:prstGeom>
          <a:noFill/>
          <a:ln>
            <a:solidFill>
              <a:schemeClr val="accent1">
                <a:lumMod val="5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Times New Roman"/>
                <a:cs typeface="Times New Roman"/>
              </a:rPr>
              <a:t>Properties of CGE</a:t>
            </a:r>
          </a:p>
          <a:p>
            <a:pPr marL="285750" indent="-285750">
              <a:buFont typeface="Wingdings"/>
              <a:buChar char="§"/>
            </a:pPr>
            <a:r>
              <a:rPr lang="en-US">
                <a:latin typeface="Times New Roman"/>
                <a:cs typeface="Times New Roman"/>
              </a:rPr>
              <a:t>Iterative elimination across 3 rounds</a:t>
            </a:r>
            <a:endParaRPr lang="en-US">
              <a:latin typeface="Calibri" panose="020F0502020204030204"/>
              <a:ea typeface="Calibri" panose="020F0502020204030204"/>
              <a:cs typeface="Calibri" panose="020F0502020204030204"/>
            </a:endParaRPr>
          </a:p>
          <a:p>
            <a:pPr marL="285750" indent="-285750">
              <a:buFont typeface="Wingdings"/>
              <a:buChar char="§"/>
            </a:pPr>
            <a:r>
              <a:rPr lang="en-US">
                <a:latin typeface="Times New Roman"/>
                <a:cs typeface="Times New Roman"/>
              </a:rPr>
              <a:t>Lowest confidence option removed each round</a:t>
            </a:r>
          </a:p>
          <a:p>
            <a:pPr marL="285750" indent="-285750">
              <a:buFont typeface="Wingdings"/>
              <a:buChar char="§"/>
            </a:pPr>
            <a:r>
              <a:rPr lang="en-US">
                <a:latin typeface="Times New Roman"/>
                <a:cs typeface="Times New Roman"/>
              </a:rPr>
              <a:t>Final surviving option = model answer</a:t>
            </a:r>
            <a:endParaRPr lang="en-US">
              <a:ea typeface="Calibri" panose="020F0502020204030204"/>
              <a:cs typeface="Calibri" panose="020F0502020204030204"/>
            </a:endParaRPr>
          </a:p>
        </p:txBody>
      </p:sp>
      <p:sp>
        <p:nvSpPr>
          <p:cNvPr id="7" name="Rectangle: Rounded Corners 6">
            <a:extLst>
              <a:ext uri="{FF2B5EF4-FFF2-40B4-BE49-F238E27FC236}">
                <a16:creationId xmlns:a16="http://schemas.microsoft.com/office/drawing/2014/main" id="{C88313B8-00D1-DE74-D68D-8517B6BE3A15}"/>
              </a:ext>
            </a:extLst>
          </p:cNvPr>
          <p:cNvSpPr/>
          <p:nvPr/>
        </p:nvSpPr>
        <p:spPr>
          <a:xfrm>
            <a:off x="6143859" y="895349"/>
            <a:ext cx="2308283" cy="469566"/>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ea typeface="Calibri"/>
                <a:cs typeface="Calibri"/>
              </a:rPr>
              <a:t>Medical MCQ</a:t>
            </a:r>
          </a:p>
          <a:p>
            <a:pPr algn="ctr"/>
            <a:r>
              <a:rPr lang="en-US" sz="1400" b="1">
                <a:solidFill>
                  <a:schemeClr val="tx1"/>
                </a:solidFill>
                <a:ea typeface="Calibri"/>
                <a:cs typeface="Calibri"/>
              </a:rPr>
              <a:t>Question + Option(A B C D)</a:t>
            </a:r>
          </a:p>
        </p:txBody>
      </p:sp>
      <p:sp>
        <p:nvSpPr>
          <p:cNvPr id="8" name="Arrow: Down 7">
            <a:extLst>
              <a:ext uri="{FF2B5EF4-FFF2-40B4-BE49-F238E27FC236}">
                <a16:creationId xmlns:a16="http://schemas.microsoft.com/office/drawing/2014/main" id="{663AA9FA-CE34-9258-151E-FD10EECB49CB}"/>
              </a:ext>
            </a:extLst>
          </p:cNvPr>
          <p:cNvSpPr/>
          <p:nvPr/>
        </p:nvSpPr>
        <p:spPr>
          <a:xfrm>
            <a:off x="7209199" y="1422097"/>
            <a:ext cx="170956" cy="244054"/>
          </a:xfrm>
          <a:prstGeom prst="downArrow">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F189D0C2-1E1D-D855-D56B-CBD555636E18}"/>
              </a:ext>
            </a:extLst>
          </p:cNvPr>
          <p:cNvSpPr/>
          <p:nvPr/>
        </p:nvSpPr>
        <p:spPr>
          <a:xfrm>
            <a:off x="5897981" y="1686147"/>
            <a:ext cx="2966173" cy="595826"/>
          </a:xfrm>
          <a:prstGeom prst="roundRect">
            <a:avLst/>
          </a:prstGeom>
          <a:solidFill>
            <a:schemeClr val="accent5">
              <a:lumMod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a:solidFill>
                  <a:schemeClr val="bg2">
                    <a:lumMod val="90000"/>
                  </a:schemeClr>
                </a:solidFill>
                <a:ea typeface="Calibri"/>
                <a:cs typeface="Calibri"/>
              </a:rPr>
              <a:t>Round 1: Confidence Scoring</a:t>
            </a:r>
          </a:p>
          <a:p>
            <a:pPr algn="ctr"/>
            <a:r>
              <a:rPr lang="en-US" sz="1400" b="1">
                <a:solidFill>
                  <a:schemeClr val="bg2">
                    <a:lumMod val="90000"/>
                  </a:schemeClr>
                </a:solidFill>
                <a:ea typeface="Calibri"/>
                <a:cs typeface="Calibri"/>
              </a:rPr>
              <a:t>A:7 B:3 C:9 D:2</a:t>
            </a:r>
          </a:p>
        </p:txBody>
      </p:sp>
      <p:sp>
        <p:nvSpPr>
          <p:cNvPr id="10" name="Rectangle: Rounded Corners 9">
            <a:extLst>
              <a:ext uri="{FF2B5EF4-FFF2-40B4-BE49-F238E27FC236}">
                <a16:creationId xmlns:a16="http://schemas.microsoft.com/office/drawing/2014/main" id="{ABEE889D-23D4-D9A9-3673-24B59C8C4805}"/>
              </a:ext>
            </a:extLst>
          </p:cNvPr>
          <p:cNvSpPr/>
          <p:nvPr/>
        </p:nvSpPr>
        <p:spPr>
          <a:xfrm>
            <a:off x="5911270" y="2616496"/>
            <a:ext cx="2966173" cy="595826"/>
          </a:xfrm>
          <a:prstGeom prst="roundRect">
            <a:avLst/>
          </a:prstGeom>
          <a:solidFill>
            <a:schemeClr val="accent5">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a:solidFill>
                  <a:schemeClr val="bg2">
                    <a:lumMod val="90000"/>
                  </a:schemeClr>
                </a:solidFill>
                <a:ea typeface="Calibri"/>
                <a:cs typeface="Calibri"/>
              </a:rPr>
              <a:t>Round 2: Confidence Scoring</a:t>
            </a:r>
          </a:p>
          <a:p>
            <a:pPr algn="ctr"/>
            <a:r>
              <a:rPr lang="en-US" sz="1400" b="1">
                <a:solidFill>
                  <a:schemeClr val="bg2">
                    <a:lumMod val="90000"/>
                  </a:schemeClr>
                </a:solidFill>
                <a:ea typeface="Calibri"/>
                <a:cs typeface="Calibri"/>
              </a:rPr>
              <a:t>A:7 B:4 C:9 </a:t>
            </a:r>
          </a:p>
        </p:txBody>
      </p:sp>
      <p:sp>
        <p:nvSpPr>
          <p:cNvPr id="11" name="Rectangle: Rounded Corners 10">
            <a:extLst>
              <a:ext uri="{FF2B5EF4-FFF2-40B4-BE49-F238E27FC236}">
                <a16:creationId xmlns:a16="http://schemas.microsoft.com/office/drawing/2014/main" id="{21D4E5C5-94F1-BAE7-9352-710DC9989D6E}"/>
              </a:ext>
            </a:extLst>
          </p:cNvPr>
          <p:cNvSpPr/>
          <p:nvPr/>
        </p:nvSpPr>
        <p:spPr>
          <a:xfrm>
            <a:off x="5911271" y="3586715"/>
            <a:ext cx="2966173" cy="595826"/>
          </a:xfrm>
          <a:prstGeom prst="roundRect">
            <a:avLst/>
          </a:prstGeom>
          <a:solidFill>
            <a:schemeClr val="accent5">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a:solidFill>
                  <a:schemeClr val="tx1">
                    <a:lumMod val="76000"/>
                    <a:lumOff val="24000"/>
                  </a:schemeClr>
                </a:solidFill>
                <a:ea typeface="Calibri"/>
                <a:cs typeface="Calibri"/>
              </a:rPr>
              <a:t>Round 3: Confidence Scoring</a:t>
            </a:r>
          </a:p>
          <a:p>
            <a:pPr algn="ctr"/>
            <a:r>
              <a:rPr lang="en-US" sz="1400" b="1">
                <a:solidFill>
                  <a:schemeClr val="tx1">
                    <a:lumMod val="76000"/>
                    <a:lumOff val="24000"/>
                  </a:schemeClr>
                </a:solidFill>
                <a:ea typeface="Calibri"/>
                <a:cs typeface="Calibri"/>
              </a:rPr>
              <a:t>A:5 C:9 </a:t>
            </a:r>
          </a:p>
        </p:txBody>
      </p:sp>
      <p:sp>
        <p:nvSpPr>
          <p:cNvPr id="15" name="Rectangle: Rounded Corners 14">
            <a:extLst>
              <a:ext uri="{FF2B5EF4-FFF2-40B4-BE49-F238E27FC236}">
                <a16:creationId xmlns:a16="http://schemas.microsoft.com/office/drawing/2014/main" id="{0D893A8E-9251-18C6-BF92-646D7FDE18FE}"/>
              </a:ext>
            </a:extLst>
          </p:cNvPr>
          <p:cNvSpPr/>
          <p:nvPr/>
        </p:nvSpPr>
        <p:spPr>
          <a:xfrm>
            <a:off x="6182017" y="4559864"/>
            <a:ext cx="2221894" cy="285158"/>
          </a:xfrm>
          <a:prstGeom prst="roundRect">
            <a:avLst/>
          </a:prstGeom>
          <a:solidFill>
            <a:schemeClr val="accent6">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chemeClr val="tx1"/>
                </a:solidFill>
                <a:ea typeface="Calibri"/>
                <a:cs typeface="Calibri"/>
              </a:rPr>
              <a:t>Final Answer = C</a:t>
            </a:r>
          </a:p>
        </p:txBody>
      </p:sp>
      <p:sp>
        <p:nvSpPr>
          <p:cNvPr id="18" name="Arrow: Down 17">
            <a:extLst>
              <a:ext uri="{FF2B5EF4-FFF2-40B4-BE49-F238E27FC236}">
                <a16:creationId xmlns:a16="http://schemas.microsoft.com/office/drawing/2014/main" id="{CB4C125C-BAD2-64C2-274B-872E219BE86F}"/>
              </a:ext>
            </a:extLst>
          </p:cNvPr>
          <p:cNvSpPr/>
          <p:nvPr/>
        </p:nvSpPr>
        <p:spPr>
          <a:xfrm>
            <a:off x="7209199" y="3289440"/>
            <a:ext cx="170956" cy="244054"/>
          </a:xfrm>
          <a:prstGeom prst="downArrow">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Arrow: Down 18">
            <a:extLst>
              <a:ext uri="{FF2B5EF4-FFF2-40B4-BE49-F238E27FC236}">
                <a16:creationId xmlns:a16="http://schemas.microsoft.com/office/drawing/2014/main" id="{8575A948-4F55-13F8-FF0D-8C99C4A15586}"/>
              </a:ext>
            </a:extLst>
          </p:cNvPr>
          <p:cNvSpPr/>
          <p:nvPr/>
        </p:nvSpPr>
        <p:spPr>
          <a:xfrm>
            <a:off x="7209198" y="2319218"/>
            <a:ext cx="170956" cy="244054"/>
          </a:xfrm>
          <a:prstGeom prst="downArrow">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Arrow: Down 19">
            <a:extLst>
              <a:ext uri="{FF2B5EF4-FFF2-40B4-BE49-F238E27FC236}">
                <a16:creationId xmlns:a16="http://schemas.microsoft.com/office/drawing/2014/main" id="{38CE9B13-4D43-3889-55F3-F34B59987C5A}"/>
              </a:ext>
            </a:extLst>
          </p:cNvPr>
          <p:cNvSpPr/>
          <p:nvPr/>
        </p:nvSpPr>
        <p:spPr>
          <a:xfrm>
            <a:off x="7215843" y="4246368"/>
            <a:ext cx="170956" cy="244054"/>
          </a:xfrm>
          <a:prstGeom prst="downArrow">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56207F40-B534-4B15-1937-D7609267102E}"/>
              </a:ext>
            </a:extLst>
          </p:cNvPr>
          <p:cNvSpPr txBox="1"/>
          <p:nvPr/>
        </p:nvSpPr>
        <p:spPr>
          <a:xfrm>
            <a:off x="7530642" y="2344991"/>
            <a:ext cx="1001405"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a:latin typeface="Times New Roman"/>
                <a:ea typeface="Calibri"/>
                <a:cs typeface="Times New Roman"/>
              </a:rPr>
              <a:t>D Eliminated</a:t>
            </a:r>
            <a:endParaRPr lang="en-US" sz="1100">
              <a:latin typeface="Times New Roman"/>
              <a:cs typeface="Times New Roman"/>
            </a:endParaRPr>
          </a:p>
        </p:txBody>
      </p:sp>
      <p:sp>
        <p:nvSpPr>
          <p:cNvPr id="22" name="TextBox 21">
            <a:extLst>
              <a:ext uri="{FF2B5EF4-FFF2-40B4-BE49-F238E27FC236}">
                <a16:creationId xmlns:a16="http://schemas.microsoft.com/office/drawing/2014/main" id="{F7CD610C-4782-74A6-1B50-6B1F8A1651FD}"/>
              </a:ext>
            </a:extLst>
          </p:cNvPr>
          <p:cNvSpPr txBox="1"/>
          <p:nvPr/>
        </p:nvSpPr>
        <p:spPr>
          <a:xfrm>
            <a:off x="7530641" y="3288629"/>
            <a:ext cx="1001405"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a:latin typeface="Times New Roman"/>
                <a:ea typeface="Calibri"/>
                <a:cs typeface="Times New Roman"/>
              </a:rPr>
              <a:t>B Eliminated</a:t>
            </a:r>
            <a:endParaRPr lang="en-US" sz="1100">
              <a:latin typeface="Times New Roman"/>
              <a:cs typeface="Times New Roman"/>
            </a:endParaRPr>
          </a:p>
        </p:txBody>
      </p:sp>
      <p:sp>
        <p:nvSpPr>
          <p:cNvPr id="23" name="TextBox 22">
            <a:extLst>
              <a:ext uri="{FF2B5EF4-FFF2-40B4-BE49-F238E27FC236}">
                <a16:creationId xmlns:a16="http://schemas.microsoft.com/office/drawing/2014/main" id="{3543124E-23AE-3334-0536-8E94EA29E33A}"/>
              </a:ext>
            </a:extLst>
          </p:cNvPr>
          <p:cNvSpPr txBox="1"/>
          <p:nvPr/>
        </p:nvSpPr>
        <p:spPr>
          <a:xfrm>
            <a:off x="7530641" y="4245560"/>
            <a:ext cx="1001405"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a:latin typeface="Times New Roman"/>
                <a:ea typeface="Calibri"/>
                <a:cs typeface="Times New Roman"/>
              </a:rPr>
              <a:t>A Eliminated</a:t>
            </a:r>
            <a:endParaRPr lang="en-US" sz="1100">
              <a:latin typeface="Times New Roman"/>
              <a:cs typeface="Times New Roman"/>
            </a:endParaRPr>
          </a:p>
        </p:txBody>
      </p:sp>
    </p:spTree>
    <p:extLst>
      <p:ext uri="{BB962C8B-B14F-4D97-AF65-F5344CB8AC3E}">
        <p14:creationId xmlns:p14="http://schemas.microsoft.com/office/powerpoint/2010/main" val="5237457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 20">
            <a:extLst>
              <a:ext uri="{FF2B5EF4-FFF2-40B4-BE49-F238E27FC236}">
                <a16:creationId xmlns:a16="http://schemas.microsoft.com/office/drawing/2014/main" id="{2CCFCBAD-378E-4BAE-7426-39746A053155}"/>
              </a:ext>
            </a:extLst>
          </p:cNvPr>
          <p:cNvSpPr/>
          <p:nvPr/>
        </p:nvSpPr>
        <p:spPr>
          <a:xfrm>
            <a:off x="6561720" y="1122212"/>
            <a:ext cx="1142524" cy="892339"/>
          </a:xfrm>
          <a:prstGeom prst="rect">
            <a:avLst/>
          </a:prstGeom>
          <a:solidFill>
            <a:srgbClr val="FFFFFF"/>
          </a:solidFill>
          <a:ln w="12700">
            <a:solidFill>
              <a:srgbClr val="2D7D46"/>
            </a:solidFill>
            <a:prstDash val="solid"/>
          </a:ln>
          <a:effectLst>
            <a:outerShdw blurRad="38100" dist="12700" dir="8100000" algn="bl" rotWithShape="0">
              <a:srgbClr val="000000">
                <a:alpha val="7000"/>
              </a:srgbClr>
            </a:outerShdw>
          </a:effectLst>
        </p:spPr>
      </p:sp>
      <p:sp>
        <p:nvSpPr>
          <p:cNvPr id="9" name="Text 21">
            <a:extLst>
              <a:ext uri="{FF2B5EF4-FFF2-40B4-BE49-F238E27FC236}">
                <a16:creationId xmlns:a16="http://schemas.microsoft.com/office/drawing/2014/main" id="{25ABC4F8-60C4-FE0A-27E5-01E313D28A9E}"/>
              </a:ext>
            </a:extLst>
          </p:cNvPr>
          <p:cNvSpPr/>
          <p:nvPr/>
        </p:nvSpPr>
        <p:spPr>
          <a:xfrm>
            <a:off x="6550132" y="922054"/>
            <a:ext cx="1070168" cy="194577"/>
          </a:xfrm>
          <a:prstGeom prst="rect">
            <a:avLst/>
          </a:prstGeom>
          <a:noFill/>
          <a:ln/>
        </p:spPr>
        <p:txBody>
          <a:bodyPr wrap="square" rtlCol="0" anchor="ctr"/>
          <a:lstStyle/>
          <a:p>
            <a:pPr marL="0" indent="0" algn="ctr">
              <a:buNone/>
            </a:pPr>
            <a:r>
              <a:rPr lang="en-US" sz="1200" b="1">
                <a:solidFill>
                  <a:srgbClr val="2D7D46"/>
                </a:solidFill>
              </a:rPr>
              <a:t>Survival@3</a:t>
            </a:r>
            <a:endParaRPr lang="en-US" sz="1200"/>
          </a:p>
        </p:txBody>
      </p:sp>
      <p:sp>
        <p:nvSpPr>
          <p:cNvPr id="11" name="Text 22">
            <a:extLst>
              <a:ext uri="{FF2B5EF4-FFF2-40B4-BE49-F238E27FC236}">
                <a16:creationId xmlns:a16="http://schemas.microsoft.com/office/drawing/2014/main" id="{42A1B29B-190E-ABFE-8FC2-8AB4BD09BCC0}"/>
              </a:ext>
            </a:extLst>
          </p:cNvPr>
          <p:cNvSpPr/>
          <p:nvPr/>
        </p:nvSpPr>
        <p:spPr>
          <a:xfrm>
            <a:off x="6563012" y="1335875"/>
            <a:ext cx="1070168" cy="465654"/>
          </a:xfrm>
          <a:prstGeom prst="rect">
            <a:avLst/>
          </a:prstGeom>
          <a:noFill/>
          <a:ln/>
        </p:spPr>
        <p:txBody>
          <a:bodyPr wrap="square" lIns="91440" tIns="45720" rIns="91440" bIns="45720" rtlCol="0" anchor="ctr"/>
          <a:lstStyle/>
          <a:p>
            <a:pPr marL="0" indent="0" algn="ctr">
              <a:buNone/>
            </a:pPr>
            <a:r>
              <a:rPr lang="en-US" sz="950" b="1">
                <a:solidFill>
                  <a:srgbClr val="2D3550"/>
                </a:solidFill>
              </a:rPr>
              <a:t>Correct answer survives Round 1</a:t>
            </a:r>
            <a:endParaRPr lang="en-US" sz="950" b="1">
              <a:ea typeface="Calibri"/>
              <a:cs typeface="Calibri"/>
            </a:endParaRPr>
          </a:p>
          <a:p>
            <a:pPr marL="0" indent="0" algn="ctr">
              <a:buNone/>
            </a:pPr>
            <a:r>
              <a:rPr lang="en-US" sz="950" b="1">
                <a:solidFill>
                  <a:srgbClr val="2D3550"/>
                </a:solidFill>
              </a:rPr>
              <a:t>(3 options remain)</a:t>
            </a:r>
            <a:endParaRPr lang="en-US" sz="950" b="1">
              <a:ea typeface="Calibri"/>
              <a:cs typeface="Calibri"/>
            </a:endParaRPr>
          </a:p>
        </p:txBody>
      </p:sp>
      <p:sp>
        <p:nvSpPr>
          <p:cNvPr id="15" name="Shape 24">
            <a:extLst>
              <a:ext uri="{FF2B5EF4-FFF2-40B4-BE49-F238E27FC236}">
                <a16:creationId xmlns:a16="http://schemas.microsoft.com/office/drawing/2014/main" id="{019BC1F5-2BE2-CB32-8077-F0263CD8437B}"/>
              </a:ext>
            </a:extLst>
          </p:cNvPr>
          <p:cNvSpPr/>
          <p:nvPr/>
        </p:nvSpPr>
        <p:spPr>
          <a:xfrm>
            <a:off x="7782390" y="1115568"/>
            <a:ext cx="1155815" cy="898984"/>
          </a:xfrm>
          <a:prstGeom prst="rect">
            <a:avLst/>
          </a:prstGeom>
          <a:solidFill>
            <a:srgbClr val="FFFFFF"/>
          </a:solidFill>
          <a:ln w="12700">
            <a:solidFill>
              <a:srgbClr val="2E5090"/>
            </a:solidFill>
            <a:prstDash val="solid"/>
          </a:ln>
          <a:effectLst>
            <a:outerShdw blurRad="38100" dist="12700" dir="8100000" algn="bl" rotWithShape="0">
              <a:srgbClr val="000000">
                <a:alpha val="7000"/>
              </a:srgbClr>
            </a:outerShdw>
          </a:effectLst>
        </p:spPr>
      </p:sp>
      <p:sp>
        <p:nvSpPr>
          <p:cNvPr id="17" name="Text 25">
            <a:extLst>
              <a:ext uri="{FF2B5EF4-FFF2-40B4-BE49-F238E27FC236}">
                <a16:creationId xmlns:a16="http://schemas.microsoft.com/office/drawing/2014/main" id="{39F9390F-31A4-BD3A-F0EA-58E4638A26C0}"/>
              </a:ext>
            </a:extLst>
          </p:cNvPr>
          <p:cNvSpPr/>
          <p:nvPr/>
        </p:nvSpPr>
        <p:spPr>
          <a:xfrm>
            <a:off x="7790737" y="915409"/>
            <a:ext cx="1083460" cy="194577"/>
          </a:xfrm>
          <a:prstGeom prst="rect">
            <a:avLst/>
          </a:prstGeom>
          <a:noFill/>
          <a:ln/>
        </p:spPr>
        <p:txBody>
          <a:bodyPr wrap="square" rtlCol="0" anchor="ctr"/>
          <a:lstStyle/>
          <a:p>
            <a:pPr marL="0" indent="0" algn="ctr">
              <a:buNone/>
            </a:pPr>
            <a:r>
              <a:rPr lang="en-US" sz="1200" b="1">
                <a:solidFill>
                  <a:srgbClr val="2E5090"/>
                </a:solidFill>
              </a:rPr>
              <a:t>Survival@2</a:t>
            </a:r>
            <a:endParaRPr lang="en-US" sz="1200"/>
          </a:p>
        </p:txBody>
      </p:sp>
      <p:sp>
        <p:nvSpPr>
          <p:cNvPr id="19" name="Text 26">
            <a:extLst>
              <a:ext uri="{FF2B5EF4-FFF2-40B4-BE49-F238E27FC236}">
                <a16:creationId xmlns:a16="http://schemas.microsoft.com/office/drawing/2014/main" id="{11CA00F6-7F38-C1FD-5BAA-CAF778A13360}"/>
              </a:ext>
            </a:extLst>
          </p:cNvPr>
          <p:cNvSpPr/>
          <p:nvPr/>
        </p:nvSpPr>
        <p:spPr>
          <a:xfrm>
            <a:off x="7790737" y="1334645"/>
            <a:ext cx="1083460" cy="465654"/>
          </a:xfrm>
          <a:prstGeom prst="rect">
            <a:avLst/>
          </a:prstGeom>
          <a:noFill/>
          <a:ln/>
        </p:spPr>
        <p:txBody>
          <a:bodyPr wrap="square" lIns="91440" tIns="45720" rIns="91440" bIns="45720" rtlCol="0" anchor="ctr"/>
          <a:lstStyle/>
          <a:p>
            <a:pPr marL="0" indent="0" algn="ctr">
              <a:buNone/>
            </a:pPr>
            <a:r>
              <a:rPr lang="en-US" sz="950" b="1">
                <a:solidFill>
                  <a:srgbClr val="2D3550"/>
                </a:solidFill>
              </a:rPr>
              <a:t>Correct answer survives Round 2</a:t>
            </a:r>
            <a:endParaRPr lang="en-US" sz="950" b="1">
              <a:ea typeface="Calibri"/>
              <a:cs typeface="Calibri"/>
            </a:endParaRPr>
          </a:p>
          <a:p>
            <a:pPr marL="0" indent="0" algn="ctr">
              <a:buNone/>
            </a:pPr>
            <a:r>
              <a:rPr lang="en-US" sz="950" b="1">
                <a:solidFill>
                  <a:srgbClr val="2D3550"/>
                </a:solidFill>
              </a:rPr>
              <a:t>(2 options remain)</a:t>
            </a:r>
            <a:endParaRPr lang="en-US" sz="950" b="1">
              <a:ea typeface="Calibri"/>
              <a:cs typeface="Calibri"/>
            </a:endParaRPr>
          </a:p>
        </p:txBody>
      </p:sp>
      <p:sp>
        <p:nvSpPr>
          <p:cNvPr id="23" name="Shape 28">
            <a:extLst>
              <a:ext uri="{FF2B5EF4-FFF2-40B4-BE49-F238E27FC236}">
                <a16:creationId xmlns:a16="http://schemas.microsoft.com/office/drawing/2014/main" id="{EA6BCEC9-B1C0-BE54-CFD4-A925F5F1E7D2}"/>
              </a:ext>
            </a:extLst>
          </p:cNvPr>
          <p:cNvSpPr/>
          <p:nvPr/>
        </p:nvSpPr>
        <p:spPr>
          <a:xfrm>
            <a:off x="6570867" y="2630707"/>
            <a:ext cx="1135877" cy="905629"/>
          </a:xfrm>
          <a:prstGeom prst="rect">
            <a:avLst/>
          </a:prstGeom>
          <a:solidFill>
            <a:srgbClr val="FFFFFF"/>
          </a:solidFill>
          <a:ln w="12700">
            <a:solidFill>
              <a:srgbClr val="1B3A6B"/>
            </a:solidFill>
            <a:prstDash val="solid"/>
          </a:ln>
          <a:effectLst>
            <a:outerShdw blurRad="38100" dist="12700" dir="8100000" algn="bl" rotWithShape="0">
              <a:srgbClr val="000000">
                <a:alpha val="7000"/>
              </a:srgbClr>
            </a:outerShdw>
          </a:effectLst>
        </p:spPr>
      </p:sp>
      <p:sp>
        <p:nvSpPr>
          <p:cNvPr id="25" name="Text 29">
            <a:extLst>
              <a:ext uri="{FF2B5EF4-FFF2-40B4-BE49-F238E27FC236}">
                <a16:creationId xmlns:a16="http://schemas.microsoft.com/office/drawing/2014/main" id="{5B742B8D-AF11-AD1C-F497-50B0F8F7B3F4}"/>
              </a:ext>
            </a:extLst>
          </p:cNvPr>
          <p:cNvSpPr/>
          <p:nvPr/>
        </p:nvSpPr>
        <p:spPr>
          <a:xfrm>
            <a:off x="6605795" y="2423903"/>
            <a:ext cx="1063522" cy="201222"/>
          </a:xfrm>
          <a:prstGeom prst="rect">
            <a:avLst/>
          </a:prstGeom>
          <a:noFill/>
          <a:ln/>
        </p:spPr>
        <p:txBody>
          <a:bodyPr wrap="square" rtlCol="0" anchor="ctr"/>
          <a:lstStyle/>
          <a:p>
            <a:pPr marL="0" indent="0" algn="ctr">
              <a:buNone/>
            </a:pPr>
            <a:r>
              <a:rPr lang="en-US" sz="1200" b="1">
                <a:solidFill>
                  <a:srgbClr val="1B3A6B"/>
                </a:solidFill>
              </a:rPr>
              <a:t>Accuracy@1</a:t>
            </a:r>
            <a:endParaRPr lang="en-US" sz="1200"/>
          </a:p>
        </p:txBody>
      </p:sp>
      <p:sp>
        <p:nvSpPr>
          <p:cNvPr id="27" name="Text 30">
            <a:extLst>
              <a:ext uri="{FF2B5EF4-FFF2-40B4-BE49-F238E27FC236}">
                <a16:creationId xmlns:a16="http://schemas.microsoft.com/office/drawing/2014/main" id="{60018F29-BD52-66F8-EFE3-069E2BB27599}"/>
              </a:ext>
            </a:extLst>
          </p:cNvPr>
          <p:cNvSpPr/>
          <p:nvPr/>
        </p:nvSpPr>
        <p:spPr>
          <a:xfrm>
            <a:off x="6611209" y="2841908"/>
            <a:ext cx="1063522" cy="485589"/>
          </a:xfrm>
          <a:prstGeom prst="rect">
            <a:avLst/>
          </a:prstGeom>
          <a:noFill/>
          <a:ln/>
        </p:spPr>
        <p:txBody>
          <a:bodyPr wrap="square" lIns="91440" tIns="45720" rIns="91440" bIns="45720" rtlCol="0" anchor="ctr"/>
          <a:lstStyle/>
          <a:p>
            <a:pPr marL="0" indent="0" algn="ctr">
              <a:buNone/>
            </a:pPr>
            <a:r>
              <a:rPr lang="en-US" sz="950" b="1">
                <a:solidFill>
                  <a:srgbClr val="2D3550"/>
                </a:solidFill>
              </a:rPr>
              <a:t>Correct answer is final survivor</a:t>
            </a:r>
            <a:endParaRPr lang="en-US" sz="950" b="1">
              <a:ea typeface="Calibri"/>
              <a:cs typeface="Calibri"/>
            </a:endParaRPr>
          </a:p>
          <a:p>
            <a:pPr marL="0" indent="0" algn="ctr">
              <a:buNone/>
            </a:pPr>
            <a:r>
              <a:rPr lang="en-US" sz="950" b="1">
                <a:solidFill>
                  <a:srgbClr val="2D3550"/>
                </a:solidFill>
              </a:rPr>
              <a:t>= standard accuracy</a:t>
            </a:r>
            <a:endParaRPr lang="en-US" sz="950" b="1">
              <a:ea typeface="Calibri"/>
              <a:cs typeface="Calibri"/>
            </a:endParaRPr>
          </a:p>
        </p:txBody>
      </p:sp>
      <p:sp>
        <p:nvSpPr>
          <p:cNvPr id="31" name="Shape 32">
            <a:extLst>
              <a:ext uri="{FF2B5EF4-FFF2-40B4-BE49-F238E27FC236}">
                <a16:creationId xmlns:a16="http://schemas.microsoft.com/office/drawing/2014/main" id="{F7D3F444-A7D2-698D-339F-FE5755FEF3F9}"/>
              </a:ext>
            </a:extLst>
          </p:cNvPr>
          <p:cNvSpPr/>
          <p:nvPr/>
        </p:nvSpPr>
        <p:spPr>
          <a:xfrm>
            <a:off x="7851344" y="2624061"/>
            <a:ext cx="1089359" cy="892339"/>
          </a:xfrm>
          <a:prstGeom prst="rect">
            <a:avLst/>
          </a:prstGeom>
          <a:solidFill>
            <a:srgbClr val="FFFFFF"/>
          </a:solidFill>
          <a:ln w="12700">
            <a:solidFill>
              <a:srgbClr val="C0392B"/>
            </a:solidFill>
            <a:prstDash val="solid"/>
          </a:ln>
          <a:effectLst>
            <a:outerShdw blurRad="38100" dist="12700" dir="8100000" algn="bl" rotWithShape="0">
              <a:srgbClr val="000000">
                <a:alpha val="7000"/>
              </a:srgbClr>
            </a:outerShdw>
          </a:effectLst>
        </p:spPr>
      </p:sp>
      <p:sp>
        <p:nvSpPr>
          <p:cNvPr id="33" name="Text 33">
            <a:extLst>
              <a:ext uri="{FF2B5EF4-FFF2-40B4-BE49-F238E27FC236}">
                <a16:creationId xmlns:a16="http://schemas.microsoft.com/office/drawing/2014/main" id="{F5F8C3EE-BF91-CD32-7C12-655D9D4AD36D}"/>
              </a:ext>
            </a:extLst>
          </p:cNvPr>
          <p:cNvSpPr/>
          <p:nvPr/>
        </p:nvSpPr>
        <p:spPr>
          <a:xfrm>
            <a:off x="7434388" y="2290997"/>
            <a:ext cx="1927418" cy="261030"/>
          </a:xfrm>
          <a:prstGeom prst="rect">
            <a:avLst/>
          </a:prstGeom>
          <a:noFill/>
          <a:ln/>
        </p:spPr>
        <p:txBody>
          <a:bodyPr wrap="square" lIns="91440" tIns="45720" rIns="91440" bIns="45720" rtlCol="0" anchor="ctr"/>
          <a:lstStyle/>
          <a:p>
            <a:pPr algn="ctr"/>
            <a:r>
              <a:rPr lang="en-US" sz="1100" b="1">
                <a:solidFill>
                  <a:srgbClr val="BF3A2C"/>
                </a:solidFill>
              </a:rPr>
              <a:t>Catastrophic Failure Rate(CFR)</a:t>
            </a:r>
            <a:endParaRPr lang="en-US" sz="1100" b="1">
              <a:solidFill>
                <a:srgbClr val="BF3A2C"/>
              </a:solidFill>
              <a:ea typeface="Calibri" panose="020F0502020204030204"/>
              <a:cs typeface="Calibri" panose="020F0502020204030204"/>
            </a:endParaRPr>
          </a:p>
        </p:txBody>
      </p:sp>
      <p:sp>
        <p:nvSpPr>
          <p:cNvPr id="35" name="Text 34">
            <a:extLst>
              <a:ext uri="{FF2B5EF4-FFF2-40B4-BE49-F238E27FC236}">
                <a16:creationId xmlns:a16="http://schemas.microsoft.com/office/drawing/2014/main" id="{74615BD2-AC6C-635F-EFC1-7CBA688D3B3A}"/>
              </a:ext>
            </a:extLst>
          </p:cNvPr>
          <p:cNvSpPr/>
          <p:nvPr/>
        </p:nvSpPr>
        <p:spPr>
          <a:xfrm>
            <a:off x="7852634" y="2850604"/>
            <a:ext cx="1023651" cy="472299"/>
          </a:xfrm>
          <a:prstGeom prst="rect">
            <a:avLst/>
          </a:prstGeom>
          <a:noFill/>
          <a:ln/>
        </p:spPr>
        <p:txBody>
          <a:bodyPr wrap="square" lIns="91440" tIns="45720" rIns="91440" bIns="45720" rtlCol="0" anchor="ctr"/>
          <a:lstStyle/>
          <a:p>
            <a:pPr marL="0" indent="0" algn="ctr">
              <a:buNone/>
            </a:pPr>
            <a:r>
              <a:rPr lang="en-US" sz="950" b="1">
                <a:solidFill>
                  <a:srgbClr val="2D3550"/>
                </a:solidFill>
              </a:rPr>
              <a:t>Correct answer eliminated</a:t>
            </a:r>
            <a:endParaRPr lang="en-US" sz="950" b="1">
              <a:ea typeface="Calibri"/>
              <a:cs typeface="Calibri"/>
            </a:endParaRPr>
          </a:p>
          <a:p>
            <a:pPr marL="0" indent="0" algn="ctr">
              <a:buNone/>
            </a:pPr>
            <a:r>
              <a:rPr lang="en-US" sz="950" b="1">
                <a:solidFill>
                  <a:srgbClr val="2D3550"/>
                </a:solidFill>
              </a:rPr>
              <a:t>in Round 1 (catastrophic)</a:t>
            </a:r>
            <a:endParaRPr lang="en-US" sz="950" b="1">
              <a:ea typeface="Calibri"/>
              <a:cs typeface="Calibri"/>
            </a:endParaRPr>
          </a:p>
        </p:txBody>
      </p:sp>
      <p:sp>
        <p:nvSpPr>
          <p:cNvPr id="39" name="Shape 36">
            <a:extLst>
              <a:ext uri="{FF2B5EF4-FFF2-40B4-BE49-F238E27FC236}">
                <a16:creationId xmlns:a16="http://schemas.microsoft.com/office/drawing/2014/main" id="{333C6977-35EA-F579-D750-216086803A01}"/>
              </a:ext>
            </a:extLst>
          </p:cNvPr>
          <p:cNvSpPr/>
          <p:nvPr/>
        </p:nvSpPr>
        <p:spPr>
          <a:xfrm>
            <a:off x="7047860" y="4142844"/>
            <a:ext cx="1535661" cy="627764"/>
          </a:xfrm>
          <a:prstGeom prst="rect">
            <a:avLst/>
          </a:prstGeom>
          <a:solidFill>
            <a:srgbClr val="FFFFFF"/>
          </a:solidFill>
          <a:ln w="12700">
            <a:solidFill>
              <a:srgbClr val="C8993A"/>
            </a:solidFill>
            <a:prstDash val="solid"/>
          </a:ln>
          <a:effectLst>
            <a:outerShdw blurRad="38100" dist="12700" dir="8100000" algn="bl" rotWithShape="0">
              <a:srgbClr val="000000">
                <a:alpha val="7000"/>
              </a:srgbClr>
            </a:outerShdw>
          </a:effectLst>
        </p:spPr>
      </p:sp>
      <p:sp>
        <p:nvSpPr>
          <p:cNvPr id="41" name="Text 37">
            <a:extLst>
              <a:ext uri="{FF2B5EF4-FFF2-40B4-BE49-F238E27FC236}">
                <a16:creationId xmlns:a16="http://schemas.microsoft.com/office/drawing/2014/main" id="{67A845C0-C784-8291-E55A-B7A84132AFED}"/>
              </a:ext>
            </a:extLst>
          </p:cNvPr>
          <p:cNvSpPr/>
          <p:nvPr/>
        </p:nvSpPr>
        <p:spPr>
          <a:xfrm>
            <a:off x="6787716" y="3823326"/>
            <a:ext cx="2013808" cy="280965"/>
          </a:xfrm>
          <a:prstGeom prst="rect">
            <a:avLst/>
          </a:prstGeom>
          <a:noFill/>
          <a:ln/>
        </p:spPr>
        <p:txBody>
          <a:bodyPr wrap="square" lIns="91440" tIns="45720" rIns="91440" bIns="45720" rtlCol="0" anchor="ctr"/>
          <a:lstStyle/>
          <a:p>
            <a:pPr algn="ctr"/>
            <a:r>
              <a:rPr lang="en-US" sz="1200" b="1">
                <a:solidFill>
                  <a:srgbClr val="C8993A"/>
                </a:solidFill>
              </a:rPr>
              <a:t>Confidence Survival Correlation</a:t>
            </a:r>
            <a:endParaRPr lang="en-US" sz="1200" err="1"/>
          </a:p>
        </p:txBody>
      </p:sp>
      <p:sp>
        <p:nvSpPr>
          <p:cNvPr id="43" name="Text 38">
            <a:extLst>
              <a:ext uri="{FF2B5EF4-FFF2-40B4-BE49-F238E27FC236}">
                <a16:creationId xmlns:a16="http://schemas.microsoft.com/office/drawing/2014/main" id="{C95FBCDB-665D-BED0-7E83-03BC5FB1D097}"/>
              </a:ext>
            </a:extLst>
          </p:cNvPr>
          <p:cNvSpPr/>
          <p:nvPr/>
        </p:nvSpPr>
        <p:spPr>
          <a:xfrm>
            <a:off x="7033167" y="4140327"/>
            <a:ext cx="1564493" cy="635243"/>
          </a:xfrm>
          <a:prstGeom prst="rect">
            <a:avLst/>
          </a:prstGeom>
          <a:noFill/>
          <a:ln/>
        </p:spPr>
        <p:txBody>
          <a:bodyPr wrap="square" lIns="91440" tIns="45720" rIns="91440" bIns="45720" rtlCol="0" anchor="ctr"/>
          <a:lstStyle/>
          <a:p>
            <a:pPr marL="0" indent="0" algn="ctr">
              <a:buNone/>
            </a:pPr>
            <a:r>
              <a:rPr lang="en-US" sz="950" b="1">
                <a:solidFill>
                  <a:srgbClr val="2D3550"/>
                </a:solidFill>
              </a:rPr>
              <a:t>When model ranks correct</a:t>
            </a:r>
            <a:endParaRPr lang="en-US" sz="950" b="1">
              <a:ea typeface="Calibri"/>
              <a:cs typeface="Calibri"/>
            </a:endParaRPr>
          </a:p>
          <a:p>
            <a:pPr algn="ctr"/>
            <a:r>
              <a:rPr lang="en-US" sz="950" b="1">
                <a:solidFill>
                  <a:srgbClr val="2D3550"/>
                </a:solidFill>
              </a:rPr>
              <a:t>option #1 in R1, </a:t>
            </a:r>
            <a:endParaRPr lang="en-US" sz="950" b="1">
              <a:solidFill>
                <a:srgbClr val="2D3550"/>
              </a:solidFill>
              <a:ea typeface="+mn-lt"/>
              <a:cs typeface="+mn-lt"/>
            </a:endParaRPr>
          </a:p>
          <a:p>
            <a:pPr algn="ctr"/>
            <a:r>
              <a:rPr lang="en-US" sz="950" b="1">
                <a:solidFill>
                  <a:srgbClr val="2D3550"/>
                </a:solidFill>
                <a:ea typeface="+mn-lt"/>
                <a:cs typeface="+mn-lt"/>
              </a:rPr>
              <a:t>→ how often it survives to final answer</a:t>
            </a:r>
            <a:endParaRPr lang="en-US" sz="950" b="1">
              <a:solidFill>
                <a:srgbClr val="2D3550"/>
              </a:solidFill>
              <a:ea typeface="Calibri"/>
              <a:cs typeface="Calibri"/>
            </a:endParaRPr>
          </a:p>
        </p:txBody>
      </p:sp>
      <p:sp>
        <p:nvSpPr>
          <p:cNvPr id="47" name="Shape 0">
            <a:extLst>
              <a:ext uri="{FF2B5EF4-FFF2-40B4-BE49-F238E27FC236}">
                <a16:creationId xmlns:a16="http://schemas.microsoft.com/office/drawing/2014/main" id="{511CA8C8-9E50-1CB6-B17F-8087E517C21C}"/>
              </a:ext>
            </a:extLst>
          </p:cNvPr>
          <p:cNvSpPr/>
          <p:nvPr/>
        </p:nvSpPr>
        <p:spPr>
          <a:xfrm>
            <a:off x="0" y="0"/>
            <a:ext cx="9144000" cy="658368"/>
          </a:xfrm>
          <a:prstGeom prst="rect">
            <a:avLst/>
          </a:prstGeom>
          <a:solidFill>
            <a:srgbClr val="1B3A6B"/>
          </a:solidFill>
          <a:ln w="12700">
            <a:solidFill>
              <a:srgbClr val="1B3A6B"/>
            </a:solidFill>
            <a:prstDash val="solid"/>
          </a:ln>
        </p:spPr>
      </p:sp>
      <p:sp>
        <p:nvSpPr>
          <p:cNvPr id="48" name="TextBox 47">
            <a:extLst>
              <a:ext uri="{FF2B5EF4-FFF2-40B4-BE49-F238E27FC236}">
                <a16:creationId xmlns:a16="http://schemas.microsoft.com/office/drawing/2014/main" id="{3B14D72C-D27C-3CBC-37E6-DA5A747A833C}"/>
              </a:ext>
            </a:extLst>
          </p:cNvPr>
          <p:cNvSpPr txBox="1"/>
          <p:nvPr/>
        </p:nvSpPr>
        <p:spPr>
          <a:xfrm>
            <a:off x="124238" y="131510"/>
            <a:ext cx="866567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solidFill>
                  <a:srgbClr val="FFFFFF"/>
                </a:solidFill>
                <a:latin typeface="Times New Roman"/>
                <a:ea typeface="Calibri"/>
                <a:cs typeface="Times New Roman"/>
              </a:rPr>
              <a:t>Survival-Based Evaluation Framework: </a:t>
            </a:r>
            <a:r>
              <a:rPr lang="en-US" sz="2400" b="1">
                <a:solidFill>
                  <a:srgbClr val="FFFFFF"/>
                </a:solidFill>
                <a:latin typeface="Calibri"/>
                <a:ea typeface="Calibri"/>
                <a:cs typeface="Calibri"/>
              </a:rPr>
              <a:t>5 Metrics</a:t>
            </a:r>
            <a:endParaRPr lang="en-US" sz="2400">
              <a:latin typeface="Times New Roman"/>
              <a:cs typeface="Times New Roman"/>
            </a:endParaRPr>
          </a:p>
        </p:txBody>
      </p:sp>
      <p:pic>
        <p:nvPicPr>
          <p:cNvPr id="49" name="Picture 48" descr="A diagram of a graph&#10;&#10;AI-generated content may be incorrect.">
            <a:extLst>
              <a:ext uri="{FF2B5EF4-FFF2-40B4-BE49-F238E27FC236}">
                <a16:creationId xmlns:a16="http://schemas.microsoft.com/office/drawing/2014/main" id="{D8ADFDD8-92F4-E1EB-4586-C6423E06BBA1}"/>
              </a:ext>
            </a:extLst>
          </p:cNvPr>
          <p:cNvPicPr>
            <a:picLocks noChangeAspect="1"/>
          </p:cNvPicPr>
          <p:nvPr/>
        </p:nvPicPr>
        <p:blipFill>
          <a:blip r:embed="rId3"/>
          <a:srcRect l="2097" t="-244" r="828" b="-216"/>
          <a:stretch>
            <a:fillRect/>
          </a:stretch>
        </p:blipFill>
        <p:spPr>
          <a:xfrm>
            <a:off x="1930" y="1105335"/>
            <a:ext cx="5956580" cy="3003717"/>
          </a:xfrm>
          <a:prstGeom prst="rect">
            <a:avLst/>
          </a:prstGeom>
        </p:spPr>
      </p:pic>
      <p:cxnSp>
        <p:nvCxnSpPr>
          <p:cNvPr id="3" name="Straight Arrow Connector 2">
            <a:extLst>
              <a:ext uri="{FF2B5EF4-FFF2-40B4-BE49-F238E27FC236}">
                <a16:creationId xmlns:a16="http://schemas.microsoft.com/office/drawing/2014/main" id="{63FBAA9D-A435-8ED7-26DB-46679A419C45}"/>
              </a:ext>
            </a:extLst>
          </p:cNvPr>
          <p:cNvCxnSpPr/>
          <p:nvPr/>
        </p:nvCxnSpPr>
        <p:spPr>
          <a:xfrm>
            <a:off x="5389719" y="1534879"/>
            <a:ext cx="8821" cy="32638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56502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7F8FC"/>
        </a:solidFill>
        <a:effectLst/>
      </p:bgPr>
    </p:bg>
    <p:spTree>
      <p:nvGrpSpPr>
        <p:cNvPr id="1" name=""/>
        <p:cNvGrpSpPr/>
        <p:nvPr/>
      </p:nvGrpSpPr>
      <p:grpSpPr>
        <a:xfrm>
          <a:off x="0" y="0"/>
          <a:ext cx="0" cy="0"/>
          <a:chOff x="0" y="0"/>
          <a:chExt cx="0" cy="0"/>
        </a:xfrm>
      </p:grpSpPr>
      <p:sp>
        <p:nvSpPr>
          <p:cNvPr id="2" name="Shape 0"/>
          <p:cNvSpPr/>
          <p:nvPr/>
        </p:nvSpPr>
        <p:spPr>
          <a:xfrm>
            <a:off x="0" y="21703"/>
            <a:ext cx="9144000" cy="658368"/>
          </a:xfrm>
          <a:prstGeom prst="rect">
            <a:avLst/>
          </a:prstGeom>
          <a:solidFill>
            <a:srgbClr val="1B3A6B"/>
          </a:solidFill>
          <a:ln w="12700">
            <a:solidFill>
              <a:srgbClr val="1B3A6B"/>
            </a:solidFill>
            <a:prstDash val="solid"/>
          </a:ln>
        </p:spPr>
      </p:sp>
      <p:sp>
        <p:nvSpPr>
          <p:cNvPr id="4" name="Text 2"/>
          <p:cNvSpPr/>
          <p:nvPr/>
        </p:nvSpPr>
        <p:spPr>
          <a:xfrm>
            <a:off x="683254" y="21703"/>
            <a:ext cx="7132320" cy="658368"/>
          </a:xfrm>
          <a:prstGeom prst="rect">
            <a:avLst/>
          </a:prstGeom>
          <a:noFill/>
          <a:ln/>
        </p:spPr>
        <p:txBody>
          <a:bodyPr wrap="square" lIns="0" tIns="0" rIns="0" bIns="0" rtlCol="0" anchor="ctr"/>
          <a:lstStyle/>
          <a:p>
            <a:pPr marL="0" indent="0">
              <a:buNone/>
            </a:pPr>
            <a:r>
              <a:rPr lang="en-US" sz="2000" b="1">
                <a:solidFill>
                  <a:srgbClr val="FFFFFF"/>
                </a:solidFill>
              </a:rPr>
              <a:t>System Pipeline</a:t>
            </a:r>
            <a:endParaRPr lang="en-US" sz="2000"/>
          </a:p>
        </p:txBody>
      </p:sp>
      <p:pic>
        <p:nvPicPr>
          <p:cNvPr id="3" name="Picture 2" descr="A diagram of a company&#10;&#10;AI-generated content may be incorrect.">
            <a:extLst>
              <a:ext uri="{FF2B5EF4-FFF2-40B4-BE49-F238E27FC236}">
                <a16:creationId xmlns:a16="http://schemas.microsoft.com/office/drawing/2014/main" id="{CFEDE1F6-E380-5809-4E72-3B8F16963F3C}"/>
              </a:ext>
            </a:extLst>
          </p:cNvPr>
          <p:cNvPicPr>
            <a:picLocks noChangeAspect="1"/>
          </p:cNvPicPr>
          <p:nvPr/>
        </p:nvPicPr>
        <p:blipFill>
          <a:blip r:embed="rId3"/>
          <a:srcRect l="5326" t="3495" r="9966" b="25076"/>
          <a:stretch>
            <a:fillRect/>
          </a:stretch>
        </p:blipFill>
        <p:spPr>
          <a:xfrm>
            <a:off x="410689" y="694334"/>
            <a:ext cx="8599657" cy="4454916"/>
          </a:xfrm>
          <a:prstGeom prst="rect">
            <a:avLst/>
          </a:prstGeom>
        </p:spPr>
      </p:pic>
      <p:sp>
        <p:nvSpPr>
          <p:cNvPr id="5" name="TextBox 4">
            <a:extLst>
              <a:ext uri="{FF2B5EF4-FFF2-40B4-BE49-F238E27FC236}">
                <a16:creationId xmlns:a16="http://schemas.microsoft.com/office/drawing/2014/main" id="{F5039782-CB8C-5D07-448E-DBC57B75D5AC}"/>
              </a:ext>
            </a:extLst>
          </p:cNvPr>
          <p:cNvSpPr txBox="1"/>
          <p:nvPr/>
        </p:nvSpPr>
        <p:spPr>
          <a:xfrm rot="16200000">
            <a:off x="-7052" y="749069"/>
            <a:ext cx="613965"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200">
                <a:latin typeface="Times New Roman"/>
                <a:ea typeface="Calibri"/>
                <a:cs typeface="Times New Roman"/>
              </a:rPr>
              <a:t>Input</a:t>
            </a:r>
            <a:endParaRPr lang="en-US" sz="1200">
              <a:latin typeface="Times New Roman"/>
              <a:cs typeface="Times New Roman"/>
            </a:endParaRPr>
          </a:p>
        </p:txBody>
      </p:sp>
      <p:sp>
        <p:nvSpPr>
          <p:cNvPr id="6" name="TextBox 5">
            <a:extLst>
              <a:ext uri="{FF2B5EF4-FFF2-40B4-BE49-F238E27FC236}">
                <a16:creationId xmlns:a16="http://schemas.microsoft.com/office/drawing/2014/main" id="{6442B35B-5528-54C3-D078-459CA4F39B9C}"/>
              </a:ext>
            </a:extLst>
          </p:cNvPr>
          <p:cNvSpPr txBox="1"/>
          <p:nvPr/>
        </p:nvSpPr>
        <p:spPr>
          <a:xfrm rot="16200000">
            <a:off x="-268934" y="1626699"/>
            <a:ext cx="1132488"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200">
                <a:latin typeface="Times New Roman"/>
                <a:ea typeface="Calibri"/>
                <a:cs typeface="Times New Roman"/>
              </a:rPr>
              <a:t>Preprocessing</a:t>
            </a:r>
            <a:endParaRPr lang="en-US" sz="1200">
              <a:latin typeface="Times New Roman"/>
              <a:cs typeface="Times New Roman"/>
            </a:endParaRPr>
          </a:p>
        </p:txBody>
      </p:sp>
      <p:sp>
        <p:nvSpPr>
          <p:cNvPr id="7" name="TextBox 6">
            <a:extLst>
              <a:ext uri="{FF2B5EF4-FFF2-40B4-BE49-F238E27FC236}">
                <a16:creationId xmlns:a16="http://schemas.microsoft.com/office/drawing/2014/main" id="{55F0A0CB-498C-44E1-67AC-48A941141037}"/>
              </a:ext>
            </a:extLst>
          </p:cNvPr>
          <p:cNvSpPr txBox="1"/>
          <p:nvPr/>
        </p:nvSpPr>
        <p:spPr>
          <a:xfrm rot="16200000">
            <a:off x="-177117" y="2941731"/>
            <a:ext cx="855444"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200">
                <a:latin typeface="Times New Roman"/>
                <a:ea typeface="Calibri"/>
                <a:cs typeface="Times New Roman"/>
              </a:rPr>
              <a:t>Inference</a:t>
            </a:r>
          </a:p>
        </p:txBody>
      </p:sp>
      <p:sp>
        <p:nvSpPr>
          <p:cNvPr id="8" name="TextBox 7">
            <a:extLst>
              <a:ext uri="{FF2B5EF4-FFF2-40B4-BE49-F238E27FC236}">
                <a16:creationId xmlns:a16="http://schemas.microsoft.com/office/drawing/2014/main" id="{64CBC553-00E6-2BCB-D412-511011F27483}"/>
              </a:ext>
            </a:extLst>
          </p:cNvPr>
          <p:cNvSpPr txBox="1"/>
          <p:nvPr/>
        </p:nvSpPr>
        <p:spPr>
          <a:xfrm rot="16200000">
            <a:off x="-200047" y="4451064"/>
            <a:ext cx="903738"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200">
                <a:latin typeface="Times New Roman"/>
                <a:ea typeface="Calibri"/>
                <a:cs typeface="Times New Roman"/>
              </a:rPr>
              <a:t>Evaluation</a:t>
            </a:r>
            <a:endParaRPr lang="en-US" sz="1200">
              <a:latin typeface="Times New Roman"/>
              <a:cs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7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3A6B"/>
          </a:solidFill>
          <a:ln w="12700">
            <a:solidFill>
              <a:srgbClr val="1B3A6B"/>
            </a:solidFill>
            <a:prstDash val="solid"/>
          </a:ln>
        </p:spPr>
      </p:sp>
      <p:sp>
        <p:nvSpPr>
          <p:cNvPr id="4" name="Text 2"/>
          <p:cNvSpPr/>
          <p:nvPr/>
        </p:nvSpPr>
        <p:spPr>
          <a:xfrm>
            <a:off x="292608" y="0"/>
            <a:ext cx="7132320" cy="658368"/>
          </a:xfrm>
          <a:prstGeom prst="rect">
            <a:avLst/>
          </a:prstGeom>
          <a:noFill/>
          <a:ln/>
        </p:spPr>
        <p:txBody>
          <a:bodyPr wrap="square" lIns="0" tIns="0" rIns="0" bIns="0" rtlCol="0" anchor="ctr"/>
          <a:lstStyle/>
          <a:p>
            <a:r>
              <a:rPr lang="en-US" sz="2000" b="1">
                <a:solidFill>
                  <a:srgbClr val="FFFFFF"/>
                </a:solidFill>
                <a:latin typeface="Times New Roman"/>
                <a:cs typeface="Times New Roman"/>
              </a:rPr>
              <a:t>Results: CGE Outperforms Direct Prediction</a:t>
            </a:r>
            <a:endParaRPr lang="en-US" sz="2000">
              <a:latin typeface="Times New Roman"/>
              <a:cs typeface="Times New Roman"/>
            </a:endParaRPr>
          </a:p>
        </p:txBody>
      </p:sp>
      <p:graphicFrame>
        <p:nvGraphicFramePr>
          <p:cNvPr id="9" name="Table 0"/>
          <p:cNvGraphicFramePr>
            <a:graphicFrameLocks noGrp="1"/>
          </p:cNvGraphicFramePr>
          <p:nvPr>
            <p:extLst>
              <p:ext uri="{D42A27DB-BD31-4B8C-83A1-F6EECF244321}">
                <p14:modId xmlns:p14="http://schemas.microsoft.com/office/powerpoint/2010/main" val="679313117"/>
              </p:ext>
            </p:extLst>
          </p:nvPr>
        </p:nvGraphicFramePr>
        <p:xfrm>
          <a:off x="292394" y="1096482"/>
          <a:ext cx="5574805" cy="2897874"/>
        </p:xfrm>
        <a:graphic>
          <a:graphicData uri="http://schemas.openxmlformats.org/drawingml/2006/table">
            <a:tbl>
              <a:tblPr/>
              <a:tblGrid>
                <a:gridCol w="927434">
                  <a:extLst>
                    <a:ext uri="{9D8B030D-6E8A-4147-A177-3AD203B41FA5}">
                      <a16:colId xmlns:a16="http://schemas.microsoft.com/office/drawing/2014/main" val="20000"/>
                    </a:ext>
                  </a:extLst>
                </a:gridCol>
                <a:gridCol w="1119184">
                  <a:extLst>
                    <a:ext uri="{9D8B030D-6E8A-4147-A177-3AD203B41FA5}">
                      <a16:colId xmlns:a16="http://schemas.microsoft.com/office/drawing/2014/main" val="20001"/>
                    </a:ext>
                  </a:extLst>
                </a:gridCol>
                <a:gridCol w="656678">
                  <a:extLst>
                    <a:ext uri="{9D8B030D-6E8A-4147-A177-3AD203B41FA5}">
                      <a16:colId xmlns:a16="http://schemas.microsoft.com/office/drawing/2014/main" val="20002"/>
                    </a:ext>
                  </a:extLst>
                </a:gridCol>
                <a:gridCol w="717517">
                  <a:extLst>
                    <a:ext uri="{9D8B030D-6E8A-4147-A177-3AD203B41FA5}">
                      <a16:colId xmlns:a16="http://schemas.microsoft.com/office/drawing/2014/main" val="20003"/>
                    </a:ext>
                  </a:extLst>
                </a:gridCol>
                <a:gridCol w="679919">
                  <a:extLst>
                    <a:ext uri="{9D8B030D-6E8A-4147-A177-3AD203B41FA5}">
                      <a16:colId xmlns:a16="http://schemas.microsoft.com/office/drawing/2014/main" val="20004"/>
                    </a:ext>
                  </a:extLst>
                </a:gridCol>
                <a:gridCol w="617255">
                  <a:extLst>
                    <a:ext uri="{9D8B030D-6E8A-4147-A177-3AD203B41FA5}">
                      <a16:colId xmlns:a16="http://schemas.microsoft.com/office/drawing/2014/main" val="20005"/>
                    </a:ext>
                  </a:extLst>
                </a:gridCol>
                <a:gridCol w="856818">
                  <a:extLst>
                    <a:ext uri="{9D8B030D-6E8A-4147-A177-3AD203B41FA5}">
                      <a16:colId xmlns:a16="http://schemas.microsoft.com/office/drawing/2014/main" val="20006"/>
                    </a:ext>
                  </a:extLst>
                </a:gridCol>
              </a:tblGrid>
              <a:tr h="478000">
                <a:tc>
                  <a:txBody>
                    <a:bodyPr/>
                    <a:lstStyle/>
                    <a:p>
                      <a:pPr marL="0" indent="0" algn="ctr">
                        <a:buNone/>
                      </a:pPr>
                      <a:endParaRPr lang="en-US" sz="1100" b="1">
                        <a:solidFill>
                          <a:schemeClr val="bg1"/>
                        </a:solidFill>
                        <a:latin typeface="Times New Roman"/>
                        <a:cs typeface="Times New Roman"/>
                      </a:endParaRPr>
                    </a:p>
                    <a:p>
                      <a:pPr marL="0" lvl="0" indent="0" algn="ctr">
                        <a:buNone/>
                      </a:pPr>
                      <a:r>
                        <a:rPr lang="en-US" sz="1100" b="1">
                          <a:solidFill>
                            <a:schemeClr val="bg1"/>
                          </a:solidFill>
                          <a:latin typeface="Times New Roman"/>
                          <a:cs typeface="Times New Roman"/>
                        </a:rPr>
                        <a:t>Model</a:t>
                      </a:r>
                      <a:endParaRPr lang="en-US" sz="1100">
                        <a:solidFill>
                          <a:schemeClr val="bg1"/>
                        </a:solidFill>
                        <a:latin typeface="Times New Roman"/>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marL="0" indent="0" algn="ctr">
                        <a:buNone/>
                      </a:pPr>
                      <a:endParaRPr lang="en-US" sz="1100" b="1">
                        <a:solidFill>
                          <a:schemeClr val="bg1"/>
                        </a:solidFill>
                        <a:latin typeface="Times New Roman"/>
                        <a:cs typeface="Times New Roman"/>
                      </a:endParaRPr>
                    </a:p>
                    <a:p>
                      <a:pPr marL="0" lvl="0" indent="0" algn="ctr">
                        <a:buNone/>
                      </a:pPr>
                      <a:r>
                        <a:rPr lang="en-US" sz="1100" b="1">
                          <a:solidFill>
                            <a:schemeClr val="bg1"/>
                          </a:solidFill>
                          <a:latin typeface="Times New Roman"/>
                          <a:cs typeface="Times New Roman"/>
                        </a:rPr>
                        <a:t>Strategy</a:t>
                      </a:r>
                      <a:endParaRPr lang="en-US" sz="1100">
                        <a:solidFill>
                          <a:schemeClr val="bg1"/>
                        </a:solidFill>
                        <a:latin typeface="Times New Roman"/>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marL="0" indent="0" algn="ctr">
                        <a:buNone/>
                      </a:pPr>
                      <a:endParaRPr lang="en-US" sz="1100" b="1">
                        <a:solidFill>
                          <a:schemeClr val="bg1"/>
                        </a:solidFill>
                        <a:latin typeface="Times New Roman"/>
                        <a:cs typeface="Times New Roman"/>
                      </a:endParaRPr>
                    </a:p>
                    <a:p>
                      <a:pPr marL="0" lvl="0" indent="0" algn="ctr">
                        <a:buNone/>
                      </a:pPr>
                      <a:r>
                        <a:rPr lang="en-US" sz="1100" b="1">
                          <a:solidFill>
                            <a:schemeClr val="bg1"/>
                          </a:solidFill>
                          <a:latin typeface="Times New Roman"/>
                          <a:cs typeface="Times New Roman"/>
                        </a:rPr>
                        <a:t>S@3</a:t>
                      </a:r>
                      <a:endParaRPr lang="en-US" sz="1100">
                        <a:solidFill>
                          <a:schemeClr val="bg1"/>
                        </a:solidFill>
                        <a:latin typeface="Times New Roman"/>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marL="0" indent="0" algn="ctr">
                        <a:buNone/>
                      </a:pPr>
                      <a:endParaRPr lang="en-US" sz="1100" b="1">
                        <a:solidFill>
                          <a:schemeClr val="bg1"/>
                        </a:solidFill>
                        <a:latin typeface="Times New Roman"/>
                        <a:cs typeface="Times New Roman"/>
                      </a:endParaRPr>
                    </a:p>
                    <a:p>
                      <a:pPr marL="0" lvl="0" indent="0" algn="ctr">
                        <a:buNone/>
                      </a:pPr>
                      <a:r>
                        <a:rPr lang="en-US" sz="1100" b="1">
                          <a:solidFill>
                            <a:schemeClr val="bg1"/>
                          </a:solidFill>
                          <a:latin typeface="Times New Roman"/>
                          <a:cs typeface="Times New Roman"/>
                        </a:rPr>
                        <a:t>S@2</a:t>
                      </a:r>
                      <a:endParaRPr lang="en-US" sz="1100">
                        <a:solidFill>
                          <a:schemeClr val="bg1"/>
                        </a:solidFill>
                        <a:latin typeface="Times New Roman"/>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marL="0" indent="0" algn="ctr">
                        <a:buNone/>
                      </a:pPr>
                      <a:endParaRPr lang="en-US" sz="1100" b="1">
                        <a:solidFill>
                          <a:schemeClr val="bg1"/>
                        </a:solidFill>
                        <a:latin typeface="Times New Roman"/>
                        <a:cs typeface="Times New Roman"/>
                      </a:endParaRPr>
                    </a:p>
                    <a:p>
                      <a:pPr marL="0" lvl="0" indent="0" algn="ctr">
                        <a:buNone/>
                      </a:pPr>
                      <a:r>
                        <a:rPr lang="en-US" sz="1100" b="1">
                          <a:solidFill>
                            <a:schemeClr val="bg1"/>
                          </a:solidFill>
                          <a:latin typeface="Times New Roman"/>
                          <a:cs typeface="Times New Roman"/>
                        </a:rPr>
                        <a:t>Acc@1</a:t>
                      </a:r>
                      <a:endParaRPr lang="en-US" sz="1100">
                        <a:solidFill>
                          <a:schemeClr val="bg1"/>
                        </a:solidFill>
                        <a:latin typeface="Times New Roman"/>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marL="0" indent="0" algn="ctr">
                        <a:buNone/>
                      </a:pPr>
                      <a:endParaRPr lang="en-US" sz="1100" b="1">
                        <a:solidFill>
                          <a:schemeClr val="bg1"/>
                        </a:solidFill>
                        <a:latin typeface="Times New Roman"/>
                        <a:cs typeface="Times New Roman"/>
                      </a:endParaRPr>
                    </a:p>
                    <a:p>
                      <a:pPr marL="0" lvl="0" indent="0" algn="ctr">
                        <a:buNone/>
                      </a:pPr>
                      <a:r>
                        <a:rPr lang="en-US" sz="1100" b="1">
                          <a:solidFill>
                            <a:schemeClr val="bg1"/>
                          </a:solidFill>
                          <a:latin typeface="Times New Roman"/>
                          <a:cs typeface="Times New Roman"/>
                        </a:rPr>
                        <a:t>CFR</a:t>
                      </a:r>
                      <a:endParaRPr lang="en-US" sz="1100">
                        <a:solidFill>
                          <a:schemeClr val="bg1"/>
                        </a:solidFill>
                        <a:latin typeface="Times New Roman"/>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marL="0" indent="0" algn="ctr">
                        <a:buNone/>
                      </a:pPr>
                      <a:r>
                        <a:rPr lang="en-US" sz="1100" b="1">
                          <a:solidFill>
                            <a:schemeClr val="bg1"/>
                          </a:solidFill>
                          <a:latin typeface="Times New Roman"/>
                          <a:cs typeface="Times New Roman"/>
                        </a:rPr>
                        <a:t>Conf-</a:t>
                      </a:r>
                      <a:r>
                        <a:rPr lang="en-US" sz="1100" b="1" err="1">
                          <a:solidFill>
                            <a:schemeClr val="bg1"/>
                          </a:solidFill>
                          <a:latin typeface="Times New Roman"/>
                          <a:cs typeface="Times New Roman"/>
                        </a:rPr>
                        <a:t>Surv</a:t>
                      </a:r>
                      <a:r>
                        <a:rPr lang="en-US" sz="1100" b="1">
                          <a:solidFill>
                            <a:schemeClr val="bg1"/>
                          </a:solidFill>
                          <a:latin typeface="Times New Roman"/>
                          <a:cs typeface="Times New Roman"/>
                        </a:rPr>
                        <a:t> Corr.</a:t>
                      </a:r>
                      <a:endParaRPr lang="en-US" sz="1100">
                        <a:solidFill>
                          <a:schemeClr val="bg1"/>
                        </a:solidFill>
                        <a:latin typeface="Times New Roman"/>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10000"/>
                  </a:ext>
                </a:extLst>
              </a:tr>
              <a:tr h="358500">
                <a:tc>
                  <a:txBody>
                    <a:bodyPr/>
                    <a:lstStyle/>
                    <a:p>
                      <a:pPr marL="0" indent="0" algn="ctr">
                        <a:buNone/>
                      </a:pPr>
                      <a:r>
                        <a:rPr lang="en-US" sz="1100" b="0">
                          <a:solidFill>
                            <a:srgbClr val="000000"/>
                          </a:solidFill>
                          <a:latin typeface="Times New Roman"/>
                          <a:cs typeface="Times New Roman"/>
                        </a:rPr>
                        <a:t>Random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100">
                          <a:solidFill>
                            <a:srgbClr val="000000"/>
                          </a:solidFill>
                          <a:latin typeface="Times New Roman"/>
                          <a:cs typeface="Times New Roman"/>
                        </a:rPr>
                        <a:t>Baseline</a:t>
                      </a:r>
                      <a:endParaRPr lang="en-US" sz="1100">
                        <a:latin typeface="Times New Roman"/>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100">
                          <a:solidFill>
                            <a:srgbClr val="8A97B0"/>
                          </a:solidFill>
                          <a:latin typeface="Times New Roman"/>
                          <a:cs typeface="Times New Roman"/>
                        </a:rPr>
                        <a:t>75.0</a:t>
                      </a:r>
                      <a:endParaRPr lang="en-US" sz="1100">
                        <a:latin typeface="Times New Roman"/>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100">
                          <a:solidFill>
                            <a:srgbClr val="8A97B0"/>
                          </a:solidFill>
                          <a:latin typeface="Times New Roman"/>
                          <a:cs typeface="Times New Roman"/>
                        </a:rPr>
                        <a:t>50.0</a:t>
                      </a:r>
                      <a:endParaRPr lang="en-US" sz="1100">
                        <a:latin typeface="Times New Roman"/>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100">
                          <a:solidFill>
                            <a:srgbClr val="8A97B0"/>
                          </a:solidFill>
                          <a:latin typeface="Times New Roman"/>
                          <a:cs typeface="Times New Roman"/>
                        </a:rPr>
                        <a:t>25.0</a:t>
                      </a:r>
                      <a:endParaRPr lang="en-US" sz="1100">
                        <a:latin typeface="Times New Roman"/>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100">
                          <a:solidFill>
                            <a:srgbClr val="8A97B0"/>
                          </a:solidFill>
                          <a:latin typeface="Times New Roman"/>
                          <a:cs typeface="Times New Roman"/>
                        </a:rPr>
                        <a:t>25.0</a:t>
                      </a:r>
                      <a:endParaRPr lang="en-US" sz="1100">
                        <a:latin typeface="Times New Roman"/>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100">
                          <a:solidFill>
                            <a:srgbClr val="8A97B0"/>
                          </a:solidFill>
                          <a:latin typeface="Times New Roman"/>
                          <a:cs typeface="Times New Roman"/>
                        </a:rPr>
                        <a:t>—</a:t>
                      </a:r>
                      <a:endParaRPr lang="en-US" sz="1100">
                        <a:latin typeface="Times New Roman"/>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58500">
                <a:tc rowSpan="3">
                  <a:txBody>
                    <a:bodyPr/>
                    <a:lstStyle/>
                    <a:p>
                      <a:pPr marL="0" indent="0" algn="ctr">
                        <a:buNone/>
                      </a:pPr>
                      <a:endParaRPr lang="en-US" sz="1100" b="1">
                        <a:solidFill>
                          <a:srgbClr val="000000"/>
                        </a:solidFill>
                        <a:latin typeface="Times New Roman"/>
                        <a:cs typeface="Times New Roman"/>
                      </a:endParaRPr>
                    </a:p>
                    <a:p>
                      <a:pPr marL="0" lvl="0" indent="0" algn="ctr">
                        <a:buNone/>
                      </a:pPr>
                      <a:endParaRPr lang="en-US" sz="1100" b="1">
                        <a:solidFill>
                          <a:srgbClr val="000000"/>
                        </a:solidFill>
                        <a:latin typeface="Times New Roman"/>
                        <a:cs typeface="Times New Roman"/>
                      </a:endParaRPr>
                    </a:p>
                    <a:p>
                      <a:pPr marL="0" lvl="0" indent="0" algn="ctr">
                        <a:buNone/>
                      </a:pPr>
                      <a:r>
                        <a:rPr lang="en-US" sz="1100" b="1">
                          <a:solidFill>
                            <a:srgbClr val="000000"/>
                          </a:solidFill>
                          <a:latin typeface="Times New Roman"/>
                          <a:cs typeface="Times New Roman"/>
                        </a:rPr>
                        <a:t>Qwen-7B</a:t>
                      </a:r>
                      <a:endParaRPr lang="en-US" sz="1100">
                        <a:latin typeface="Times New Roman"/>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100">
                          <a:solidFill>
                            <a:srgbClr val="000000"/>
                          </a:solidFill>
                          <a:latin typeface="Times New Roman"/>
                          <a:cs typeface="Times New Roman"/>
                        </a:rPr>
                        <a:t>Direct</a:t>
                      </a:r>
                      <a:endParaRPr lang="en-US" sz="1100">
                        <a:latin typeface="Times New Roman"/>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100">
                          <a:solidFill>
                            <a:srgbClr val="000000"/>
                          </a:solidFill>
                          <a:latin typeface="Times New Roman"/>
                          <a:cs typeface="Times New Roman"/>
                        </a:rPr>
                        <a:t>—</a:t>
                      </a:r>
                      <a:endParaRPr lang="en-US" sz="1100">
                        <a:latin typeface="Times New Roman"/>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100">
                          <a:solidFill>
                            <a:srgbClr val="000000"/>
                          </a:solidFill>
                          <a:latin typeface="Times New Roman"/>
                          <a:cs typeface="Times New Roman"/>
                        </a:rPr>
                        <a:t>—</a:t>
                      </a:r>
                      <a:endParaRPr lang="en-US" sz="1100">
                        <a:latin typeface="Times New Roman"/>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100" b="1">
                          <a:solidFill>
                            <a:srgbClr val="C00000"/>
                          </a:solidFill>
                          <a:latin typeface="Times New Roman"/>
                          <a:cs typeface="Times New Roman"/>
                        </a:rPr>
                        <a:t>34.4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100">
                          <a:solidFill>
                            <a:srgbClr val="000000"/>
                          </a:solidFill>
                          <a:latin typeface="Times New Roman"/>
                          <a:cs typeface="Times New Roman"/>
                        </a:rPr>
                        <a:t>—</a:t>
                      </a:r>
                      <a:endParaRPr lang="en-US" sz="1100">
                        <a:latin typeface="Times New Roman"/>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100">
                          <a:solidFill>
                            <a:srgbClr val="000000"/>
                          </a:solidFill>
                          <a:latin typeface="Times New Roman"/>
                          <a:cs typeface="Times New Roman"/>
                        </a:rPr>
                        <a:t>—</a:t>
                      </a:r>
                      <a:endParaRPr lang="en-US" sz="1100">
                        <a:latin typeface="Times New Roman"/>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58500">
                <a:tc v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100" b="1">
                          <a:solidFill>
                            <a:srgbClr val="000000"/>
                          </a:solidFill>
                          <a:latin typeface="Times New Roman"/>
                          <a:cs typeface="Times New Roman"/>
                        </a:rPr>
                        <a:t>CGE Zero Shot</a:t>
                      </a:r>
                      <a:endParaRPr lang="en-US" sz="1100">
                        <a:latin typeface="Times New Roman"/>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100" b="1">
                          <a:solidFill>
                            <a:srgbClr val="2D7D46"/>
                          </a:solidFill>
                          <a:latin typeface="Times New Roman"/>
                          <a:cs typeface="Times New Roman"/>
                        </a:rPr>
                        <a:t>81.1 ↑</a:t>
                      </a:r>
                      <a:endParaRPr lang="en-US" sz="1100">
                        <a:latin typeface="Times New Roman"/>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100" b="1">
                          <a:solidFill>
                            <a:srgbClr val="2D7D46"/>
                          </a:solidFill>
                          <a:latin typeface="Times New Roman"/>
                          <a:cs typeface="Times New Roman"/>
                        </a:rPr>
                        <a:t>63.6 ↑</a:t>
                      </a:r>
                      <a:endParaRPr lang="en-US" sz="1100">
                        <a:latin typeface="Times New Roman"/>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100" b="1">
                          <a:solidFill>
                            <a:srgbClr val="2D7D46"/>
                          </a:solidFill>
                          <a:latin typeface="Times New Roman"/>
                          <a:cs typeface="Times New Roman"/>
                        </a:rPr>
                        <a:t>41.6 ↑</a:t>
                      </a:r>
                      <a:endParaRPr lang="en-US" sz="1100" b="1">
                        <a:latin typeface="Times New Roman"/>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100" b="1">
                          <a:solidFill>
                            <a:srgbClr val="2D7D46"/>
                          </a:solidFill>
                          <a:latin typeface="Times New Roman"/>
                          <a:cs typeface="Times New Roman"/>
                        </a:rPr>
                        <a:t>18.9 ↓</a:t>
                      </a:r>
                      <a:endParaRPr lang="en-US" sz="1100">
                        <a:latin typeface="Times New Roman"/>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100" b="1">
                          <a:solidFill>
                            <a:srgbClr val="2D7D46"/>
                          </a:solidFill>
                          <a:latin typeface="Times New Roman"/>
                          <a:cs typeface="Times New Roman"/>
                        </a:rPr>
                        <a:t>73.1</a:t>
                      </a:r>
                      <a:endParaRPr lang="en-US" sz="1100">
                        <a:latin typeface="Times New Roman"/>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13687">
                <a:tc v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100">
                          <a:solidFill>
                            <a:srgbClr val="000000"/>
                          </a:solidFill>
                          <a:latin typeface="Times New Roman"/>
                          <a:cs typeface="Times New Roman"/>
                        </a:rPr>
                        <a:t>CGE Few Shot</a:t>
                      </a:r>
                      <a:endParaRPr lang="en-US" sz="1100">
                        <a:latin typeface="Times New Roman"/>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100">
                          <a:solidFill>
                            <a:srgbClr val="000000"/>
                          </a:solidFill>
                          <a:latin typeface="Times New Roman"/>
                          <a:cs typeface="Times New Roman"/>
                        </a:rPr>
                        <a:t>78.5</a:t>
                      </a:r>
                      <a:endParaRPr lang="en-US" sz="1100">
                        <a:latin typeface="Times New Roman"/>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100">
                          <a:solidFill>
                            <a:srgbClr val="000000"/>
                          </a:solidFill>
                          <a:latin typeface="Times New Roman"/>
                          <a:cs typeface="Times New Roman"/>
                        </a:rPr>
                        <a:t>63.1</a:t>
                      </a:r>
                      <a:endParaRPr lang="en-US" sz="1100">
                        <a:latin typeface="Times New Roman"/>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100">
                          <a:solidFill>
                            <a:srgbClr val="000000"/>
                          </a:solidFill>
                          <a:latin typeface="Times New Roman"/>
                          <a:cs typeface="Times New Roman"/>
                        </a:rPr>
                        <a:t>41.0</a:t>
                      </a:r>
                      <a:endParaRPr lang="en-US" sz="1100">
                        <a:latin typeface="Times New Roman"/>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100">
                          <a:solidFill>
                            <a:srgbClr val="000000"/>
                          </a:solidFill>
                          <a:latin typeface="Times New Roman"/>
                          <a:cs typeface="Times New Roman"/>
                        </a:rPr>
                        <a:t>21.5</a:t>
                      </a:r>
                      <a:endParaRPr lang="en-US" sz="1100">
                        <a:latin typeface="Times New Roman"/>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100">
                          <a:solidFill>
                            <a:srgbClr val="000000"/>
                          </a:solidFill>
                          <a:latin typeface="Times New Roman"/>
                          <a:cs typeface="Times New Roman"/>
                        </a:rPr>
                        <a:t>—</a:t>
                      </a:r>
                      <a:endParaRPr lang="en-US" sz="1100">
                        <a:latin typeface="Times New Roman"/>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28624">
                <a:tc rowSpan="3">
                  <a:txBody>
                    <a:bodyPr/>
                    <a:lstStyle/>
                    <a:p>
                      <a:pPr marL="0" indent="0" algn="ctr">
                        <a:buNone/>
                      </a:pPr>
                      <a:endParaRPr lang="en-US" sz="1100" b="1">
                        <a:solidFill>
                          <a:srgbClr val="000000"/>
                        </a:solidFill>
                        <a:latin typeface="Times New Roman"/>
                        <a:cs typeface="Times New Roman"/>
                      </a:endParaRPr>
                    </a:p>
                    <a:p>
                      <a:pPr marL="0" lvl="0" indent="0" algn="ctr">
                        <a:buNone/>
                      </a:pPr>
                      <a:endParaRPr lang="en-US" sz="1100" b="1">
                        <a:solidFill>
                          <a:srgbClr val="000000"/>
                        </a:solidFill>
                        <a:latin typeface="Times New Roman"/>
                        <a:cs typeface="Times New Roman"/>
                      </a:endParaRPr>
                    </a:p>
                    <a:p>
                      <a:pPr marL="0" lvl="0" indent="0" algn="ctr">
                        <a:buNone/>
                      </a:pPr>
                      <a:r>
                        <a:rPr lang="en-US" sz="1100" b="1">
                          <a:solidFill>
                            <a:srgbClr val="000000"/>
                          </a:solidFill>
                          <a:latin typeface="Times New Roman"/>
                          <a:cs typeface="Times New Roman"/>
                        </a:rPr>
                        <a:t>LLaMA-8B</a:t>
                      </a:r>
                      <a:endParaRPr lang="en-US" sz="1100">
                        <a:latin typeface="Times New Roman"/>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100">
                          <a:solidFill>
                            <a:srgbClr val="000000"/>
                          </a:solidFill>
                          <a:latin typeface="Times New Roman"/>
                          <a:cs typeface="Times New Roman"/>
                        </a:rPr>
                        <a:t>Direct</a:t>
                      </a:r>
                      <a:endParaRPr lang="en-US" sz="1100">
                        <a:latin typeface="Times New Roman"/>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100">
                          <a:solidFill>
                            <a:srgbClr val="000000"/>
                          </a:solidFill>
                          <a:latin typeface="Times New Roman"/>
                          <a:cs typeface="Times New Roman"/>
                        </a:rPr>
                        <a:t>—</a:t>
                      </a:r>
                      <a:endParaRPr lang="en-US" sz="1100">
                        <a:latin typeface="Times New Roman"/>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100">
                          <a:solidFill>
                            <a:srgbClr val="000000"/>
                          </a:solidFill>
                          <a:latin typeface="Times New Roman"/>
                          <a:cs typeface="Times New Roman"/>
                        </a:rPr>
                        <a:t>—</a:t>
                      </a:r>
                      <a:endParaRPr lang="en-US" sz="1100">
                        <a:latin typeface="Times New Roman"/>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100" b="1">
                          <a:solidFill>
                            <a:srgbClr val="C00000"/>
                          </a:solidFill>
                          <a:latin typeface="Times New Roman"/>
                          <a:cs typeface="Times New Roman"/>
                        </a:rPr>
                        <a:t>32.5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100">
                          <a:solidFill>
                            <a:srgbClr val="000000"/>
                          </a:solidFill>
                          <a:latin typeface="Times New Roman"/>
                          <a:cs typeface="Times New Roman"/>
                        </a:rPr>
                        <a:t>—</a:t>
                      </a:r>
                      <a:endParaRPr lang="en-US" sz="1100">
                        <a:latin typeface="Times New Roman"/>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100">
                          <a:solidFill>
                            <a:srgbClr val="000000"/>
                          </a:solidFill>
                          <a:latin typeface="Times New Roman"/>
                          <a:cs typeface="Times New Roman"/>
                        </a:rPr>
                        <a:t>—</a:t>
                      </a:r>
                      <a:endParaRPr lang="en-US" sz="1100">
                        <a:latin typeface="Times New Roman"/>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58500">
                <a:tc v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a:buNone/>
                      </a:pPr>
                      <a:r>
                        <a:rPr lang="en-US" sz="1100" b="1" i="0" u="none" strike="noStrike" noProof="0">
                          <a:solidFill>
                            <a:srgbClr val="000000"/>
                          </a:solidFill>
                          <a:latin typeface="Times New Roman"/>
                          <a:cs typeface="Times New Roman"/>
                        </a:rPr>
                        <a:t>CGE Zero Shot</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100" b="1">
                          <a:solidFill>
                            <a:srgbClr val="2D7D46"/>
                          </a:solidFill>
                          <a:latin typeface="Times New Roman"/>
                          <a:cs typeface="Times New Roman"/>
                        </a:rPr>
                        <a:t>78.8 ↑</a:t>
                      </a:r>
                      <a:endParaRPr lang="en-US" sz="1100">
                        <a:latin typeface="Times New Roman"/>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100" b="1">
                          <a:solidFill>
                            <a:srgbClr val="2D7D46"/>
                          </a:solidFill>
                          <a:latin typeface="Times New Roman"/>
                          <a:cs typeface="Times New Roman"/>
                        </a:rPr>
                        <a:t>62.7 ↑</a:t>
                      </a:r>
                      <a:endParaRPr lang="en-US" sz="1100">
                        <a:latin typeface="Times New Roman"/>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100" b="1">
                          <a:solidFill>
                            <a:srgbClr val="2D7D46"/>
                          </a:solidFill>
                          <a:latin typeface="Times New Roman"/>
                          <a:cs typeface="Times New Roman"/>
                        </a:rPr>
                        <a:t>43.9 ↑</a:t>
                      </a:r>
                      <a:endParaRPr lang="en-US" sz="1100">
                        <a:latin typeface="Times New Roman"/>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100" b="1">
                          <a:solidFill>
                            <a:srgbClr val="2D7D46"/>
                          </a:solidFill>
                          <a:latin typeface="Times New Roman"/>
                          <a:cs typeface="Times New Roman"/>
                        </a:rPr>
                        <a:t>21.2 </a:t>
                      </a:r>
                      <a:endParaRPr lang="en-US" sz="1100">
                        <a:latin typeface="Times New Roman"/>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100" b="1">
                          <a:solidFill>
                            <a:srgbClr val="2D7D46"/>
                          </a:solidFill>
                          <a:latin typeface="Times New Roman"/>
                          <a:cs typeface="Times New Roman"/>
                        </a:rPr>
                        <a:t>69.1</a:t>
                      </a:r>
                      <a:endParaRPr lang="en-US" sz="1100">
                        <a:latin typeface="Times New Roman"/>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43563">
                <a:tc v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ctr">
                        <a:buNone/>
                      </a:pPr>
                      <a:r>
                        <a:rPr lang="en-US" sz="1100" b="0" i="0" u="none" strike="noStrike" noProof="0">
                          <a:solidFill>
                            <a:srgbClr val="000000"/>
                          </a:solidFill>
                          <a:latin typeface="Times New Roman"/>
                          <a:cs typeface="Times New Roman"/>
                        </a:rPr>
                        <a:t>CGE Few Shot</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100">
                          <a:solidFill>
                            <a:srgbClr val="000000"/>
                          </a:solidFill>
                          <a:latin typeface="Times New Roman"/>
                          <a:cs typeface="Times New Roman"/>
                        </a:rPr>
                        <a:t>78.8</a:t>
                      </a:r>
                      <a:endParaRPr lang="en-US" sz="1100">
                        <a:latin typeface="Times New Roman"/>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100">
                          <a:solidFill>
                            <a:srgbClr val="000000"/>
                          </a:solidFill>
                          <a:latin typeface="Times New Roman"/>
                          <a:cs typeface="Times New Roman"/>
                        </a:rPr>
                        <a:t>62.4</a:t>
                      </a:r>
                      <a:endParaRPr lang="en-US" sz="1100">
                        <a:latin typeface="Times New Roman"/>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100">
                          <a:solidFill>
                            <a:srgbClr val="000000"/>
                          </a:solidFill>
                          <a:latin typeface="Times New Roman"/>
                          <a:cs typeface="Times New Roman"/>
                        </a:rPr>
                        <a:t>42.0</a:t>
                      </a:r>
                      <a:endParaRPr lang="en-US" sz="1100">
                        <a:latin typeface="Times New Roman"/>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100">
                          <a:solidFill>
                            <a:srgbClr val="000000"/>
                          </a:solidFill>
                          <a:latin typeface="Times New Roman"/>
                          <a:cs typeface="Times New Roman"/>
                        </a:rPr>
                        <a:t>21.2</a:t>
                      </a:r>
                      <a:endParaRPr lang="en-US" sz="1100">
                        <a:latin typeface="Times New Roman"/>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100">
                          <a:solidFill>
                            <a:srgbClr val="000000"/>
                          </a:solidFill>
                          <a:latin typeface="Times New Roman"/>
                          <a:cs typeface="Times New Roman"/>
                        </a:rPr>
                        <a:t>—</a:t>
                      </a:r>
                      <a:endParaRPr lang="en-US" sz="1100">
                        <a:latin typeface="Times New Roman"/>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pic>
        <p:nvPicPr>
          <p:cNvPr id="5" name="Picture 4" descr="A graph of a bar graph&#10;&#10;AI-generated content may be incorrect.">
            <a:extLst>
              <a:ext uri="{FF2B5EF4-FFF2-40B4-BE49-F238E27FC236}">
                <a16:creationId xmlns:a16="http://schemas.microsoft.com/office/drawing/2014/main" id="{C152BFE3-4A25-3129-24BF-A6461A6D86FE}"/>
              </a:ext>
            </a:extLst>
          </p:cNvPr>
          <p:cNvPicPr>
            <a:picLocks noChangeAspect="1"/>
          </p:cNvPicPr>
          <p:nvPr/>
        </p:nvPicPr>
        <p:blipFill>
          <a:blip r:embed="rId3"/>
          <a:stretch>
            <a:fillRect/>
          </a:stretch>
        </p:blipFill>
        <p:spPr>
          <a:xfrm>
            <a:off x="6258279" y="972186"/>
            <a:ext cx="2751176" cy="1454224"/>
          </a:xfrm>
          <a:prstGeom prst="rect">
            <a:avLst/>
          </a:prstGeom>
          <a:ln>
            <a:solidFill>
              <a:schemeClr val="tx1"/>
            </a:solidFill>
          </a:ln>
        </p:spPr>
      </p:pic>
      <p:pic>
        <p:nvPicPr>
          <p:cNvPr id="6" name="Picture 5" descr="A graph of a bar chart&#10;&#10;AI-generated content may be incorrect.">
            <a:extLst>
              <a:ext uri="{FF2B5EF4-FFF2-40B4-BE49-F238E27FC236}">
                <a16:creationId xmlns:a16="http://schemas.microsoft.com/office/drawing/2014/main" id="{3DF460E4-4E18-8123-7BC8-7376F1F3CB81}"/>
              </a:ext>
            </a:extLst>
          </p:cNvPr>
          <p:cNvPicPr>
            <a:picLocks noChangeAspect="1"/>
          </p:cNvPicPr>
          <p:nvPr/>
        </p:nvPicPr>
        <p:blipFill>
          <a:blip r:embed="rId4"/>
          <a:stretch>
            <a:fillRect/>
          </a:stretch>
        </p:blipFill>
        <p:spPr>
          <a:xfrm>
            <a:off x="6289734" y="2574710"/>
            <a:ext cx="2721492" cy="1458876"/>
          </a:xfrm>
          <a:prstGeom prst="rect">
            <a:avLst/>
          </a:prstGeom>
          <a:ln>
            <a:solidFill>
              <a:schemeClr val="tx1"/>
            </a:solidFill>
          </a:ln>
        </p:spPr>
      </p:pic>
      <p:sp>
        <p:nvSpPr>
          <p:cNvPr id="7" name="TextBox 6">
            <a:extLst>
              <a:ext uri="{FF2B5EF4-FFF2-40B4-BE49-F238E27FC236}">
                <a16:creationId xmlns:a16="http://schemas.microsoft.com/office/drawing/2014/main" id="{11F7794E-12A2-C8B9-D3AD-9F7957A14971}"/>
              </a:ext>
            </a:extLst>
          </p:cNvPr>
          <p:cNvSpPr txBox="1"/>
          <p:nvPr/>
        </p:nvSpPr>
        <p:spPr>
          <a:xfrm>
            <a:off x="294653" y="4461896"/>
            <a:ext cx="6117773" cy="338554"/>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latin typeface="Times New Roman"/>
                <a:ea typeface="Calibri"/>
                <a:cs typeface="Times New Roman"/>
              </a:rPr>
              <a:t>Higher accuracy comes from active, correct reasoning at every step.</a:t>
            </a:r>
            <a:endParaRPr lang="en-US" sz="1600">
              <a:latin typeface="Times New Roman"/>
              <a:cs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7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3A6B"/>
          </a:solidFill>
          <a:ln w="12700">
            <a:solidFill>
              <a:srgbClr val="1B3A6B"/>
            </a:solidFill>
            <a:prstDash val="solid"/>
          </a:ln>
        </p:spPr>
      </p:sp>
      <p:sp>
        <p:nvSpPr>
          <p:cNvPr id="4" name="Text 2"/>
          <p:cNvSpPr/>
          <p:nvPr/>
        </p:nvSpPr>
        <p:spPr>
          <a:xfrm>
            <a:off x="292608" y="0"/>
            <a:ext cx="7132320" cy="658368"/>
          </a:xfrm>
          <a:prstGeom prst="rect">
            <a:avLst/>
          </a:prstGeom>
          <a:noFill/>
          <a:ln/>
        </p:spPr>
        <p:txBody>
          <a:bodyPr wrap="square" lIns="0" tIns="0" rIns="0" bIns="0" rtlCol="0" anchor="ctr"/>
          <a:lstStyle/>
          <a:p>
            <a:pPr marL="0" indent="0">
              <a:buNone/>
            </a:pPr>
            <a:r>
              <a:rPr lang="en-US" sz="2000" b="1">
                <a:solidFill>
                  <a:srgbClr val="FFFFFF"/>
                </a:solidFill>
                <a:latin typeface="Times New Roman"/>
                <a:cs typeface="Times New Roman"/>
              </a:rPr>
              <a:t>Results: Failure Distribution &amp; Few-Shot Finding</a:t>
            </a:r>
            <a:endParaRPr lang="en-US" sz="2000">
              <a:latin typeface="Times New Roman"/>
              <a:cs typeface="Times New Roman"/>
            </a:endParaRPr>
          </a:p>
        </p:txBody>
      </p:sp>
      <p:sp>
        <p:nvSpPr>
          <p:cNvPr id="8" name="Text 6"/>
          <p:cNvSpPr/>
          <p:nvPr/>
        </p:nvSpPr>
        <p:spPr>
          <a:xfrm>
            <a:off x="320040" y="804672"/>
            <a:ext cx="4114800" cy="292608"/>
          </a:xfrm>
          <a:prstGeom prst="rect">
            <a:avLst/>
          </a:prstGeom>
          <a:noFill/>
          <a:ln/>
        </p:spPr>
        <p:txBody>
          <a:bodyPr wrap="square" rtlCol="0" anchor="ctr"/>
          <a:lstStyle/>
          <a:p>
            <a:pPr marL="0" indent="0">
              <a:buNone/>
            </a:pPr>
            <a:r>
              <a:rPr lang="en-US" sz="1200" b="1">
                <a:solidFill>
                  <a:srgbClr val="1B3A6B"/>
                </a:solidFill>
                <a:latin typeface="Times New Roman"/>
                <a:cs typeface="Times New Roman"/>
              </a:rPr>
              <a:t>Failure Distribution (CGE Zero-shot)</a:t>
            </a:r>
            <a:endParaRPr lang="en-US" sz="1200">
              <a:latin typeface="Times New Roman"/>
              <a:cs typeface="Times New Roman"/>
            </a:endParaRPr>
          </a:p>
        </p:txBody>
      </p:sp>
      <p:graphicFrame>
        <p:nvGraphicFramePr>
          <p:cNvPr id="10" name="Table 0"/>
          <p:cNvGraphicFramePr>
            <a:graphicFrameLocks noGrp="1"/>
          </p:cNvGraphicFramePr>
          <p:nvPr>
            <p:extLst>
              <p:ext uri="{D42A27DB-BD31-4B8C-83A1-F6EECF244321}">
                <p14:modId xmlns:p14="http://schemas.microsoft.com/office/powerpoint/2010/main" val="3358326772"/>
              </p:ext>
            </p:extLst>
          </p:nvPr>
        </p:nvGraphicFramePr>
        <p:xfrm>
          <a:off x="320040" y="1152144"/>
          <a:ext cx="4114795" cy="2011680"/>
        </p:xfrm>
        <a:graphic>
          <a:graphicData uri="http://schemas.openxmlformats.org/drawingml/2006/table">
            <a:tbl>
              <a:tblPr/>
              <a:tblGrid>
                <a:gridCol w="1308009">
                  <a:extLst>
                    <a:ext uri="{9D8B030D-6E8A-4147-A177-3AD203B41FA5}">
                      <a16:colId xmlns:a16="http://schemas.microsoft.com/office/drawing/2014/main" val="20000"/>
                    </a:ext>
                  </a:extLst>
                </a:gridCol>
                <a:gridCol w="1549489">
                  <a:extLst>
                    <a:ext uri="{9D8B030D-6E8A-4147-A177-3AD203B41FA5}">
                      <a16:colId xmlns:a16="http://schemas.microsoft.com/office/drawing/2014/main" val="20001"/>
                    </a:ext>
                  </a:extLst>
                </a:gridCol>
                <a:gridCol w="1257297">
                  <a:extLst>
                    <a:ext uri="{9D8B030D-6E8A-4147-A177-3AD203B41FA5}">
                      <a16:colId xmlns:a16="http://schemas.microsoft.com/office/drawing/2014/main" val="20002"/>
                    </a:ext>
                  </a:extLst>
                </a:gridCol>
              </a:tblGrid>
              <a:tr h="502920">
                <a:tc>
                  <a:txBody>
                    <a:bodyPr/>
                    <a:lstStyle/>
                    <a:p>
                      <a:pPr marL="0" indent="0">
                        <a:buNone/>
                      </a:pPr>
                      <a:r>
                        <a:rPr lang="en-US" sz="1100" b="1">
                          <a:solidFill>
                            <a:srgbClr val="FFFFFF"/>
                          </a:solidFill>
                        </a:rPr>
                        <a:t>Outcome</a:t>
                      </a:r>
                      <a:endParaRPr lang="en-US" sz="110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3A6B"/>
                    </a:solidFill>
                  </a:tcPr>
                </a:tc>
                <a:tc>
                  <a:txBody>
                    <a:bodyPr/>
                    <a:lstStyle/>
                    <a:p>
                      <a:pPr marL="0" indent="0" algn="ctr">
                        <a:buNone/>
                      </a:pPr>
                      <a:r>
                        <a:rPr lang="en-US" sz="1100" b="1">
                          <a:solidFill>
                            <a:srgbClr val="FFFFFF"/>
                          </a:solidFill>
                        </a:rPr>
                        <a:t>Qwen-7B</a:t>
                      </a:r>
                      <a:endParaRPr lang="en-US" sz="110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3A6B"/>
                    </a:solidFill>
                  </a:tcPr>
                </a:tc>
                <a:tc>
                  <a:txBody>
                    <a:bodyPr/>
                    <a:lstStyle/>
                    <a:p>
                      <a:pPr marL="0" indent="0" algn="ctr">
                        <a:buNone/>
                      </a:pPr>
                      <a:r>
                        <a:rPr lang="en-US" sz="1100" b="1">
                          <a:solidFill>
                            <a:srgbClr val="FFFFFF"/>
                          </a:solidFill>
                        </a:rPr>
                        <a:t>LLaMA-8B</a:t>
                      </a:r>
                      <a:endParaRPr lang="en-US" sz="110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3A6B"/>
                    </a:solidFill>
                  </a:tcPr>
                </a:tc>
                <a:extLst>
                  <a:ext uri="{0D108BD9-81ED-4DB2-BD59-A6C34878D82A}">
                    <a16:rowId xmlns:a16="http://schemas.microsoft.com/office/drawing/2014/main" val="10000"/>
                  </a:ext>
                </a:extLst>
              </a:tr>
              <a:tr h="502920">
                <a:tc>
                  <a:txBody>
                    <a:bodyPr/>
                    <a:lstStyle/>
                    <a:p>
                      <a:pPr marL="0" indent="0">
                        <a:buNone/>
                      </a:pPr>
                      <a:r>
                        <a:rPr lang="en-US" sz="1100" b="1">
                          <a:solidFill>
                            <a:srgbClr val="C0392B"/>
                          </a:solidFill>
                        </a:rPr>
                        <a:t>Catastrophic (R1)</a:t>
                      </a:r>
                      <a:endParaRPr lang="en-US" sz="110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1100">
                          <a:solidFill>
                            <a:srgbClr val="2D3550"/>
                          </a:solidFill>
                        </a:rPr>
                        <a:t>18.9%</a:t>
                      </a:r>
                      <a:endParaRPr lang="en-US" sz="1100"/>
                    </a:p>
                    <a:p>
                      <a:pPr marL="0" indent="0" algn="ctr">
                        <a:buNone/>
                      </a:pPr>
                      <a:r>
                        <a:rPr lang="en-US" sz="1100">
                          <a:solidFill>
                            <a:srgbClr val="2D3550"/>
                          </a:solidFill>
                        </a:rPr>
                        <a:t>(792)</a:t>
                      </a:r>
                      <a:endParaRPr lang="en-US" sz="110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1100">
                          <a:solidFill>
                            <a:srgbClr val="2D3550"/>
                          </a:solidFill>
                        </a:rPr>
                        <a:t>21.2%</a:t>
                      </a:r>
                      <a:endParaRPr lang="en-US" sz="1100"/>
                    </a:p>
                    <a:p>
                      <a:pPr marL="0" indent="0" algn="ctr">
                        <a:buNone/>
                      </a:pPr>
                      <a:r>
                        <a:rPr lang="en-US" sz="1100">
                          <a:solidFill>
                            <a:srgbClr val="2D3550"/>
                          </a:solidFill>
                        </a:rPr>
                        <a:t>(885)</a:t>
                      </a:r>
                      <a:endParaRPr lang="en-US" sz="110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1"/>
                  </a:ext>
                </a:extLst>
              </a:tr>
              <a:tr h="502920">
                <a:tc>
                  <a:txBody>
                    <a:bodyPr/>
                    <a:lstStyle/>
                    <a:p>
                      <a:pPr marL="0" indent="0">
                        <a:buNone/>
                      </a:pPr>
                      <a:r>
                        <a:rPr lang="en-US" sz="1100" b="1">
                          <a:solidFill>
                            <a:srgbClr val="D4711E"/>
                          </a:solidFill>
                        </a:rPr>
                        <a:t>Late Failure</a:t>
                      </a:r>
                      <a:endParaRPr lang="en-US" sz="110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1100">
                          <a:solidFill>
                            <a:srgbClr val="2D3550"/>
                          </a:solidFill>
                        </a:rPr>
                        <a:t>39.5%</a:t>
                      </a:r>
                      <a:endParaRPr lang="en-US" sz="1100"/>
                    </a:p>
                    <a:p>
                      <a:pPr marL="0" indent="0" algn="ctr">
                        <a:buNone/>
                      </a:pPr>
                      <a:r>
                        <a:rPr lang="en-US" sz="1100">
                          <a:solidFill>
                            <a:srgbClr val="2D3550"/>
                          </a:solidFill>
                        </a:rPr>
                        <a:t>(1,653)</a:t>
                      </a:r>
                      <a:endParaRPr lang="en-US" sz="110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1100">
                          <a:solidFill>
                            <a:srgbClr val="2D3550"/>
                          </a:solidFill>
                        </a:rPr>
                        <a:t>35.0%</a:t>
                      </a:r>
                      <a:endParaRPr lang="en-US" sz="1100"/>
                    </a:p>
                    <a:p>
                      <a:pPr marL="0" indent="0" algn="ctr">
                        <a:buNone/>
                      </a:pPr>
                      <a:r>
                        <a:rPr lang="en-US" sz="1100">
                          <a:solidFill>
                            <a:srgbClr val="2D3550"/>
                          </a:solidFill>
                        </a:rPr>
                        <a:t>(1,462)</a:t>
                      </a:r>
                      <a:endParaRPr lang="en-US" sz="110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2"/>
                  </a:ext>
                </a:extLst>
              </a:tr>
              <a:tr h="502920">
                <a:tc>
                  <a:txBody>
                    <a:bodyPr/>
                    <a:lstStyle/>
                    <a:p>
                      <a:pPr marL="0" indent="0">
                        <a:buNone/>
                      </a:pPr>
                      <a:r>
                        <a:rPr lang="en-US" sz="1100" b="1">
                          <a:solidFill>
                            <a:srgbClr val="2D7D46"/>
                          </a:solidFill>
                        </a:rPr>
                        <a:t>Success</a:t>
                      </a:r>
                      <a:endParaRPr lang="en-US" sz="110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1100">
                          <a:solidFill>
                            <a:srgbClr val="2D3550"/>
                          </a:solidFill>
                        </a:rPr>
                        <a:t>41.5%</a:t>
                      </a:r>
                      <a:endParaRPr lang="en-US" sz="1100"/>
                    </a:p>
                    <a:p>
                      <a:pPr marL="0" indent="0" algn="ctr">
                        <a:buNone/>
                      </a:pPr>
                      <a:r>
                        <a:rPr lang="en-US" sz="1100">
                          <a:solidFill>
                            <a:srgbClr val="2D3550"/>
                          </a:solidFill>
                        </a:rPr>
                        <a:t>(1,738)</a:t>
                      </a:r>
                      <a:endParaRPr lang="en-US" sz="110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1100">
                          <a:solidFill>
                            <a:srgbClr val="2D3550"/>
                          </a:solidFill>
                        </a:rPr>
                        <a:t>43.9%</a:t>
                      </a:r>
                      <a:endParaRPr lang="en-US" sz="1100"/>
                    </a:p>
                    <a:p>
                      <a:pPr marL="0" indent="0" algn="ctr">
                        <a:buNone/>
                      </a:pPr>
                      <a:r>
                        <a:rPr lang="en-US" sz="1100">
                          <a:solidFill>
                            <a:srgbClr val="2D3550"/>
                          </a:solidFill>
                        </a:rPr>
                        <a:t>(1,836)</a:t>
                      </a:r>
                      <a:endParaRPr lang="en-US" sz="110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9" name="Shape 7"/>
          <p:cNvSpPr/>
          <p:nvPr/>
        </p:nvSpPr>
        <p:spPr>
          <a:xfrm>
            <a:off x="320040" y="3338092"/>
            <a:ext cx="4114800" cy="1005840"/>
          </a:xfrm>
          <a:prstGeom prst="rect">
            <a:avLst/>
          </a:prstGeom>
          <a:solidFill>
            <a:srgbClr val="EEF2FA"/>
          </a:solidFill>
          <a:ln w="12700">
            <a:solidFill>
              <a:srgbClr val="2E5090"/>
            </a:solidFill>
            <a:prstDash val="solid"/>
          </a:ln>
          <a:effectLst>
            <a:outerShdw blurRad="38100" dist="12700" dir="8100000" algn="bl" rotWithShape="0">
              <a:srgbClr val="000000">
                <a:alpha val="7000"/>
              </a:srgbClr>
            </a:outerShdw>
          </a:effectLst>
        </p:spPr>
      </p:sp>
      <p:sp>
        <p:nvSpPr>
          <p:cNvPr id="11" name="Shape 8"/>
          <p:cNvSpPr/>
          <p:nvPr/>
        </p:nvSpPr>
        <p:spPr>
          <a:xfrm>
            <a:off x="320040" y="3338092"/>
            <a:ext cx="109728" cy="1005840"/>
          </a:xfrm>
          <a:prstGeom prst="rect">
            <a:avLst/>
          </a:prstGeom>
          <a:solidFill>
            <a:schemeClr val="accent5">
              <a:lumMod val="75000"/>
            </a:schemeClr>
          </a:solidFill>
          <a:ln w="12700">
            <a:noFill/>
            <a:prstDash val="solid"/>
          </a:ln>
        </p:spPr>
      </p:sp>
      <p:sp>
        <p:nvSpPr>
          <p:cNvPr id="12" name="Text 9"/>
          <p:cNvSpPr/>
          <p:nvPr/>
        </p:nvSpPr>
        <p:spPr>
          <a:xfrm>
            <a:off x="530352" y="3392956"/>
            <a:ext cx="3794760" cy="868680"/>
          </a:xfrm>
          <a:prstGeom prst="rect">
            <a:avLst/>
          </a:prstGeom>
          <a:noFill/>
          <a:ln/>
        </p:spPr>
        <p:txBody>
          <a:bodyPr wrap="square" lIns="91440" tIns="45720" rIns="91440" bIns="45720" rtlCol="0" anchor="ctr"/>
          <a:lstStyle/>
          <a:p>
            <a:r>
              <a:rPr lang="en-US" sz="1200">
                <a:solidFill>
                  <a:srgbClr val="2D3550"/>
                </a:solidFill>
                <a:latin typeface="Times New Roman"/>
                <a:cs typeface="Times New Roman"/>
              </a:rPr>
              <a:t>Late failure dominates (35 - 40%). Models successfully protect the correct answer in Round 1, but fail at the final 2-option stage, the bottleneck is fine-grained discrimination, not gross elimination errors.</a:t>
            </a:r>
            <a:endParaRPr lang="en-US" sz="1200">
              <a:latin typeface="Times New Roman"/>
              <a:cs typeface="Times New Roman"/>
            </a:endParaRPr>
          </a:p>
        </p:txBody>
      </p:sp>
      <p:sp>
        <p:nvSpPr>
          <p:cNvPr id="13" name="Text 10"/>
          <p:cNvSpPr/>
          <p:nvPr/>
        </p:nvSpPr>
        <p:spPr>
          <a:xfrm>
            <a:off x="4709160" y="804672"/>
            <a:ext cx="4114800" cy="292608"/>
          </a:xfrm>
          <a:prstGeom prst="rect">
            <a:avLst/>
          </a:prstGeom>
          <a:noFill/>
          <a:ln/>
        </p:spPr>
        <p:txBody>
          <a:bodyPr wrap="square" rtlCol="0" anchor="ctr"/>
          <a:lstStyle/>
          <a:p>
            <a:pPr marL="0" indent="0">
              <a:buNone/>
            </a:pPr>
            <a:r>
              <a:rPr lang="en-US" sz="1200" b="1">
                <a:solidFill>
                  <a:srgbClr val="C0392B"/>
                </a:solidFill>
                <a:latin typeface="Times New Roman"/>
                <a:cs typeface="Times New Roman"/>
              </a:rPr>
              <a:t>Finding: Few-shot Hurts CGE</a:t>
            </a:r>
            <a:endParaRPr lang="en-US" sz="1200">
              <a:latin typeface="Times New Roman"/>
              <a:cs typeface="Times New Roman"/>
            </a:endParaRPr>
          </a:p>
        </p:txBody>
      </p:sp>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4709160" y="1152144"/>
          <a:ext cx="4114800" cy="2057400"/>
        </p:xfrm>
        <a:graphic>
          <a:graphicData uri="http://schemas.openxmlformats.org/drawingml/2006/table">
            <a:tbl>
              <a:tblPr/>
              <a:tblGrid>
                <a:gridCol w="14630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tblGrid>
              <a:tr h="411480">
                <a:tc>
                  <a:txBody>
                    <a:bodyPr/>
                    <a:lstStyle/>
                    <a:p>
                      <a:pPr marL="0" indent="0" algn="ctr">
                        <a:buNone/>
                      </a:pPr>
                      <a:endParaRPr lang="en-US" sz="110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3A6B"/>
                    </a:solidFill>
                  </a:tcPr>
                </a:tc>
                <a:tc>
                  <a:txBody>
                    <a:bodyPr/>
                    <a:lstStyle/>
                    <a:p>
                      <a:pPr marL="0" indent="0" algn="ctr">
                        <a:buNone/>
                      </a:pPr>
                      <a:r>
                        <a:rPr lang="en-US" sz="1100" b="1">
                          <a:solidFill>
                            <a:srgbClr val="FFFFFF"/>
                          </a:solidFill>
                        </a:rPr>
                        <a:t>CGE ZS</a:t>
                      </a:r>
                      <a:endParaRPr lang="en-US" sz="110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3A6B"/>
                    </a:solidFill>
                  </a:tcPr>
                </a:tc>
                <a:tc>
                  <a:txBody>
                    <a:bodyPr/>
                    <a:lstStyle/>
                    <a:p>
                      <a:pPr marL="0" indent="0" algn="ctr">
                        <a:buNone/>
                      </a:pPr>
                      <a:r>
                        <a:rPr lang="en-US" sz="1100" b="1">
                          <a:solidFill>
                            <a:srgbClr val="FFFFFF"/>
                          </a:solidFill>
                        </a:rPr>
                        <a:t>CGE FS</a:t>
                      </a:r>
                      <a:endParaRPr lang="en-US" sz="110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3A6B"/>
                    </a:solidFill>
                  </a:tcPr>
                </a:tc>
                <a:tc>
                  <a:txBody>
                    <a:bodyPr/>
                    <a:lstStyle/>
                    <a:p>
                      <a:pPr marL="0" indent="0" algn="ctr">
                        <a:buNone/>
                      </a:pPr>
                      <a:r>
                        <a:rPr lang="en-US" sz="1100" b="1">
                          <a:solidFill>
                            <a:srgbClr val="FFFFFF"/>
                          </a:solidFill>
                        </a:rPr>
                        <a:t>Δ</a:t>
                      </a:r>
                      <a:endParaRPr lang="en-US" sz="110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3A6B"/>
                    </a:solidFill>
                  </a:tcPr>
                </a:tc>
                <a:extLst>
                  <a:ext uri="{0D108BD9-81ED-4DB2-BD59-A6C34878D82A}">
                    <a16:rowId xmlns:a16="http://schemas.microsoft.com/office/drawing/2014/main" val="10000"/>
                  </a:ext>
                </a:extLst>
              </a:tr>
              <a:tr h="411480">
                <a:tc>
                  <a:txBody>
                    <a:bodyPr/>
                    <a:lstStyle/>
                    <a:p>
                      <a:pPr marL="0" indent="0" algn="l">
                        <a:buNone/>
                      </a:pPr>
                      <a:r>
                        <a:rPr lang="en-US" sz="1100" b="1">
                          <a:solidFill>
                            <a:srgbClr val="2D3550"/>
                          </a:solidFill>
                        </a:rPr>
                        <a:t>Qwen Acc</a:t>
                      </a:r>
                      <a:endParaRPr lang="en-US" sz="110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1100">
                          <a:solidFill>
                            <a:srgbClr val="2D3550"/>
                          </a:solidFill>
                        </a:rPr>
                        <a:t>41.6%</a:t>
                      </a:r>
                      <a:endParaRPr lang="en-US" sz="110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1100">
                          <a:solidFill>
                            <a:srgbClr val="2D3550"/>
                          </a:solidFill>
                        </a:rPr>
                        <a:t>41.0%</a:t>
                      </a:r>
                      <a:endParaRPr lang="en-US" sz="110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1100">
                          <a:solidFill>
                            <a:srgbClr val="C0392B"/>
                          </a:solidFill>
                        </a:rPr>
                        <a:t>−0.6</a:t>
                      </a:r>
                      <a:endParaRPr lang="en-US" sz="110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1"/>
                  </a:ext>
                </a:extLst>
              </a:tr>
              <a:tr h="411480">
                <a:tc>
                  <a:txBody>
                    <a:bodyPr/>
                    <a:lstStyle/>
                    <a:p>
                      <a:pPr marL="0" indent="0" algn="l">
                        <a:buNone/>
                      </a:pPr>
                      <a:r>
                        <a:rPr lang="en-US" sz="1100" b="1">
                          <a:solidFill>
                            <a:srgbClr val="2D3550"/>
                          </a:solidFill>
                        </a:rPr>
                        <a:t>Qwen CFR</a:t>
                      </a:r>
                      <a:endParaRPr lang="en-US" sz="110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1100">
                          <a:solidFill>
                            <a:srgbClr val="2D3550"/>
                          </a:solidFill>
                        </a:rPr>
                        <a:t>18.9%</a:t>
                      </a:r>
                      <a:endParaRPr lang="en-US" sz="110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1100">
                          <a:solidFill>
                            <a:srgbClr val="2D3550"/>
                          </a:solidFill>
                        </a:rPr>
                        <a:t>21.5%</a:t>
                      </a:r>
                      <a:endParaRPr lang="en-US" sz="110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1100" b="1">
                          <a:solidFill>
                            <a:srgbClr val="C0392B"/>
                          </a:solidFill>
                        </a:rPr>
                        <a:t>+2.6 ↑bad</a:t>
                      </a:r>
                      <a:endParaRPr lang="en-US" sz="110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2"/>
                  </a:ext>
                </a:extLst>
              </a:tr>
              <a:tr h="411480">
                <a:tc>
                  <a:txBody>
                    <a:bodyPr/>
                    <a:lstStyle/>
                    <a:p>
                      <a:pPr marL="0" indent="0" algn="l">
                        <a:buNone/>
                      </a:pPr>
                      <a:r>
                        <a:rPr lang="en-US" sz="1100" b="1">
                          <a:solidFill>
                            <a:srgbClr val="2D3550"/>
                          </a:solidFill>
                        </a:rPr>
                        <a:t>LLaMA Acc</a:t>
                      </a:r>
                      <a:endParaRPr lang="en-US" sz="110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1100">
                          <a:solidFill>
                            <a:srgbClr val="2D3550"/>
                          </a:solidFill>
                        </a:rPr>
                        <a:t>43.9%</a:t>
                      </a:r>
                      <a:endParaRPr lang="en-US" sz="110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1100">
                          <a:solidFill>
                            <a:srgbClr val="2D3550"/>
                          </a:solidFill>
                        </a:rPr>
                        <a:t>42.0%</a:t>
                      </a:r>
                      <a:endParaRPr lang="en-US" sz="110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1100">
                          <a:solidFill>
                            <a:srgbClr val="C0392B"/>
                          </a:solidFill>
                        </a:rPr>
                        <a:t>−1.9</a:t>
                      </a:r>
                      <a:endParaRPr lang="en-US" sz="110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3"/>
                  </a:ext>
                </a:extLst>
              </a:tr>
              <a:tr h="411480">
                <a:tc>
                  <a:txBody>
                    <a:bodyPr/>
                    <a:lstStyle/>
                    <a:p>
                      <a:pPr marL="0" indent="0" algn="l">
                        <a:buNone/>
                      </a:pPr>
                      <a:r>
                        <a:rPr lang="en-US" sz="1100" b="1">
                          <a:solidFill>
                            <a:srgbClr val="2D3550"/>
                          </a:solidFill>
                        </a:rPr>
                        <a:t>LLaMA CFR</a:t>
                      </a:r>
                      <a:endParaRPr lang="en-US" sz="110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1100">
                          <a:solidFill>
                            <a:srgbClr val="2D3550"/>
                          </a:solidFill>
                        </a:rPr>
                        <a:t>21.2%</a:t>
                      </a:r>
                      <a:endParaRPr lang="en-US" sz="110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1100">
                          <a:solidFill>
                            <a:srgbClr val="2D3550"/>
                          </a:solidFill>
                        </a:rPr>
                        <a:t>21.2%</a:t>
                      </a:r>
                      <a:endParaRPr lang="en-US" sz="110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1100">
                          <a:solidFill>
                            <a:srgbClr val="2D3550"/>
                          </a:solidFill>
                        </a:rPr>
                        <a:t>0.0</a:t>
                      </a:r>
                      <a:endParaRPr lang="en-US" sz="110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5" name="Shape 11"/>
          <p:cNvSpPr/>
          <p:nvPr/>
        </p:nvSpPr>
        <p:spPr>
          <a:xfrm>
            <a:off x="4709160" y="3338092"/>
            <a:ext cx="4114800" cy="1005840"/>
          </a:xfrm>
          <a:prstGeom prst="rect">
            <a:avLst/>
          </a:prstGeom>
          <a:solidFill>
            <a:srgbClr val="FBEAEA"/>
          </a:solidFill>
          <a:ln w="12700">
            <a:solidFill>
              <a:srgbClr val="C0392B"/>
            </a:solidFill>
            <a:prstDash val="solid"/>
          </a:ln>
          <a:effectLst>
            <a:outerShdw blurRad="38100" dist="12700" dir="8100000" algn="bl" rotWithShape="0">
              <a:srgbClr val="000000">
                <a:alpha val="7000"/>
              </a:srgbClr>
            </a:outerShdw>
          </a:effectLst>
        </p:spPr>
      </p:sp>
      <p:sp>
        <p:nvSpPr>
          <p:cNvPr id="16" name="Shape 12"/>
          <p:cNvSpPr/>
          <p:nvPr/>
        </p:nvSpPr>
        <p:spPr>
          <a:xfrm>
            <a:off x="4709160" y="3338092"/>
            <a:ext cx="109728" cy="1005840"/>
          </a:xfrm>
          <a:prstGeom prst="rect">
            <a:avLst/>
          </a:prstGeom>
          <a:solidFill>
            <a:srgbClr val="C0392B"/>
          </a:solidFill>
          <a:ln w="12700">
            <a:solidFill>
              <a:srgbClr val="C0392B"/>
            </a:solidFill>
            <a:prstDash val="solid"/>
          </a:ln>
        </p:spPr>
      </p:sp>
      <p:sp>
        <p:nvSpPr>
          <p:cNvPr id="17" name="Text 13"/>
          <p:cNvSpPr/>
          <p:nvPr/>
        </p:nvSpPr>
        <p:spPr>
          <a:xfrm>
            <a:off x="4919472" y="3392956"/>
            <a:ext cx="3794760" cy="868680"/>
          </a:xfrm>
          <a:prstGeom prst="rect">
            <a:avLst/>
          </a:prstGeom>
          <a:noFill/>
          <a:ln/>
        </p:spPr>
        <p:txBody>
          <a:bodyPr wrap="square" lIns="91440" tIns="45720" rIns="91440" bIns="45720" rtlCol="0" anchor="ctr"/>
          <a:lstStyle/>
          <a:p>
            <a:r>
              <a:rPr lang="en-US" sz="1200">
                <a:solidFill>
                  <a:srgbClr val="2D3550"/>
                </a:solidFill>
                <a:latin typeface="Times New Roman"/>
                <a:cs typeface="Times New Roman"/>
              </a:rPr>
              <a:t>3 examples hurt both models. Interpretation: examples introduce pattern-matching bias. Model copies the example's scoring pattern rather than reasoning about the specific question.</a:t>
            </a:r>
            <a:endParaRPr lang="en-US" sz="1200">
              <a:latin typeface="Times New Roman"/>
              <a:cs typeface="Times New Roman"/>
            </a:endParaRPr>
          </a:p>
        </p:txBody>
      </p:sp>
      <p:sp>
        <p:nvSpPr>
          <p:cNvPr id="18" name="Shape 14"/>
          <p:cNvSpPr/>
          <p:nvPr/>
        </p:nvSpPr>
        <p:spPr>
          <a:xfrm>
            <a:off x="320040" y="4453660"/>
            <a:ext cx="8503920" cy="658368"/>
          </a:xfrm>
          <a:prstGeom prst="rect">
            <a:avLst/>
          </a:prstGeom>
          <a:solidFill>
            <a:srgbClr val="E8ECF2"/>
          </a:solidFill>
          <a:ln w="12700">
            <a:solidFill>
              <a:srgbClr val="E8ECF2"/>
            </a:solidFill>
            <a:prstDash val="solid"/>
          </a:ln>
        </p:spPr>
      </p:sp>
      <p:sp>
        <p:nvSpPr>
          <p:cNvPr id="14" name="Text 15"/>
          <p:cNvSpPr/>
          <p:nvPr/>
        </p:nvSpPr>
        <p:spPr>
          <a:xfrm>
            <a:off x="448907" y="4475298"/>
            <a:ext cx="8515349" cy="563578"/>
          </a:xfrm>
          <a:prstGeom prst="rect">
            <a:avLst/>
          </a:prstGeom>
          <a:noFill/>
          <a:ln/>
        </p:spPr>
        <p:txBody>
          <a:bodyPr wrap="square" lIns="91440" tIns="45720" rIns="91440" bIns="45720" rtlCol="0" anchor="ctr"/>
          <a:lstStyle/>
          <a:p>
            <a:r>
              <a:rPr lang="en-US" sz="1200" b="1">
                <a:solidFill>
                  <a:srgbClr val="1B3A6B"/>
                </a:solidFill>
                <a:latin typeface="Times New Roman"/>
                <a:cs typeface="Times New Roman"/>
              </a:rPr>
              <a:t>Question Length: </a:t>
            </a:r>
            <a:r>
              <a:rPr lang="en-US" sz="1200">
                <a:solidFill>
                  <a:srgbClr val="2D3550"/>
                </a:solidFill>
                <a:latin typeface="Times New Roman"/>
                <a:cs typeface="Times New Roman"/>
              </a:rPr>
              <a:t>Short (&lt;10words): 34.9% / 33.4%  ·  Medium (10-20words): 33.2% / 30.9%  ·  Long (&gt;20words): 35.5% /34.3% Near-uniform across lengths. Questions Length is not a confound.</a:t>
            </a:r>
            <a:endParaRPr lang="en-US" sz="1200">
              <a:latin typeface="Times New Roman"/>
              <a:cs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7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3A6B"/>
          </a:solidFill>
          <a:ln w="12700">
            <a:solidFill>
              <a:srgbClr val="1B3A6B"/>
            </a:solidFill>
            <a:prstDash val="solid"/>
          </a:ln>
        </p:spPr>
      </p:sp>
      <p:sp>
        <p:nvSpPr>
          <p:cNvPr id="3" name="Shape 1"/>
          <p:cNvSpPr/>
          <p:nvPr/>
        </p:nvSpPr>
        <p:spPr>
          <a:xfrm>
            <a:off x="0" y="0"/>
            <a:ext cx="164592" cy="658368"/>
          </a:xfrm>
          <a:prstGeom prst="rect">
            <a:avLst/>
          </a:prstGeom>
          <a:solidFill>
            <a:srgbClr val="C8993A"/>
          </a:solidFill>
          <a:ln w="12700">
            <a:solidFill>
              <a:srgbClr val="C8993A"/>
            </a:solidFill>
            <a:prstDash val="solid"/>
          </a:ln>
        </p:spPr>
      </p:sp>
      <p:sp>
        <p:nvSpPr>
          <p:cNvPr id="4" name="Text 2"/>
          <p:cNvSpPr/>
          <p:nvPr/>
        </p:nvSpPr>
        <p:spPr>
          <a:xfrm>
            <a:off x="292608" y="0"/>
            <a:ext cx="7132320" cy="658368"/>
          </a:xfrm>
          <a:prstGeom prst="rect">
            <a:avLst/>
          </a:prstGeom>
          <a:noFill/>
          <a:ln/>
        </p:spPr>
        <p:txBody>
          <a:bodyPr wrap="square" lIns="0" tIns="0" rIns="0" bIns="0" rtlCol="0" anchor="ctr"/>
          <a:lstStyle/>
          <a:p>
            <a:r>
              <a:rPr lang="en-US" sz="2400" b="1">
                <a:solidFill>
                  <a:srgbClr val="FFFFFF"/>
                </a:solidFill>
                <a:latin typeface="Times New Roman"/>
                <a:cs typeface="Times New Roman"/>
              </a:rPr>
              <a:t>Results: Diagnosing Failures: Verbalization Gap</a:t>
            </a:r>
            <a:endParaRPr lang="en-US" sz="2400">
              <a:latin typeface="Times New Roman"/>
              <a:cs typeface="Times New Roman"/>
            </a:endParaRPr>
          </a:p>
        </p:txBody>
      </p:sp>
      <p:sp>
        <p:nvSpPr>
          <p:cNvPr id="8" name="Text 6"/>
          <p:cNvSpPr/>
          <p:nvPr/>
        </p:nvSpPr>
        <p:spPr>
          <a:xfrm>
            <a:off x="320040" y="804672"/>
            <a:ext cx="4297680" cy="292608"/>
          </a:xfrm>
          <a:prstGeom prst="rect">
            <a:avLst/>
          </a:prstGeom>
          <a:noFill/>
          <a:ln/>
        </p:spPr>
        <p:txBody>
          <a:bodyPr wrap="square" rtlCol="0" anchor="ctr"/>
          <a:lstStyle/>
          <a:p>
            <a:pPr marL="0" indent="0">
              <a:buNone/>
            </a:pPr>
            <a:r>
              <a:rPr lang="en-US" sz="1300" b="1">
                <a:solidFill>
                  <a:srgbClr val="1B3A6B"/>
                </a:solidFill>
                <a:latin typeface="Times New Roman"/>
                <a:cs typeface="Times New Roman"/>
              </a:rPr>
              <a:t>Experiment 3: CoT Investigation (n=30 per set)</a:t>
            </a:r>
            <a:endParaRPr lang="en-US" sz="1300">
              <a:latin typeface="Times New Roman"/>
              <a:cs typeface="Times New Roman"/>
            </a:endParaRPr>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320040" y="1152144"/>
          <a:ext cx="3986784" cy="2688336"/>
        </p:xfrm>
        <a:graphic>
          <a:graphicData uri="http://schemas.openxmlformats.org/drawingml/2006/table">
            <a:tbl>
              <a:tblPr/>
              <a:tblGrid>
                <a:gridCol w="2011680">
                  <a:extLst>
                    <a:ext uri="{9D8B030D-6E8A-4147-A177-3AD203B41FA5}">
                      <a16:colId xmlns:a16="http://schemas.microsoft.com/office/drawing/2014/main" val="20000"/>
                    </a:ext>
                  </a:extLst>
                </a:gridCol>
                <a:gridCol w="658368">
                  <a:extLst>
                    <a:ext uri="{9D8B030D-6E8A-4147-A177-3AD203B41FA5}">
                      <a16:colId xmlns:a16="http://schemas.microsoft.com/office/drawing/2014/main" val="20001"/>
                    </a:ext>
                  </a:extLst>
                </a:gridCol>
                <a:gridCol w="658368">
                  <a:extLst>
                    <a:ext uri="{9D8B030D-6E8A-4147-A177-3AD203B41FA5}">
                      <a16:colId xmlns:a16="http://schemas.microsoft.com/office/drawing/2014/main" val="20002"/>
                    </a:ext>
                  </a:extLst>
                </a:gridCol>
                <a:gridCol w="658368">
                  <a:extLst>
                    <a:ext uri="{9D8B030D-6E8A-4147-A177-3AD203B41FA5}">
                      <a16:colId xmlns:a16="http://schemas.microsoft.com/office/drawing/2014/main" val="20003"/>
                    </a:ext>
                  </a:extLst>
                </a:gridCol>
              </a:tblGrid>
              <a:tr h="384048">
                <a:tc>
                  <a:txBody>
                    <a:bodyPr/>
                    <a:lstStyle/>
                    <a:p>
                      <a:pPr marL="0" indent="0">
                        <a:buNone/>
                      </a:pPr>
                      <a:r>
                        <a:rPr lang="en-US" sz="1050" b="1">
                          <a:solidFill>
                            <a:srgbClr val="FFFFFF"/>
                          </a:solidFill>
                        </a:rPr>
                        <a:t>Question Set</a:t>
                      </a:r>
                      <a:endParaRPr lang="en-US" sz="105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3A6B"/>
                    </a:solidFill>
                  </a:tcPr>
                </a:tc>
                <a:tc>
                  <a:txBody>
                    <a:bodyPr/>
                    <a:lstStyle/>
                    <a:p>
                      <a:pPr marL="0" indent="0" algn="ctr">
                        <a:buNone/>
                      </a:pPr>
                      <a:r>
                        <a:rPr lang="en-US" sz="1050" b="1">
                          <a:solidFill>
                            <a:srgbClr val="FFFFFF"/>
                          </a:solidFill>
                        </a:rPr>
                        <a:t>CGE</a:t>
                      </a:r>
                      <a:endParaRPr lang="en-US" sz="105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3A6B"/>
                    </a:solidFill>
                  </a:tcPr>
                </a:tc>
                <a:tc>
                  <a:txBody>
                    <a:bodyPr/>
                    <a:lstStyle/>
                    <a:p>
                      <a:pPr marL="0" indent="0" algn="ctr">
                        <a:buNone/>
                      </a:pPr>
                      <a:r>
                        <a:rPr lang="en-US" sz="1050" b="1">
                          <a:solidFill>
                            <a:srgbClr val="FFFFFF"/>
                          </a:solidFill>
                        </a:rPr>
                        <a:t>CoT</a:t>
                      </a:r>
                      <a:endParaRPr lang="en-US" sz="105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3A6B"/>
                    </a:solidFill>
                  </a:tcPr>
                </a:tc>
                <a:tc>
                  <a:txBody>
                    <a:bodyPr/>
                    <a:lstStyle/>
                    <a:p>
                      <a:pPr marL="0" indent="0" algn="ctr">
                        <a:buNone/>
                      </a:pPr>
                      <a:r>
                        <a:rPr lang="en-US" sz="1050" b="1">
                          <a:solidFill>
                            <a:srgbClr val="FFFFFF"/>
                          </a:solidFill>
                        </a:rPr>
                        <a:t>Δ</a:t>
                      </a:r>
                      <a:endParaRPr lang="en-US" sz="105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3A6B"/>
                    </a:solidFill>
                  </a:tcPr>
                </a:tc>
                <a:extLst>
                  <a:ext uri="{0D108BD9-81ED-4DB2-BD59-A6C34878D82A}">
                    <a16:rowId xmlns:a16="http://schemas.microsoft.com/office/drawing/2014/main" val="10000"/>
                  </a:ext>
                </a:extLst>
              </a:tr>
              <a:tr h="384048">
                <a:tc>
                  <a:txBody>
                    <a:bodyPr/>
                    <a:lstStyle/>
                    <a:p>
                      <a:pPr marL="0" indent="0">
                        <a:buNone/>
                      </a:pPr>
                      <a:r>
                        <a:rPr lang="en-US" sz="1000" b="1">
                          <a:solidFill>
                            <a:srgbClr val="000000"/>
                          </a:solidFill>
                        </a:rPr>
                        <a:t>Qwen — Catastrophic Failures</a:t>
                      </a:r>
                      <a:endParaRPr lang="en-US" sz="100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1000">
                          <a:solidFill>
                            <a:srgbClr val="C0392B"/>
                          </a:solidFill>
                        </a:rPr>
                        <a:t>0.0%</a:t>
                      </a:r>
                      <a:endParaRPr lang="en-US" sz="100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1000">
                          <a:solidFill>
                            <a:srgbClr val="2D7D46"/>
                          </a:solidFill>
                        </a:rPr>
                        <a:t>36.7%</a:t>
                      </a:r>
                      <a:endParaRPr lang="en-US" sz="100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1000" b="1">
                          <a:solidFill>
                            <a:srgbClr val="2D7D46"/>
                          </a:solidFill>
                        </a:rPr>
                        <a:t>+36.7</a:t>
                      </a:r>
                      <a:endParaRPr lang="en-US" sz="100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000">
                          <a:solidFill>
                            <a:srgbClr val="000000"/>
                          </a:solidFill>
                        </a:rPr>
                        <a:t>Qwen — Flat Confidence</a:t>
                      </a:r>
                      <a:endParaRPr lang="en-US" sz="100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1000">
                          <a:solidFill>
                            <a:srgbClr val="000000"/>
                          </a:solidFill>
                        </a:rPr>
                        <a:t>33.3%</a:t>
                      </a:r>
                      <a:endParaRPr lang="en-US" sz="100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1000">
                          <a:solidFill>
                            <a:srgbClr val="C0392B"/>
                          </a:solidFill>
                        </a:rPr>
                        <a:t>26.7%</a:t>
                      </a:r>
                      <a:endParaRPr lang="en-US" sz="100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1000">
                          <a:solidFill>
                            <a:srgbClr val="C0392B"/>
                          </a:solidFill>
                        </a:rPr>
                        <a:t>−6.7</a:t>
                      </a:r>
                      <a:endParaRPr lang="en-US" sz="100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000">
                          <a:solidFill>
                            <a:srgbClr val="000000"/>
                          </a:solidFill>
                        </a:rPr>
                        <a:t>Qwen — Model Disagreement</a:t>
                      </a:r>
                      <a:endParaRPr lang="en-US" sz="100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1000">
                          <a:solidFill>
                            <a:srgbClr val="000000"/>
                          </a:solidFill>
                        </a:rPr>
                        <a:t>23.3%</a:t>
                      </a:r>
                      <a:endParaRPr lang="en-US" sz="100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1000">
                          <a:solidFill>
                            <a:srgbClr val="C0392B"/>
                          </a:solidFill>
                        </a:rPr>
                        <a:t>13.3%</a:t>
                      </a:r>
                      <a:endParaRPr lang="en-US" sz="100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1000">
                          <a:solidFill>
                            <a:srgbClr val="C0392B"/>
                          </a:solidFill>
                        </a:rPr>
                        <a:t>−10.0</a:t>
                      </a:r>
                      <a:endParaRPr lang="en-US" sz="100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000" b="1">
                          <a:solidFill>
                            <a:srgbClr val="000000"/>
                          </a:solidFill>
                        </a:rPr>
                        <a:t>LLaMA — Catastrophic Failures</a:t>
                      </a:r>
                      <a:endParaRPr lang="en-US" sz="100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1000">
                          <a:solidFill>
                            <a:srgbClr val="C0392B"/>
                          </a:solidFill>
                        </a:rPr>
                        <a:t>0.0%</a:t>
                      </a:r>
                      <a:endParaRPr lang="en-US" sz="100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1000">
                          <a:solidFill>
                            <a:srgbClr val="2D7D46"/>
                          </a:solidFill>
                        </a:rPr>
                        <a:t>43.3%</a:t>
                      </a:r>
                      <a:endParaRPr lang="en-US" sz="100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1000" b="1">
                          <a:solidFill>
                            <a:srgbClr val="2D7D46"/>
                          </a:solidFill>
                        </a:rPr>
                        <a:t>+43.3</a:t>
                      </a:r>
                      <a:endParaRPr lang="en-US" sz="100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buNone/>
                      </a:pPr>
                      <a:r>
                        <a:rPr lang="en-US" sz="1000">
                          <a:solidFill>
                            <a:srgbClr val="000000"/>
                          </a:solidFill>
                        </a:rPr>
                        <a:t>LLaMA — Flat Confidence</a:t>
                      </a:r>
                      <a:endParaRPr lang="en-US" sz="100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1000">
                          <a:solidFill>
                            <a:srgbClr val="000000"/>
                          </a:solidFill>
                        </a:rPr>
                        <a:t>33.3%</a:t>
                      </a:r>
                      <a:endParaRPr lang="en-US" sz="100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1000">
                          <a:solidFill>
                            <a:srgbClr val="000000"/>
                          </a:solidFill>
                        </a:rPr>
                        <a:t>30.0%</a:t>
                      </a:r>
                      <a:endParaRPr lang="en-US" sz="100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1000">
                          <a:solidFill>
                            <a:srgbClr val="C0392B"/>
                          </a:solidFill>
                        </a:rPr>
                        <a:t>−3.3</a:t>
                      </a:r>
                      <a:endParaRPr lang="en-US" sz="100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buNone/>
                      </a:pPr>
                      <a:r>
                        <a:rPr lang="en-US" sz="1000">
                          <a:solidFill>
                            <a:srgbClr val="000000"/>
                          </a:solidFill>
                        </a:rPr>
                        <a:t>LLaMA — Model Disagreement</a:t>
                      </a:r>
                      <a:endParaRPr lang="en-US" sz="100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1000">
                          <a:solidFill>
                            <a:srgbClr val="000000"/>
                          </a:solidFill>
                        </a:rPr>
                        <a:t>40.0%</a:t>
                      </a:r>
                      <a:endParaRPr lang="en-US" sz="100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1000">
                          <a:solidFill>
                            <a:srgbClr val="2D7D46"/>
                          </a:solidFill>
                        </a:rPr>
                        <a:t>53.3%</a:t>
                      </a:r>
                      <a:endParaRPr lang="en-US" sz="100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1000">
                          <a:solidFill>
                            <a:srgbClr val="2D7D46"/>
                          </a:solidFill>
                        </a:rPr>
                        <a:t>+13.3</a:t>
                      </a:r>
                      <a:endParaRPr lang="en-US" sz="100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0" name="Text 7"/>
          <p:cNvSpPr/>
          <p:nvPr/>
        </p:nvSpPr>
        <p:spPr>
          <a:xfrm>
            <a:off x="4846320" y="804672"/>
            <a:ext cx="4023360" cy="292608"/>
          </a:xfrm>
          <a:prstGeom prst="rect">
            <a:avLst/>
          </a:prstGeom>
          <a:noFill/>
          <a:ln/>
        </p:spPr>
        <p:txBody>
          <a:bodyPr wrap="square" rtlCol="0" anchor="ctr"/>
          <a:lstStyle/>
          <a:p>
            <a:pPr marL="0" indent="0">
              <a:buNone/>
            </a:pPr>
            <a:r>
              <a:rPr lang="en-US" sz="1300" b="1">
                <a:solidFill>
                  <a:srgbClr val="1B3A6B"/>
                </a:solidFill>
                <a:latin typeface="Times New Roman"/>
                <a:cs typeface="Times New Roman"/>
              </a:rPr>
              <a:t>Experiment 4: Logit Analysis (n=25 per set)</a:t>
            </a:r>
            <a:endParaRPr lang="en-US" sz="1300">
              <a:latin typeface="Times New Roman"/>
              <a:cs typeface="Times New Roman"/>
            </a:endParaRPr>
          </a:p>
        </p:txBody>
      </p:sp>
      <p:graphicFrame>
        <p:nvGraphicFramePr>
          <p:cNvPr id="21" name="Table 1"/>
          <p:cNvGraphicFramePr>
            <a:graphicFrameLocks noGrp="1"/>
          </p:cNvGraphicFramePr>
          <p:nvPr>
            <p:extLst>
              <p:ext uri="{D42A27DB-BD31-4B8C-83A1-F6EECF244321}">
                <p14:modId xmlns:p14="http://schemas.microsoft.com/office/powerpoint/2010/main" val="2960831562"/>
              </p:ext>
            </p:extLst>
          </p:nvPr>
        </p:nvGraphicFramePr>
        <p:xfrm>
          <a:off x="4846320" y="1152144"/>
          <a:ext cx="4023360" cy="1968716"/>
        </p:xfrm>
        <a:graphic>
          <a:graphicData uri="http://schemas.openxmlformats.org/drawingml/2006/table">
            <a:tbl>
              <a:tblPr/>
              <a:tblGrid>
                <a:gridCol w="141732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tblGrid>
              <a:tr h="389309">
                <a:tc>
                  <a:txBody>
                    <a:bodyPr/>
                    <a:lstStyle/>
                    <a:p>
                      <a:pPr marL="0" indent="0">
                        <a:buNone/>
                      </a:pPr>
                      <a:r>
                        <a:rPr lang="en-US" sz="1050" b="1">
                          <a:solidFill>
                            <a:srgbClr val="FFFFFF"/>
                          </a:solidFill>
                        </a:rPr>
                        <a:t>Model / Set</a:t>
                      </a:r>
                      <a:endParaRPr lang="en-US" sz="105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3A6B"/>
                    </a:solidFill>
                  </a:tcPr>
                </a:tc>
                <a:tc>
                  <a:txBody>
                    <a:bodyPr/>
                    <a:lstStyle/>
                    <a:p>
                      <a:pPr marL="0" indent="0" algn="ctr">
                        <a:buNone/>
                      </a:pPr>
                      <a:r>
                        <a:rPr lang="en-US" sz="1050" b="1">
                          <a:solidFill>
                            <a:srgbClr val="FFFFFF"/>
                          </a:solidFill>
                        </a:rPr>
                        <a:t>Internal</a:t>
                      </a:r>
                      <a:endParaRPr lang="en-US" sz="1050"/>
                    </a:p>
                    <a:p>
                      <a:pPr marL="0" indent="0" algn="ctr">
                        <a:buNone/>
                      </a:pPr>
                      <a:r>
                        <a:rPr lang="en-US" sz="1050" b="1">
                          <a:solidFill>
                            <a:srgbClr val="FFFFFF"/>
                          </a:solidFill>
                        </a:rPr>
                        <a:t>Spread</a:t>
                      </a:r>
                      <a:endParaRPr lang="en-US" sz="105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3A6B"/>
                    </a:solidFill>
                  </a:tcPr>
                </a:tc>
                <a:tc>
                  <a:txBody>
                    <a:bodyPr/>
                    <a:lstStyle/>
                    <a:p>
                      <a:pPr marL="0" indent="0" algn="ctr">
                        <a:buNone/>
                      </a:pPr>
                      <a:r>
                        <a:rPr lang="en-US" sz="1050" b="1">
                          <a:solidFill>
                            <a:srgbClr val="FFFFFF"/>
                          </a:solidFill>
                        </a:rPr>
                        <a:t>Verbalized</a:t>
                      </a:r>
                      <a:endParaRPr lang="en-US" sz="1050"/>
                    </a:p>
                    <a:p>
                      <a:pPr marL="0" indent="0" algn="ctr">
                        <a:buNone/>
                      </a:pPr>
                      <a:r>
                        <a:rPr lang="en-US" sz="1050" b="1">
                          <a:solidFill>
                            <a:srgbClr val="FFFFFF"/>
                          </a:solidFill>
                        </a:rPr>
                        <a:t>Spread</a:t>
                      </a:r>
                      <a:endParaRPr lang="en-US" sz="105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3A6B"/>
                    </a:solidFill>
                  </a:tcPr>
                </a:tc>
                <a:tc>
                  <a:txBody>
                    <a:bodyPr/>
                    <a:lstStyle/>
                    <a:p>
                      <a:pPr marL="0" indent="0" algn="ctr">
                        <a:buNone/>
                      </a:pPr>
                      <a:r>
                        <a:rPr lang="en-US" sz="1050" b="1">
                          <a:solidFill>
                            <a:srgbClr val="FFFFFF"/>
                          </a:solidFill>
                        </a:rPr>
                        <a:t>Gap?</a:t>
                      </a:r>
                      <a:endParaRPr lang="en-US" sz="105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3A6B"/>
                    </a:solidFill>
                  </a:tcPr>
                </a:tc>
                <a:extLst>
                  <a:ext uri="{0D108BD9-81ED-4DB2-BD59-A6C34878D82A}">
                    <a16:rowId xmlns:a16="http://schemas.microsoft.com/office/drawing/2014/main" val="10000"/>
                  </a:ext>
                </a:extLst>
              </a:tr>
              <a:tr h="389309">
                <a:tc>
                  <a:txBody>
                    <a:bodyPr/>
                    <a:lstStyle/>
                    <a:p>
                      <a:pPr marL="0" indent="0">
                        <a:buNone/>
                      </a:pPr>
                      <a:r>
                        <a:rPr lang="en-US" sz="1050">
                          <a:solidFill>
                            <a:srgbClr val="000000"/>
                          </a:solidFill>
                        </a:rPr>
                        <a:t>Qwen flat cases</a:t>
                      </a:r>
                      <a:endParaRPr lang="en-US" sz="105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1050" b="1">
                          <a:solidFill>
                            <a:srgbClr val="2D7D46"/>
                          </a:solidFill>
                        </a:rPr>
                        <a:t>0.791</a:t>
                      </a:r>
                      <a:endParaRPr lang="en-US" sz="105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1050">
                          <a:solidFill>
                            <a:srgbClr val="C0392B"/>
                          </a:solidFill>
                        </a:rPr>
                        <a:t>0.52</a:t>
                      </a:r>
                      <a:endParaRPr lang="en-US" sz="105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1050" b="1">
                          <a:solidFill>
                            <a:srgbClr val="C0392B"/>
                          </a:solidFill>
                        </a:rPr>
                        <a:t>YES</a:t>
                      </a:r>
                      <a:endParaRPr lang="en-US" sz="105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1"/>
                  </a:ext>
                </a:extLst>
              </a:tr>
              <a:tr h="389309">
                <a:tc>
                  <a:txBody>
                    <a:bodyPr/>
                    <a:lstStyle/>
                    <a:p>
                      <a:pPr marL="0" indent="0">
                        <a:buNone/>
                      </a:pPr>
                      <a:r>
                        <a:rPr lang="en-US" sz="1050">
                          <a:solidFill>
                            <a:srgbClr val="000000"/>
                          </a:solidFill>
                        </a:rPr>
                        <a:t>Qwen baseline</a:t>
                      </a:r>
                      <a:endParaRPr lang="en-US" sz="105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1050">
                          <a:solidFill>
                            <a:srgbClr val="000000"/>
                          </a:solidFill>
                        </a:rPr>
                        <a:t>0.928</a:t>
                      </a:r>
                      <a:endParaRPr lang="en-US" sz="105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1050">
                          <a:solidFill>
                            <a:srgbClr val="000000"/>
                          </a:solidFill>
                        </a:rPr>
                        <a:t>7.56</a:t>
                      </a:r>
                      <a:endParaRPr lang="en-US" sz="105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1050">
                          <a:solidFill>
                            <a:srgbClr val="000000"/>
                          </a:solidFill>
                        </a:rPr>
                        <a:t>—</a:t>
                      </a:r>
                      <a:endParaRPr lang="en-US" sz="105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2"/>
                  </a:ext>
                </a:extLst>
              </a:tr>
              <a:tr h="389309">
                <a:tc>
                  <a:txBody>
                    <a:bodyPr/>
                    <a:lstStyle/>
                    <a:p>
                      <a:pPr marL="0" indent="0">
                        <a:buNone/>
                      </a:pPr>
                      <a:r>
                        <a:rPr lang="en-US" sz="1050">
                          <a:solidFill>
                            <a:srgbClr val="000000"/>
                          </a:solidFill>
                        </a:rPr>
                        <a:t>LLaMA flat cases</a:t>
                      </a:r>
                      <a:endParaRPr lang="en-US" sz="105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1050" b="1">
                          <a:solidFill>
                            <a:srgbClr val="2D7D46"/>
                          </a:solidFill>
                        </a:rPr>
                        <a:t>0.379</a:t>
                      </a:r>
                      <a:endParaRPr lang="en-US" sz="105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1050">
                          <a:solidFill>
                            <a:srgbClr val="C0392B"/>
                          </a:solidFill>
                        </a:rPr>
                        <a:t>0.24</a:t>
                      </a:r>
                      <a:endParaRPr lang="en-US" sz="105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1050" b="1">
                          <a:solidFill>
                            <a:srgbClr val="C0392B"/>
                          </a:solidFill>
                        </a:rPr>
                        <a:t>YES</a:t>
                      </a:r>
                      <a:endParaRPr lang="en-US" sz="105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3"/>
                  </a:ext>
                </a:extLst>
              </a:tr>
              <a:tr h="389309">
                <a:tc>
                  <a:txBody>
                    <a:bodyPr/>
                    <a:lstStyle/>
                    <a:p>
                      <a:pPr marL="0" indent="0">
                        <a:buNone/>
                      </a:pPr>
                      <a:r>
                        <a:rPr lang="en-US" sz="1050">
                          <a:solidFill>
                            <a:srgbClr val="000000"/>
                          </a:solidFill>
                        </a:rPr>
                        <a:t>LLaMA baseline</a:t>
                      </a:r>
                      <a:endParaRPr lang="en-US" sz="105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1050">
                          <a:solidFill>
                            <a:srgbClr val="000000"/>
                          </a:solidFill>
                        </a:rPr>
                        <a:t>0.513</a:t>
                      </a:r>
                      <a:endParaRPr lang="en-US" sz="105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1050">
                          <a:solidFill>
                            <a:srgbClr val="000000"/>
                          </a:solidFill>
                        </a:rPr>
                        <a:t>8.40</a:t>
                      </a:r>
                      <a:endParaRPr lang="en-US" sz="105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lgn="ctr">
                        <a:buNone/>
                      </a:pPr>
                      <a:r>
                        <a:rPr lang="en-US" sz="1050">
                          <a:solidFill>
                            <a:srgbClr val="000000"/>
                          </a:solidFill>
                        </a:rPr>
                        <a:t>—</a:t>
                      </a:r>
                      <a:endParaRPr lang="en-US" sz="105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2" name="Shape 8"/>
          <p:cNvSpPr/>
          <p:nvPr/>
        </p:nvSpPr>
        <p:spPr>
          <a:xfrm>
            <a:off x="4846320" y="3595878"/>
            <a:ext cx="4023360" cy="1371600"/>
          </a:xfrm>
          <a:prstGeom prst="rect">
            <a:avLst/>
          </a:prstGeom>
          <a:solidFill>
            <a:srgbClr val="EEF2FA"/>
          </a:solidFill>
          <a:ln w="12700">
            <a:solidFill>
              <a:srgbClr val="1B3A6B"/>
            </a:solidFill>
            <a:prstDash val="solid"/>
          </a:ln>
          <a:effectLst>
            <a:outerShdw blurRad="50800" dist="25400" dir="8100000" algn="bl" rotWithShape="0">
              <a:srgbClr val="000000">
                <a:alpha val="8000"/>
              </a:srgbClr>
            </a:outerShdw>
          </a:effectLst>
        </p:spPr>
      </p:sp>
      <p:sp>
        <p:nvSpPr>
          <p:cNvPr id="13" name="Shape 9"/>
          <p:cNvSpPr/>
          <p:nvPr/>
        </p:nvSpPr>
        <p:spPr>
          <a:xfrm>
            <a:off x="4846320" y="3595878"/>
            <a:ext cx="109728" cy="1371600"/>
          </a:xfrm>
          <a:prstGeom prst="rect">
            <a:avLst/>
          </a:prstGeom>
          <a:solidFill>
            <a:srgbClr val="C8993A"/>
          </a:solidFill>
          <a:ln w="12700">
            <a:solidFill>
              <a:srgbClr val="C8993A"/>
            </a:solidFill>
            <a:prstDash val="solid"/>
          </a:ln>
        </p:spPr>
      </p:sp>
      <p:sp>
        <p:nvSpPr>
          <p:cNvPr id="14" name="Text 10"/>
          <p:cNvSpPr/>
          <p:nvPr/>
        </p:nvSpPr>
        <p:spPr>
          <a:xfrm>
            <a:off x="5047488" y="3650742"/>
            <a:ext cx="3657600" cy="274320"/>
          </a:xfrm>
          <a:prstGeom prst="rect">
            <a:avLst/>
          </a:prstGeom>
          <a:noFill/>
          <a:ln/>
        </p:spPr>
        <p:txBody>
          <a:bodyPr wrap="square" lIns="91440" tIns="45720" rIns="91440" bIns="45720" rtlCol="0" anchor="ctr"/>
          <a:lstStyle/>
          <a:p>
            <a:pPr marL="0" indent="0">
              <a:buNone/>
            </a:pPr>
            <a:r>
              <a:rPr lang="en-US" sz="1400" b="1">
                <a:solidFill>
                  <a:srgbClr val="1B3A6B"/>
                </a:solidFill>
                <a:latin typeface="Times New Roman"/>
                <a:cs typeface="Times New Roman"/>
              </a:rPr>
              <a:t>What this means:</a:t>
            </a:r>
            <a:endParaRPr lang="en-US" sz="1400">
              <a:latin typeface="Times New Roman"/>
              <a:cs typeface="Times New Roman"/>
            </a:endParaRPr>
          </a:p>
        </p:txBody>
      </p:sp>
      <p:sp>
        <p:nvSpPr>
          <p:cNvPr id="15" name="Text 11"/>
          <p:cNvSpPr/>
          <p:nvPr/>
        </p:nvSpPr>
        <p:spPr>
          <a:xfrm>
            <a:off x="5047488" y="3943350"/>
            <a:ext cx="3657600" cy="914400"/>
          </a:xfrm>
          <a:prstGeom prst="rect">
            <a:avLst/>
          </a:prstGeom>
          <a:noFill/>
          <a:ln/>
        </p:spPr>
        <p:txBody>
          <a:bodyPr wrap="square" lIns="91440" tIns="45720" rIns="91440" bIns="45720" rtlCol="0" anchor="ctr"/>
          <a:lstStyle/>
          <a:p>
            <a:pPr marL="0" indent="0">
              <a:buNone/>
            </a:pPr>
            <a:r>
              <a:rPr lang="en-US" sz="1200">
                <a:solidFill>
                  <a:srgbClr val="2D3550"/>
                </a:solidFill>
                <a:latin typeface="Times New Roman"/>
                <a:cs typeface="Times New Roman"/>
              </a:rPr>
              <a:t>Internal </a:t>
            </a:r>
            <a:r>
              <a:rPr lang="en-US" sz="1200" err="1">
                <a:solidFill>
                  <a:srgbClr val="2D3550"/>
                </a:solidFill>
                <a:latin typeface="Times New Roman"/>
                <a:cs typeface="Times New Roman"/>
              </a:rPr>
              <a:t>softmax</a:t>
            </a:r>
            <a:r>
              <a:rPr lang="en-US" sz="1200">
                <a:solidFill>
                  <a:srgbClr val="2D3550"/>
                </a:solidFill>
                <a:latin typeface="Times New Roman"/>
                <a:cs typeface="Times New Roman"/>
              </a:rPr>
              <a:t> spread is high (model internally knows which answer is most likely) but verbalized spread is near zero (scores assigned are nearly identical). The model cannot translate internal knowledge into numerical scores, this is the verbalization gap.</a:t>
            </a:r>
            <a:endParaRPr lang="en-US" sz="1200">
              <a:latin typeface="Times New Roman"/>
              <a:cs typeface="Times New Roman"/>
            </a:endParaRPr>
          </a:p>
        </p:txBody>
      </p:sp>
      <p:sp>
        <p:nvSpPr>
          <p:cNvPr id="16" name="Shape 12"/>
          <p:cNvSpPr/>
          <p:nvPr/>
        </p:nvSpPr>
        <p:spPr>
          <a:xfrm>
            <a:off x="320040" y="4014057"/>
            <a:ext cx="4297680" cy="886968"/>
          </a:xfrm>
          <a:prstGeom prst="rect">
            <a:avLst/>
          </a:prstGeom>
          <a:solidFill>
            <a:srgbClr val="EBF7EE"/>
          </a:solidFill>
          <a:ln w="12700">
            <a:solidFill>
              <a:srgbClr val="2D7D46"/>
            </a:solidFill>
            <a:prstDash val="solid"/>
          </a:ln>
          <a:effectLst>
            <a:outerShdw blurRad="38100" dist="12700" dir="8100000" algn="bl" rotWithShape="0">
              <a:srgbClr val="000000">
                <a:alpha val="7000"/>
              </a:srgbClr>
            </a:outerShdw>
          </a:effectLst>
        </p:spPr>
      </p:sp>
      <p:sp>
        <p:nvSpPr>
          <p:cNvPr id="17" name="Shape 13"/>
          <p:cNvSpPr/>
          <p:nvPr/>
        </p:nvSpPr>
        <p:spPr>
          <a:xfrm>
            <a:off x="320040" y="4014057"/>
            <a:ext cx="109728" cy="886968"/>
          </a:xfrm>
          <a:prstGeom prst="rect">
            <a:avLst/>
          </a:prstGeom>
          <a:solidFill>
            <a:srgbClr val="2D7D46"/>
          </a:solidFill>
          <a:ln w="12700">
            <a:solidFill>
              <a:srgbClr val="2D7D46"/>
            </a:solidFill>
            <a:prstDash val="solid"/>
          </a:ln>
        </p:spPr>
      </p:sp>
      <p:sp>
        <p:nvSpPr>
          <p:cNvPr id="18" name="Text 14"/>
          <p:cNvSpPr/>
          <p:nvPr/>
        </p:nvSpPr>
        <p:spPr>
          <a:xfrm>
            <a:off x="530352" y="4068921"/>
            <a:ext cx="3977640" cy="768096"/>
          </a:xfrm>
          <a:prstGeom prst="rect">
            <a:avLst/>
          </a:prstGeom>
          <a:noFill/>
          <a:ln/>
        </p:spPr>
        <p:txBody>
          <a:bodyPr wrap="square" lIns="91440" tIns="45720" rIns="91440" bIns="45720" rtlCol="0" anchor="ctr"/>
          <a:lstStyle/>
          <a:p>
            <a:r>
              <a:rPr lang="en-US" sz="1200">
                <a:solidFill>
                  <a:srgbClr val="2D3550"/>
                </a:solidFill>
                <a:latin typeface="Times New Roman"/>
                <a:cs typeface="Times New Roman"/>
              </a:rPr>
              <a:t>Same questions, same models → </a:t>
            </a:r>
            <a:r>
              <a:rPr lang="en-US" sz="1200" err="1">
                <a:solidFill>
                  <a:srgbClr val="2D3550"/>
                </a:solidFill>
                <a:latin typeface="Times New Roman"/>
                <a:cs typeface="Times New Roman"/>
              </a:rPr>
              <a:t>CoT</a:t>
            </a:r>
            <a:r>
              <a:rPr lang="en-US" sz="1200">
                <a:solidFill>
                  <a:srgbClr val="2D3550"/>
                </a:solidFill>
                <a:latin typeface="Times New Roman"/>
                <a:cs typeface="Times New Roman"/>
              </a:rPr>
              <a:t> recovers 36.7% and 43.3% on questions CGE failed catastrophically on. Medical knowledge exists internally. The numerical format is the problem, not the model's knowledge.</a:t>
            </a:r>
            <a:endParaRPr lang="en-US" sz="1200">
              <a:latin typeface="Times New Roman"/>
              <a:cs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7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3A6B"/>
          </a:solidFill>
          <a:ln w="12700">
            <a:solidFill>
              <a:srgbClr val="1B3A6B"/>
            </a:solidFill>
            <a:prstDash val="solid"/>
          </a:ln>
        </p:spPr>
      </p:sp>
      <p:sp>
        <p:nvSpPr>
          <p:cNvPr id="4" name="Text 2"/>
          <p:cNvSpPr/>
          <p:nvPr/>
        </p:nvSpPr>
        <p:spPr>
          <a:xfrm>
            <a:off x="319189" y="0"/>
            <a:ext cx="7132320" cy="658368"/>
          </a:xfrm>
          <a:prstGeom prst="rect">
            <a:avLst/>
          </a:prstGeom>
          <a:noFill/>
          <a:ln/>
        </p:spPr>
        <p:txBody>
          <a:bodyPr wrap="square" lIns="0" tIns="0" rIns="0" bIns="0" rtlCol="0" anchor="ctr"/>
          <a:lstStyle/>
          <a:p>
            <a:pPr marL="0" indent="0">
              <a:buNone/>
            </a:pPr>
            <a:r>
              <a:rPr lang="en-US" sz="2400" b="1">
                <a:solidFill>
                  <a:srgbClr val="FFFFFF"/>
                </a:solidFill>
                <a:latin typeface="Times New Roman"/>
                <a:cs typeface="Times New Roman"/>
              </a:rPr>
              <a:t>Discussion</a:t>
            </a:r>
            <a:endParaRPr lang="en-US" sz="2400">
              <a:latin typeface="Times New Roman"/>
              <a:cs typeface="Times New Roman"/>
            </a:endParaRPr>
          </a:p>
        </p:txBody>
      </p:sp>
      <p:sp>
        <p:nvSpPr>
          <p:cNvPr id="8" name="Shape 6"/>
          <p:cNvSpPr/>
          <p:nvPr/>
        </p:nvSpPr>
        <p:spPr>
          <a:xfrm>
            <a:off x="320040" y="804672"/>
            <a:ext cx="8503920" cy="932688"/>
          </a:xfrm>
          <a:prstGeom prst="rect">
            <a:avLst/>
          </a:prstGeom>
          <a:solidFill>
            <a:srgbClr val="FFFFFF"/>
          </a:solidFill>
          <a:ln w="12700">
            <a:solidFill>
              <a:srgbClr val="E8ECF2"/>
            </a:solidFill>
            <a:prstDash val="solid"/>
          </a:ln>
          <a:effectLst>
            <a:outerShdw blurRad="50800" dist="25400" dir="8100000" algn="bl" rotWithShape="0">
              <a:srgbClr val="000000">
                <a:alpha val="7000"/>
              </a:srgbClr>
            </a:outerShdw>
          </a:effectLst>
        </p:spPr>
      </p:sp>
      <p:sp>
        <p:nvSpPr>
          <p:cNvPr id="9" name="Shape 7"/>
          <p:cNvSpPr/>
          <p:nvPr/>
        </p:nvSpPr>
        <p:spPr>
          <a:xfrm>
            <a:off x="320040" y="804672"/>
            <a:ext cx="146304" cy="932688"/>
          </a:xfrm>
          <a:prstGeom prst="rect">
            <a:avLst/>
          </a:prstGeom>
          <a:solidFill>
            <a:srgbClr val="2D7D46"/>
          </a:solidFill>
          <a:ln w="12700">
            <a:solidFill>
              <a:srgbClr val="2D7D46"/>
            </a:solidFill>
            <a:prstDash val="solid"/>
          </a:ln>
        </p:spPr>
      </p:sp>
      <p:sp>
        <p:nvSpPr>
          <p:cNvPr id="10" name="Text 8"/>
          <p:cNvSpPr/>
          <p:nvPr/>
        </p:nvSpPr>
        <p:spPr>
          <a:xfrm>
            <a:off x="566928" y="859536"/>
            <a:ext cx="8138160" cy="274320"/>
          </a:xfrm>
          <a:prstGeom prst="rect">
            <a:avLst/>
          </a:prstGeom>
          <a:noFill/>
          <a:ln/>
        </p:spPr>
        <p:txBody>
          <a:bodyPr wrap="square" lIns="91440" tIns="45720" rIns="91440" bIns="45720" rtlCol="0" anchor="ctr"/>
          <a:lstStyle/>
          <a:p>
            <a:r>
              <a:rPr lang="en-US" sz="1200" b="1">
                <a:solidFill>
                  <a:srgbClr val="2D7D46"/>
                </a:solidFill>
                <a:latin typeface="Times New Roman"/>
                <a:cs typeface="Times New Roman"/>
              </a:rPr>
              <a:t>RQ1 Findings -  LLMs perform meaningful elimination reasoning</a:t>
            </a:r>
            <a:endParaRPr lang="en-US" sz="1200">
              <a:latin typeface="Times New Roman"/>
              <a:cs typeface="Times New Roman"/>
            </a:endParaRPr>
          </a:p>
        </p:txBody>
      </p:sp>
      <p:sp>
        <p:nvSpPr>
          <p:cNvPr id="11" name="Text 9"/>
          <p:cNvSpPr/>
          <p:nvPr/>
        </p:nvSpPr>
        <p:spPr>
          <a:xfrm>
            <a:off x="566928" y="1125563"/>
            <a:ext cx="8138160" cy="512064"/>
          </a:xfrm>
          <a:prstGeom prst="rect">
            <a:avLst/>
          </a:prstGeom>
          <a:noFill/>
          <a:ln/>
        </p:spPr>
        <p:txBody>
          <a:bodyPr wrap="square" rtlCol="0" anchor="ctr"/>
          <a:lstStyle/>
          <a:p>
            <a:pPr marL="0" indent="0">
              <a:buNone/>
            </a:pPr>
            <a:r>
              <a:rPr lang="en-US" sz="1200">
                <a:solidFill>
                  <a:srgbClr val="2D3550"/>
                </a:solidFill>
                <a:latin typeface="Times New Roman"/>
                <a:cs typeface="Times New Roman"/>
              </a:rPr>
              <a:t>Both models beat all random baselines. Survival@3 &gt; 75%, CFR &lt; 25%, Accuracy@1 significantly above 25% chance. CGE actively protects the correct answer rather than eliminating randomly.</a:t>
            </a:r>
            <a:endParaRPr lang="en-US" sz="1200">
              <a:latin typeface="Times New Roman"/>
              <a:cs typeface="Times New Roman"/>
            </a:endParaRPr>
          </a:p>
        </p:txBody>
      </p:sp>
      <p:sp>
        <p:nvSpPr>
          <p:cNvPr id="12" name="Shape 10"/>
          <p:cNvSpPr/>
          <p:nvPr/>
        </p:nvSpPr>
        <p:spPr>
          <a:xfrm>
            <a:off x="320040" y="1828800"/>
            <a:ext cx="8503920" cy="932688"/>
          </a:xfrm>
          <a:prstGeom prst="rect">
            <a:avLst/>
          </a:prstGeom>
          <a:solidFill>
            <a:srgbClr val="FFFFFF"/>
          </a:solidFill>
          <a:ln w="12700">
            <a:solidFill>
              <a:srgbClr val="E8ECF2"/>
            </a:solidFill>
            <a:prstDash val="solid"/>
          </a:ln>
          <a:effectLst>
            <a:outerShdw blurRad="50800" dist="25400" dir="8100000" algn="bl" rotWithShape="0">
              <a:srgbClr val="000000">
                <a:alpha val="7000"/>
              </a:srgbClr>
            </a:outerShdw>
          </a:effectLst>
        </p:spPr>
      </p:sp>
      <p:sp>
        <p:nvSpPr>
          <p:cNvPr id="13" name="Shape 11"/>
          <p:cNvSpPr/>
          <p:nvPr/>
        </p:nvSpPr>
        <p:spPr>
          <a:xfrm>
            <a:off x="320040" y="1828800"/>
            <a:ext cx="146304" cy="932688"/>
          </a:xfrm>
          <a:prstGeom prst="rect">
            <a:avLst/>
          </a:prstGeom>
          <a:solidFill>
            <a:srgbClr val="2E5090"/>
          </a:solidFill>
          <a:ln w="12700">
            <a:solidFill>
              <a:srgbClr val="2E5090"/>
            </a:solidFill>
            <a:prstDash val="solid"/>
          </a:ln>
        </p:spPr>
      </p:sp>
      <p:sp>
        <p:nvSpPr>
          <p:cNvPr id="14" name="Text 12"/>
          <p:cNvSpPr/>
          <p:nvPr/>
        </p:nvSpPr>
        <p:spPr>
          <a:xfrm>
            <a:off x="566928" y="1883664"/>
            <a:ext cx="8138160" cy="274320"/>
          </a:xfrm>
          <a:prstGeom prst="rect">
            <a:avLst/>
          </a:prstGeom>
          <a:noFill/>
          <a:ln/>
        </p:spPr>
        <p:txBody>
          <a:bodyPr wrap="square" lIns="91440" tIns="45720" rIns="91440" bIns="45720" rtlCol="0" anchor="ctr"/>
          <a:lstStyle/>
          <a:p>
            <a:r>
              <a:rPr lang="en-US" sz="1200" b="1">
                <a:solidFill>
                  <a:srgbClr val="2E5090"/>
                </a:solidFill>
                <a:latin typeface="Times New Roman"/>
                <a:cs typeface="Times New Roman"/>
              </a:rPr>
              <a:t>RQ2 Findings - Survival metrics reveal what accuracy hides</a:t>
            </a:r>
            <a:endParaRPr lang="en-US" sz="1200">
              <a:latin typeface="Times New Roman"/>
              <a:cs typeface="Times New Roman"/>
            </a:endParaRPr>
          </a:p>
        </p:txBody>
      </p:sp>
      <p:sp>
        <p:nvSpPr>
          <p:cNvPr id="15" name="Text 13"/>
          <p:cNvSpPr/>
          <p:nvPr/>
        </p:nvSpPr>
        <p:spPr>
          <a:xfrm>
            <a:off x="566928" y="2176272"/>
            <a:ext cx="8138160" cy="512064"/>
          </a:xfrm>
          <a:prstGeom prst="rect">
            <a:avLst/>
          </a:prstGeom>
          <a:noFill/>
          <a:ln/>
        </p:spPr>
        <p:txBody>
          <a:bodyPr wrap="square" rtlCol="0" anchor="ctr"/>
          <a:lstStyle/>
          <a:p>
            <a:pPr marL="0" indent="0">
              <a:buNone/>
            </a:pPr>
            <a:r>
              <a:rPr lang="en-US" sz="1200">
                <a:solidFill>
                  <a:srgbClr val="2D3550"/>
                </a:solidFill>
                <a:latin typeface="Times New Roman"/>
                <a:cs typeface="Times New Roman"/>
              </a:rPr>
              <a:t>Two models with similar accuracy (41.6% vs 43.9%) have measurably different calibration (73.1% vs 69.1% Conf-Surv). Failure distribution reveals late failure dominates, not catastrophic — a finding invisible to accuracy alone.</a:t>
            </a:r>
            <a:endParaRPr lang="en-US" sz="1200">
              <a:latin typeface="Times New Roman"/>
              <a:cs typeface="Times New Roman"/>
            </a:endParaRPr>
          </a:p>
        </p:txBody>
      </p:sp>
      <p:sp>
        <p:nvSpPr>
          <p:cNvPr id="16" name="Shape 14"/>
          <p:cNvSpPr/>
          <p:nvPr/>
        </p:nvSpPr>
        <p:spPr>
          <a:xfrm>
            <a:off x="320040" y="2852928"/>
            <a:ext cx="8503920" cy="932688"/>
          </a:xfrm>
          <a:prstGeom prst="rect">
            <a:avLst/>
          </a:prstGeom>
          <a:solidFill>
            <a:srgbClr val="FFFFFF"/>
          </a:solidFill>
          <a:ln w="12700">
            <a:solidFill>
              <a:srgbClr val="E8ECF2"/>
            </a:solidFill>
            <a:prstDash val="solid"/>
          </a:ln>
          <a:effectLst>
            <a:outerShdw blurRad="50800" dist="25400" dir="8100000" algn="bl" rotWithShape="0">
              <a:srgbClr val="000000">
                <a:alpha val="7000"/>
              </a:srgbClr>
            </a:outerShdw>
          </a:effectLst>
        </p:spPr>
      </p:sp>
      <p:sp>
        <p:nvSpPr>
          <p:cNvPr id="17" name="Shape 15"/>
          <p:cNvSpPr/>
          <p:nvPr/>
        </p:nvSpPr>
        <p:spPr>
          <a:xfrm>
            <a:off x="320040" y="2852928"/>
            <a:ext cx="146304" cy="932688"/>
          </a:xfrm>
          <a:prstGeom prst="rect">
            <a:avLst/>
          </a:prstGeom>
          <a:solidFill>
            <a:srgbClr val="D4711E"/>
          </a:solidFill>
          <a:ln w="12700">
            <a:solidFill>
              <a:srgbClr val="D4711E"/>
            </a:solidFill>
            <a:prstDash val="solid"/>
          </a:ln>
        </p:spPr>
      </p:sp>
      <p:sp>
        <p:nvSpPr>
          <p:cNvPr id="18" name="Text 16"/>
          <p:cNvSpPr/>
          <p:nvPr/>
        </p:nvSpPr>
        <p:spPr>
          <a:xfrm>
            <a:off x="566928" y="2907792"/>
            <a:ext cx="8138160" cy="274320"/>
          </a:xfrm>
          <a:prstGeom prst="rect">
            <a:avLst/>
          </a:prstGeom>
          <a:noFill/>
          <a:ln/>
        </p:spPr>
        <p:txBody>
          <a:bodyPr wrap="square" rtlCol="0" anchor="ctr"/>
          <a:lstStyle/>
          <a:p>
            <a:pPr marL="0" indent="0">
              <a:buNone/>
            </a:pPr>
            <a:r>
              <a:rPr lang="en-US" sz="1200" b="1">
                <a:solidFill>
                  <a:srgbClr val="D4711E"/>
                </a:solidFill>
                <a:latin typeface="Times New Roman"/>
                <a:cs typeface="Times New Roman"/>
              </a:rPr>
              <a:t>Surprising Finding: Few-shot hurts CGE</a:t>
            </a:r>
            <a:endParaRPr lang="en-US" sz="1200">
              <a:latin typeface="Times New Roman"/>
              <a:cs typeface="Times New Roman"/>
            </a:endParaRPr>
          </a:p>
        </p:txBody>
      </p:sp>
      <p:sp>
        <p:nvSpPr>
          <p:cNvPr id="19" name="Text 17"/>
          <p:cNvSpPr/>
          <p:nvPr/>
        </p:nvSpPr>
        <p:spPr>
          <a:xfrm>
            <a:off x="566928" y="3200400"/>
            <a:ext cx="8138160" cy="512064"/>
          </a:xfrm>
          <a:prstGeom prst="rect">
            <a:avLst/>
          </a:prstGeom>
          <a:noFill/>
          <a:ln/>
        </p:spPr>
        <p:txBody>
          <a:bodyPr wrap="square" rtlCol="0" anchor="ctr"/>
          <a:lstStyle/>
          <a:p>
            <a:pPr marL="0" indent="0">
              <a:buNone/>
            </a:pPr>
            <a:r>
              <a:rPr lang="en-US" sz="1200">
                <a:solidFill>
                  <a:srgbClr val="2D3550"/>
                </a:solidFill>
                <a:latin typeface="Times New Roman"/>
                <a:cs typeface="Times New Roman"/>
              </a:rPr>
              <a:t>Adding worked examples slightly hurts both models and increases Qwen's CFR. Pattern matching on example scoring overrides question-specific reasoning. Suggests zero-shot is more reliable for structured scoring tasks.</a:t>
            </a:r>
            <a:endParaRPr lang="en-US" sz="1200">
              <a:latin typeface="Times New Roman"/>
              <a:cs typeface="Times New Roman"/>
            </a:endParaRPr>
          </a:p>
        </p:txBody>
      </p:sp>
      <p:sp>
        <p:nvSpPr>
          <p:cNvPr id="20" name="Shape 18"/>
          <p:cNvSpPr/>
          <p:nvPr/>
        </p:nvSpPr>
        <p:spPr>
          <a:xfrm>
            <a:off x="320040" y="3877056"/>
            <a:ext cx="8503920" cy="932688"/>
          </a:xfrm>
          <a:prstGeom prst="rect">
            <a:avLst/>
          </a:prstGeom>
          <a:solidFill>
            <a:srgbClr val="FFFFFF"/>
          </a:solidFill>
          <a:ln w="12700">
            <a:solidFill>
              <a:srgbClr val="E8ECF2"/>
            </a:solidFill>
            <a:prstDash val="solid"/>
          </a:ln>
          <a:effectLst>
            <a:outerShdw blurRad="50800" dist="25400" dir="8100000" algn="bl" rotWithShape="0">
              <a:srgbClr val="000000">
                <a:alpha val="7000"/>
              </a:srgbClr>
            </a:outerShdw>
          </a:effectLst>
        </p:spPr>
      </p:sp>
      <p:sp>
        <p:nvSpPr>
          <p:cNvPr id="21" name="Shape 19"/>
          <p:cNvSpPr/>
          <p:nvPr/>
        </p:nvSpPr>
        <p:spPr>
          <a:xfrm>
            <a:off x="320040" y="3877056"/>
            <a:ext cx="146304" cy="932688"/>
          </a:xfrm>
          <a:prstGeom prst="rect">
            <a:avLst/>
          </a:prstGeom>
          <a:solidFill>
            <a:srgbClr val="C8993A"/>
          </a:solidFill>
          <a:ln w="12700">
            <a:solidFill>
              <a:srgbClr val="C8993A"/>
            </a:solidFill>
            <a:prstDash val="solid"/>
          </a:ln>
        </p:spPr>
      </p:sp>
      <p:sp>
        <p:nvSpPr>
          <p:cNvPr id="22" name="Text 20"/>
          <p:cNvSpPr/>
          <p:nvPr/>
        </p:nvSpPr>
        <p:spPr>
          <a:xfrm>
            <a:off x="566928" y="3931920"/>
            <a:ext cx="8138160" cy="274320"/>
          </a:xfrm>
          <a:prstGeom prst="rect">
            <a:avLst/>
          </a:prstGeom>
          <a:noFill/>
          <a:ln/>
        </p:spPr>
        <p:txBody>
          <a:bodyPr wrap="square" lIns="91440" tIns="45720" rIns="91440" bIns="45720" rtlCol="0" anchor="ctr"/>
          <a:lstStyle/>
          <a:p>
            <a:r>
              <a:rPr lang="en-US" sz="1200" b="1">
                <a:solidFill>
                  <a:srgbClr val="C8993A"/>
                </a:solidFill>
                <a:latin typeface="Times New Roman"/>
                <a:cs typeface="Times New Roman"/>
              </a:rPr>
              <a:t>Verbalization Gap, Not Knowledge Gap</a:t>
            </a:r>
            <a:endParaRPr lang="en-US" sz="1200">
              <a:latin typeface="Times New Roman"/>
              <a:cs typeface="Times New Roman"/>
            </a:endParaRPr>
          </a:p>
        </p:txBody>
      </p:sp>
      <p:sp>
        <p:nvSpPr>
          <p:cNvPr id="23" name="Text 21"/>
          <p:cNvSpPr/>
          <p:nvPr/>
        </p:nvSpPr>
        <p:spPr>
          <a:xfrm>
            <a:off x="566928" y="4224528"/>
            <a:ext cx="8138160" cy="512064"/>
          </a:xfrm>
          <a:prstGeom prst="rect">
            <a:avLst/>
          </a:prstGeom>
          <a:noFill/>
          <a:ln/>
        </p:spPr>
        <p:txBody>
          <a:bodyPr wrap="square" rtlCol="0" anchor="ctr"/>
          <a:lstStyle/>
          <a:p>
            <a:pPr marL="0" indent="0">
              <a:buNone/>
            </a:pPr>
            <a:r>
              <a:rPr lang="en-US" sz="1200">
                <a:solidFill>
                  <a:srgbClr val="2D3550"/>
                </a:solidFill>
                <a:latin typeface="Times New Roman"/>
                <a:cs typeface="Times New Roman"/>
              </a:rPr>
              <a:t>CoT recovery (+36.7%, +43.3%) and logit analysis (internal spread 0.791 vs verbalized 0.52) together prove: CGE failures are a format problem, not a knowledge problem. Models know the answer but cannot express it numerically.</a:t>
            </a:r>
            <a:endParaRPr lang="en-US" sz="1200">
              <a:latin typeface="Times New Roman"/>
              <a:cs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7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3A6B"/>
          </a:solidFill>
          <a:ln w="12700">
            <a:solidFill>
              <a:srgbClr val="1B3A6B"/>
            </a:solidFill>
            <a:prstDash val="solid"/>
          </a:ln>
        </p:spPr>
      </p:sp>
      <p:sp>
        <p:nvSpPr>
          <p:cNvPr id="4" name="Text 2"/>
          <p:cNvSpPr/>
          <p:nvPr/>
        </p:nvSpPr>
        <p:spPr>
          <a:xfrm>
            <a:off x="412224" y="0"/>
            <a:ext cx="7132320" cy="658368"/>
          </a:xfrm>
          <a:prstGeom prst="rect">
            <a:avLst/>
          </a:prstGeom>
          <a:noFill/>
          <a:ln/>
        </p:spPr>
        <p:txBody>
          <a:bodyPr wrap="square" lIns="0" tIns="0" rIns="0" bIns="0" rtlCol="0" anchor="ctr"/>
          <a:lstStyle/>
          <a:p>
            <a:pPr marL="0" indent="0">
              <a:buNone/>
            </a:pPr>
            <a:r>
              <a:rPr lang="en-US" sz="2800" b="1">
                <a:solidFill>
                  <a:srgbClr val="FFFFFF"/>
                </a:solidFill>
                <a:latin typeface="Times New Roman"/>
                <a:cs typeface="Times New Roman"/>
              </a:rPr>
              <a:t>Limitations</a:t>
            </a:r>
            <a:endParaRPr lang="en-US" sz="2800">
              <a:latin typeface="Times New Roman"/>
              <a:cs typeface="Times New Roman"/>
            </a:endParaRPr>
          </a:p>
        </p:txBody>
      </p:sp>
      <p:sp>
        <p:nvSpPr>
          <p:cNvPr id="8" name="Shape 6"/>
          <p:cNvSpPr/>
          <p:nvPr/>
        </p:nvSpPr>
        <p:spPr>
          <a:xfrm>
            <a:off x="329257" y="952155"/>
            <a:ext cx="8412479" cy="721935"/>
          </a:xfrm>
          <a:prstGeom prst="rect">
            <a:avLst/>
          </a:prstGeom>
          <a:solidFill>
            <a:srgbClr val="FFFFFF"/>
          </a:solidFill>
          <a:ln w="12700">
            <a:solidFill>
              <a:srgbClr val="E8ECF2"/>
            </a:solidFill>
            <a:prstDash val="solid"/>
          </a:ln>
          <a:effectLst>
            <a:outerShdw blurRad="50800" dist="25400" dir="8100000" algn="bl" rotWithShape="0">
              <a:srgbClr val="000000">
                <a:alpha val="8000"/>
              </a:srgbClr>
            </a:outerShdw>
          </a:effectLst>
        </p:spPr>
      </p:sp>
      <p:sp>
        <p:nvSpPr>
          <p:cNvPr id="9" name="Shape 7"/>
          <p:cNvSpPr/>
          <p:nvPr/>
        </p:nvSpPr>
        <p:spPr>
          <a:xfrm>
            <a:off x="329257" y="942938"/>
            <a:ext cx="8412480" cy="347472"/>
          </a:xfrm>
          <a:prstGeom prst="rect">
            <a:avLst/>
          </a:prstGeom>
          <a:solidFill>
            <a:srgbClr val="2E5090"/>
          </a:solidFill>
          <a:ln w="12700">
            <a:solidFill>
              <a:srgbClr val="1B3A6B"/>
            </a:solidFill>
            <a:prstDash val="solid"/>
          </a:ln>
        </p:spPr>
      </p:sp>
      <p:sp>
        <p:nvSpPr>
          <p:cNvPr id="10" name="Text 8"/>
          <p:cNvSpPr/>
          <p:nvPr/>
        </p:nvSpPr>
        <p:spPr>
          <a:xfrm>
            <a:off x="457569" y="942938"/>
            <a:ext cx="2542032" cy="347472"/>
          </a:xfrm>
          <a:prstGeom prst="rect">
            <a:avLst/>
          </a:prstGeom>
          <a:noFill/>
          <a:ln/>
        </p:spPr>
        <p:txBody>
          <a:bodyPr wrap="square" lIns="0" tIns="0" rIns="0" bIns="0" rtlCol="0" anchor="ctr"/>
          <a:lstStyle/>
          <a:p>
            <a:pPr marL="0" indent="0">
              <a:buNone/>
            </a:pPr>
            <a:r>
              <a:rPr lang="en-US" sz="1200" b="1">
                <a:solidFill>
                  <a:srgbClr val="FFFFFF"/>
                </a:solidFill>
                <a:latin typeface="Times New Roman"/>
                <a:cs typeface="Times New Roman"/>
              </a:rPr>
              <a:t>01  Scale: 7–8B Models Only</a:t>
            </a:r>
            <a:endParaRPr lang="en-US" sz="1200">
              <a:latin typeface="Times New Roman"/>
              <a:cs typeface="Times New Roman"/>
            </a:endParaRPr>
          </a:p>
        </p:txBody>
      </p:sp>
      <p:sp>
        <p:nvSpPr>
          <p:cNvPr id="11" name="Text 9"/>
          <p:cNvSpPr/>
          <p:nvPr/>
        </p:nvSpPr>
        <p:spPr>
          <a:xfrm>
            <a:off x="457567" y="1289969"/>
            <a:ext cx="8284686" cy="467892"/>
          </a:xfrm>
          <a:prstGeom prst="rect">
            <a:avLst/>
          </a:prstGeom>
          <a:noFill/>
          <a:ln/>
        </p:spPr>
        <p:txBody>
          <a:bodyPr wrap="square" lIns="91440" tIns="45720" rIns="91440" bIns="45720" rtlCol="0" anchor="ctr"/>
          <a:lstStyle/>
          <a:p>
            <a:pPr marL="0" indent="0">
              <a:buNone/>
            </a:pPr>
            <a:r>
              <a:rPr lang="en-US" sz="1200">
                <a:solidFill>
                  <a:srgbClr val="2D3550"/>
                </a:solidFill>
                <a:latin typeface="Times New Roman"/>
                <a:cs typeface="Times New Roman"/>
              </a:rPr>
              <a:t>Results may not generalize to larger models (70B+) or smaller ones (3B). Compute constraints prevented testing at different scales.</a:t>
            </a:r>
            <a:endParaRPr lang="en-US" sz="1200">
              <a:latin typeface="Times New Roman"/>
              <a:cs typeface="Times New Roman"/>
            </a:endParaRPr>
          </a:p>
        </p:txBody>
      </p:sp>
      <p:sp>
        <p:nvSpPr>
          <p:cNvPr id="12" name="Shape 10"/>
          <p:cNvSpPr/>
          <p:nvPr/>
        </p:nvSpPr>
        <p:spPr>
          <a:xfrm>
            <a:off x="333683" y="1947674"/>
            <a:ext cx="8347955" cy="841763"/>
          </a:xfrm>
          <a:prstGeom prst="rect">
            <a:avLst/>
          </a:prstGeom>
          <a:solidFill>
            <a:srgbClr val="FFFFFF"/>
          </a:solidFill>
          <a:ln w="12700">
            <a:solidFill>
              <a:srgbClr val="E8ECF2"/>
            </a:solidFill>
            <a:prstDash val="solid"/>
          </a:ln>
          <a:effectLst>
            <a:outerShdw blurRad="50800" dist="25400" dir="8100000" algn="bl" rotWithShape="0">
              <a:srgbClr val="000000">
                <a:alpha val="8000"/>
              </a:srgbClr>
            </a:outerShdw>
          </a:effectLst>
        </p:spPr>
      </p:sp>
      <p:sp>
        <p:nvSpPr>
          <p:cNvPr id="13" name="Shape 11"/>
          <p:cNvSpPr/>
          <p:nvPr/>
        </p:nvSpPr>
        <p:spPr>
          <a:xfrm>
            <a:off x="324467" y="1966108"/>
            <a:ext cx="8357171" cy="329037"/>
          </a:xfrm>
          <a:prstGeom prst="rect">
            <a:avLst/>
          </a:prstGeom>
          <a:solidFill>
            <a:srgbClr val="2E5090"/>
          </a:solidFill>
          <a:ln w="12700">
            <a:solidFill>
              <a:srgbClr val="2E5090"/>
            </a:solidFill>
            <a:prstDash val="solid"/>
          </a:ln>
        </p:spPr>
      </p:sp>
      <p:sp>
        <p:nvSpPr>
          <p:cNvPr id="14" name="Text 12"/>
          <p:cNvSpPr/>
          <p:nvPr/>
        </p:nvSpPr>
        <p:spPr>
          <a:xfrm>
            <a:off x="517300" y="1966108"/>
            <a:ext cx="2542032" cy="347472"/>
          </a:xfrm>
          <a:prstGeom prst="rect">
            <a:avLst/>
          </a:prstGeom>
          <a:noFill/>
          <a:ln/>
        </p:spPr>
        <p:txBody>
          <a:bodyPr wrap="square" lIns="0" tIns="0" rIns="0" bIns="0" rtlCol="0" anchor="ctr"/>
          <a:lstStyle/>
          <a:p>
            <a:pPr marL="0" indent="0">
              <a:buNone/>
            </a:pPr>
            <a:r>
              <a:rPr lang="en-US" sz="1200" b="1">
                <a:solidFill>
                  <a:srgbClr val="FFFFFF"/>
                </a:solidFill>
                <a:latin typeface="Times New Roman"/>
                <a:cs typeface="Times New Roman"/>
              </a:rPr>
              <a:t>02  Single Dataset</a:t>
            </a:r>
            <a:endParaRPr lang="en-US" sz="1200">
              <a:latin typeface="Times New Roman"/>
              <a:cs typeface="Times New Roman"/>
            </a:endParaRPr>
          </a:p>
        </p:txBody>
      </p:sp>
      <p:sp>
        <p:nvSpPr>
          <p:cNvPr id="15" name="Text 13"/>
          <p:cNvSpPr/>
          <p:nvPr/>
        </p:nvSpPr>
        <p:spPr>
          <a:xfrm>
            <a:off x="461993" y="2340792"/>
            <a:ext cx="8155637" cy="504763"/>
          </a:xfrm>
          <a:prstGeom prst="rect">
            <a:avLst/>
          </a:prstGeom>
          <a:noFill/>
          <a:ln/>
        </p:spPr>
        <p:txBody>
          <a:bodyPr wrap="square" rtlCol="0" anchor="ctr"/>
          <a:lstStyle/>
          <a:p>
            <a:pPr marL="0" indent="0">
              <a:buNone/>
            </a:pPr>
            <a:r>
              <a:rPr lang="en-US" sz="1200">
                <a:solidFill>
                  <a:srgbClr val="2D3550"/>
                </a:solidFill>
                <a:latin typeface="Times New Roman"/>
                <a:cs typeface="Times New Roman"/>
              </a:rPr>
              <a:t>MedMCQA is Indian medical exam content. Generalization to US USMLE (MedQA), biomedical literature (PubMedQA), or general reasoning benchmarks is untested.</a:t>
            </a:r>
            <a:endParaRPr lang="en-US" sz="1200">
              <a:latin typeface="Times New Roman"/>
              <a:cs typeface="Times New Roman"/>
            </a:endParaRPr>
          </a:p>
        </p:txBody>
      </p:sp>
      <p:sp>
        <p:nvSpPr>
          <p:cNvPr id="24" name="Shape 22"/>
          <p:cNvSpPr/>
          <p:nvPr/>
        </p:nvSpPr>
        <p:spPr>
          <a:xfrm>
            <a:off x="333683" y="3055867"/>
            <a:ext cx="8366390" cy="850981"/>
          </a:xfrm>
          <a:prstGeom prst="rect">
            <a:avLst/>
          </a:prstGeom>
          <a:solidFill>
            <a:srgbClr val="FFFFFF"/>
          </a:solidFill>
          <a:ln w="12700">
            <a:solidFill>
              <a:srgbClr val="E8ECF2"/>
            </a:solidFill>
            <a:prstDash val="solid"/>
          </a:ln>
          <a:effectLst>
            <a:outerShdw blurRad="50800" dist="25400" dir="8100000" algn="bl" rotWithShape="0">
              <a:srgbClr val="000000">
                <a:alpha val="8000"/>
              </a:srgbClr>
            </a:outerShdw>
          </a:effectLst>
        </p:spPr>
      </p:sp>
      <p:sp>
        <p:nvSpPr>
          <p:cNvPr id="25" name="Shape 23"/>
          <p:cNvSpPr/>
          <p:nvPr/>
        </p:nvSpPr>
        <p:spPr>
          <a:xfrm>
            <a:off x="342902" y="3055866"/>
            <a:ext cx="8366389" cy="338253"/>
          </a:xfrm>
          <a:prstGeom prst="rect">
            <a:avLst/>
          </a:prstGeom>
          <a:solidFill>
            <a:srgbClr val="2E5090"/>
          </a:solidFill>
          <a:ln w="12700">
            <a:noFill/>
            <a:prstDash val="solid"/>
          </a:ln>
        </p:spPr>
      </p:sp>
      <p:sp>
        <p:nvSpPr>
          <p:cNvPr id="26" name="Text 24"/>
          <p:cNvSpPr/>
          <p:nvPr/>
        </p:nvSpPr>
        <p:spPr>
          <a:xfrm>
            <a:off x="517300" y="3046647"/>
            <a:ext cx="2542032" cy="347472"/>
          </a:xfrm>
          <a:prstGeom prst="rect">
            <a:avLst/>
          </a:prstGeom>
          <a:noFill/>
          <a:ln/>
        </p:spPr>
        <p:txBody>
          <a:bodyPr wrap="square" lIns="0" tIns="0" rIns="0" bIns="0" rtlCol="0" anchor="ctr"/>
          <a:lstStyle/>
          <a:p>
            <a:r>
              <a:rPr lang="en-US" sz="1200" b="1">
                <a:solidFill>
                  <a:srgbClr val="FFFFFF"/>
                </a:solidFill>
                <a:latin typeface="Times New Roman"/>
                <a:cs typeface="Times New Roman"/>
              </a:rPr>
              <a:t>03  Small </a:t>
            </a:r>
            <a:r>
              <a:rPr lang="en-US" sz="1200" b="1" err="1">
                <a:solidFill>
                  <a:srgbClr val="FFFFFF"/>
                </a:solidFill>
                <a:latin typeface="Times New Roman"/>
                <a:cs typeface="Times New Roman"/>
              </a:rPr>
              <a:t>CoT</a:t>
            </a:r>
            <a:r>
              <a:rPr lang="en-US" sz="1200" b="1">
                <a:solidFill>
                  <a:srgbClr val="FFFFFF"/>
                </a:solidFill>
                <a:latin typeface="Times New Roman"/>
                <a:cs typeface="Times New Roman"/>
              </a:rPr>
              <a:t> / Logit Sample Sizes</a:t>
            </a:r>
            <a:endParaRPr lang="en-US" sz="1200">
              <a:latin typeface="Times New Roman"/>
              <a:cs typeface="Times New Roman"/>
            </a:endParaRPr>
          </a:p>
        </p:txBody>
      </p:sp>
      <p:sp>
        <p:nvSpPr>
          <p:cNvPr id="27" name="Text 25"/>
          <p:cNvSpPr/>
          <p:nvPr/>
        </p:nvSpPr>
        <p:spPr>
          <a:xfrm>
            <a:off x="406686" y="3384461"/>
            <a:ext cx="8247814" cy="504763"/>
          </a:xfrm>
          <a:prstGeom prst="rect">
            <a:avLst/>
          </a:prstGeom>
          <a:noFill/>
          <a:ln>
            <a:solidFill>
              <a:schemeClr val="bg1"/>
            </a:solidFill>
          </a:ln>
        </p:spPr>
        <p:txBody>
          <a:bodyPr wrap="square" rtlCol="0" anchor="ctr"/>
          <a:lstStyle/>
          <a:p>
            <a:pPr marL="0" indent="0">
              <a:buNone/>
            </a:pPr>
            <a:r>
              <a:rPr lang="en-US" sz="1200">
                <a:solidFill>
                  <a:srgbClr val="2D3550"/>
                </a:solidFill>
                <a:latin typeface="Times New Roman"/>
                <a:cs typeface="Times New Roman"/>
              </a:rPr>
              <a:t>CoT investigation uses n=30 per set; logit analysis n=25. These are targeted diagnostics rather than statistically robust estimates.</a:t>
            </a:r>
            <a:endParaRPr lang="en-US" sz="1200">
              <a:latin typeface="Times New Roman"/>
              <a:cs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chemeClr val="bg1"/>
        </a:solidFill>
        <a:effectLst/>
      </p:bgPr>
    </p:bg>
    <p:spTree>
      <p:nvGrpSpPr>
        <p:cNvPr id="1" name=""/>
        <p:cNvGrpSpPr/>
        <p:nvPr/>
      </p:nvGrpSpPr>
      <p:grpSpPr>
        <a:xfrm>
          <a:off x="0" y="0"/>
          <a:ext cx="0" cy="0"/>
          <a:chOff x="0" y="0"/>
          <a:chExt cx="0" cy="0"/>
        </a:xfrm>
      </p:grpSpPr>
      <p:sp>
        <p:nvSpPr>
          <p:cNvPr id="20" name="Shape 0">
            <a:extLst>
              <a:ext uri="{FF2B5EF4-FFF2-40B4-BE49-F238E27FC236}">
                <a16:creationId xmlns:a16="http://schemas.microsoft.com/office/drawing/2014/main" id="{65CE5CA3-8AE5-92D3-EE5F-5478C2F723B9}"/>
              </a:ext>
            </a:extLst>
          </p:cNvPr>
          <p:cNvSpPr/>
          <p:nvPr/>
        </p:nvSpPr>
        <p:spPr>
          <a:xfrm>
            <a:off x="0" y="0"/>
            <a:ext cx="9144000" cy="658368"/>
          </a:xfrm>
          <a:prstGeom prst="rect">
            <a:avLst/>
          </a:prstGeom>
          <a:solidFill>
            <a:srgbClr val="1B3A6B"/>
          </a:solidFill>
          <a:ln w="12700">
            <a:solidFill>
              <a:srgbClr val="1B3A6B"/>
            </a:solidFill>
            <a:prstDash val="solid"/>
          </a:ln>
        </p:spPr>
      </p:sp>
      <p:sp>
        <p:nvSpPr>
          <p:cNvPr id="3" name="Text 1"/>
          <p:cNvSpPr/>
          <p:nvPr/>
        </p:nvSpPr>
        <p:spPr>
          <a:xfrm>
            <a:off x="401645" y="74960"/>
            <a:ext cx="8229600" cy="502920"/>
          </a:xfrm>
          <a:prstGeom prst="rect">
            <a:avLst/>
          </a:prstGeom>
          <a:noFill/>
          <a:ln/>
        </p:spPr>
        <p:txBody>
          <a:bodyPr wrap="square" lIns="91440" tIns="45720" rIns="91440" bIns="45720" rtlCol="0" anchor="ctr"/>
          <a:lstStyle/>
          <a:p>
            <a:pPr marL="0" indent="0">
              <a:buNone/>
            </a:pPr>
            <a:r>
              <a:rPr lang="en-US" sz="2600" b="1">
                <a:solidFill>
                  <a:schemeClr val="bg1"/>
                </a:solidFill>
                <a:latin typeface="Times New Roman"/>
                <a:ea typeface="Georgia" pitchFamily="34" charset="-122"/>
                <a:cs typeface="Times New Roman"/>
              </a:rPr>
              <a:t>Conclusion &amp; Next Steps</a:t>
            </a:r>
            <a:endParaRPr lang="en-US" sz="2600">
              <a:solidFill>
                <a:schemeClr val="bg1"/>
              </a:solidFill>
              <a:latin typeface="Times New Roman"/>
              <a:ea typeface="Calibri"/>
              <a:cs typeface="Times New Roman"/>
            </a:endParaRPr>
          </a:p>
        </p:txBody>
      </p:sp>
      <p:sp>
        <p:nvSpPr>
          <p:cNvPr id="4" name="Shape 2"/>
          <p:cNvSpPr/>
          <p:nvPr/>
        </p:nvSpPr>
        <p:spPr>
          <a:xfrm>
            <a:off x="594360" y="960120"/>
            <a:ext cx="2606040" cy="2331720"/>
          </a:xfrm>
          <a:prstGeom prst="rect">
            <a:avLst/>
          </a:prstGeom>
          <a:solidFill>
            <a:schemeClr val="accent4">
              <a:lumMod val="40000"/>
              <a:lumOff val="60000"/>
            </a:schemeClr>
          </a:solidFill>
          <a:ln w="12700">
            <a:solidFill>
              <a:schemeClr val="tx1"/>
            </a:solidFill>
            <a:prstDash val="solid"/>
          </a:ln>
          <a:effectLst>
            <a:outerShdw blurRad="76200" dist="25400" dir="8100000" algn="bl" rotWithShape="0">
              <a:srgbClr val="000000">
                <a:alpha val="30000"/>
              </a:srgbClr>
            </a:outerShdw>
          </a:effectLst>
        </p:spPr>
      </p:sp>
      <p:sp>
        <p:nvSpPr>
          <p:cNvPr id="5" name="Text 3"/>
          <p:cNvSpPr/>
          <p:nvPr/>
        </p:nvSpPr>
        <p:spPr>
          <a:xfrm>
            <a:off x="685800" y="1005840"/>
            <a:ext cx="411480" cy="411480"/>
          </a:xfrm>
          <a:prstGeom prst="rect">
            <a:avLst/>
          </a:prstGeom>
          <a:noFill/>
          <a:ln/>
        </p:spPr>
        <p:txBody>
          <a:bodyPr wrap="square" rtlCol="0" anchor="ctr"/>
          <a:lstStyle/>
          <a:p>
            <a:pPr marL="0" indent="0">
              <a:buNone/>
            </a:pPr>
            <a:r>
              <a:rPr lang="en-US" sz="2200" b="1">
                <a:solidFill>
                  <a:srgbClr val="000000"/>
                </a:solidFill>
                <a:latin typeface="Times New Roman"/>
                <a:ea typeface="Georgia" pitchFamily="34" charset="-122"/>
                <a:cs typeface="Times New Roman"/>
              </a:rPr>
              <a:t>1</a:t>
            </a:r>
            <a:endParaRPr lang="en-US" sz="2200">
              <a:solidFill>
                <a:srgbClr val="000000"/>
              </a:solidFill>
              <a:latin typeface="Times New Roman"/>
              <a:cs typeface="Times New Roman"/>
            </a:endParaRPr>
          </a:p>
        </p:txBody>
      </p:sp>
      <p:sp>
        <p:nvSpPr>
          <p:cNvPr id="6" name="Text 4"/>
          <p:cNvSpPr/>
          <p:nvPr/>
        </p:nvSpPr>
        <p:spPr>
          <a:xfrm>
            <a:off x="685800" y="1444752"/>
            <a:ext cx="2377440" cy="347472"/>
          </a:xfrm>
          <a:prstGeom prst="rect">
            <a:avLst/>
          </a:prstGeom>
          <a:noFill/>
          <a:ln/>
        </p:spPr>
        <p:txBody>
          <a:bodyPr wrap="square" rtlCol="0" anchor="ctr"/>
          <a:lstStyle/>
          <a:p>
            <a:pPr marL="0" indent="0">
              <a:buNone/>
            </a:pPr>
            <a:r>
              <a:rPr lang="en-US" sz="1250" b="1">
                <a:solidFill>
                  <a:srgbClr val="000000"/>
                </a:solidFill>
                <a:latin typeface="Times New Roman"/>
                <a:cs typeface="Times New Roman"/>
              </a:rPr>
              <a:t>Survival-Based Framework</a:t>
            </a:r>
            <a:endParaRPr lang="en-US" sz="1250">
              <a:solidFill>
                <a:srgbClr val="000000"/>
              </a:solidFill>
              <a:latin typeface="Times New Roman"/>
              <a:cs typeface="Times New Roman"/>
            </a:endParaRPr>
          </a:p>
        </p:txBody>
      </p:sp>
      <p:sp>
        <p:nvSpPr>
          <p:cNvPr id="7" name="Text 5"/>
          <p:cNvSpPr/>
          <p:nvPr/>
        </p:nvSpPr>
        <p:spPr>
          <a:xfrm>
            <a:off x="659219" y="1622794"/>
            <a:ext cx="2377440" cy="1371600"/>
          </a:xfrm>
          <a:prstGeom prst="rect">
            <a:avLst/>
          </a:prstGeom>
          <a:noFill/>
          <a:ln/>
        </p:spPr>
        <p:txBody>
          <a:bodyPr wrap="square" lIns="91440" tIns="45720" rIns="91440" bIns="45720" rtlCol="0" anchor="ctr"/>
          <a:lstStyle/>
          <a:p>
            <a:pPr marL="0" indent="0">
              <a:buNone/>
            </a:pPr>
            <a:r>
              <a:rPr lang="en-US" sz="1200">
                <a:solidFill>
                  <a:srgbClr val="000000"/>
                </a:solidFill>
                <a:latin typeface="Times New Roman"/>
                <a:cs typeface="Times New Roman"/>
              </a:rPr>
              <a:t>5 new metrics (S@3, S@2, Acc@1, CFR, Conf-</a:t>
            </a:r>
            <a:r>
              <a:rPr lang="en-US" sz="1200" err="1">
                <a:solidFill>
                  <a:srgbClr val="000000"/>
                </a:solidFill>
                <a:latin typeface="Times New Roman"/>
                <a:cs typeface="Times New Roman"/>
              </a:rPr>
              <a:t>Surv</a:t>
            </a:r>
            <a:r>
              <a:rPr lang="en-US" sz="1200">
                <a:solidFill>
                  <a:srgbClr val="000000"/>
                </a:solidFill>
                <a:latin typeface="Times New Roman"/>
                <a:cs typeface="Times New Roman"/>
              </a:rPr>
              <a:t>) that characterize full elimination trajectory, not just final accuracy.</a:t>
            </a:r>
          </a:p>
        </p:txBody>
      </p:sp>
      <p:sp>
        <p:nvSpPr>
          <p:cNvPr id="8" name="Shape 6"/>
          <p:cNvSpPr/>
          <p:nvPr/>
        </p:nvSpPr>
        <p:spPr>
          <a:xfrm>
            <a:off x="3383280" y="960120"/>
            <a:ext cx="2606040" cy="2331720"/>
          </a:xfrm>
          <a:prstGeom prst="rect">
            <a:avLst/>
          </a:prstGeom>
          <a:solidFill>
            <a:schemeClr val="accent6">
              <a:lumMod val="40000"/>
              <a:lumOff val="60000"/>
            </a:schemeClr>
          </a:solidFill>
          <a:ln w="12700">
            <a:solidFill>
              <a:schemeClr val="tx1"/>
            </a:solidFill>
            <a:prstDash val="solid"/>
          </a:ln>
          <a:effectLst>
            <a:outerShdw blurRad="76200" dist="25400" dir="8100000" algn="bl" rotWithShape="0">
              <a:srgbClr val="000000">
                <a:alpha val="30000"/>
              </a:srgbClr>
            </a:outerShdw>
          </a:effectLst>
        </p:spPr>
      </p:sp>
      <p:sp>
        <p:nvSpPr>
          <p:cNvPr id="9" name="Text 7"/>
          <p:cNvSpPr/>
          <p:nvPr/>
        </p:nvSpPr>
        <p:spPr>
          <a:xfrm>
            <a:off x="3474720" y="1005840"/>
            <a:ext cx="411480" cy="411480"/>
          </a:xfrm>
          <a:prstGeom prst="rect">
            <a:avLst/>
          </a:prstGeom>
          <a:noFill/>
          <a:ln/>
        </p:spPr>
        <p:txBody>
          <a:bodyPr wrap="square" rtlCol="0" anchor="ctr"/>
          <a:lstStyle/>
          <a:p>
            <a:pPr marL="0" indent="0">
              <a:buNone/>
            </a:pPr>
            <a:r>
              <a:rPr lang="en-US" sz="2200" b="1">
                <a:solidFill>
                  <a:srgbClr val="000000"/>
                </a:solidFill>
                <a:latin typeface="Times New Roman"/>
                <a:ea typeface="Georgia" pitchFamily="34" charset="-122"/>
                <a:cs typeface="Times New Roman"/>
              </a:rPr>
              <a:t>2</a:t>
            </a:r>
            <a:endParaRPr lang="en-US" sz="2200">
              <a:solidFill>
                <a:srgbClr val="000000"/>
              </a:solidFill>
              <a:latin typeface="Times New Roman"/>
              <a:cs typeface="Times New Roman"/>
            </a:endParaRPr>
          </a:p>
        </p:txBody>
      </p:sp>
      <p:sp>
        <p:nvSpPr>
          <p:cNvPr id="10" name="Text 8"/>
          <p:cNvSpPr/>
          <p:nvPr/>
        </p:nvSpPr>
        <p:spPr>
          <a:xfrm>
            <a:off x="3474720" y="1444752"/>
            <a:ext cx="2377440" cy="347472"/>
          </a:xfrm>
          <a:prstGeom prst="rect">
            <a:avLst/>
          </a:prstGeom>
          <a:noFill/>
          <a:ln/>
        </p:spPr>
        <p:txBody>
          <a:bodyPr wrap="square" rtlCol="0" anchor="ctr"/>
          <a:lstStyle/>
          <a:p>
            <a:pPr marL="0" indent="0">
              <a:buNone/>
            </a:pPr>
            <a:r>
              <a:rPr lang="en-US" sz="1250" b="1">
                <a:solidFill>
                  <a:srgbClr val="000000"/>
                </a:solidFill>
                <a:latin typeface="Times New Roman"/>
                <a:cs typeface="Times New Roman"/>
              </a:rPr>
              <a:t>CGE on MedMCQA</a:t>
            </a:r>
            <a:endParaRPr lang="en-US" sz="1250">
              <a:solidFill>
                <a:srgbClr val="000000"/>
              </a:solidFill>
              <a:latin typeface="Times New Roman"/>
              <a:cs typeface="Times New Roman"/>
            </a:endParaRPr>
          </a:p>
        </p:txBody>
      </p:sp>
      <p:sp>
        <p:nvSpPr>
          <p:cNvPr id="11" name="Text 9"/>
          <p:cNvSpPr/>
          <p:nvPr/>
        </p:nvSpPr>
        <p:spPr>
          <a:xfrm>
            <a:off x="3474720" y="1622794"/>
            <a:ext cx="2377440" cy="1371600"/>
          </a:xfrm>
          <a:prstGeom prst="rect">
            <a:avLst/>
          </a:prstGeom>
          <a:noFill/>
          <a:ln/>
        </p:spPr>
        <p:txBody>
          <a:bodyPr wrap="square" lIns="91440" tIns="45720" rIns="91440" bIns="45720" rtlCol="0" anchor="ctr"/>
          <a:lstStyle/>
          <a:p>
            <a:pPr marL="0" indent="0">
              <a:buNone/>
            </a:pPr>
            <a:r>
              <a:rPr lang="en-US" sz="1200">
                <a:solidFill>
                  <a:srgbClr val="000000"/>
                </a:solidFill>
                <a:latin typeface="Times New Roman"/>
                <a:cs typeface="Times New Roman"/>
              </a:rPr>
              <a:t>First application of iterative confidence-guided elimination to 4,183 medical exam questions. +7.2 pp / +11.4 pp accuracy gains.</a:t>
            </a:r>
          </a:p>
        </p:txBody>
      </p:sp>
      <p:sp>
        <p:nvSpPr>
          <p:cNvPr id="12" name="Shape 10"/>
          <p:cNvSpPr/>
          <p:nvPr/>
        </p:nvSpPr>
        <p:spPr>
          <a:xfrm>
            <a:off x="6172200" y="960120"/>
            <a:ext cx="2606040" cy="2331720"/>
          </a:xfrm>
          <a:prstGeom prst="rect">
            <a:avLst/>
          </a:prstGeom>
          <a:solidFill>
            <a:schemeClr val="accent1">
              <a:lumMod val="60000"/>
              <a:lumOff val="40000"/>
            </a:schemeClr>
          </a:solidFill>
          <a:ln w="12700">
            <a:solidFill>
              <a:schemeClr val="tx1"/>
            </a:solidFill>
            <a:prstDash val="solid"/>
          </a:ln>
          <a:effectLst>
            <a:outerShdw blurRad="76200" dist="25400" dir="8100000" algn="bl" rotWithShape="0">
              <a:srgbClr val="000000">
                <a:alpha val="30000"/>
              </a:srgbClr>
            </a:outerShdw>
          </a:effectLst>
        </p:spPr>
      </p:sp>
      <p:sp>
        <p:nvSpPr>
          <p:cNvPr id="13" name="Text 11"/>
          <p:cNvSpPr/>
          <p:nvPr/>
        </p:nvSpPr>
        <p:spPr>
          <a:xfrm>
            <a:off x="6263640" y="1005840"/>
            <a:ext cx="411480" cy="411480"/>
          </a:xfrm>
          <a:prstGeom prst="rect">
            <a:avLst/>
          </a:prstGeom>
          <a:noFill/>
          <a:ln/>
        </p:spPr>
        <p:txBody>
          <a:bodyPr wrap="square" lIns="91440" tIns="45720" rIns="91440" bIns="45720" rtlCol="0" anchor="ctr"/>
          <a:lstStyle/>
          <a:p>
            <a:pPr marL="0" indent="0">
              <a:buNone/>
            </a:pPr>
            <a:r>
              <a:rPr lang="en-US" sz="2200" b="1">
                <a:solidFill>
                  <a:srgbClr val="000000"/>
                </a:solidFill>
                <a:latin typeface="Times New Roman"/>
                <a:ea typeface="Georgia" pitchFamily="34" charset="-122"/>
                <a:cs typeface="Times New Roman"/>
              </a:rPr>
              <a:t>3</a:t>
            </a:r>
            <a:endParaRPr lang="en-US" sz="2200">
              <a:solidFill>
                <a:srgbClr val="000000"/>
              </a:solidFill>
              <a:latin typeface="Times New Roman"/>
              <a:ea typeface="Calibri"/>
              <a:cs typeface="Times New Roman"/>
            </a:endParaRPr>
          </a:p>
        </p:txBody>
      </p:sp>
      <p:sp>
        <p:nvSpPr>
          <p:cNvPr id="14" name="Text 12"/>
          <p:cNvSpPr/>
          <p:nvPr/>
        </p:nvSpPr>
        <p:spPr>
          <a:xfrm>
            <a:off x="6263640" y="1444752"/>
            <a:ext cx="2377440" cy="347472"/>
          </a:xfrm>
          <a:prstGeom prst="rect">
            <a:avLst/>
          </a:prstGeom>
          <a:noFill/>
          <a:ln/>
        </p:spPr>
        <p:txBody>
          <a:bodyPr wrap="square" lIns="91440" tIns="45720" rIns="91440" bIns="45720" rtlCol="0" anchor="ctr"/>
          <a:lstStyle/>
          <a:p>
            <a:pPr marL="0" indent="0">
              <a:buNone/>
            </a:pPr>
            <a:r>
              <a:rPr lang="en-US" sz="1250" b="1">
                <a:solidFill>
                  <a:srgbClr val="000000"/>
                </a:solidFill>
                <a:latin typeface="Times New Roman"/>
                <a:cs typeface="Times New Roman"/>
              </a:rPr>
              <a:t>Verbalization Gap Discovery</a:t>
            </a:r>
            <a:endParaRPr lang="en-US" sz="1250">
              <a:solidFill>
                <a:srgbClr val="000000"/>
              </a:solidFill>
              <a:latin typeface="Times New Roman"/>
              <a:ea typeface="Calibri"/>
              <a:cs typeface="Times New Roman"/>
            </a:endParaRPr>
          </a:p>
        </p:txBody>
      </p:sp>
      <p:sp>
        <p:nvSpPr>
          <p:cNvPr id="15" name="Text 13"/>
          <p:cNvSpPr/>
          <p:nvPr/>
        </p:nvSpPr>
        <p:spPr>
          <a:xfrm>
            <a:off x="6263640" y="1622794"/>
            <a:ext cx="2377440" cy="1371600"/>
          </a:xfrm>
          <a:prstGeom prst="rect">
            <a:avLst/>
          </a:prstGeom>
          <a:noFill/>
          <a:ln/>
        </p:spPr>
        <p:txBody>
          <a:bodyPr wrap="square" lIns="91440" tIns="45720" rIns="91440" bIns="45720" rtlCol="0" anchor="ctr"/>
          <a:lstStyle/>
          <a:p>
            <a:pPr marL="0" indent="0">
              <a:buNone/>
            </a:pPr>
            <a:r>
              <a:rPr lang="en-US" sz="1200" dirty="0">
                <a:solidFill>
                  <a:srgbClr val="000000"/>
                </a:solidFill>
                <a:latin typeface="Times New Roman"/>
                <a:cs typeface="Times New Roman"/>
              </a:rPr>
              <a:t>Models know answers internally but cannot express them </a:t>
            </a:r>
            <a:r>
              <a:rPr lang="en-US" sz="1200">
                <a:solidFill>
                  <a:srgbClr val="000000"/>
                </a:solidFill>
                <a:latin typeface="Times New Roman"/>
                <a:cs typeface="Times New Roman"/>
              </a:rPr>
              <a:t>numerically. </a:t>
            </a:r>
            <a:endParaRPr lang="en-US" sz="1200" dirty="0">
              <a:solidFill>
                <a:srgbClr val="000000"/>
              </a:solidFill>
              <a:latin typeface="Times New Roman"/>
              <a:ea typeface="Calibri"/>
              <a:cs typeface="Times New Roman"/>
            </a:endParaRPr>
          </a:p>
        </p:txBody>
      </p:sp>
      <p:sp>
        <p:nvSpPr>
          <p:cNvPr id="16" name="Shape 14"/>
          <p:cNvSpPr/>
          <p:nvPr/>
        </p:nvSpPr>
        <p:spPr>
          <a:xfrm>
            <a:off x="594361" y="3841005"/>
            <a:ext cx="8135911" cy="274320"/>
          </a:xfrm>
          <a:prstGeom prst="rect">
            <a:avLst/>
          </a:prstGeom>
          <a:solidFill>
            <a:schemeClr val="accent1"/>
          </a:solidFill>
          <a:ln w="12700">
            <a:noFill/>
            <a:prstDash val="solid"/>
          </a:ln>
        </p:spPr>
      </p:sp>
      <p:sp>
        <p:nvSpPr>
          <p:cNvPr id="17" name="Text 15"/>
          <p:cNvSpPr/>
          <p:nvPr/>
        </p:nvSpPr>
        <p:spPr>
          <a:xfrm>
            <a:off x="658368" y="3841005"/>
            <a:ext cx="8046720" cy="274320"/>
          </a:xfrm>
          <a:prstGeom prst="rect">
            <a:avLst/>
          </a:prstGeom>
          <a:noFill/>
          <a:ln/>
        </p:spPr>
        <p:txBody>
          <a:bodyPr wrap="square" lIns="0" tIns="0" rIns="0" bIns="0" rtlCol="0" anchor="ctr"/>
          <a:lstStyle/>
          <a:p>
            <a:pPr marL="0" indent="0">
              <a:buNone/>
            </a:pPr>
            <a:r>
              <a:rPr lang="en-US" sz="1200" b="1">
                <a:solidFill>
                  <a:schemeClr val="bg1"/>
                </a:solidFill>
              </a:rPr>
              <a:t>Next Steps </a:t>
            </a:r>
            <a:endParaRPr lang="en-US" sz="1200">
              <a:solidFill>
                <a:schemeClr val="bg1"/>
              </a:solidFill>
              <a:ea typeface="Calibri"/>
              <a:cs typeface="Calibri"/>
            </a:endParaRPr>
          </a:p>
        </p:txBody>
      </p:sp>
      <p:sp>
        <p:nvSpPr>
          <p:cNvPr id="18" name="Text 16"/>
          <p:cNvSpPr/>
          <p:nvPr/>
        </p:nvSpPr>
        <p:spPr>
          <a:xfrm>
            <a:off x="574423" y="4116154"/>
            <a:ext cx="8181885" cy="535149"/>
          </a:xfrm>
          <a:prstGeom prst="rect">
            <a:avLst/>
          </a:prstGeom>
          <a:noFill/>
          <a:ln/>
        </p:spPr>
        <p:txBody>
          <a:bodyPr wrap="square" lIns="91440" tIns="45720" rIns="91440" bIns="45720" rtlCol="0" anchor="ctr"/>
          <a:lstStyle/>
          <a:p>
            <a:pPr marL="171450" indent="-171450">
              <a:buFont typeface="Wingdings"/>
              <a:buChar char="§"/>
            </a:pPr>
            <a:r>
              <a:rPr lang="en-US" sz="1200">
                <a:latin typeface="Times New Roman"/>
                <a:ea typeface="+mn-lt"/>
                <a:cs typeface="Times New Roman"/>
              </a:rPr>
              <a:t>Finalize &amp; clean codebase</a:t>
            </a:r>
            <a:endParaRPr lang="en-US"/>
          </a:p>
          <a:p>
            <a:pPr marL="171450" indent="-171450">
              <a:buFont typeface="Wingdings"/>
              <a:buChar char="§"/>
            </a:pPr>
            <a:r>
              <a:rPr lang="en-US" sz="1200">
                <a:latin typeface="Times New Roman"/>
                <a:ea typeface="+mn-lt"/>
                <a:cs typeface="Times New Roman"/>
              </a:rPr>
              <a:t>Complete final paper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Freeform: Shape 8">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5818" y="0"/>
            <a:ext cx="7472363" cy="51435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0"/>
            <a:ext cx="7461504" cy="51435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23CB385A-57AF-211F-D79A-D4083D284FF6}"/>
              </a:ext>
            </a:extLst>
          </p:cNvPr>
          <p:cNvSpPr txBox="1"/>
          <p:nvPr/>
        </p:nvSpPr>
        <p:spPr>
          <a:xfrm>
            <a:off x="1229392" y="2091147"/>
            <a:ext cx="6858000" cy="2073021"/>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algn="ctr">
              <a:lnSpc>
                <a:spcPct val="90000"/>
              </a:lnSpc>
              <a:spcBef>
                <a:spcPct val="0"/>
              </a:spcBef>
              <a:spcAft>
                <a:spcPts val="600"/>
              </a:spcAft>
            </a:pPr>
            <a:r>
              <a:rPr lang="en-US" sz="5400" b="1" kern="1200">
                <a:solidFill>
                  <a:schemeClr val="tx1"/>
                </a:solidFill>
                <a:latin typeface="+mj-lt"/>
                <a:ea typeface="+mj-ea"/>
                <a:cs typeface="+mj-cs"/>
              </a:rPr>
              <a:t>Thank You </a:t>
            </a:r>
          </a:p>
        </p:txBody>
      </p:sp>
      <p:sp>
        <p:nvSpPr>
          <p:cNvPr id="13" name="Rectangle 12">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88920" y="4143589"/>
            <a:ext cx="3566160" cy="2057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346938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3316</Words>
  <Application>Microsoft Office PowerPoint</Application>
  <PresentationFormat>On-screen Show (16:9)</PresentationFormat>
  <Paragraphs>420</Paragraphs>
  <Slides>16</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Georgia</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Beyond Accuracy: A Survival-Based Evaluation Framework</dc:title>
  <dc:subject>PptxGenJS Presentation</dc:subject>
  <dc:creator>PptxGenJS</dc:creator>
  <cp:lastModifiedBy>Shubham Mehla</cp:lastModifiedBy>
  <cp:revision>14</cp:revision>
  <dcterms:created xsi:type="dcterms:W3CDTF">2026-03-14T20:36:08Z</dcterms:created>
  <dcterms:modified xsi:type="dcterms:W3CDTF">2026-03-17T14:48:03Z</dcterms:modified>
</cp:coreProperties>
</file>