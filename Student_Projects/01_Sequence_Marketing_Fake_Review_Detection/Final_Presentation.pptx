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0"/>
  </p:notesMasterIdLst>
  <p:sldIdLst>
    <p:sldId id="324" r:id="rId2"/>
    <p:sldId id="325" r:id="rId3"/>
    <p:sldId id="327" r:id="rId4"/>
    <p:sldId id="332" r:id="rId5"/>
    <p:sldId id="333" r:id="rId6"/>
    <p:sldId id="329" r:id="rId7"/>
    <p:sldId id="340" r:id="rId8"/>
    <p:sldId id="345" r:id="rId9"/>
    <p:sldId id="339" r:id="rId10"/>
    <p:sldId id="342" r:id="rId11"/>
    <p:sldId id="343" r:id="rId12"/>
    <p:sldId id="326" r:id="rId13"/>
    <p:sldId id="338" r:id="rId14"/>
    <p:sldId id="335" r:id="rId15"/>
    <p:sldId id="336" r:id="rId16"/>
    <p:sldId id="344" r:id="rId17"/>
    <p:sldId id="330" r:id="rId18"/>
    <p:sldId id="31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CDF7"/>
    <a:srgbClr val="D7C6F8"/>
    <a:srgbClr val="D8C8FA"/>
    <a:srgbClr val="F2EDFC"/>
    <a:srgbClr val="E8DFFC"/>
    <a:srgbClr val="C5B0FF"/>
    <a:srgbClr val="7C6AAD"/>
    <a:srgbClr val="9378E7"/>
    <a:srgbClr val="545EEA"/>
    <a:srgbClr val="545E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DF427-1942-2081-4122-F76EB3415F67}" v="43" dt="2026-03-19T14:50:03.585"/>
    <p1510:client id="{1B8300DF-787B-1FED-8991-879E4C8BC770}" v="2038" dt="2026-03-19T05:57:14.743"/>
    <p1510:client id="{54EAD023-7495-288F-6CDF-F2FEB74C7A54}" v="31" dt="2026-03-19T14:25:38.393"/>
    <p1510:client id="{831EA78C-6AE3-BD0E-24AE-EDA5D2D1131D}" v="474" dt="2026-03-19T04:47:43.132"/>
    <p1510:client id="{8F4F000C-91FB-46F9-BFB9-8E32839ED83D}" v="949" dt="2026-03-19T14:41:56.412"/>
    <p1510:client id="{A34C6C52-D86A-9AC8-37FE-64AC3A8B002C}" v="342" dt="2026-03-19T00:26:49.589"/>
    <p1510:client id="{AC03673F-1E7E-1DC6-F0C2-6E128A0BC007}" v="178" dt="2026-03-19T15:00:04.153"/>
    <p1510:client id="{CC7379DB-76B2-89BC-A282-A4EF794E41F1}" v="142" dt="2026-03-18T20:10:48.094"/>
    <p1510:client id="{D6348E9A-55DC-AAF1-19CB-9F1100FC2D96}" v="66" dt="2026-03-19T15:19:02.547"/>
    <p1510:client id="{F72FFF86-C99C-FE1E-DFB5-5ACAEE86777A}" v="5" dt="2026-03-19T05:54:16.8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66E234-A5ED-4678-9457-6BB4340B9A73}" type="datetimeFigureOut">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F3164-26CB-45E2-B062-D7215DCF9970}" type="slidenum">
              <a:t>‹#›</a:t>
            </a:fld>
            <a:endParaRPr lang="en-US"/>
          </a:p>
        </p:txBody>
      </p:sp>
    </p:spTree>
    <p:extLst>
      <p:ext uri="{BB962C8B-B14F-4D97-AF65-F5344CB8AC3E}">
        <p14:creationId xmlns:p14="http://schemas.microsoft.com/office/powerpoint/2010/main" val="2111206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B6851C1-C4E7-1148-5CB3-E4802A34F8A2}"/>
            </a:ext>
          </a:extLst>
        </p:cNvPr>
        <p:cNvGrpSpPr/>
        <p:nvPr/>
      </p:nvGrpSpPr>
      <p:grpSpPr>
        <a:xfrm>
          <a:off x="0" y="0"/>
          <a:ext cx="0" cy="0"/>
          <a:chOff x="0" y="0"/>
          <a:chExt cx="0" cy="0"/>
        </a:xfrm>
      </p:grpSpPr>
      <p:sp>
        <p:nvSpPr>
          <p:cNvPr id="246" name="Google Shape;246;g4dfce81f19_0_45:notes">
            <a:extLst>
              <a:ext uri="{FF2B5EF4-FFF2-40B4-BE49-F238E27FC236}">
                <a16:creationId xmlns:a16="http://schemas.microsoft.com/office/drawing/2014/main" id="{8BA5CED5-7B4C-3DE7-150B-9E965EDAB3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47" name="Google Shape;247;g4dfce81f19_0_45:notes">
            <a:extLst>
              <a:ext uri="{FF2B5EF4-FFF2-40B4-BE49-F238E27FC236}">
                <a16:creationId xmlns:a16="http://schemas.microsoft.com/office/drawing/2014/main" id="{676B33DC-42EE-3C32-A38E-5BF7795805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a:t>Speaker 1 Victoria</a:t>
            </a:r>
            <a:r>
              <a:rPr lang="en-US"/>
              <a:t>: </a:t>
            </a:r>
          </a:p>
          <a:p>
            <a:r>
              <a:rPr lang="en-US"/>
              <a:t>Today we’ll be presenting our project titled </a:t>
            </a:r>
            <a:r>
              <a:rPr lang="en-US" i="1"/>
              <a:t>Robust Fake Review Detection with Large Language Models: A Prompt Rewording and Review Length Analysis</a:t>
            </a:r>
            <a:r>
              <a:rPr lang="en-US"/>
              <a:t>.</a:t>
            </a:r>
            <a:endParaRPr lang="en-US">
              <a:ea typeface="Calibri"/>
              <a:cs typeface="Calibri"/>
            </a:endParaRPr>
          </a:p>
          <a:p>
            <a:endParaRPr lang="en-US"/>
          </a:p>
          <a:p>
            <a:endParaRPr lang="en-US">
              <a:ea typeface="Calibri"/>
              <a:cs typeface="Calibri"/>
            </a:endParaRPr>
          </a:p>
        </p:txBody>
      </p:sp>
    </p:spTree>
    <p:extLst>
      <p:ext uri="{BB962C8B-B14F-4D97-AF65-F5344CB8AC3E}">
        <p14:creationId xmlns:p14="http://schemas.microsoft.com/office/powerpoint/2010/main" val="2141551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C40A1AA4-62A1-80F7-D145-E2864EBB530A}"/>
            </a:ext>
          </a:extLst>
        </p:cNvPr>
        <p:cNvGrpSpPr/>
        <p:nvPr/>
      </p:nvGrpSpPr>
      <p:grpSpPr>
        <a:xfrm>
          <a:off x="0" y="0"/>
          <a:ext cx="0" cy="0"/>
          <a:chOff x="0" y="0"/>
          <a:chExt cx="0" cy="0"/>
        </a:xfrm>
      </p:grpSpPr>
      <p:sp>
        <p:nvSpPr>
          <p:cNvPr id="265" name="Google Shape;265;gd431007ba2_0_215:notes">
            <a:extLst>
              <a:ext uri="{FF2B5EF4-FFF2-40B4-BE49-F238E27FC236}">
                <a16:creationId xmlns:a16="http://schemas.microsoft.com/office/drawing/2014/main" id="{4F380646-4A12-F385-83D0-B78AEA1C85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66" name="Google Shape;266;gd431007ba2_0_215:notes">
            <a:extLst>
              <a:ext uri="{FF2B5EF4-FFF2-40B4-BE49-F238E27FC236}">
                <a16:creationId xmlns:a16="http://schemas.microsoft.com/office/drawing/2014/main" id="{7E5DBD05-E90F-A3AE-8D9E-62BBA3325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r>
              <a:rPr lang="en-US" b="1">
                <a:ea typeface="Calibri"/>
                <a:cs typeface="Calibri"/>
              </a:rPr>
              <a:t>Speaker 1 Victoria:</a:t>
            </a:r>
          </a:p>
          <a:p>
            <a:r>
              <a:rPr lang="en-US"/>
              <a:t>Here’s an overview of the presentation.</a:t>
            </a:r>
            <a:endParaRPr lang="en-US">
              <a:ea typeface="Calibri"/>
              <a:cs typeface="Calibri"/>
            </a:endParaRPr>
          </a:p>
          <a:p>
            <a:r>
              <a:rPr lang="en-US"/>
              <a:t>We’ll begin by introducing the motivation and problem setting, followed by a brief discussion of related work and the research gap we aim to address.</a:t>
            </a:r>
            <a:endParaRPr lang="en-US">
              <a:ea typeface="Calibri"/>
              <a:cs typeface="Calibri"/>
            </a:endParaRPr>
          </a:p>
          <a:p>
            <a:r>
              <a:rPr lang="en-US"/>
              <a:t>We’ll then describe the methodology we used, followed by discussion.</a:t>
            </a:r>
            <a:endParaRPr lang="en-US">
              <a:ea typeface="Calibri"/>
              <a:cs typeface="Calibri"/>
            </a:endParaRPr>
          </a:p>
          <a:p>
            <a:r>
              <a:rPr lang="en-US"/>
              <a:t>Next, we’ll outline our limitations .</a:t>
            </a:r>
            <a:endParaRPr lang="en-US">
              <a:ea typeface="Calibri"/>
              <a:cs typeface="Calibri"/>
            </a:endParaRPr>
          </a:p>
          <a:p>
            <a:r>
              <a:rPr lang="en-US"/>
              <a:t>Finally, we’ll wrap up with an overview of our project and the next steps we will towards completing the final report.</a:t>
            </a:r>
            <a:endParaRPr lang="en-US">
              <a:ea typeface="Calibri"/>
              <a:cs typeface="Calibri"/>
            </a:endParaRPr>
          </a:p>
          <a:p>
            <a:endParaRPr lang="en-US" b="1">
              <a:ea typeface="Calibri"/>
              <a:cs typeface="Calibri"/>
            </a:endParaRPr>
          </a:p>
        </p:txBody>
      </p:sp>
    </p:spTree>
    <p:extLst>
      <p:ext uri="{BB962C8B-B14F-4D97-AF65-F5344CB8AC3E}">
        <p14:creationId xmlns:p14="http://schemas.microsoft.com/office/powerpoint/2010/main" val="1475922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a:extLst>
            <a:ext uri="{FF2B5EF4-FFF2-40B4-BE49-F238E27FC236}">
              <a16:creationId xmlns:a16="http://schemas.microsoft.com/office/drawing/2014/main" id="{4A6E3E9B-70EB-CA01-B07A-3DD50FA2DA3D}"/>
            </a:ext>
          </a:extLst>
        </p:cNvPr>
        <p:cNvGrpSpPr/>
        <p:nvPr/>
      </p:nvGrpSpPr>
      <p:grpSpPr>
        <a:xfrm>
          <a:off x="0" y="0"/>
          <a:ext cx="0" cy="0"/>
          <a:chOff x="0" y="0"/>
          <a:chExt cx="0" cy="0"/>
        </a:xfrm>
      </p:grpSpPr>
      <p:sp>
        <p:nvSpPr>
          <p:cNvPr id="312" name="Google Shape;312;g184d99d1a72_0_15:notes">
            <a:extLst>
              <a:ext uri="{FF2B5EF4-FFF2-40B4-BE49-F238E27FC236}">
                <a16:creationId xmlns:a16="http://schemas.microsoft.com/office/drawing/2014/main" id="{C7386C6B-AD95-1711-6EFD-729CC59FEF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84d99d1a72_0_15:notes">
            <a:extLst>
              <a:ext uri="{FF2B5EF4-FFF2-40B4-BE49-F238E27FC236}">
                <a16:creationId xmlns:a16="http://schemas.microsoft.com/office/drawing/2014/main" id="{0A73771E-B7B2-6A7A-D2AA-0D80BFBB4B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a:t>Speaker 1 Victoria: </a:t>
            </a:r>
            <a:endParaRPr lang="en-US" b="1">
              <a:solidFill>
                <a:srgbClr val="444444"/>
              </a:solidFill>
            </a:endParaRPr>
          </a:p>
          <a:p>
            <a:r>
              <a:rPr lang="en-US"/>
              <a:t>Online reviews play a major role in influencing purchasing decisions, but fake reviews undermine trust in digital platforms.</a:t>
            </a:r>
          </a:p>
          <a:p>
            <a:r>
              <a:rPr lang="en-US"/>
              <a:t>As a result, automated detection has become essential, and large language models are increasingly used for moderation tasks.</a:t>
            </a:r>
          </a:p>
          <a:p>
            <a:r>
              <a:rPr lang="en-US"/>
              <a:t>However, in real-world systems, it’s not enough for models to be accurate — they also need to be </a:t>
            </a:r>
            <a:r>
              <a:rPr lang="en-US" b="1"/>
              <a:t>robust</a:t>
            </a:r>
            <a:r>
              <a:rPr lang="en-US"/>
              <a:t>.</a:t>
            </a:r>
          </a:p>
          <a:p>
            <a:r>
              <a:rPr lang="en-US"/>
              <a:t>So this leads to our key question:</a:t>
            </a:r>
          </a:p>
          <a:p>
            <a:r>
              <a:rPr lang="en-US" b="1"/>
              <a:t>Are LLM-based classifiers robust to variations in prompt wording and review length?</a:t>
            </a:r>
            <a:endParaRPr lang="en-US"/>
          </a:p>
          <a:p>
            <a:endParaRPr lang="en-US">
              <a:ea typeface="Calibri"/>
              <a:cs typeface="Calibri"/>
            </a:endParaRPr>
          </a:p>
          <a:p>
            <a:endParaRPr lang="en-US"/>
          </a:p>
          <a:p>
            <a:endParaRPr lang="en-US"/>
          </a:p>
        </p:txBody>
      </p:sp>
    </p:spTree>
    <p:extLst>
      <p:ext uri="{BB962C8B-B14F-4D97-AF65-F5344CB8AC3E}">
        <p14:creationId xmlns:p14="http://schemas.microsoft.com/office/powerpoint/2010/main" val="3137896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a:extLst>
            <a:ext uri="{FF2B5EF4-FFF2-40B4-BE49-F238E27FC236}">
              <a16:creationId xmlns:a16="http://schemas.microsoft.com/office/drawing/2014/main" id="{0A33519A-3FC5-CCA6-3919-365724BE771D}"/>
            </a:ext>
          </a:extLst>
        </p:cNvPr>
        <p:cNvGrpSpPr/>
        <p:nvPr/>
      </p:nvGrpSpPr>
      <p:grpSpPr>
        <a:xfrm>
          <a:off x="0" y="0"/>
          <a:ext cx="0" cy="0"/>
          <a:chOff x="0" y="0"/>
          <a:chExt cx="0" cy="0"/>
        </a:xfrm>
      </p:grpSpPr>
      <p:sp>
        <p:nvSpPr>
          <p:cNvPr id="312" name="Google Shape;312;g184d99d1a72_0_15:notes">
            <a:extLst>
              <a:ext uri="{FF2B5EF4-FFF2-40B4-BE49-F238E27FC236}">
                <a16:creationId xmlns:a16="http://schemas.microsoft.com/office/drawing/2014/main" id="{ABDBD557-968D-4B3D-D081-8723419455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84d99d1a72_0_15:notes">
            <a:extLst>
              <a:ext uri="{FF2B5EF4-FFF2-40B4-BE49-F238E27FC236}">
                <a16:creationId xmlns:a16="http://schemas.microsoft.com/office/drawing/2014/main" id="{B9CECC9B-302C-22B3-5395-42B83A7145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a:t>Speaker 1 Victoria: </a:t>
            </a:r>
            <a:endParaRPr lang="en-US" b="1">
              <a:solidFill>
                <a:srgbClr val="444444"/>
              </a:solidFill>
            </a:endParaRPr>
          </a:p>
          <a:p>
            <a:r>
              <a:rPr lang="en-US"/>
              <a:t>While LLM-based classifiers achieve strong performance, their predictions can change under small input variations.</a:t>
            </a:r>
            <a:endParaRPr lang="en-US">
              <a:ea typeface="Calibri"/>
              <a:cs typeface="Calibri"/>
            </a:endParaRPr>
          </a:p>
          <a:p>
            <a:r>
              <a:rPr lang="en-US"/>
              <a:t>This creates concerns for real-world reliability, especially in moderation systems.</a:t>
            </a:r>
          </a:p>
          <a:p>
            <a:r>
              <a:rPr lang="en-US"/>
              <a:t>Looking at prior work, most studies focus on overall accuracy, but they do not evaluate robustness to prompt wording or input characteristics.</a:t>
            </a:r>
          </a:p>
          <a:p>
            <a:r>
              <a:rPr lang="en-US" b="1"/>
              <a:t>So there is a clear gap in understanding how stable these models actually are.</a:t>
            </a:r>
            <a:endParaRPr lang="en-US"/>
          </a:p>
          <a:p>
            <a:endParaRPr lang="en-US">
              <a:ea typeface="Calibri"/>
              <a:cs typeface="Calibri"/>
            </a:endParaRPr>
          </a:p>
          <a:p>
            <a:endParaRPr lang="en-US">
              <a:ea typeface="Calibri"/>
              <a:cs typeface="Calibri"/>
            </a:endParaRPr>
          </a:p>
          <a:p>
            <a:endParaRPr lang="en-US"/>
          </a:p>
          <a:p>
            <a:endParaRPr lang="en-US"/>
          </a:p>
        </p:txBody>
      </p:sp>
    </p:spTree>
    <p:extLst>
      <p:ext uri="{BB962C8B-B14F-4D97-AF65-F5344CB8AC3E}">
        <p14:creationId xmlns:p14="http://schemas.microsoft.com/office/powerpoint/2010/main" val="4292668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a:extLst>
            <a:ext uri="{FF2B5EF4-FFF2-40B4-BE49-F238E27FC236}">
              <a16:creationId xmlns:a16="http://schemas.microsoft.com/office/drawing/2014/main" id="{4590747B-9F56-73FE-0384-AF96CA4F5375}"/>
            </a:ext>
          </a:extLst>
        </p:cNvPr>
        <p:cNvGrpSpPr/>
        <p:nvPr/>
      </p:nvGrpSpPr>
      <p:grpSpPr>
        <a:xfrm>
          <a:off x="0" y="0"/>
          <a:ext cx="0" cy="0"/>
          <a:chOff x="0" y="0"/>
          <a:chExt cx="0" cy="0"/>
        </a:xfrm>
      </p:grpSpPr>
      <p:sp>
        <p:nvSpPr>
          <p:cNvPr id="312" name="Google Shape;312;g184d99d1a72_0_15:notes">
            <a:extLst>
              <a:ext uri="{FF2B5EF4-FFF2-40B4-BE49-F238E27FC236}">
                <a16:creationId xmlns:a16="http://schemas.microsoft.com/office/drawing/2014/main" id="{775FA060-0681-B4F8-CBD6-30EC034270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84d99d1a72_0_15:notes">
            <a:extLst>
              <a:ext uri="{FF2B5EF4-FFF2-40B4-BE49-F238E27FC236}">
                <a16:creationId xmlns:a16="http://schemas.microsoft.com/office/drawing/2014/main" id="{693DBABC-6590-22C9-C968-0598650F41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To address this gap, our objective is to evaluate the robustness of LLM-based fake review detection.</a:t>
            </a:r>
          </a:p>
          <a:p>
            <a:r>
              <a:rPr lang="en-US"/>
              <a:t>Specifically, we study two factors:</a:t>
            </a:r>
          </a:p>
          <a:p>
            <a:r>
              <a:rPr lang="en-US"/>
              <a:t>First, how prediction stability changes under </a:t>
            </a:r>
            <a:r>
              <a:rPr lang="en-US" b="1"/>
              <a:t>prompt rewording</a:t>
            </a:r>
            <a:r>
              <a:rPr lang="en-US"/>
              <a:t>,</a:t>
            </a:r>
            <a:br>
              <a:rPr lang="en-US"/>
            </a:br>
            <a:r>
              <a:rPr lang="en-US"/>
              <a:t> and second, how performance varies across different </a:t>
            </a:r>
            <a:r>
              <a:rPr lang="en-US" b="1"/>
              <a:t>review lengths</a:t>
            </a:r>
            <a:r>
              <a:rPr lang="en-US"/>
              <a:t>.</a:t>
            </a:r>
          </a:p>
          <a:p>
            <a:r>
              <a:rPr lang="en-US"/>
              <a:t>Our goal is to move beyond accuracy and better understand the reliability of these systems.</a:t>
            </a:r>
          </a:p>
          <a:p>
            <a:endParaRPr lang="en-US" b="1">
              <a:ea typeface="Calibri"/>
              <a:cs typeface="Calibri"/>
            </a:endParaRPr>
          </a:p>
          <a:p>
            <a:endParaRPr lang="en-US"/>
          </a:p>
        </p:txBody>
      </p:sp>
    </p:spTree>
    <p:extLst>
      <p:ext uri="{BB962C8B-B14F-4D97-AF65-F5344CB8AC3E}">
        <p14:creationId xmlns:p14="http://schemas.microsoft.com/office/powerpoint/2010/main" val="4033377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AA36B31A-5F0F-9B18-92B6-14239612B465}"/>
            </a:ext>
          </a:extLst>
        </p:cNvPr>
        <p:cNvGrpSpPr/>
        <p:nvPr/>
      </p:nvGrpSpPr>
      <p:grpSpPr>
        <a:xfrm>
          <a:off x="0" y="0"/>
          <a:ext cx="0" cy="0"/>
          <a:chOff x="0" y="0"/>
          <a:chExt cx="0" cy="0"/>
        </a:xfrm>
      </p:grpSpPr>
      <p:sp>
        <p:nvSpPr>
          <p:cNvPr id="402" name="Google Shape;402;g54dda1946d_4_2730:notes">
            <a:extLst>
              <a:ext uri="{FF2B5EF4-FFF2-40B4-BE49-F238E27FC236}">
                <a16:creationId xmlns:a16="http://schemas.microsoft.com/office/drawing/2014/main" id="{C91CFAD9-55A6-2D24-E6BA-1E585073BD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54dda1946d_4_2730:notes">
            <a:extLst>
              <a:ext uri="{FF2B5EF4-FFF2-40B4-BE49-F238E27FC236}">
                <a16:creationId xmlns:a16="http://schemas.microsoft.com/office/drawing/2014/main" id="{8E6B7110-B931-B161-382A-5782F6BFD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This table summarizes key prior work relevant to our study.</a:t>
            </a:r>
            <a:endParaRPr lang="en-US">
              <a:ea typeface="Calibri"/>
              <a:cs typeface="Calibri"/>
            </a:endParaRPr>
          </a:p>
          <a:p>
            <a:r>
              <a:rPr lang="en-US"/>
              <a:t>Early work, such as Ott et al., focuses on linguistic patterns for deception detection, while more recent studies apply large language models across domains, including multimodal and cross-cultural settings.</a:t>
            </a:r>
          </a:p>
          <a:p>
            <a:r>
              <a:rPr lang="en-US"/>
              <a:t>At the same time, research in NLP shows that LLM predictions can vary depending on prompt formulation.</a:t>
            </a:r>
          </a:p>
          <a:p>
            <a:r>
              <a:rPr lang="en-US"/>
              <a:t>However, these two areas have not been connected.</a:t>
            </a:r>
          </a:p>
          <a:p>
            <a:endParaRPr lang="en-US">
              <a:ea typeface="Calibri" panose="020F0502020204030204"/>
              <a:cs typeface="Calibri" panose="020F0502020204030204"/>
            </a:endParaRPr>
          </a:p>
          <a:p>
            <a:r>
              <a:rPr lang="en-US"/>
              <a:t>So overall, there are two key gaps in the literature.</a:t>
            </a:r>
            <a:endParaRPr lang="en-US">
              <a:solidFill>
                <a:srgbClr val="444444"/>
              </a:solidFill>
            </a:endParaRPr>
          </a:p>
          <a:p>
            <a:r>
              <a:rPr lang="en-US"/>
              <a:t>First, prior work on fake review detection focuses on accuracy, but does not evaluate prediction stability.</a:t>
            </a:r>
            <a:endParaRPr lang="en-US">
              <a:solidFill>
                <a:srgbClr val="444444"/>
              </a:solidFill>
            </a:endParaRPr>
          </a:p>
          <a:p>
            <a:r>
              <a:rPr lang="en-US"/>
              <a:t>Second, robustness studies show that LLMs are sensitive to prompt formulation, but this has not been studied in the context of deception detection tasks.</a:t>
            </a:r>
            <a:endParaRPr lang="en-US">
              <a:solidFill>
                <a:srgbClr val="444444"/>
              </a:solidFill>
            </a:endParaRPr>
          </a:p>
          <a:p>
            <a:r>
              <a:rPr lang="en-US" b="1"/>
              <a:t>Our work addresses both gaps by performing a task-specific robustness analysis of LLM-based fake review detection.</a:t>
            </a:r>
            <a:endParaRPr lang="en-US">
              <a:solidFill>
                <a:srgbClr val="444444"/>
              </a:solidFill>
            </a:endParaRPr>
          </a:p>
          <a:p>
            <a:r>
              <a:rPr lang="en-US"/>
              <a:t>Specifically, we evaluate how predictions change under prompt rewording and how performance varies across different review lengths.</a:t>
            </a: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194433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ABACCD10-790A-441E-E5E0-8B2B7F1EA8C7}"/>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E2718645-58EB-BCE3-6462-E30495FD80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54dda1946d_6_332:notes">
            <a:extLst>
              <a:ext uri="{FF2B5EF4-FFF2-40B4-BE49-F238E27FC236}">
                <a16:creationId xmlns:a16="http://schemas.microsoft.com/office/drawing/2014/main" id="{6B2C47B4-5942-548E-DEDE-8CA6777644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a:ea typeface="Calibri"/>
              <a:cs typeface="Calibri"/>
            </a:endParaRPr>
          </a:p>
        </p:txBody>
      </p:sp>
    </p:spTree>
    <p:extLst>
      <p:ext uri="{BB962C8B-B14F-4D97-AF65-F5344CB8AC3E}">
        <p14:creationId xmlns:p14="http://schemas.microsoft.com/office/powerpoint/2010/main" val="1379384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A71FBE70-1E6A-D1B6-E3CC-0E37FE17358F}"/>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80162BB0-87E1-DB64-EC81-45F3FFC2F6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54dda1946d_6_332:notes">
            <a:extLst>
              <a:ext uri="{FF2B5EF4-FFF2-40B4-BE49-F238E27FC236}">
                <a16:creationId xmlns:a16="http://schemas.microsoft.com/office/drawing/2014/main" id="{E3D18455-C635-4C76-2D53-3ECF4B0AC5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ea typeface="Calibri"/>
                <a:cs typeface="Calibri"/>
              </a:rPr>
              <a:t>Explain: </a:t>
            </a:r>
            <a:endParaRPr lang="en-US"/>
          </a:p>
          <a:p>
            <a:r>
              <a:rPr lang="en-US">
                <a:ea typeface="Calibri"/>
                <a:cs typeface="Calibri"/>
              </a:rPr>
              <a:t>why the dataset</a:t>
            </a:r>
            <a:endParaRPr lang="en-US"/>
          </a:p>
          <a:p>
            <a:r>
              <a:rPr lang="en-US" dirty="0">
                <a:ea typeface="Calibri"/>
                <a:cs typeface="Calibri"/>
              </a:rPr>
              <a:t>Why we are using the sp</a:t>
            </a:r>
            <a:r>
              <a:rPr lang="en-US">
                <a:ea typeface="Calibri"/>
                <a:cs typeface="Calibri"/>
              </a:rPr>
              <a:t>lit</a:t>
            </a:r>
          </a:p>
          <a:p>
            <a:r>
              <a:rPr lang="en-US">
                <a:ea typeface="Calibri"/>
                <a:cs typeface="Calibri"/>
              </a:rPr>
              <a:t>Review length </a:t>
            </a:r>
            <a:endParaRPr lang="en-US" dirty="0">
              <a:ea typeface="Calibri"/>
              <a:cs typeface="Calibri"/>
            </a:endParaRPr>
          </a:p>
        </p:txBody>
      </p:sp>
    </p:spTree>
    <p:extLst>
      <p:ext uri="{BB962C8B-B14F-4D97-AF65-F5344CB8AC3E}">
        <p14:creationId xmlns:p14="http://schemas.microsoft.com/office/powerpoint/2010/main" val="1296598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8E2E3828-78D1-A101-2B7E-ED4DBDCF66F6}"/>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A78E4288-2CA1-F614-7A22-835F86280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54dda1946d_6_332:notes">
            <a:extLst>
              <a:ext uri="{FF2B5EF4-FFF2-40B4-BE49-F238E27FC236}">
                <a16:creationId xmlns:a16="http://schemas.microsoft.com/office/drawing/2014/main" id="{B2FF0E0D-4643-0022-94FA-94537D7226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ea typeface="Calibri"/>
                <a:cs typeface="Calibri"/>
              </a:rPr>
              <a:t>Explain:</a:t>
            </a:r>
          </a:p>
          <a:p>
            <a:r>
              <a:rPr lang="en-US" dirty="0">
                <a:ea typeface="Calibri"/>
                <a:cs typeface="Calibri"/>
              </a:rPr>
              <a:t>Why </a:t>
            </a:r>
            <a:r>
              <a:rPr lang="en-US" dirty="0" err="1">
                <a:ea typeface="Calibri"/>
                <a:cs typeface="Calibri"/>
              </a:rPr>
              <a:t>roberta</a:t>
            </a:r>
          </a:p>
          <a:p>
            <a:r>
              <a:rPr lang="en-US">
                <a:ea typeface="Calibri"/>
                <a:cs typeface="Calibri"/>
              </a:rPr>
              <a:t>Why Qwen</a:t>
            </a:r>
          </a:p>
          <a:p>
            <a:endParaRPr lang="en-US" dirty="0">
              <a:ea typeface="Calibri"/>
              <a:cs typeface="Calibri"/>
            </a:endParaRPr>
          </a:p>
        </p:txBody>
      </p:sp>
    </p:spTree>
    <p:extLst>
      <p:ext uri="{BB962C8B-B14F-4D97-AF65-F5344CB8AC3E}">
        <p14:creationId xmlns:p14="http://schemas.microsoft.com/office/powerpoint/2010/main" val="571955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1B0BF75F-28F6-09E1-A2DE-53232C3AC5A1}"/>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804A8D8F-96F4-1AC5-EE52-9A5177B08E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54dda1946d_6_332:notes">
            <a:extLst>
              <a:ext uri="{FF2B5EF4-FFF2-40B4-BE49-F238E27FC236}">
                <a16:creationId xmlns:a16="http://schemas.microsoft.com/office/drawing/2014/main" id="{E5D07DB8-1A6A-DA42-623D-F1933D6960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ea typeface="Calibri"/>
                <a:cs typeface="Calibri"/>
              </a:rPr>
              <a:t>Quantitative and Qualitative Evaluation</a:t>
            </a:r>
          </a:p>
        </p:txBody>
      </p:sp>
    </p:spTree>
    <p:extLst>
      <p:ext uri="{BB962C8B-B14F-4D97-AF65-F5344CB8AC3E}">
        <p14:creationId xmlns:p14="http://schemas.microsoft.com/office/powerpoint/2010/main" val="40085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DDAF58FF-17B9-C26E-512B-05019CCDED16}"/>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788D2679-6D4F-A5D5-735D-1BF8A6E650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54dda1946d_6_332:notes">
            <a:extLst>
              <a:ext uri="{FF2B5EF4-FFF2-40B4-BE49-F238E27FC236}">
                <a16:creationId xmlns:a16="http://schemas.microsoft.com/office/drawing/2014/main" id="{235AE01E-9F50-14C8-2D8D-51611F34FB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So overall, there are two key gaps in the literature.</a:t>
            </a:r>
            <a:endParaRPr lang="en-US" b="1">
              <a:ea typeface="Calibri"/>
              <a:cs typeface="Calibri"/>
            </a:endParaRPr>
          </a:p>
          <a:p>
            <a:r>
              <a:rPr lang="en-US"/>
              <a:t>First, prior work on fake review detection focuses on accuracy, but does not evaluate prediction stability.</a:t>
            </a:r>
          </a:p>
          <a:p>
            <a:r>
              <a:rPr lang="en-US"/>
              <a:t>Second, robustness studies show that LLMs are sensitive to prompt formulation, but this has not been studied in the context of deception detection tasks.</a:t>
            </a:r>
          </a:p>
          <a:p>
            <a:r>
              <a:rPr lang="en-US" b="1"/>
              <a:t>Our work addresses both gaps by performing a task-specific robustness analysis of LLM-based fake review detection.</a:t>
            </a:r>
          </a:p>
          <a:p>
            <a:r>
              <a:rPr lang="en-US"/>
              <a:t>Specifically, we evaluate how predictions change under prompt rewording and how performance varies across different review lengths.</a:t>
            </a:r>
          </a:p>
          <a:p>
            <a:endParaRPr lang="en-US">
              <a:ea typeface="Calibri"/>
              <a:cs typeface="Calibri"/>
            </a:endParaRPr>
          </a:p>
        </p:txBody>
      </p:sp>
    </p:spTree>
    <p:extLst>
      <p:ext uri="{BB962C8B-B14F-4D97-AF65-F5344CB8AC3E}">
        <p14:creationId xmlns:p14="http://schemas.microsoft.com/office/powerpoint/2010/main" val="3608563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03131DA2-BFA6-84E5-3064-B803A49E7DD4}"/>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F4F82913-806C-5051-9F59-132DA10FC6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00" name="Google Shape;300;g54dda1946d_6_332:notes">
            <a:extLst>
              <a:ext uri="{FF2B5EF4-FFF2-40B4-BE49-F238E27FC236}">
                <a16:creationId xmlns:a16="http://schemas.microsoft.com/office/drawing/2014/main" id="{0681E0FC-2522-C8A5-42C7-FE8B77702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a:t>Speaker 3 Jose</a:t>
            </a:r>
            <a:r>
              <a:rPr lang="en-US"/>
              <a:t>: </a:t>
            </a:r>
          </a:p>
          <a:p>
            <a:r>
              <a:rPr lang="en-US" err="1"/>
              <a:t>RoBERTa</a:t>
            </a:r>
            <a:r>
              <a:rPr lang="en-US"/>
              <a:t> was selected as the baseline model due to its strong performance in natural language understanding tasks, particularly in text classification problems. The architecture is specifically designed to capture contextual relationships between words, which is essential for identifying linguistic patterns with deceptive reviews. This allows </a:t>
            </a:r>
            <a:r>
              <a:rPr lang="en-US" err="1"/>
              <a:t>RoBERTa</a:t>
            </a:r>
            <a:r>
              <a:rPr lang="en-US"/>
              <a:t> to detect signals such as exaggerated language, inconsistencies, or unnatural phrasing that are often present in fake reviews. Additionally, as a pre-trained transformer model, </a:t>
            </a:r>
            <a:r>
              <a:rPr lang="en-US" err="1"/>
              <a:t>RoBERTa</a:t>
            </a:r>
            <a:r>
              <a:rPr lang="en-US"/>
              <a:t> can be effectively fine-tuned on domain-specific datasets, making it well-suited for supervised fake review detection. So, as I said, fine-tuned the model to create a binary classification task, with a 0 for non deceptive reviews and a 1 for deceptive reviews. Before training, the review texts were tokenized using the </a:t>
            </a:r>
            <a:r>
              <a:rPr lang="en-US" err="1"/>
              <a:t>RoBERTa</a:t>
            </a:r>
            <a:r>
              <a:rPr lang="en-US"/>
              <a:t> tokenizer with truncation and padding applied to a maximum sequence length of 512 tokens, as this is the amount of tokens of the longest review. The model was trained using the Hugging Face Trainer API and evaluated on the test dataset after training. The important hyperparameters used during finetuning were a batch size of q6 and a number of epochs 2 to reduce the amount of time spent in training. Then, the results shows with this model there are consistency across different review lengths. The highest recall is observed for medium-length reviews, suggesting that reviews with a moderate amount of detail provide clearer signals for detecting deceptive patterns.</a:t>
            </a:r>
            <a:endParaRPr lang="en-US">
              <a:ea typeface="Calibri"/>
              <a:cs typeface="Calibri"/>
            </a:endParaRPr>
          </a:p>
        </p:txBody>
      </p:sp>
    </p:spTree>
    <p:extLst>
      <p:ext uri="{BB962C8B-B14F-4D97-AF65-F5344CB8AC3E}">
        <p14:creationId xmlns:p14="http://schemas.microsoft.com/office/powerpoint/2010/main" val="3898136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192BAD4B-C69D-F66D-A451-93831433F95D}"/>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6E5D87C1-5007-492D-9B78-90AF7C5DF1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00" name="Google Shape;300;g54dda1946d_6_332:notes">
            <a:extLst>
              <a:ext uri="{FF2B5EF4-FFF2-40B4-BE49-F238E27FC236}">
                <a16:creationId xmlns:a16="http://schemas.microsoft.com/office/drawing/2014/main" id="{9A334B80-3E73-84FE-982A-742071686A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a:t>Speaker 3 Jose</a:t>
            </a:r>
            <a:r>
              <a:rPr lang="en-US"/>
              <a:t>: </a:t>
            </a:r>
          </a:p>
          <a:p>
            <a:r>
              <a:rPr lang="en-US"/>
              <a:t>The second experiment evaluates large language model (LLM) performance for fake review detection using zero-shot prompting. The Qwen2.5-7BInstruct model receives each review embedded in a classification prompt instructing the model to label the review as genuine or deceptive. Inputs are limited to 512 tokens, and the generated output is parsed to obtain a binary prediction. Because the model is used in a zero-shot setting, predictions rely entirely on the model’s pre-trained knowledge. To ensure comparability with the supervised baseline, the same preprocessing steps and review length groupings were used. Predictions on the test dataset were evaluated using the same metrics as the </a:t>
            </a:r>
            <a:r>
              <a:rPr lang="en-US" err="1"/>
              <a:t>RoBERTa</a:t>
            </a:r>
            <a:r>
              <a:rPr lang="en-US"/>
              <a:t> baseline, and performance was analyzed as well across short, medium, and long review groups. As can be seen in the figure, the highest recall and f1 in these case belong to the long reviews.</a:t>
            </a:r>
          </a:p>
          <a:p>
            <a:endParaRPr lang="en-US">
              <a:ea typeface="Calibri"/>
              <a:cs typeface="Calibri"/>
            </a:endParaRPr>
          </a:p>
          <a:p>
            <a:r>
              <a:rPr lang="en-US"/>
              <a:t>As a third experiment, we applied chain-of-thought prompting. However, recall and F1-score were really low (less than 0.1), as the model often produced explanatory outputs instead of a clear binary label, making it unsuitable for this classification task.</a:t>
            </a:r>
            <a:endParaRPr lang="en-US">
              <a:ea typeface="Calibri"/>
              <a:cs typeface="Calibri"/>
            </a:endParaRPr>
          </a:p>
        </p:txBody>
      </p:sp>
    </p:spTree>
    <p:extLst>
      <p:ext uri="{BB962C8B-B14F-4D97-AF65-F5344CB8AC3E}">
        <p14:creationId xmlns:p14="http://schemas.microsoft.com/office/powerpoint/2010/main" val="1546613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a:extLst>
            <a:ext uri="{FF2B5EF4-FFF2-40B4-BE49-F238E27FC236}">
              <a16:creationId xmlns:a16="http://schemas.microsoft.com/office/drawing/2014/main" id="{521D26AC-4560-5210-3591-95793902EB45}"/>
            </a:ext>
          </a:extLst>
        </p:cNvPr>
        <p:cNvGrpSpPr/>
        <p:nvPr/>
      </p:nvGrpSpPr>
      <p:grpSpPr>
        <a:xfrm>
          <a:off x="0" y="0"/>
          <a:ext cx="0" cy="0"/>
          <a:chOff x="0" y="0"/>
          <a:chExt cx="0" cy="0"/>
        </a:xfrm>
      </p:grpSpPr>
      <p:sp>
        <p:nvSpPr>
          <p:cNvPr id="299" name="Google Shape;299;g54dda1946d_6_332:notes">
            <a:extLst>
              <a:ext uri="{FF2B5EF4-FFF2-40B4-BE49-F238E27FC236}">
                <a16:creationId xmlns:a16="http://schemas.microsoft.com/office/drawing/2014/main" id="{C445D067-7679-8157-026E-5B90543883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54dda1946d_6_332:notes">
            <a:extLst>
              <a:ext uri="{FF2B5EF4-FFF2-40B4-BE49-F238E27FC236}">
                <a16:creationId xmlns:a16="http://schemas.microsoft.com/office/drawing/2014/main" id="{BC2F3704-6A39-A9CB-D677-8764829B77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While our study provides useful insights, there are several important limitations to consider.</a:t>
            </a:r>
          </a:p>
          <a:p>
            <a:r>
              <a:rPr lang="en-US"/>
              <a:t>First, from a dataset perspective, we rely on a benchmark dataset, which may not fully reflect real-world review distributions and may introduce stylistic bias.</a:t>
            </a:r>
          </a:p>
          <a:p>
            <a:r>
              <a:rPr lang="en-US"/>
              <a:t>Second, our experimental setup evaluates a limited number of prompt variations, and our review length grouping simplifies what is actually a continuous variable.</a:t>
            </a:r>
            <a:endParaRPr lang="en-US">
              <a:ea typeface="Calibri"/>
              <a:cs typeface="Calibri"/>
            </a:endParaRPr>
          </a:p>
          <a:p>
            <a:r>
              <a:rPr lang="en-US"/>
              <a:t>Third, from a modeling perspective, the LLM is evaluated in a zero-shot setting, which may not fully capture its capabilities, and we only compare a small set of models.</a:t>
            </a:r>
          </a:p>
          <a:p>
            <a:r>
              <a:rPr lang="en-US"/>
              <a:t>Finally, computational constraints limit the scale of our experiments, particularly due to the cost of sequential LLM inference.</a:t>
            </a:r>
          </a:p>
          <a:p>
            <a:r>
              <a:rPr lang="en-US"/>
              <a:t>Overall, these limitations primarily affect the generalizability and completeness of our robustness evaluation.</a:t>
            </a:r>
          </a:p>
          <a:p>
            <a:endParaRPr lang="en-US">
              <a:ea typeface="Calibri"/>
              <a:cs typeface="Calibri"/>
            </a:endParaRPr>
          </a:p>
          <a:p>
            <a:endParaRPr lang="en-US">
              <a:ea typeface="Calibri"/>
              <a:cs typeface="Calibri"/>
            </a:endParaRPr>
          </a:p>
          <a:p>
            <a:pPr marL="0" lvl="0" indent="0" algn="l">
              <a:spcBef>
                <a:spcPts val="0"/>
              </a:spcBef>
              <a:spcAft>
                <a:spcPts val="0"/>
              </a:spcAft>
              <a:buNone/>
            </a:pPr>
            <a:endParaRPr lang="en-US">
              <a:ea typeface="Calibri"/>
              <a:cs typeface="Calibri"/>
            </a:endParaRPr>
          </a:p>
        </p:txBody>
      </p:sp>
    </p:spTree>
    <p:extLst>
      <p:ext uri="{BB962C8B-B14F-4D97-AF65-F5344CB8AC3E}">
        <p14:creationId xmlns:p14="http://schemas.microsoft.com/office/powerpoint/2010/main" val="2796261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a:extLst>
            <a:ext uri="{FF2B5EF4-FFF2-40B4-BE49-F238E27FC236}">
              <a16:creationId xmlns:a16="http://schemas.microsoft.com/office/drawing/2014/main" id="{B0DAB152-D8D7-6131-7810-7267F1C42724}"/>
            </a:ext>
          </a:extLst>
        </p:cNvPr>
        <p:cNvGrpSpPr/>
        <p:nvPr/>
      </p:nvGrpSpPr>
      <p:grpSpPr>
        <a:xfrm>
          <a:off x="0" y="0"/>
          <a:ext cx="0" cy="0"/>
          <a:chOff x="0" y="0"/>
          <a:chExt cx="0" cy="0"/>
        </a:xfrm>
      </p:grpSpPr>
      <p:sp>
        <p:nvSpPr>
          <p:cNvPr id="312" name="Google Shape;312;g184d99d1a72_0_15:notes">
            <a:extLst>
              <a:ext uri="{FF2B5EF4-FFF2-40B4-BE49-F238E27FC236}">
                <a16:creationId xmlns:a16="http://schemas.microsoft.com/office/drawing/2014/main" id="{2B298FF5-9BA3-22E7-681E-CC3F1DB8BC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13" name="Google Shape;313;g184d99d1a72_0_15:notes">
            <a:extLst>
              <a:ext uri="{FF2B5EF4-FFF2-40B4-BE49-F238E27FC236}">
                <a16:creationId xmlns:a16="http://schemas.microsoft.com/office/drawing/2014/main" id="{62DA78C2-21BF-A247-83D6-15FB593880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t>In conclusion, we study fake review detection as a binary classification task using both supervised transformers and large language models.</a:t>
            </a:r>
          </a:p>
          <a:p>
            <a:r>
              <a:rPr lang="en-US"/>
              <a:t>Our key contribution is a task-specific robustness evaluation that focuses on prediction stability rather than accuracy alone.</a:t>
            </a:r>
          </a:p>
          <a:p>
            <a:r>
              <a:rPr lang="en-US"/>
              <a:t>We show that model performance varies across review length, and that zero-shot LLMs are less stable compared to fine-tuned models in this setting.</a:t>
            </a:r>
          </a:p>
          <a:p>
            <a:r>
              <a:rPr lang="en-US"/>
              <a:t>Looking ahead, we plan to extend this work by systematically evaluating prompt rewording, exploring different zero, prompting strategies, and comparing with stronger open and closed-source models.</a:t>
            </a:r>
            <a:endParaRPr lang="en-US">
              <a:ea typeface="Calibri"/>
              <a:cs typeface="Calibri"/>
            </a:endParaRPr>
          </a:p>
          <a:p>
            <a:r>
              <a:rPr lang="en-US"/>
              <a:t>These steps will allow us to build a more comprehensive understanding of robustness and move toward a complete ACL-style study.</a:t>
            </a:r>
          </a:p>
          <a:p>
            <a:endParaRPr lang="en-US" b="1">
              <a:ea typeface="Calibri"/>
              <a:cs typeface="Calibri"/>
            </a:endParaRPr>
          </a:p>
          <a:p>
            <a:endParaRPr lang="en-US">
              <a:ea typeface="Calibri"/>
              <a:cs typeface="Calibri"/>
            </a:endParaRPr>
          </a:p>
          <a:p>
            <a:endParaRPr lang="en-US">
              <a:solidFill>
                <a:srgbClr val="000000"/>
              </a:solidFill>
              <a:ea typeface="Calibri" panose="020F0502020204030204"/>
              <a:cs typeface="Calibri" panose="020F0502020204030204"/>
            </a:endParaRPr>
          </a:p>
        </p:txBody>
      </p:sp>
    </p:spTree>
    <p:extLst>
      <p:ext uri="{BB962C8B-B14F-4D97-AF65-F5344CB8AC3E}">
        <p14:creationId xmlns:p14="http://schemas.microsoft.com/office/powerpoint/2010/main" val="2916848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2940500"/>
            <a:ext cx="7010400" cy="2152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400">
                <a:solidFill>
                  <a:srgbClr val="241160"/>
                </a:solidFill>
              </a:defRPr>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endParaRPr/>
          </a:p>
        </p:txBody>
      </p:sp>
      <p:sp>
        <p:nvSpPr>
          <p:cNvPr id="10" name="Google Shape;10;p2"/>
          <p:cNvSpPr txBox="1">
            <a:spLocks noGrp="1"/>
          </p:cNvSpPr>
          <p:nvPr>
            <p:ph type="subTitle" idx="1"/>
          </p:nvPr>
        </p:nvSpPr>
        <p:spPr>
          <a:xfrm>
            <a:off x="950967" y="5180867"/>
            <a:ext cx="4920800" cy="6248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endParaRPr/>
          </a:p>
        </p:txBody>
      </p:sp>
      <p:pic>
        <p:nvPicPr>
          <p:cNvPr id="11" name="Google Shape;11;p2"/>
          <p:cNvPicPr preferRelativeResize="0"/>
          <p:nvPr/>
        </p:nvPicPr>
        <p:blipFill>
          <a:blip r:embed="rId2">
            <a:alphaModFix/>
          </a:blip>
          <a:stretch>
            <a:fillRect/>
          </a:stretch>
        </p:blipFill>
        <p:spPr>
          <a:xfrm rot="10800000" flipH="1">
            <a:off x="1" y="1"/>
            <a:ext cx="6303735" cy="3009167"/>
          </a:xfrm>
          <a:prstGeom prst="rect">
            <a:avLst/>
          </a:prstGeom>
          <a:noFill/>
          <a:ln>
            <a:noFill/>
          </a:ln>
        </p:spPr>
      </p:pic>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5396233" y="3184667"/>
            <a:ext cx="5844800" cy="2168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64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4" name="Google Shape;14;p3"/>
          <p:cNvSpPr txBox="1">
            <a:spLocks noGrp="1"/>
          </p:cNvSpPr>
          <p:nvPr>
            <p:ph type="title" idx="2" hasCustomPrompt="1"/>
          </p:nvPr>
        </p:nvSpPr>
        <p:spPr>
          <a:xfrm>
            <a:off x="5396233" y="1918333"/>
            <a:ext cx="1640400" cy="11752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pic>
        <p:nvPicPr>
          <p:cNvPr id="15" name="Google Shape;15;p3"/>
          <p:cNvPicPr preferRelativeResize="0"/>
          <p:nvPr/>
        </p:nvPicPr>
        <p:blipFill>
          <a:blip r:embed="rId2">
            <a:alphaModFix/>
          </a:blip>
          <a:stretch>
            <a:fillRect/>
          </a:stretch>
        </p:blipFill>
        <p:spPr>
          <a:xfrm flipH="1">
            <a:off x="5888267" y="3848834"/>
            <a:ext cx="6303735" cy="3009167"/>
          </a:xfrm>
          <a:prstGeom prst="rect">
            <a:avLst/>
          </a:prstGeom>
          <a:noFill/>
          <a:ln>
            <a:noFill/>
          </a:ln>
        </p:spPr>
      </p:pic>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grpSp>
        <p:nvGrpSpPr>
          <p:cNvPr id="17" name="Google Shape;17;p4"/>
          <p:cNvGrpSpPr/>
          <p:nvPr/>
        </p:nvGrpSpPr>
        <p:grpSpPr>
          <a:xfrm>
            <a:off x="1" y="0"/>
            <a:ext cx="12192001" cy="6858000"/>
            <a:chOff x="0" y="0"/>
            <a:chExt cx="9144001" cy="5143500"/>
          </a:xfrm>
        </p:grpSpPr>
        <p:pic>
          <p:nvPicPr>
            <p:cNvPr id="18" name="Google Shape;18;p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9" name="Google Shape;19;p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sp>
        <p:nvSpPr>
          <p:cNvPr id="20" name="Google Shape;20;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 name="Google Shape;21;p4"/>
          <p:cNvSpPr txBox="1">
            <a:spLocks noGrp="1"/>
          </p:cNvSpPr>
          <p:nvPr>
            <p:ph type="body" idx="1"/>
          </p:nvPr>
        </p:nvSpPr>
        <p:spPr>
          <a:xfrm>
            <a:off x="960000" y="1453639"/>
            <a:ext cx="10272000" cy="4648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endParaRPr/>
          </a:p>
        </p:txBody>
      </p:sp>
      <p:grpSp>
        <p:nvGrpSpPr>
          <p:cNvPr id="22" name="Google Shape;22;p4"/>
          <p:cNvGrpSpPr/>
          <p:nvPr/>
        </p:nvGrpSpPr>
        <p:grpSpPr>
          <a:xfrm rot="10800000">
            <a:off x="8938969" y="5082263"/>
            <a:ext cx="6098767" cy="4639133"/>
            <a:chOff x="1522650" y="1117750"/>
            <a:chExt cx="4574075" cy="3479350"/>
          </a:xfrm>
        </p:grpSpPr>
        <p:sp>
          <p:nvSpPr>
            <p:cNvPr id="23" name="Google Shape;23;p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 name="Google Shape;24;p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 name="Google Shape;27;p5"/>
          <p:cNvSpPr txBox="1">
            <a:spLocks noGrp="1"/>
          </p:cNvSpPr>
          <p:nvPr>
            <p:ph type="subTitle" idx="1"/>
          </p:nvPr>
        </p:nvSpPr>
        <p:spPr>
          <a:xfrm>
            <a:off x="6548852" y="3573099"/>
            <a:ext cx="3232400" cy="20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2"/>
          </p:nvPr>
        </p:nvSpPr>
        <p:spPr>
          <a:xfrm>
            <a:off x="2410733" y="3573099"/>
            <a:ext cx="3232400" cy="20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3"/>
          </p:nvPr>
        </p:nvSpPr>
        <p:spPr>
          <a:xfrm>
            <a:off x="2410733" y="2992289"/>
            <a:ext cx="3232400" cy="59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30" name="Google Shape;30;p5"/>
          <p:cNvSpPr txBox="1">
            <a:spLocks noGrp="1"/>
          </p:cNvSpPr>
          <p:nvPr>
            <p:ph type="subTitle" idx="4"/>
          </p:nvPr>
        </p:nvSpPr>
        <p:spPr>
          <a:xfrm>
            <a:off x="6548852" y="2992289"/>
            <a:ext cx="3232400" cy="59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grpSp>
        <p:nvGrpSpPr>
          <p:cNvPr id="31" name="Google Shape;31;p5"/>
          <p:cNvGrpSpPr/>
          <p:nvPr/>
        </p:nvGrpSpPr>
        <p:grpSpPr>
          <a:xfrm>
            <a:off x="0" y="5"/>
            <a:ext cx="12192005" cy="6857995"/>
            <a:chOff x="0" y="4"/>
            <a:chExt cx="9144004" cy="5143496"/>
          </a:xfrm>
        </p:grpSpPr>
        <p:pic>
          <p:nvPicPr>
            <p:cNvPr id="32" name="Google Shape;32;p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33" name="Google Shape;33;p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34" name="Google Shape;34;p5"/>
          <p:cNvGrpSpPr/>
          <p:nvPr/>
        </p:nvGrpSpPr>
        <p:grpSpPr>
          <a:xfrm rot="11060152" flipH="1">
            <a:off x="8144751" y="5398767"/>
            <a:ext cx="6098535" cy="4638956"/>
            <a:chOff x="1522650" y="1117750"/>
            <a:chExt cx="4574075" cy="3479350"/>
          </a:xfrm>
        </p:grpSpPr>
        <p:sp>
          <p:nvSpPr>
            <p:cNvPr id="35" name="Google Shape;35;p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 name="Google Shape;36;p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9" name="Google Shape;39;p6"/>
          <p:cNvGrpSpPr/>
          <p:nvPr/>
        </p:nvGrpSpPr>
        <p:grpSpPr>
          <a:xfrm>
            <a:off x="0" y="5"/>
            <a:ext cx="12192005" cy="6857995"/>
            <a:chOff x="0" y="4"/>
            <a:chExt cx="9144004" cy="5143496"/>
          </a:xfrm>
        </p:grpSpPr>
        <p:pic>
          <p:nvPicPr>
            <p:cNvPr id="40" name="Google Shape;40;p6"/>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41" name="Google Shape;41;p6"/>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42" name="Google Shape;42;p6"/>
          <p:cNvGrpSpPr/>
          <p:nvPr/>
        </p:nvGrpSpPr>
        <p:grpSpPr>
          <a:xfrm rot="11060152" flipH="1">
            <a:off x="8144751" y="5398767"/>
            <a:ext cx="6098535" cy="4638956"/>
            <a:chOff x="1522650" y="1117750"/>
            <a:chExt cx="4574075" cy="3479350"/>
          </a:xfrm>
        </p:grpSpPr>
        <p:sp>
          <p:nvSpPr>
            <p:cNvPr id="43" name="Google Shape;43;p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 name="Google Shape;44;p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082633" y="1105800"/>
            <a:ext cx="5324400" cy="1319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p7"/>
          <p:cNvSpPr txBox="1">
            <a:spLocks noGrp="1"/>
          </p:cNvSpPr>
          <p:nvPr>
            <p:ph type="subTitle" idx="1"/>
          </p:nvPr>
        </p:nvSpPr>
        <p:spPr>
          <a:xfrm>
            <a:off x="1082633" y="2504733"/>
            <a:ext cx="5324400" cy="306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333"/>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48" name="Google Shape;48;p7"/>
          <p:cNvSpPr>
            <a:spLocks noGrp="1"/>
          </p:cNvSpPr>
          <p:nvPr>
            <p:ph type="pic" idx="2"/>
          </p:nvPr>
        </p:nvSpPr>
        <p:spPr>
          <a:xfrm>
            <a:off x="6784633" y="1027200"/>
            <a:ext cx="4108800" cy="4803600"/>
          </a:xfrm>
          <a:prstGeom prst="roundRect">
            <a:avLst>
              <a:gd name="adj" fmla="val 16667"/>
            </a:avLst>
          </a:prstGeom>
          <a:noFill/>
          <a:ln>
            <a:noFill/>
          </a:ln>
        </p:spPr>
        <p:txBody>
          <a:bodyPr/>
          <a:lstStyle/>
          <a:p>
            <a:endParaRPr lang="en-US"/>
          </a:p>
        </p:txBody>
      </p:sp>
      <p:grpSp>
        <p:nvGrpSpPr>
          <p:cNvPr id="49" name="Google Shape;49;p7"/>
          <p:cNvGrpSpPr/>
          <p:nvPr/>
        </p:nvGrpSpPr>
        <p:grpSpPr>
          <a:xfrm>
            <a:off x="1" y="0"/>
            <a:ext cx="12192001" cy="6858000"/>
            <a:chOff x="0" y="0"/>
            <a:chExt cx="9144001" cy="5143500"/>
          </a:xfrm>
        </p:grpSpPr>
        <p:pic>
          <p:nvPicPr>
            <p:cNvPr id="50" name="Google Shape;50;p7"/>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51" name="Google Shape;51;p7"/>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52" name="Google Shape;52;p7"/>
          <p:cNvGrpSpPr/>
          <p:nvPr/>
        </p:nvGrpSpPr>
        <p:grpSpPr>
          <a:xfrm rot="10800000">
            <a:off x="8938969" y="5082263"/>
            <a:ext cx="6098767" cy="4639133"/>
            <a:chOff x="1522650" y="1117750"/>
            <a:chExt cx="4574075" cy="3479350"/>
          </a:xfrm>
        </p:grpSpPr>
        <p:sp>
          <p:nvSpPr>
            <p:cNvPr id="53" name="Google Shape;53;p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 name="Google Shape;54;p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grpSp>
        <p:nvGrpSpPr>
          <p:cNvPr id="56" name="Google Shape;56;p8"/>
          <p:cNvGrpSpPr/>
          <p:nvPr/>
        </p:nvGrpSpPr>
        <p:grpSpPr>
          <a:xfrm>
            <a:off x="14" y="0"/>
            <a:ext cx="12191988" cy="6858000"/>
            <a:chOff x="10" y="0"/>
            <a:chExt cx="9143991" cy="5143500"/>
          </a:xfrm>
        </p:grpSpPr>
        <p:pic>
          <p:nvPicPr>
            <p:cNvPr id="57" name="Google Shape;57;p8"/>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58" name="Google Shape;58;p8"/>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59" name="Google Shape;59;p8"/>
          <p:cNvGrpSpPr/>
          <p:nvPr/>
        </p:nvGrpSpPr>
        <p:grpSpPr>
          <a:xfrm rot="756538">
            <a:off x="6879423" y="-2569396"/>
            <a:ext cx="6098876" cy="4639216"/>
            <a:chOff x="1522650" y="1117750"/>
            <a:chExt cx="4574075" cy="3479350"/>
          </a:xfrm>
        </p:grpSpPr>
        <p:sp>
          <p:nvSpPr>
            <p:cNvPr id="60" name="Google Shape;60;p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 name="Google Shape;61;p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2" name="Google Shape;62;p8"/>
          <p:cNvSpPr txBox="1">
            <a:spLocks noGrp="1"/>
          </p:cNvSpPr>
          <p:nvPr>
            <p:ph type="title"/>
          </p:nvPr>
        </p:nvSpPr>
        <p:spPr>
          <a:xfrm>
            <a:off x="5106667" y="2288533"/>
            <a:ext cx="6010800" cy="3372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3"/>
        <p:cNvGrpSpPr/>
        <p:nvPr/>
      </p:nvGrpSpPr>
      <p:grpSpPr>
        <a:xfrm>
          <a:off x="0" y="0"/>
          <a:ext cx="0" cy="0"/>
          <a:chOff x="0" y="0"/>
          <a:chExt cx="0" cy="0"/>
        </a:xfrm>
      </p:grpSpPr>
      <p:grpSp>
        <p:nvGrpSpPr>
          <p:cNvPr id="64" name="Google Shape;64;p9"/>
          <p:cNvGrpSpPr/>
          <p:nvPr/>
        </p:nvGrpSpPr>
        <p:grpSpPr>
          <a:xfrm rot="756538">
            <a:off x="-953077" y="-3212463"/>
            <a:ext cx="6098876" cy="4639216"/>
            <a:chOff x="1522650" y="1117750"/>
            <a:chExt cx="4574075" cy="3479350"/>
          </a:xfrm>
        </p:grpSpPr>
        <p:sp>
          <p:nvSpPr>
            <p:cNvPr id="65" name="Google Shape;65;p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 name="Google Shape;66;p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7" name="Google Shape;67;p9"/>
          <p:cNvGrpSpPr/>
          <p:nvPr/>
        </p:nvGrpSpPr>
        <p:grpSpPr>
          <a:xfrm>
            <a:off x="1" y="0"/>
            <a:ext cx="12192001" cy="6858000"/>
            <a:chOff x="0" y="0"/>
            <a:chExt cx="9144001" cy="5143500"/>
          </a:xfrm>
        </p:grpSpPr>
        <p:pic>
          <p:nvPicPr>
            <p:cNvPr id="68" name="Google Shape;68;p9"/>
            <p:cNvPicPr preferRelativeResize="0"/>
            <p:nvPr/>
          </p:nvPicPr>
          <p:blipFill>
            <a:blip r:embed="rId2">
              <a:alphaModFix/>
            </a:blip>
            <a:stretch>
              <a:fillRect/>
            </a:stretch>
          </p:blipFill>
          <p:spPr>
            <a:xfrm rot="10800000" flipH="1">
              <a:off x="5738810" y="0"/>
              <a:ext cx="3405191" cy="5143500"/>
            </a:xfrm>
            <a:prstGeom prst="rect">
              <a:avLst/>
            </a:prstGeom>
            <a:noFill/>
            <a:ln>
              <a:noFill/>
            </a:ln>
          </p:spPr>
        </p:pic>
        <p:pic>
          <p:nvPicPr>
            <p:cNvPr id="69" name="Google Shape;69;p9"/>
            <p:cNvPicPr preferRelativeResize="0"/>
            <p:nvPr/>
          </p:nvPicPr>
          <p:blipFill>
            <a:blip r:embed="rId3">
              <a:alphaModFix/>
            </a:blip>
            <a:stretch>
              <a:fillRect/>
            </a:stretch>
          </p:blipFill>
          <p:spPr>
            <a:xfrm rot="10800000" flipH="1">
              <a:off x="0" y="0"/>
              <a:ext cx="4727801" cy="2256875"/>
            </a:xfrm>
            <a:prstGeom prst="rect">
              <a:avLst/>
            </a:prstGeom>
            <a:noFill/>
            <a:ln>
              <a:noFill/>
            </a:ln>
          </p:spPr>
        </p:pic>
      </p:grpSp>
      <p:sp>
        <p:nvSpPr>
          <p:cNvPr id="70" name="Google Shape;70;p9"/>
          <p:cNvSpPr txBox="1">
            <a:spLocks noGrp="1"/>
          </p:cNvSpPr>
          <p:nvPr>
            <p:ph type="title"/>
          </p:nvPr>
        </p:nvSpPr>
        <p:spPr>
          <a:xfrm>
            <a:off x="950967" y="2038533"/>
            <a:ext cx="64972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66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1" name="Google Shape;71;p9"/>
          <p:cNvSpPr txBox="1">
            <a:spLocks noGrp="1"/>
          </p:cNvSpPr>
          <p:nvPr>
            <p:ph type="subTitle" idx="1"/>
          </p:nvPr>
        </p:nvSpPr>
        <p:spPr>
          <a:xfrm>
            <a:off x="950967" y="4853400"/>
            <a:ext cx="6497200" cy="60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133"/>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2"/>
        <p:cNvGrpSpPr/>
        <p:nvPr/>
      </p:nvGrpSpPr>
      <p:grpSpPr>
        <a:xfrm>
          <a:off x="0" y="0"/>
          <a:ext cx="0" cy="0"/>
          <a:chOff x="0" y="0"/>
          <a:chExt cx="0" cy="0"/>
        </a:xfrm>
      </p:grpSpPr>
      <p:sp>
        <p:nvSpPr>
          <p:cNvPr id="73" name="Google Shape;73;p10"/>
          <p:cNvSpPr>
            <a:spLocks noGrp="1"/>
          </p:cNvSpPr>
          <p:nvPr>
            <p:ph type="pic" idx="2"/>
          </p:nvPr>
        </p:nvSpPr>
        <p:spPr>
          <a:xfrm>
            <a:off x="0" y="0"/>
            <a:ext cx="12192000" cy="6858000"/>
          </a:xfrm>
          <a:prstGeom prst="rect">
            <a:avLst/>
          </a:prstGeom>
          <a:noFill/>
          <a:ln>
            <a:noFill/>
          </a:ln>
        </p:spPr>
        <p:txBody>
          <a:bodyPr/>
          <a:lstStyle/>
          <a:p>
            <a:endParaRPr lang="en-US"/>
          </a:p>
        </p:txBody>
      </p:sp>
      <p:sp>
        <p:nvSpPr>
          <p:cNvPr id="74" name="Google Shape;74;p10"/>
          <p:cNvSpPr txBox="1">
            <a:spLocks noGrp="1"/>
          </p:cNvSpPr>
          <p:nvPr>
            <p:ph type="title"/>
          </p:nvPr>
        </p:nvSpPr>
        <p:spPr>
          <a:xfrm>
            <a:off x="960000" y="5352600"/>
            <a:ext cx="7617600" cy="763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75" name="Google Shape;75;p10"/>
          <p:cNvGrpSpPr/>
          <p:nvPr/>
        </p:nvGrpSpPr>
        <p:grpSpPr>
          <a:xfrm>
            <a:off x="0" y="5"/>
            <a:ext cx="12192005" cy="6857995"/>
            <a:chOff x="0" y="4"/>
            <a:chExt cx="9144004" cy="5143496"/>
          </a:xfrm>
        </p:grpSpPr>
        <p:pic>
          <p:nvPicPr>
            <p:cNvPr id="76" name="Google Shape;76;p1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7" name="Google Shape;77;p1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8" name="Google Shape;78;p10"/>
          <p:cNvGrpSpPr/>
          <p:nvPr/>
        </p:nvGrpSpPr>
        <p:grpSpPr>
          <a:xfrm>
            <a:off x="-1194974" y="-3367159"/>
            <a:ext cx="15604892" cy="13628776"/>
            <a:chOff x="-896231" y="-2525369"/>
            <a:chExt cx="11703669" cy="10221582"/>
          </a:xfrm>
        </p:grpSpPr>
        <p:grpSp>
          <p:nvGrpSpPr>
            <p:cNvPr id="79" name="Google Shape;79;p10"/>
            <p:cNvGrpSpPr/>
            <p:nvPr/>
          </p:nvGrpSpPr>
          <p:grpSpPr>
            <a:xfrm rot="-10539848" flipH="1">
              <a:off x="6108563" y="4049075"/>
              <a:ext cx="4573901" cy="3479217"/>
              <a:chOff x="1522650" y="1117750"/>
              <a:chExt cx="4574075" cy="3479350"/>
            </a:xfrm>
          </p:grpSpPr>
          <p:sp>
            <p:nvSpPr>
              <p:cNvPr id="80" name="Google Shape;80;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 name="Google Shape;81;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2" name="Google Shape;82;p10"/>
            <p:cNvGrpSpPr/>
            <p:nvPr/>
          </p:nvGrpSpPr>
          <p:grpSpPr>
            <a:xfrm>
              <a:off x="-896231" y="-2525369"/>
              <a:ext cx="4573618" cy="3479002"/>
              <a:chOff x="1522650" y="1117750"/>
              <a:chExt cx="4574075" cy="3479350"/>
            </a:xfrm>
          </p:grpSpPr>
          <p:sp>
            <p:nvSpPr>
              <p:cNvPr id="83" name="Google Shape;83;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 name="Google Shape;84;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5"/>
        <p:cNvGrpSpPr/>
        <p:nvPr/>
      </p:nvGrpSpPr>
      <p:grpSpPr>
        <a:xfrm>
          <a:off x="0" y="0"/>
          <a:ext cx="0" cy="0"/>
          <a:chOff x="0" y="0"/>
          <a:chExt cx="0" cy="0"/>
        </a:xfrm>
      </p:grpSpPr>
      <p:sp>
        <p:nvSpPr>
          <p:cNvPr id="86" name="Google Shape;86;p11"/>
          <p:cNvSpPr txBox="1">
            <a:spLocks noGrp="1"/>
          </p:cNvSpPr>
          <p:nvPr>
            <p:ph type="title" hasCustomPrompt="1"/>
          </p:nvPr>
        </p:nvSpPr>
        <p:spPr>
          <a:xfrm>
            <a:off x="5435133" y="3061867"/>
            <a:ext cx="5124400" cy="1446800"/>
          </a:xfrm>
          <a:prstGeom prst="rect">
            <a:avLst/>
          </a:prstGeom>
          <a:solidFill>
            <a:schemeClr val="dk2"/>
          </a:solidFill>
        </p:spPr>
        <p:txBody>
          <a:bodyPr spcFirstLastPara="1" wrap="square" lIns="91425" tIns="91425" rIns="91425" bIns="91425" anchor="ctr" anchorCtr="0">
            <a:noAutofit/>
          </a:bodyPr>
          <a:lstStyle>
            <a:lvl1pPr lvl="0">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87" name="Google Shape;87;p11"/>
          <p:cNvSpPr txBox="1">
            <a:spLocks noGrp="1"/>
          </p:cNvSpPr>
          <p:nvPr>
            <p:ph type="subTitle" idx="1"/>
          </p:nvPr>
        </p:nvSpPr>
        <p:spPr>
          <a:xfrm>
            <a:off x="5435133" y="4568933"/>
            <a:ext cx="51244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pic>
        <p:nvPicPr>
          <p:cNvPr id="88" name="Google Shape;88;p11"/>
          <p:cNvPicPr preferRelativeResize="0"/>
          <p:nvPr/>
        </p:nvPicPr>
        <p:blipFill>
          <a:blip r:embed="rId2">
            <a:alphaModFix/>
          </a:blip>
          <a:stretch>
            <a:fillRect/>
          </a:stretch>
        </p:blipFill>
        <p:spPr>
          <a:xfrm flipH="1">
            <a:off x="5888267" y="3848834"/>
            <a:ext cx="6303735" cy="3009167"/>
          </a:xfrm>
          <a:prstGeom prst="rect">
            <a:avLst/>
          </a:prstGeom>
          <a:noFill/>
          <a:ln>
            <a:noFill/>
          </a:ln>
        </p:spPr>
      </p:pic>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9"/>
        <p:cNvGrpSpPr/>
        <p:nvPr/>
      </p:nvGrpSpPr>
      <p:grpSpPr>
        <a:xfrm>
          <a:off x="0" y="0"/>
          <a:ext cx="0" cy="0"/>
          <a:chOff x="0" y="0"/>
          <a:chExt cx="0" cy="0"/>
        </a:xfrm>
      </p:grpSpPr>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 name="Google Shape;92;p13"/>
          <p:cNvSpPr txBox="1">
            <a:spLocks noGrp="1"/>
          </p:cNvSpPr>
          <p:nvPr>
            <p:ph type="title" idx="2" hasCustomPrompt="1"/>
          </p:nvPr>
        </p:nvSpPr>
        <p:spPr>
          <a:xfrm>
            <a:off x="960000" y="197451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3" hasCustomPrompt="1"/>
          </p:nvPr>
        </p:nvSpPr>
        <p:spPr>
          <a:xfrm>
            <a:off x="960000" y="398732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title" idx="4" hasCustomPrompt="1"/>
          </p:nvPr>
        </p:nvSpPr>
        <p:spPr>
          <a:xfrm>
            <a:off x="4408000" y="197451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5" name="Google Shape;95;p13"/>
          <p:cNvSpPr txBox="1">
            <a:spLocks noGrp="1"/>
          </p:cNvSpPr>
          <p:nvPr>
            <p:ph type="title" idx="5" hasCustomPrompt="1"/>
          </p:nvPr>
        </p:nvSpPr>
        <p:spPr>
          <a:xfrm>
            <a:off x="4408000" y="398732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6" name="Google Shape;96;p13"/>
          <p:cNvSpPr txBox="1">
            <a:spLocks noGrp="1"/>
          </p:cNvSpPr>
          <p:nvPr>
            <p:ph type="title" idx="6" hasCustomPrompt="1"/>
          </p:nvPr>
        </p:nvSpPr>
        <p:spPr>
          <a:xfrm>
            <a:off x="7856000" y="197451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7" name="Google Shape;97;p13"/>
          <p:cNvSpPr txBox="1">
            <a:spLocks noGrp="1"/>
          </p:cNvSpPr>
          <p:nvPr>
            <p:ph type="title" idx="7" hasCustomPrompt="1"/>
          </p:nvPr>
        </p:nvSpPr>
        <p:spPr>
          <a:xfrm>
            <a:off x="7856000" y="3987321"/>
            <a:ext cx="979600" cy="5968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8" name="Google Shape;98;p13"/>
          <p:cNvSpPr txBox="1">
            <a:spLocks noGrp="1"/>
          </p:cNvSpPr>
          <p:nvPr>
            <p:ph type="subTitle" idx="1"/>
          </p:nvPr>
        </p:nvSpPr>
        <p:spPr>
          <a:xfrm>
            <a:off x="960000" y="2701933"/>
            <a:ext cx="3376000" cy="6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99" name="Google Shape;99;p13"/>
          <p:cNvSpPr txBox="1">
            <a:spLocks noGrp="1"/>
          </p:cNvSpPr>
          <p:nvPr>
            <p:ph type="subTitle" idx="8"/>
          </p:nvPr>
        </p:nvSpPr>
        <p:spPr>
          <a:xfrm>
            <a:off x="4408000" y="2701933"/>
            <a:ext cx="3376000" cy="6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00" name="Google Shape;100;p13"/>
          <p:cNvSpPr txBox="1">
            <a:spLocks noGrp="1"/>
          </p:cNvSpPr>
          <p:nvPr>
            <p:ph type="subTitle" idx="9"/>
          </p:nvPr>
        </p:nvSpPr>
        <p:spPr>
          <a:xfrm>
            <a:off x="7856000" y="2701933"/>
            <a:ext cx="3376000" cy="67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01" name="Google Shape;101;p13"/>
          <p:cNvSpPr txBox="1">
            <a:spLocks noGrp="1"/>
          </p:cNvSpPr>
          <p:nvPr>
            <p:ph type="subTitle" idx="13"/>
          </p:nvPr>
        </p:nvSpPr>
        <p:spPr>
          <a:xfrm>
            <a:off x="960000" y="4726533"/>
            <a:ext cx="3376000" cy="6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02" name="Google Shape;102;p13"/>
          <p:cNvSpPr txBox="1">
            <a:spLocks noGrp="1"/>
          </p:cNvSpPr>
          <p:nvPr>
            <p:ph type="subTitle" idx="14"/>
          </p:nvPr>
        </p:nvSpPr>
        <p:spPr>
          <a:xfrm>
            <a:off x="4408000" y="4726533"/>
            <a:ext cx="3376000" cy="6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03" name="Google Shape;103;p13"/>
          <p:cNvSpPr txBox="1">
            <a:spLocks noGrp="1"/>
          </p:cNvSpPr>
          <p:nvPr>
            <p:ph type="subTitle" idx="15"/>
          </p:nvPr>
        </p:nvSpPr>
        <p:spPr>
          <a:xfrm>
            <a:off x="7856000" y="4726533"/>
            <a:ext cx="3376000" cy="6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grpSp>
        <p:nvGrpSpPr>
          <p:cNvPr id="104" name="Google Shape;104;p13"/>
          <p:cNvGrpSpPr/>
          <p:nvPr/>
        </p:nvGrpSpPr>
        <p:grpSpPr>
          <a:xfrm>
            <a:off x="0" y="5"/>
            <a:ext cx="12192005" cy="6857995"/>
            <a:chOff x="0" y="4"/>
            <a:chExt cx="9144004" cy="5143496"/>
          </a:xfrm>
        </p:grpSpPr>
        <p:pic>
          <p:nvPicPr>
            <p:cNvPr id="105" name="Google Shape;105;p13"/>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06" name="Google Shape;106;p13"/>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07" name="Google Shape;107;p13"/>
          <p:cNvGrpSpPr/>
          <p:nvPr/>
        </p:nvGrpSpPr>
        <p:grpSpPr>
          <a:xfrm rot="11060152" flipH="1">
            <a:off x="8144751" y="5398767"/>
            <a:ext cx="6098535" cy="4638956"/>
            <a:chOff x="1522650" y="1117750"/>
            <a:chExt cx="4574075" cy="3479350"/>
          </a:xfrm>
        </p:grpSpPr>
        <p:sp>
          <p:nvSpPr>
            <p:cNvPr id="108" name="Google Shape;108;p1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 name="Google Shape;109;p1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10"/>
        <p:cNvGrpSpPr/>
        <p:nvPr/>
      </p:nvGrpSpPr>
      <p:grpSpPr>
        <a:xfrm>
          <a:off x="0" y="0"/>
          <a:ext cx="0" cy="0"/>
          <a:chOff x="0" y="0"/>
          <a:chExt cx="0" cy="0"/>
        </a:xfrm>
      </p:grpSpPr>
      <p:grpSp>
        <p:nvGrpSpPr>
          <p:cNvPr id="111" name="Google Shape;111;p14"/>
          <p:cNvGrpSpPr/>
          <p:nvPr/>
        </p:nvGrpSpPr>
        <p:grpSpPr>
          <a:xfrm>
            <a:off x="1" y="0"/>
            <a:ext cx="12192001" cy="6858000"/>
            <a:chOff x="0" y="0"/>
            <a:chExt cx="9144001" cy="5143500"/>
          </a:xfrm>
        </p:grpSpPr>
        <p:pic>
          <p:nvPicPr>
            <p:cNvPr id="112" name="Google Shape;112;p14"/>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13" name="Google Shape;113;p14"/>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14" name="Google Shape;114;p14"/>
          <p:cNvGrpSpPr/>
          <p:nvPr/>
        </p:nvGrpSpPr>
        <p:grpSpPr>
          <a:xfrm rot="10800000">
            <a:off x="8938969" y="5082263"/>
            <a:ext cx="6098767" cy="4639133"/>
            <a:chOff x="1522650" y="1117750"/>
            <a:chExt cx="4574075" cy="3479350"/>
          </a:xfrm>
        </p:grpSpPr>
        <p:sp>
          <p:nvSpPr>
            <p:cNvPr id="115" name="Google Shape;115;p1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 name="Google Shape;116;p1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7" name="Google Shape;117;p1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18"/>
        <p:cNvGrpSpPr/>
        <p:nvPr/>
      </p:nvGrpSpPr>
      <p:grpSpPr>
        <a:xfrm>
          <a:off x="0" y="0"/>
          <a:ext cx="0" cy="0"/>
          <a:chOff x="0" y="0"/>
          <a:chExt cx="0" cy="0"/>
        </a:xfrm>
      </p:grpSpPr>
      <p:grpSp>
        <p:nvGrpSpPr>
          <p:cNvPr id="119" name="Google Shape;119;p15"/>
          <p:cNvGrpSpPr/>
          <p:nvPr/>
        </p:nvGrpSpPr>
        <p:grpSpPr>
          <a:xfrm>
            <a:off x="0" y="5"/>
            <a:ext cx="12192005" cy="6857995"/>
            <a:chOff x="0" y="4"/>
            <a:chExt cx="9144004" cy="5143496"/>
          </a:xfrm>
        </p:grpSpPr>
        <p:pic>
          <p:nvPicPr>
            <p:cNvPr id="120" name="Google Shape;120;p1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1" name="Google Shape;121;p1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2" name="Google Shape;122;p15"/>
          <p:cNvGrpSpPr/>
          <p:nvPr/>
        </p:nvGrpSpPr>
        <p:grpSpPr>
          <a:xfrm rot="11060152" flipH="1">
            <a:off x="8144751" y="5398767"/>
            <a:ext cx="6098535" cy="4638956"/>
            <a:chOff x="1522650" y="1117750"/>
            <a:chExt cx="4574075" cy="3479350"/>
          </a:xfrm>
        </p:grpSpPr>
        <p:sp>
          <p:nvSpPr>
            <p:cNvPr id="123" name="Google Shape;123;p1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 name="Google Shape;124;p1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25" name="Google Shape;125;p15"/>
          <p:cNvSpPr txBox="1">
            <a:spLocks noGrp="1"/>
          </p:cNvSpPr>
          <p:nvPr>
            <p:ph type="title"/>
          </p:nvPr>
        </p:nvSpPr>
        <p:spPr>
          <a:xfrm>
            <a:off x="5185567" y="1333400"/>
            <a:ext cx="4274000" cy="140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15"/>
          <p:cNvSpPr txBox="1">
            <a:spLocks noGrp="1"/>
          </p:cNvSpPr>
          <p:nvPr>
            <p:ph type="subTitle" idx="1"/>
          </p:nvPr>
        </p:nvSpPr>
        <p:spPr>
          <a:xfrm>
            <a:off x="5185567" y="2842600"/>
            <a:ext cx="5580400" cy="268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27"/>
        <p:cNvGrpSpPr/>
        <p:nvPr/>
      </p:nvGrpSpPr>
      <p:grpSpPr>
        <a:xfrm>
          <a:off x="0" y="0"/>
          <a:ext cx="0" cy="0"/>
          <a:chOff x="0" y="0"/>
          <a:chExt cx="0" cy="0"/>
        </a:xfrm>
      </p:grpSpPr>
      <p:grpSp>
        <p:nvGrpSpPr>
          <p:cNvPr id="128" name="Google Shape;128;p16"/>
          <p:cNvGrpSpPr/>
          <p:nvPr/>
        </p:nvGrpSpPr>
        <p:grpSpPr>
          <a:xfrm>
            <a:off x="1" y="0"/>
            <a:ext cx="12192001" cy="6858000"/>
            <a:chOff x="0" y="0"/>
            <a:chExt cx="9144001" cy="5143500"/>
          </a:xfrm>
        </p:grpSpPr>
        <p:pic>
          <p:nvPicPr>
            <p:cNvPr id="129" name="Google Shape;129;p16"/>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30" name="Google Shape;130;p16"/>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31" name="Google Shape;131;p16"/>
          <p:cNvGrpSpPr/>
          <p:nvPr/>
        </p:nvGrpSpPr>
        <p:grpSpPr>
          <a:xfrm rot="10800000">
            <a:off x="8938969" y="5082263"/>
            <a:ext cx="6098767" cy="4639133"/>
            <a:chOff x="1522650" y="1117750"/>
            <a:chExt cx="4574075" cy="3479350"/>
          </a:xfrm>
        </p:grpSpPr>
        <p:sp>
          <p:nvSpPr>
            <p:cNvPr id="132" name="Google Shape;132;p1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 name="Google Shape;133;p1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34" name="Google Shape;134;p16"/>
          <p:cNvSpPr txBox="1">
            <a:spLocks noGrp="1"/>
          </p:cNvSpPr>
          <p:nvPr>
            <p:ph type="title"/>
          </p:nvPr>
        </p:nvSpPr>
        <p:spPr>
          <a:xfrm>
            <a:off x="950967" y="942767"/>
            <a:ext cx="3127200" cy="1299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5" name="Google Shape;135;p16"/>
          <p:cNvSpPr txBox="1">
            <a:spLocks noGrp="1"/>
          </p:cNvSpPr>
          <p:nvPr>
            <p:ph type="subTitle" idx="1"/>
          </p:nvPr>
        </p:nvSpPr>
        <p:spPr>
          <a:xfrm>
            <a:off x="950967" y="2142367"/>
            <a:ext cx="3127200" cy="1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6" name="Google Shape;136;p16"/>
          <p:cNvSpPr>
            <a:spLocks noGrp="1"/>
          </p:cNvSpPr>
          <p:nvPr>
            <p:ph type="pic" idx="2"/>
          </p:nvPr>
        </p:nvSpPr>
        <p:spPr>
          <a:xfrm>
            <a:off x="7451333" y="719333"/>
            <a:ext cx="3734800" cy="5419600"/>
          </a:xfrm>
          <a:prstGeom prst="roundRect">
            <a:avLst>
              <a:gd name="adj" fmla="val 16667"/>
            </a:avLst>
          </a:prstGeom>
          <a:noFill/>
          <a:ln>
            <a:noFill/>
          </a:ln>
        </p:spPr>
        <p:txBody>
          <a:bodyPr/>
          <a:lstStyle/>
          <a:p>
            <a:endParaRPr lang="en-US"/>
          </a:p>
        </p:txBody>
      </p:sp>
      <p:sp>
        <p:nvSpPr>
          <p:cNvPr id="137" name="Google Shape;137;p16"/>
          <p:cNvSpPr>
            <a:spLocks noGrp="1"/>
          </p:cNvSpPr>
          <p:nvPr>
            <p:ph type="pic" idx="3"/>
          </p:nvPr>
        </p:nvSpPr>
        <p:spPr>
          <a:xfrm>
            <a:off x="4228600" y="719333"/>
            <a:ext cx="3072400" cy="3047600"/>
          </a:xfrm>
          <a:prstGeom prst="roundRect">
            <a:avLst>
              <a:gd name="adj" fmla="val 16667"/>
            </a:avLst>
          </a:prstGeom>
          <a:noFill/>
          <a:ln>
            <a:noFill/>
          </a:ln>
        </p:spPr>
        <p:txBody>
          <a:bodyPr/>
          <a:lstStyle/>
          <a:p>
            <a:endParaRPr lang="en-US"/>
          </a:p>
        </p:txBody>
      </p:sp>
      <p:sp>
        <p:nvSpPr>
          <p:cNvPr id="138" name="Google Shape;138;p16"/>
          <p:cNvSpPr>
            <a:spLocks noGrp="1"/>
          </p:cNvSpPr>
          <p:nvPr>
            <p:ph type="pic" idx="4"/>
          </p:nvPr>
        </p:nvSpPr>
        <p:spPr>
          <a:xfrm>
            <a:off x="4228600" y="3938367"/>
            <a:ext cx="3072400" cy="2200400"/>
          </a:xfrm>
          <a:prstGeom prst="roundRect">
            <a:avLst>
              <a:gd name="adj" fmla="val 16667"/>
            </a:avLst>
          </a:prstGeom>
          <a:noFill/>
          <a:ln>
            <a:noFill/>
          </a:ln>
        </p:spPr>
        <p:txBody>
          <a:bodyPr/>
          <a:lstStyle/>
          <a:p>
            <a:endParaRPr lang="en-US"/>
          </a:p>
        </p:txBody>
      </p:sp>
      <p:sp>
        <p:nvSpPr>
          <p:cNvPr id="139" name="Google Shape;139;p16"/>
          <p:cNvSpPr>
            <a:spLocks noGrp="1"/>
          </p:cNvSpPr>
          <p:nvPr>
            <p:ph type="pic" idx="5"/>
          </p:nvPr>
        </p:nvSpPr>
        <p:spPr>
          <a:xfrm>
            <a:off x="1005867" y="3938367"/>
            <a:ext cx="3072400" cy="2200400"/>
          </a:xfrm>
          <a:prstGeom prst="roundRect">
            <a:avLst>
              <a:gd name="adj" fmla="val 16667"/>
            </a:avLst>
          </a:prstGeom>
          <a:noFill/>
          <a:ln>
            <a:noFill/>
          </a:ln>
        </p:spPr>
        <p:txBody>
          <a:bodyPr/>
          <a:lstStyle/>
          <a:p>
            <a:endParaRPr lang="en-US"/>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CUSTOM_4_2">
    <p:spTree>
      <p:nvGrpSpPr>
        <p:cNvPr id="1" name="Shape 140"/>
        <p:cNvGrpSpPr/>
        <p:nvPr/>
      </p:nvGrpSpPr>
      <p:grpSpPr>
        <a:xfrm>
          <a:off x="0" y="0"/>
          <a:ext cx="0" cy="0"/>
          <a:chOff x="0" y="0"/>
          <a:chExt cx="0" cy="0"/>
        </a:xfrm>
      </p:grpSpPr>
      <p:grpSp>
        <p:nvGrpSpPr>
          <p:cNvPr id="141" name="Google Shape;141;p17"/>
          <p:cNvGrpSpPr/>
          <p:nvPr/>
        </p:nvGrpSpPr>
        <p:grpSpPr>
          <a:xfrm>
            <a:off x="0" y="5"/>
            <a:ext cx="12192005" cy="6857995"/>
            <a:chOff x="0" y="4"/>
            <a:chExt cx="9144004" cy="5143496"/>
          </a:xfrm>
        </p:grpSpPr>
        <p:pic>
          <p:nvPicPr>
            <p:cNvPr id="142" name="Google Shape;142;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43" name="Google Shape;143;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44" name="Google Shape;144;p17"/>
          <p:cNvGrpSpPr/>
          <p:nvPr/>
        </p:nvGrpSpPr>
        <p:grpSpPr>
          <a:xfrm rot="11060152" flipH="1">
            <a:off x="8144751" y="5398767"/>
            <a:ext cx="6098535" cy="4638956"/>
            <a:chOff x="1522650" y="1117750"/>
            <a:chExt cx="4574075" cy="3479350"/>
          </a:xfrm>
        </p:grpSpPr>
        <p:sp>
          <p:nvSpPr>
            <p:cNvPr id="145" name="Google Shape;145;p1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 name="Google Shape;146;p1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47" name="Google Shape;147;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8" name="Google Shape;148;p17"/>
          <p:cNvSpPr txBox="1">
            <a:spLocks noGrp="1"/>
          </p:cNvSpPr>
          <p:nvPr>
            <p:ph type="subTitle" idx="1"/>
          </p:nvPr>
        </p:nvSpPr>
        <p:spPr>
          <a:xfrm>
            <a:off x="959967" y="1552600"/>
            <a:ext cx="4998400" cy="158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a:endParaRPr/>
          </a:p>
        </p:txBody>
      </p: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4_3">
    <p:spTree>
      <p:nvGrpSpPr>
        <p:cNvPr id="1" name="Shape 149"/>
        <p:cNvGrpSpPr/>
        <p:nvPr/>
      </p:nvGrpSpPr>
      <p:grpSpPr>
        <a:xfrm>
          <a:off x="0" y="0"/>
          <a:ext cx="0" cy="0"/>
          <a:chOff x="0" y="0"/>
          <a:chExt cx="0" cy="0"/>
        </a:xfrm>
      </p:grpSpPr>
      <p:grpSp>
        <p:nvGrpSpPr>
          <p:cNvPr id="150" name="Google Shape;150;p18"/>
          <p:cNvGrpSpPr/>
          <p:nvPr/>
        </p:nvGrpSpPr>
        <p:grpSpPr>
          <a:xfrm>
            <a:off x="1" y="0"/>
            <a:ext cx="12192001" cy="6858000"/>
            <a:chOff x="0" y="0"/>
            <a:chExt cx="9144001" cy="5143500"/>
          </a:xfrm>
        </p:grpSpPr>
        <p:pic>
          <p:nvPicPr>
            <p:cNvPr id="151" name="Google Shape;151;p18"/>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52" name="Google Shape;152;p18"/>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53" name="Google Shape;153;p18"/>
          <p:cNvGrpSpPr/>
          <p:nvPr/>
        </p:nvGrpSpPr>
        <p:grpSpPr>
          <a:xfrm rot="10800000">
            <a:off x="8938969" y="5082263"/>
            <a:ext cx="6098767" cy="4639133"/>
            <a:chOff x="1522650" y="1117750"/>
            <a:chExt cx="4574075" cy="3479350"/>
          </a:xfrm>
        </p:grpSpPr>
        <p:sp>
          <p:nvSpPr>
            <p:cNvPr id="154" name="Google Shape;154;p1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 name="Google Shape;155;p1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6" name="Google Shape;156;p18"/>
          <p:cNvSpPr txBox="1">
            <a:spLocks noGrp="1"/>
          </p:cNvSpPr>
          <p:nvPr>
            <p:ph type="subTitle" idx="1"/>
          </p:nvPr>
        </p:nvSpPr>
        <p:spPr>
          <a:xfrm>
            <a:off x="959967" y="1858400"/>
            <a:ext cx="6687200" cy="2938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200"/>
              <a:buChar char="●"/>
              <a:defRPr/>
            </a:lvl1pPr>
            <a:lvl2pPr lvl="1" rtl="0">
              <a:spcBef>
                <a:spcPts val="0"/>
              </a:spcBef>
              <a:spcAft>
                <a:spcPts val="0"/>
              </a:spcAft>
              <a:buSzPts val="1200"/>
              <a:buChar char="○"/>
              <a:defRPr/>
            </a:lvl2pPr>
            <a:lvl3pPr lvl="2" rtl="0">
              <a:spcBef>
                <a:spcPts val="0"/>
              </a:spcBef>
              <a:spcAft>
                <a:spcPts val="0"/>
              </a:spcAft>
              <a:buSzPts val="1200"/>
              <a:buChar char="■"/>
              <a:defRPr/>
            </a:lvl3pPr>
            <a:lvl4pPr lvl="3" rtl="0">
              <a:spcBef>
                <a:spcPts val="0"/>
              </a:spcBef>
              <a:spcAft>
                <a:spcPts val="0"/>
              </a:spcAft>
              <a:buSzPts val="1200"/>
              <a:buChar char="●"/>
              <a:defRPr/>
            </a:lvl4pPr>
            <a:lvl5pPr lvl="4" rtl="0">
              <a:spcBef>
                <a:spcPts val="0"/>
              </a:spcBef>
              <a:spcAft>
                <a:spcPts val="0"/>
              </a:spcAft>
              <a:buSzPts val="1200"/>
              <a:buChar char="○"/>
              <a:defRPr/>
            </a:lvl5pPr>
            <a:lvl6pPr lvl="5" rtl="0">
              <a:spcBef>
                <a:spcPts val="0"/>
              </a:spcBef>
              <a:spcAft>
                <a:spcPts val="0"/>
              </a:spcAft>
              <a:buSzPts val="1200"/>
              <a:buChar char="■"/>
              <a:defRPr/>
            </a:lvl6pPr>
            <a:lvl7pPr lvl="6" rtl="0">
              <a:spcBef>
                <a:spcPts val="0"/>
              </a:spcBef>
              <a:spcAft>
                <a:spcPts val="0"/>
              </a:spcAft>
              <a:buSzPts val="1200"/>
              <a:buChar char="●"/>
              <a:defRPr/>
            </a:lvl7pPr>
            <a:lvl8pPr lvl="7" rtl="0">
              <a:spcBef>
                <a:spcPts val="0"/>
              </a:spcBef>
              <a:spcAft>
                <a:spcPts val="0"/>
              </a:spcAft>
              <a:buSzPts val="1200"/>
              <a:buChar char="○"/>
              <a:defRPr/>
            </a:lvl8pPr>
            <a:lvl9pPr lvl="8" rtl="0">
              <a:spcBef>
                <a:spcPts val="0"/>
              </a:spcBef>
              <a:spcAft>
                <a:spcPts val="0"/>
              </a:spcAft>
              <a:buSzPts val="1200"/>
              <a:buChar char="■"/>
              <a:defRPr/>
            </a:lvl9pPr>
          </a:lstStyle>
          <a:p>
            <a:endParaRPr/>
          </a:p>
        </p:txBody>
      </p:sp>
      <p:sp>
        <p:nvSpPr>
          <p:cNvPr id="157" name="Google Shape;157;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8"/>
        <p:cNvGrpSpPr/>
        <p:nvPr/>
      </p:nvGrpSpPr>
      <p:grpSpPr>
        <a:xfrm>
          <a:off x="0" y="0"/>
          <a:ext cx="0" cy="0"/>
          <a:chOff x="0" y="0"/>
          <a:chExt cx="0" cy="0"/>
        </a:xfrm>
      </p:grpSpPr>
      <p:grpSp>
        <p:nvGrpSpPr>
          <p:cNvPr id="159" name="Google Shape;159;p19"/>
          <p:cNvGrpSpPr/>
          <p:nvPr/>
        </p:nvGrpSpPr>
        <p:grpSpPr>
          <a:xfrm>
            <a:off x="1" y="0"/>
            <a:ext cx="12192001" cy="6858000"/>
            <a:chOff x="0" y="0"/>
            <a:chExt cx="9144001" cy="5143500"/>
          </a:xfrm>
        </p:grpSpPr>
        <p:pic>
          <p:nvPicPr>
            <p:cNvPr id="160" name="Google Shape;160;p19"/>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61" name="Google Shape;161;p19"/>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62" name="Google Shape;162;p19"/>
          <p:cNvGrpSpPr/>
          <p:nvPr/>
        </p:nvGrpSpPr>
        <p:grpSpPr>
          <a:xfrm rot="10800000">
            <a:off x="8938969" y="5082263"/>
            <a:ext cx="6098767" cy="4639133"/>
            <a:chOff x="1522650" y="1117750"/>
            <a:chExt cx="4574075" cy="3479350"/>
          </a:xfrm>
        </p:grpSpPr>
        <p:sp>
          <p:nvSpPr>
            <p:cNvPr id="163" name="Google Shape;163;p1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 name="Google Shape;164;p1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65" name="Google Shape;165;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6" name="Google Shape;166;p19"/>
          <p:cNvSpPr txBox="1">
            <a:spLocks noGrp="1"/>
          </p:cNvSpPr>
          <p:nvPr>
            <p:ph type="subTitle" idx="1"/>
          </p:nvPr>
        </p:nvSpPr>
        <p:spPr>
          <a:xfrm>
            <a:off x="1154033" y="3655633"/>
            <a:ext cx="2919200" cy="2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7" name="Google Shape;167;p19"/>
          <p:cNvSpPr txBox="1">
            <a:spLocks noGrp="1"/>
          </p:cNvSpPr>
          <p:nvPr>
            <p:ph type="subTitle" idx="2"/>
          </p:nvPr>
        </p:nvSpPr>
        <p:spPr>
          <a:xfrm>
            <a:off x="4578497" y="3655633"/>
            <a:ext cx="2919200" cy="2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19"/>
          <p:cNvSpPr txBox="1">
            <a:spLocks noGrp="1"/>
          </p:cNvSpPr>
          <p:nvPr>
            <p:ph type="subTitle" idx="3"/>
          </p:nvPr>
        </p:nvSpPr>
        <p:spPr>
          <a:xfrm>
            <a:off x="8002971" y="3655633"/>
            <a:ext cx="2919200" cy="2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9" name="Google Shape;169;p19"/>
          <p:cNvSpPr txBox="1">
            <a:spLocks noGrp="1"/>
          </p:cNvSpPr>
          <p:nvPr>
            <p:ph type="subTitle" idx="4"/>
          </p:nvPr>
        </p:nvSpPr>
        <p:spPr>
          <a:xfrm>
            <a:off x="1154033" y="2728667"/>
            <a:ext cx="29192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70" name="Google Shape;170;p19"/>
          <p:cNvSpPr txBox="1">
            <a:spLocks noGrp="1"/>
          </p:cNvSpPr>
          <p:nvPr>
            <p:ph type="subTitle" idx="5"/>
          </p:nvPr>
        </p:nvSpPr>
        <p:spPr>
          <a:xfrm>
            <a:off x="4578504" y="2728667"/>
            <a:ext cx="29192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71" name="Google Shape;171;p19"/>
          <p:cNvSpPr txBox="1">
            <a:spLocks noGrp="1"/>
          </p:cNvSpPr>
          <p:nvPr>
            <p:ph type="subTitle" idx="6"/>
          </p:nvPr>
        </p:nvSpPr>
        <p:spPr>
          <a:xfrm>
            <a:off x="8002975" y="2728667"/>
            <a:ext cx="2919200" cy="944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2"/>
        <p:cNvGrpSpPr/>
        <p:nvPr/>
      </p:nvGrpSpPr>
      <p:grpSpPr>
        <a:xfrm>
          <a:off x="0" y="0"/>
          <a:ext cx="0" cy="0"/>
          <a:chOff x="0" y="0"/>
          <a:chExt cx="0" cy="0"/>
        </a:xfrm>
      </p:grpSpPr>
      <p:grpSp>
        <p:nvGrpSpPr>
          <p:cNvPr id="173" name="Google Shape;173;p20"/>
          <p:cNvGrpSpPr/>
          <p:nvPr/>
        </p:nvGrpSpPr>
        <p:grpSpPr>
          <a:xfrm>
            <a:off x="0" y="5"/>
            <a:ext cx="12192005" cy="6857995"/>
            <a:chOff x="0" y="4"/>
            <a:chExt cx="9144004" cy="5143496"/>
          </a:xfrm>
        </p:grpSpPr>
        <p:pic>
          <p:nvPicPr>
            <p:cNvPr id="174" name="Google Shape;174;p2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75" name="Google Shape;175;p2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76" name="Google Shape;176;p20"/>
          <p:cNvGrpSpPr/>
          <p:nvPr/>
        </p:nvGrpSpPr>
        <p:grpSpPr>
          <a:xfrm rot="11060152" flipH="1">
            <a:off x="8144751" y="5398767"/>
            <a:ext cx="6098535" cy="4638956"/>
            <a:chOff x="1522650" y="1117750"/>
            <a:chExt cx="4574075" cy="3479350"/>
          </a:xfrm>
        </p:grpSpPr>
        <p:sp>
          <p:nvSpPr>
            <p:cNvPr id="177" name="Google Shape;177;p2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 name="Google Shape;178;p2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79" name="Google Shape;179;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0" name="Google Shape;180;p20"/>
          <p:cNvSpPr txBox="1">
            <a:spLocks noGrp="1"/>
          </p:cNvSpPr>
          <p:nvPr>
            <p:ph type="subTitle" idx="1"/>
          </p:nvPr>
        </p:nvSpPr>
        <p:spPr>
          <a:xfrm>
            <a:off x="1634232" y="22125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1" name="Google Shape;181;p20"/>
          <p:cNvSpPr txBox="1">
            <a:spLocks noGrp="1"/>
          </p:cNvSpPr>
          <p:nvPr>
            <p:ph type="subTitle" idx="2"/>
          </p:nvPr>
        </p:nvSpPr>
        <p:spPr>
          <a:xfrm>
            <a:off x="6736167" y="22125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2" name="Google Shape;182;p20"/>
          <p:cNvSpPr txBox="1">
            <a:spLocks noGrp="1"/>
          </p:cNvSpPr>
          <p:nvPr>
            <p:ph type="subTitle" idx="3"/>
          </p:nvPr>
        </p:nvSpPr>
        <p:spPr>
          <a:xfrm>
            <a:off x="1634232" y="44266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3" name="Google Shape;183;p20"/>
          <p:cNvSpPr txBox="1">
            <a:spLocks noGrp="1"/>
          </p:cNvSpPr>
          <p:nvPr>
            <p:ph type="subTitle" idx="4"/>
          </p:nvPr>
        </p:nvSpPr>
        <p:spPr>
          <a:xfrm>
            <a:off x="6736167" y="4426667"/>
            <a:ext cx="4291600" cy="1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4" name="Google Shape;184;p20"/>
          <p:cNvSpPr txBox="1">
            <a:spLocks noGrp="1"/>
          </p:cNvSpPr>
          <p:nvPr>
            <p:ph type="subTitle" idx="5"/>
          </p:nvPr>
        </p:nvSpPr>
        <p:spPr>
          <a:xfrm>
            <a:off x="1634233" y="1775567"/>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85" name="Google Shape;185;p20"/>
          <p:cNvSpPr txBox="1">
            <a:spLocks noGrp="1"/>
          </p:cNvSpPr>
          <p:nvPr>
            <p:ph type="subTitle" idx="6"/>
          </p:nvPr>
        </p:nvSpPr>
        <p:spPr>
          <a:xfrm>
            <a:off x="1634233" y="3989700"/>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86" name="Google Shape;186;p20"/>
          <p:cNvSpPr txBox="1">
            <a:spLocks noGrp="1"/>
          </p:cNvSpPr>
          <p:nvPr>
            <p:ph type="subTitle" idx="7"/>
          </p:nvPr>
        </p:nvSpPr>
        <p:spPr>
          <a:xfrm>
            <a:off x="6736132" y="1775567"/>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187" name="Google Shape;187;p20"/>
          <p:cNvSpPr txBox="1">
            <a:spLocks noGrp="1"/>
          </p:cNvSpPr>
          <p:nvPr>
            <p:ph type="subTitle" idx="8"/>
          </p:nvPr>
        </p:nvSpPr>
        <p:spPr>
          <a:xfrm>
            <a:off x="6736132" y="3989700"/>
            <a:ext cx="4291600" cy="548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88"/>
        <p:cNvGrpSpPr/>
        <p:nvPr/>
      </p:nvGrpSpPr>
      <p:grpSpPr>
        <a:xfrm>
          <a:off x="0" y="0"/>
          <a:ext cx="0" cy="0"/>
          <a:chOff x="0" y="0"/>
          <a:chExt cx="0" cy="0"/>
        </a:xfrm>
      </p:grpSpPr>
      <p:grpSp>
        <p:nvGrpSpPr>
          <p:cNvPr id="189" name="Google Shape;189;p21"/>
          <p:cNvGrpSpPr/>
          <p:nvPr/>
        </p:nvGrpSpPr>
        <p:grpSpPr>
          <a:xfrm>
            <a:off x="1" y="0"/>
            <a:ext cx="12192001" cy="6858000"/>
            <a:chOff x="0" y="0"/>
            <a:chExt cx="9144001" cy="5143500"/>
          </a:xfrm>
        </p:grpSpPr>
        <p:pic>
          <p:nvPicPr>
            <p:cNvPr id="190" name="Google Shape;190;p21"/>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191" name="Google Shape;191;p21"/>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192" name="Google Shape;192;p21"/>
          <p:cNvGrpSpPr/>
          <p:nvPr/>
        </p:nvGrpSpPr>
        <p:grpSpPr>
          <a:xfrm rot="10800000">
            <a:off x="8938969" y="5082263"/>
            <a:ext cx="6098767" cy="4639133"/>
            <a:chOff x="1522650" y="1117750"/>
            <a:chExt cx="4574075" cy="3479350"/>
          </a:xfrm>
        </p:grpSpPr>
        <p:sp>
          <p:nvSpPr>
            <p:cNvPr id="193" name="Google Shape;193;p21"/>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4" name="Google Shape;194;p21"/>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95" name="Google Shape;195;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6" name="Google Shape;196;p21"/>
          <p:cNvSpPr txBox="1">
            <a:spLocks noGrp="1"/>
          </p:cNvSpPr>
          <p:nvPr>
            <p:ph type="subTitle" idx="1"/>
          </p:nvPr>
        </p:nvSpPr>
        <p:spPr>
          <a:xfrm>
            <a:off x="1549367" y="2209236"/>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7" name="Google Shape;197;p21"/>
          <p:cNvSpPr txBox="1">
            <a:spLocks noGrp="1"/>
          </p:cNvSpPr>
          <p:nvPr>
            <p:ph type="subTitle" idx="2"/>
          </p:nvPr>
        </p:nvSpPr>
        <p:spPr>
          <a:xfrm>
            <a:off x="5043967" y="2209233"/>
            <a:ext cx="2629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8" name="Google Shape;198;p21"/>
          <p:cNvSpPr txBox="1">
            <a:spLocks noGrp="1"/>
          </p:cNvSpPr>
          <p:nvPr>
            <p:ph type="subTitle" idx="3"/>
          </p:nvPr>
        </p:nvSpPr>
        <p:spPr>
          <a:xfrm>
            <a:off x="1549367" y="4516295"/>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9" name="Google Shape;199;p21"/>
          <p:cNvSpPr txBox="1">
            <a:spLocks noGrp="1"/>
          </p:cNvSpPr>
          <p:nvPr>
            <p:ph type="subTitle" idx="4"/>
          </p:nvPr>
        </p:nvSpPr>
        <p:spPr>
          <a:xfrm>
            <a:off x="5043967" y="4516295"/>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21"/>
          <p:cNvSpPr txBox="1">
            <a:spLocks noGrp="1"/>
          </p:cNvSpPr>
          <p:nvPr>
            <p:ph type="subTitle" idx="5"/>
          </p:nvPr>
        </p:nvSpPr>
        <p:spPr>
          <a:xfrm>
            <a:off x="8538567" y="2209236"/>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21"/>
          <p:cNvSpPr txBox="1">
            <a:spLocks noGrp="1"/>
          </p:cNvSpPr>
          <p:nvPr>
            <p:ph type="subTitle" idx="6"/>
          </p:nvPr>
        </p:nvSpPr>
        <p:spPr>
          <a:xfrm>
            <a:off x="8538567" y="4516295"/>
            <a:ext cx="2633600" cy="15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21"/>
          <p:cNvSpPr txBox="1">
            <a:spLocks noGrp="1"/>
          </p:cNvSpPr>
          <p:nvPr>
            <p:ph type="subTitle" idx="7"/>
          </p:nvPr>
        </p:nvSpPr>
        <p:spPr>
          <a:xfrm>
            <a:off x="1549367" y="1812321"/>
            <a:ext cx="2633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03" name="Google Shape;203;p21"/>
          <p:cNvSpPr txBox="1">
            <a:spLocks noGrp="1"/>
          </p:cNvSpPr>
          <p:nvPr>
            <p:ph type="subTitle" idx="8"/>
          </p:nvPr>
        </p:nvSpPr>
        <p:spPr>
          <a:xfrm>
            <a:off x="5043967" y="1812321"/>
            <a:ext cx="2629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04" name="Google Shape;204;p21"/>
          <p:cNvSpPr txBox="1">
            <a:spLocks noGrp="1"/>
          </p:cNvSpPr>
          <p:nvPr>
            <p:ph type="subTitle" idx="9"/>
          </p:nvPr>
        </p:nvSpPr>
        <p:spPr>
          <a:xfrm>
            <a:off x="8538567" y="1812321"/>
            <a:ext cx="26304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05" name="Google Shape;205;p21"/>
          <p:cNvSpPr txBox="1">
            <a:spLocks noGrp="1"/>
          </p:cNvSpPr>
          <p:nvPr>
            <p:ph type="subTitle" idx="13"/>
          </p:nvPr>
        </p:nvSpPr>
        <p:spPr>
          <a:xfrm>
            <a:off x="1549367" y="4115089"/>
            <a:ext cx="2633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06" name="Google Shape;206;p21"/>
          <p:cNvSpPr txBox="1">
            <a:spLocks noGrp="1"/>
          </p:cNvSpPr>
          <p:nvPr>
            <p:ph type="subTitle" idx="14"/>
          </p:nvPr>
        </p:nvSpPr>
        <p:spPr>
          <a:xfrm>
            <a:off x="5043967" y="4115089"/>
            <a:ext cx="2629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207" name="Google Shape;207;p21"/>
          <p:cNvSpPr txBox="1">
            <a:spLocks noGrp="1"/>
          </p:cNvSpPr>
          <p:nvPr>
            <p:ph type="subTitle" idx="15"/>
          </p:nvPr>
        </p:nvSpPr>
        <p:spPr>
          <a:xfrm>
            <a:off x="8538567" y="4115089"/>
            <a:ext cx="26304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08"/>
        <p:cNvGrpSpPr/>
        <p:nvPr/>
      </p:nvGrpSpPr>
      <p:grpSpPr>
        <a:xfrm>
          <a:off x="0" y="0"/>
          <a:ext cx="0" cy="0"/>
          <a:chOff x="0" y="0"/>
          <a:chExt cx="0" cy="0"/>
        </a:xfrm>
      </p:grpSpPr>
      <p:sp>
        <p:nvSpPr>
          <p:cNvPr id="209" name="Google Shape;209;p22"/>
          <p:cNvSpPr txBox="1">
            <a:spLocks noGrp="1"/>
          </p:cNvSpPr>
          <p:nvPr>
            <p:ph type="title" hasCustomPrompt="1"/>
          </p:nvPr>
        </p:nvSpPr>
        <p:spPr>
          <a:xfrm>
            <a:off x="1600767" y="3021555"/>
            <a:ext cx="3652400" cy="8900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4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10" name="Google Shape;210;p22"/>
          <p:cNvSpPr txBox="1">
            <a:spLocks noGrp="1"/>
          </p:cNvSpPr>
          <p:nvPr>
            <p:ph type="subTitle" idx="1"/>
          </p:nvPr>
        </p:nvSpPr>
        <p:spPr>
          <a:xfrm>
            <a:off x="1600767" y="3931845"/>
            <a:ext cx="3652400" cy="48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2133">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11" name="Google Shape;211;p22"/>
          <p:cNvSpPr txBox="1">
            <a:spLocks noGrp="1"/>
          </p:cNvSpPr>
          <p:nvPr>
            <p:ph type="title" idx="2" hasCustomPrompt="1"/>
          </p:nvPr>
        </p:nvSpPr>
        <p:spPr>
          <a:xfrm>
            <a:off x="1600767" y="1303933"/>
            <a:ext cx="3652400" cy="8884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4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12" name="Google Shape;212;p22"/>
          <p:cNvSpPr txBox="1">
            <a:spLocks noGrp="1"/>
          </p:cNvSpPr>
          <p:nvPr>
            <p:ph type="subTitle" idx="3"/>
          </p:nvPr>
        </p:nvSpPr>
        <p:spPr>
          <a:xfrm>
            <a:off x="1600767" y="2225896"/>
            <a:ext cx="3652400" cy="4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2133">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13" name="Google Shape;213;p22"/>
          <p:cNvSpPr txBox="1">
            <a:spLocks noGrp="1"/>
          </p:cNvSpPr>
          <p:nvPr>
            <p:ph type="title" idx="4" hasCustomPrompt="1"/>
          </p:nvPr>
        </p:nvSpPr>
        <p:spPr>
          <a:xfrm>
            <a:off x="1600767" y="4740776"/>
            <a:ext cx="3652400" cy="8900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467"/>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14" name="Google Shape;214;p22"/>
          <p:cNvSpPr txBox="1">
            <a:spLocks noGrp="1"/>
          </p:cNvSpPr>
          <p:nvPr>
            <p:ph type="subTitle" idx="5"/>
          </p:nvPr>
        </p:nvSpPr>
        <p:spPr>
          <a:xfrm>
            <a:off x="1600767" y="5651067"/>
            <a:ext cx="3652400" cy="48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a:buNone/>
              <a:defRPr sz="2133">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pic>
        <p:nvPicPr>
          <p:cNvPr id="215" name="Google Shape;215;p22"/>
          <p:cNvPicPr preferRelativeResize="0"/>
          <p:nvPr/>
        </p:nvPicPr>
        <p:blipFill>
          <a:blip r:embed="rId2">
            <a:alphaModFix/>
          </a:blip>
          <a:stretch>
            <a:fillRect/>
          </a:stretch>
        </p:blipFill>
        <p:spPr>
          <a:xfrm rot="10800000" flipH="1">
            <a:off x="1" y="1"/>
            <a:ext cx="6303735" cy="3009167"/>
          </a:xfrm>
          <a:prstGeom prst="rect">
            <a:avLst/>
          </a:prstGeom>
          <a:noFill/>
          <a:ln>
            <a:noFill/>
          </a:ln>
        </p:spPr>
      </p:pic>
    </p:spTree>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16"/>
        <p:cNvGrpSpPr/>
        <p:nvPr/>
      </p:nvGrpSpPr>
      <p:grpSpPr>
        <a:xfrm>
          <a:off x="0" y="0"/>
          <a:ext cx="0" cy="0"/>
          <a:chOff x="0" y="0"/>
          <a:chExt cx="0" cy="0"/>
        </a:xfrm>
      </p:grpSpPr>
      <p:sp>
        <p:nvSpPr>
          <p:cNvPr id="217" name="Google Shape;217;p23"/>
          <p:cNvSpPr txBox="1">
            <a:spLocks noGrp="1"/>
          </p:cNvSpPr>
          <p:nvPr>
            <p:ph type="title"/>
          </p:nvPr>
        </p:nvSpPr>
        <p:spPr>
          <a:xfrm>
            <a:off x="950967" y="996351"/>
            <a:ext cx="4375600" cy="1271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8" name="Google Shape;218;p23"/>
          <p:cNvSpPr txBox="1">
            <a:spLocks noGrp="1"/>
          </p:cNvSpPr>
          <p:nvPr>
            <p:ph type="subTitle" idx="1"/>
          </p:nvPr>
        </p:nvSpPr>
        <p:spPr>
          <a:xfrm>
            <a:off x="950967" y="2112599"/>
            <a:ext cx="4375600" cy="119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219" name="Google Shape;219;p23"/>
          <p:cNvPicPr preferRelativeResize="0"/>
          <p:nvPr/>
        </p:nvPicPr>
        <p:blipFill>
          <a:blip r:embed="rId2">
            <a:alphaModFix/>
          </a:blip>
          <a:stretch>
            <a:fillRect/>
          </a:stretch>
        </p:blipFill>
        <p:spPr>
          <a:xfrm rot="10800000" flipH="1">
            <a:off x="1" y="1"/>
            <a:ext cx="6303735" cy="3009167"/>
          </a:xfrm>
          <a:prstGeom prst="rect">
            <a:avLst/>
          </a:prstGeom>
          <a:noFill/>
          <a:ln>
            <a:noFill/>
          </a:ln>
        </p:spPr>
      </p:pic>
      <p:sp>
        <p:nvSpPr>
          <p:cNvPr id="220" name="Google Shape;220;p23"/>
          <p:cNvSpPr txBox="1"/>
          <p:nvPr/>
        </p:nvSpPr>
        <p:spPr>
          <a:xfrm>
            <a:off x="950967" y="4547384"/>
            <a:ext cx="4371600" cy="967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b="1">
                <a:solidFill>
                  <a:schemeClr val="dk1"/>
                </a:solidFill>
                <a:latin typeface="Cairo"/>
                <a:ea typeface="Cairo"/>
                <a:cs typeface="Cairo"/>
                <a:sym typeface="Cairo"/>
              </a:rPr>
              <a:t>CREDITS:</a:t>
            </a:r>
            <a:r>
              <a:rPr lang="en" sz="1333">
                <a:solidFill>
                  <a:schemeClr val="dk1"/>
                </a:solidFill>
                <a:latin typeface="Cairo"/>
                <a:ea typeface="Cairo"/>
                <a:cs typeface="Cairo"/>
                <a:sym typeface="Cairo"/>
              </a:rPr>
              <a:t> This presentation template was created by </a:t>
            </a:r>
            <a:r>
              <a:rPr lang="en" sz="1333" b="1" u="sng">
                <a:solidFill>
                  <a:schemeClr val="dk1"/>
                </a:solidFill>
                <a:latin typeface="Cairo"/>
                <a:ea typeface="Cairo"/>
                <a:cs typeface="Cairo"/>
                <a:sym typeface="Cairo"/>
                <a:hlinkClick r:id="rId3">
                  <a:extLst>
                    <a:ext uri="{A12FA001-AC4F-418D-AE19-62706E023703}">
                      <ahyp:hlinkClr xmlns:ahyp="http://schemas.microsoft.com/office/drawing/2018/hyperlinkcolor" val="tx"/>
                    </a:ext>
                  </a:extLst>
                </a:hlinkClick>
              </a:rPr>
              <a:t>Slidesgo</a:t>
            </a:r>
            <a:r>
              <a:rPr lang="en" sz="1333">
                <a:solidFill>
                  <a:schemeClr val="dk1"/>
                </a:solidFill>
                <a:latin typeface="Cairo"/>
                <a:ea typeface="Cairo"/>
                <a:cs typeface="Cairo"/>
                <a:sym typeface="Cairo"/>
              </a:rPr>
              <a:t>, and includes icons by </a:t>
            </a:r>
            <a:r>
              <a:rPr lang="en" sz="1333" b="1" u="sng">
                <a:solidFill>
                  <a:schemeClr val="dk1"/>
                </a:solidFill>
                <a:latin typeface="Cairo"/>
                <a:ea typeface="Cairo"/>
                <a:cs typeface="Cairo"/>
                <a:sym typeface="Cairo"/>
                <a:hlinkClick r:id="rId4">
                  <a:extLst>
                    <a:ext uri="{A12FA001-AC4F-418D-AE19-62706E023703}">
                      <ahyp:hlinkClr xmlns:ahyp="http://schemas.microsoft.com/office/drawing/2018/hyperlinkcolor" val="tx"/>
                    </a:ext>
                  </a:extLst>
                </a:hlinkClick>
              </a:rPr>
              <a:t>Flaticon</a:t>
            </a:r>
            <a:r>
              <a:rPr lang="en" sz="1333">
                <a:solidFill>
                  <a:schemeClr val="dk1"/>
                </a:solidFill>
                <a:latin typeface="Cairo"/>
                <a:ea typeface="Cairo"/>
                <a:cs typeface="Cairo"/>
                <a:sym typeface="Cairo"/>
              </a:rPr>
              <a:t>, and infographics &amp; images by </a:t>
            </a:r>
            <a:r>
              <a:rPr lang="en" sz="1333" b="1" u="sng">
                <a:solidFill>
                  <a:schemeClr val="dk1"/>
                </a:solidFill>
                <a:latin typeface="Cairo"/>
                <a:ea typeface="Cairo"/>
                <a:cs typeface="Cairo"/>
                <a:sym typeface="Cairo"/>
                <a:hlinkClick r:id="rId5">
                  <a:extLst>
                    <a:ext uri="{A12FA001-AC4F-418D-AE19-62706E023703}">
                      <ahyp:hlinkClr xmlns:ahyp="http://schemas.microsoft.com/office/drawing/2018/hyperlinkcolor" val="tx"/>
                    </a:ext>
                  </a:extLst>
                </a:hlinkClick>
              </a:rPr>
              <a:t>Freepik</a:t>
            </a:r>
            <a:r>
              <a:rPr lang="en" sz="1333" b="1" u="sng">
                <a:solidFill>
                  <a:schemeClr val="dk1"/>
                </a:solidFill>
                <a:latin typeface="Cairo"/>
                <a:ea typeface="Cairo"/>
                <a:cs typeface="Cairo"/>
                <a:sym typeface="Cairo"/>
              </a:rPr>
              <a:t> </a:t>
            </a:r>
            <a:endParaRPr sz="1333" b="1" u="sng">
              <a:solidFill>
                <a:schemeClr val="dk1"/>
              </a:solidFill>
              <a:latin typeface="Cairo"/>
              <a:ea typeface="Cairo"/>
              <a:cs typeface="Cairo"/>
              <a:sym typeface="Cairo"/>
            </a:endParaRPr>
          </a:p>
        </p:txBody>
      </p:sp>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1"/>
        <p:cNvGrpSpPr/>
        <p:nvPr/>
      </p:nvGrpSpPr>
      <p:grpSpPr>
        <a:xfrm>
          <a:off x="0" y="0"/>
          <a:ext cx="0" cy="0"/>
          <a:chOff x="0" y="0"/>
          <a:chExt cx="0" cy="0"/>
        </a:xfrm>
      </p:grpSpPr>
      <p:grpSp>
        <p:nvGrpSpPr>
          <p:cNvPr id="222" name="Google Shape;222;p24"/>
          <p:cNvGrpSpPr/>
          <p:nvPr/>
        </p:nvGrpSpPr>
        <p:grpSpPr>
          <a:xfrm>
            <a:off x="1" y="0"/>
            <a:ext cx="12192001" cy="6858000"/>
            <a:chOff x="0" y="0"/>
            <a:chExt cx="9144001" cy="5143500"/>
          </a:xfrm>
        </p:grpSpPr>
        <p:pic>
          <p:nvPicPr>
            <p:cNvPr id="223" name="Google Shape;223;p24"/>
            <p:cNvPicPr preferRelativeResize="0"/>
            <p:nvPr/>
          </p:nvPicPr>
          <p:blipFill>
            <a:blip r:embed="rId2">
              <a:alphaModFix/>
            </a:blip>
            <a:stretch>
              <a:fillRect/>
            </a:stretch>
          </p:blipFill>
          <p:spPr>
            <a:xfrm rot="10800000" flipH="1">
              <a:off x="0" y="0"/>
              <a:ext cx="4727801" cy="2256875"/>
            </a:xfrm>
            <a:prstGeom prst="rect">
              <a:avLst/>
            </a:prstGeom>
            <a:noFill/>
            <a:ln>
              <a:noFill/>
            </a:ln>
          </p:spPr>
        </p:pic>
        <p:pic>
          <p:nvPicPr>
            <p:cNvPr id="224" name="Google Shape;224;p24"/>
            <p:cNvPicPr preferRelativeResize="0"/>
            <p:nvPr/>
          </p:nvPicPr>
          <p:blipFill>
            <a:blip r:embed="rId3">
              <a:alphaModFix/>
            </a:blip>
            <a:stretch>
              <a:fillRect/>
            </a:stretch>
          </p:blipFill>
          <p:spPr>
            <a:xfrm rot="10800000" flipH="1">
              <a:off x="5738810" y="0"/>
              <a:ext cx="3405191" cy="5143500"/>
            </a:xfrm>
            <a:prstGeom prst="rect">
              <a:avLst/>
            </a:prstGeom>
            <a:noFill/>
            <a:ln>
              <a:noFill/>
            </a:ln>
          </p:spPr>
        </p:pic>
      </p:grpSp>
      <p:grpSp>
        <p:nvGrpSpPr>
          <p:cNvPr id="225" name="Google Shape;225;p24"/>
          <p:cNvGrpSpPr/>
          <p:nvPr/>
        </p:nvGrpSpPr>
        <p:grpSpPr>
          <a:xfrm rot="756538">
            <a:off x="-1426443" y="-2456763"/>
            <a:ext cx="6098876" cy="4639216"/>
            <a:chOff x="1522650" y="1117750"/>
            <a:chExt cx="4574075" cy="3479350"/>
          </a:xfrm>
        </p:grpSpPr>
        <p:sp>
          <p:nvSpPr>
            <p:cNvPr id="226" name="Google Shape;226;p2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7" name="Google Shape;227;p2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cSld>
  <p:clrMapOvr>
    <a:masterClrMapping/>
  </p:clrMapOvr>
  <p:transition spd="slow">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8"/>
        <p:cNvGrpSpPr/>
        <p:nvPr/>
      </p:nvGrpSpPr>
      <p:grpSpPr>
        <a:xfrm>
          <a:off x="0" y="0"/>
          <a:ext cx="0" cy="0"/>
          <a:chOff x="0" y="0"/>
          <a:chExt cx="0" cy="0"/>
        </a:xfrm>
      </p:grpSpPr>
      <p:grpSp>
        <p:nvGrpSpPr>
          <p:cNvPr id="229" name="Google Shape;229;p25"/>
          <p:cNvGrpSpPr/>
          <p:nvPr/>
        </p:nvGrpSpPr>
        <p:grpSpPr>
          <a:xfrm>
            <a:off x="1" y="0"/>
            <a:ext cx="12192001" cy="6858000"/>
            <a:chOff x="0" y="0"/>
            <a:chExt cx="9144001" cy="5143500"/>
          </a:xfrm>
        </p:grpSpPr>
        <p:pic>
          <p:nvPicPr>
            <p:cNvPr id="230" name="Google Shape;230;p25"/>
            <p:cNvPicPr preferRelativeResize="0"/>
            <p:nvPr/>
          </p:nvPicPr>
          <p:blipFill>
            <a:blip r:embed="rId2">
              <a:alphaModFix/>
            </a:blip>
            <a:stretch>
              <a:fillRect/>
            </a:stretch>
          </p:blipFill>
          <p:spPr>
            <a:xfrm rot="10800000" flipH="1">
              <a:off x="0" y="2052950"/>
              <a:ext cx="4220500" cy="3090550"/>
            </a:xfrm>
            <a:prstGeom prst="rect">
              <a:avLst/>
            </a:prstGeom>
            <a:noFill/>
            <a:ln>
              <a:noFill/>
            </a:ln>
          </p:spPr>
        </p:pic>
        <p:pic>
          <p:nvPicPr>
            <p:cNvPr id="231" name="Google Shape;231;p25"/>
            <p:cNvPicPr preferRelativeResize="0"/>
            <p:nvPr/>
          </p:nvPicPr>
          <p:blipFill>
            <a:blip r:embed="rId3">
              <a:alphaModFix/>
            </a:blip>
            <a:stretch>
              <a:fillRect/>
            </a:stretch>
          </p:blipFill>
          <p:spPr>
            <a:xfrm rot="10800000" flipH="1">
              <a:off x="6764924" y="0"/>
              <a:ext cx="2379077" cy="3237334"/>
            </a:xfrm>
            <a:prstGeom prst="rect">
              <a:avLst/>
            </a:prstGeom>
            <a:noFill/>
            <a:ln>
              <a:noFill/>
            </a:ln>
          </p:spPr>
        </p:pic>
      </p:grpSp>
      <p:grpSp>
        <p:nvGrpSpPr>
          <p:cNvPr id="232" name="Google Shape;232;p25"/>
          <p:cNvGrpSpPr/>
          <p:nvPr/>
        </p:nvGrpSpPr>
        <p:grpSpPr>
          <a:xfrm>
            <a:off x="-2460166" y="-2907770"/>
            <a:ext cx="16870083" cy="13169388"/>
            <a:chOff x="-1845124" y="-2180828"/>
            <a:chExt cx="12652562" cy="9877041"/>
          </a:xfrm>
        </p:grpSpPr>
        <p:grpSp>
          <p:nvGrpSpPr>
            <p:cNvPr id="233" name="Google Shape;233;p25"/>
            <p:cNvGrpSpPr/>
            <p:nvPr/>
          </p:nvGrpSpPr>
          <p:grpSpPr>
            <a:xfrm>
              <a:off x="-1845124" y="-2180828"/>
              <a:ext cx="4574075" cy="3479350"/>
              <a:chOff x="1522650" y="1117750"/>
              <a:chExt cx="4574075" cy="3479350"/>
            </a:xfrm>
          </p:grpSpPr>
          <p:sp>
            <p:nvSpPr>
              <p:cNvPr id="234" name="Google Shape;234;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5" name="Google Shape;235;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36" name="Google Shape;236;p25"/>
            <p:cNvGrpSpPr/>
            <p:nvPr/>
          </p:nvGrpSpPr>
          <p:grpSpPr>
            <a:xfrm rot="-10539848" flipH="1">
              <a:off x="6108563" y="4049075"/>
              <a:ext cx="4573901" cy="3479217"/>
              <a:chOff x="1522650" y="1117750"/>
              <a:chExt cx="4574075" cy="3479350"/>
            </a:xfrm>
          </p:grpSpPr>
          <p:sp>
            <p:nvSpPr>
              <p:cNvPr id="237" name="Google Shape;237;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8" name="Google Shape;238;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marL="914400" lvl="1"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marL="1371600" lvl="2"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marL="1828800" lvl="3"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marL="2286000" lvl="4"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marL="2743200" lvl="5"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marL="3200400" lvl="6"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marL="3657600" lvl="7"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marL="4114800" lvl="8"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spd="slow">
    <p:push dir="u"/>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CDC16244-1C0A-2FB9-7485-0D872305DAFE}"/>
            </a:ext>
          </a:extLst>
        </p:cNvPr>
        <p:cNvGrpSpPr/>
        <p:nvPr/>
      </p:nvGrpSpPr>
      <p:grpSpPr>
        <a:xfrm>
          <a:off x="0" y="0"/>
          <a:ext cx="0" cy="0"/>
          <a:chOff x="0" y="0"/>
          <a:chExt cx="0" cy="0"/>
        </a:xfrm>
      </p:grpSpPr>
      <p:grpSp>
        <p:nvGrpSpPr>
          <p:cNvPr id="249" name="Google Shape;249;p29">
            <a:extLst>
              <a:ext uri="{FF2B5EF4-FFF2-40B4-BE49-F238E27FC236}">
                <a16:creationId xmlns:a16="http://schemas.microsoft.com/office/drawing/2014/main" id="{1F41DA7E-059F-F852-6BB8-158A22BD9824}"/>
              </a:ext>
            </a:extLst>
          </p:cNvPr>
          <p:cNvGrpSpPr/>
          <p:nvPr/>
        </p:nvGrpSpPr>
        <p:grpSpPr>
          <a:xfrm rot="756538">
            <a:off x="-1257877" y="-1993263"/>
            <a:ext cx="6098876" cy="4639216"/>
            <a:chOff x="1522650" y="1117750"/>
            <a:chExt cx="4574075" cy="3479350"/>
          </a:xfrm>
        </p:grpSpPr>
        <p:sp>
          <p:nvSpPr>
            <p:cNvPr id="250" name="Google Shape;250;p29">
              <a:extLst>
                <a:ext uri="{FF2B5EF4-FFF2-40B4-BE49-F238E27FC236}">
                  <a16:creationId xmlns:a16="http://schemas.microsoft.com/office/drawing/2014/main" id="{8EB386FF-F18D-1D8D-B0C7-5C5B8FFA1CE7}"/>
                </a:ext>
              </a:extLst>
            </p:cNvPr>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51" name="Google Shape;251;p29">
              <a:extLst>
                <a:ext uri="{FF2B5EF4-FFF2-40B4-BE49-F238E27FC236}">
                  <a16:creationId xmlns:a16="http://schemas.microsoft.com/office/drawing/2014/main" id="{3D9E0B84-B514-1A53-74F8-265BBAC26DD1}"/>
                </a:ext>
              </a:extLst>
            </p:cNvPr>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pic>
        <p:nvPicPr>
          <p:cNvPr id="252" name="Google Shape;252;p29">
            <a:extLst>
              <a:ext uri="{FF2B5EF4-FFF2-40B4-BE49-F238E27FC236}">
                <a16:creationId xmlns:a16="http://schemas.microsoft.com/office/drawing/2014/main" id="{B2245D80-F25C-4FD6-A245-0B3B826BE615}"/>
              </a:ext>
            </a:extLst>
          </p:cNvPr>
          <p:cNvPicPr preferRelativeResize="0"/>
          <p:nvPr/>
        </p:nvPicPr>
        <p:blipFill>
          <a:blip r:embed="rId3">
            <a:alphaModFix/>
          </a:blip>
          <a:stretch>
            <a:fillRect/>
          </a:stretch>
        </p:blipFill>
        <p:spPr>
          <a:xfrm rot="10800000" flipH="1">
            <a:off x="7651747" y="0"/>
            <a:ext cx="4540255" cy="6858000"/>
          </a:xfrm>
          <a:prstGeom prst="rect">
            <a:avLst/>
          </a:prstGeom>
          <a:noFill/>
          <a:ln>
            <a:noFill/>
          </a:ln>
        </p:spPr>
      </p:pic>
      <p:sp>
        <p:nvSpPr>
          <p:cNvPr id="253" name="Google Shape;253;p29">
            <a:extLst>
              <a:ext uri="{FF2B5EF4-FFF2-40B4-BE49-F238E27FC236}">
                <a16:creationId xmlns:a16="http://schemas.microsoft.com/office/drawing/2014/main" id="{3FA822F1-BC5B-C68B-FA94-D91588232C16}"/>
              </a:ext>
            </a:extLst>
          </p:cNvPr>
          <p:cNvSpPr txBox="1">
            <a:spLocks noGrp="1"/>
          </p:cNvSpPr>
          <p:nvPr>
            <p:ph type="ctrTitle"/>
          </p:nvPr>
        </p:nvSpPr>
        <p:spPr>
          <a:xfrm>
            <a:off x="781634" y="1715656"/>
            <a:ext cx="7766755" cy="2152000"/>
          </a:xfrm>
          <a:prstGeom prst="rect">
            <a:avLst/>
          </a:prstGeom>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chemeClr val="tx1"/>
                </a:solidFill>
                <a:latin typeface="Calibri"/>
                <a:ea typeface="Calibri"/>
                <a:cs typeface="Calibri"/>
              </a:rPr>
              <a:t>Robust Fake Review Detection with Large Language Models:</a:t>
            </a:r>
            <a:br>
              <a:rPr lang="en-US" sz="4400" b="1">
                <a:solidFill>
                  <a:schemeClr val="tx1"/>
                </a:solidFill>
                <a:latin typeface="Calibri"/>
                <a:ea typeface="Calibri"/>
                <a:cs typeface="Calibri"/>
              </a:rPr>
            </a:br>
            <a:r>
              <a:rPr lang="en-US" sz="4400" b="1">
                <a:solidFill>
                  <a:schemeClr val="tx1"/>
                </a:solidFill>
                <a:latin typeface="Calibri"/>
                <a:ea typeface="Calibri"/>
                <a:cs typeface="Calibri"/>
              </a:rPr>
              <a:t> A Prompt Rewording and Review Length Analysis</a:t>
            </a:r>
            <a:endParaRPr lang="en-US">
              <a:solidFill>
                <a:schemeClr val="tx1"/>
              </a:solidFill>
            </a:endParaRPr>
          </a:p>
        </p:txBody>
      </p:sp>
      <p:sp>
        <p:nvSpPr>
          <p:cNvPr id="254" name="Google Shape;254;p29">
            <a:extLst>
              <a:ext uri="{FF2B5EF4-FFF2-40B4-BE49-F238E27FC236}">
                <a16:creationId xmlns:a16="http://schemas.microsoft.com/office/drawing/2014/main" id="{4E769ECA-8A9F-C7EA-E28A-9948CA6D35D8}"/>
              </a:ext>
            </a:extLst>
          </p:cNvPr>
          <p:cNvSpPr txBox="1">
            <a:spLocks noGrp="1"/>
          </p:cNvSpPr>
          <p:nvPr>
            <p:ph type="subTitle" idx="1"/>
          </p:nvPr>
        </p:nvSpPr>
        <p:spPr>
          <a:xfrm>
            <a:off x="902303" y="3984080"/>
            <a:ext cx="5321554" cy="1076097"/>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lnSpc>
                <a:spcPct val="90000"/>
              </a:lnSpc>
              <a:spcBef>
                <a:spcPts val="1000"/>
              </a:spcBef>
            </a:pPr>
            <a:r>
              <a:rPr lang="en-US" sz="2400" b="1">
                <a:solidFill>
                  <a:schemeClr val="tx1"/>
                </a:solidFill>
                <a:latin typeface="Calibri"/>
                <a:ea typeface="Calibri"/>
                <a:cs typeface="Calibri"/>
              </a:rPr>
              <a:t>Jose Barral, Victoria Gonzalez, </a:t>
            </a:r>
            <a:endParaRPr lang="en-US" sz="2400">
              <a:solidFill>
                <a:schemeClr val="tx1"/>
              </a:solidFill>
              <a:latin typeface="Calibri"/>
              <a:ea typeface="Calibri"/>
              <a:cs typeface="Calibri"/>
            </a:endParaRPr>
          </a:p>
          <a:p>
            <a:pPr marL="0" indent="0" algn="ctr">
              <a:lnSpc>
                <a:spcPct val="90000"/>
              </a:lnSpc>
              <a:spcBef>
                <a:spcPts val="1000"/>
              </a:spcBef>
            </a:pPr>
            <a:r>
              <a:rPr lang="en-US" sz="2400" b="1">
                <a:solidFill>
                  <a:schemeClr val="tx1"/>
                </a:solidFill>
                <a:latin typeface="Calibri"/>
                <a:ea typeface="Calibri"/>
                <a:cs typeface="Calibri"/>
              </a:rPr>
              <a:t> John Ayoola, Arjun Moitra</a:t>
            </a:r>
            <a:endParaRPr lang="en-US">
              <a:solidFill>
                <a:schemeClr val="tx1"/>
              </a:solidFill>
            </a:endParaRPr>
          </a:p>
          <a:p>
            <a:pPr marL="0" indent="0" algn="ctr">
              <a:lnSpc>
                <a:spcPct val="90000"/>
              </a:lnSpc>
              <a:spcBef>
                <a:spcPts val="1000"/>
              </a:spcBef>
            </a:pPr>
            <a:endParaRPr lang="en-US" sz="2400" b="1">
              <a:latin typeface="Calibri"/>
            </a:endParaRPr>
          </a:p>
        </p:txBody>
      </p:sp>
      <p:sp>
        <p:nvSpPr>
          <p:cNvPr id="2" name="TextBox 1">
            <a:extLst>
              <a:ext uri="{FF2B5EF4-FFF2-40B4-BE49-F238E27FC236}">
                <a16:creationId xmlns:a16="http://schemas.microsoft.com/office/drawing/2014/main" id="{0E21BC60-C3AA-6FE7-92F9-28EFF3FB5D27}"/>
              </a:ext>
            </a:extLst>
          </p:cNvPr>
          <p:cNvSpPr txBox="1"/>
          <p:nvPr/>
        </p:nvSpPr>
        <p:spPr>
          <a:xfrm>
            <a:off x="658645" y="6025106"/>
            <a:ext cx="5804971" cy="1659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Calibri"/>
                <a:ea typeface="Calibri"/>
                <a:cs typeface="Calibri"/>
              </a:rPr>
              <a:t>DATA*6400 / Dr. Abeer Badawi / March 19th, 2026</a:t>
            </a:r>
          </a:p>
          <a:p>
            <a:pPr algn="ctr">
              <a:lnSpc>
                <a:spcPct val="90000"/>
              </a:lnSpc>
              <a:spcBef>
                <a:spcPts val="1000"/>
              </a:spcBef>
            </a:pPr>
            <a:endParaRPr lang="en-US" sz="2400" b="1">
              <a:latin typeface="Calibri"/>
              <a:ea typeface="Calibri"/>
              <a:cs typeface="Calibri"/>
            </a:endParaRPr>
          </a:p>
          <a:p>
            <a:pPr algn="ctr">
              <a:lnSpc>
                <a:spcPct val="90000"/>
              </a:lnSpc>
              <a:spcBef>
                <a:spcPts val="1000"/>
              </a:spcBef>
            </a:pPr>
            <a:endParaRPr lang="en-US" sz="2000">
              <a:solidFill>
                <a:srgbClr val="000000"/>
              </a:solidFill>
              <a:latin typeface="Calibri"/>
              <a:ea typeface="Calibri"/>
              <a:cs typeface="Calibri"/>
            </a:endParaRPr>
          </a:p>
          <a:p>
            <a:endParaRPr lang="en-US" sz="2400" b="1">
              <a:solidFill>
                <a:srgbClr val="000000"/>
              </a:solidFill>
              <a:latin typeface="Calibri"/>
              <a:ea typeface="Calibri"/>
              <a:cs typeface="Calibri"/>
            </a:endParaRPr>
          </a:p>
        </p:txBody>
      </p:sp>
    </p:spTree>
    <p:extLst>
      <p:ext uri="{BB962C8B-B14F-4D97-AF65-F5344CB8AC3E}">
        <p14:creationId xmlns:p14="http://schemas.microsoft.com/office/powerpoint/2010/main" val="298256791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DD692DF0-E5BE-C673-F34D-94DAC3FBB295}"/>
            </a:ext>
          </a:extLst>
        </p:cNvPr>
        <p:cNvGrpSpPr/>
        <p:nvPr/>
      </p:nvGrpSpPr>
      <p:grpSpPr>
        <a:xfrm>
          <a:off x="0" y="0"/>
          <a:ext cx="0" cy="0"/>
          <a:chOff x="0" y="0"/>
          <a:chExt cx="0" cy="0"/>
        </a:xfrm>
      </p:grpSpPr>
      <p:sp>
        <p:nvSpPr>
          <p:cNvPr id="268" name="Google Shape;268;p31">
            <a:extLst>
              <a:ext uri="{FF2B5EF4-FFF2-40B4-BE49-F238E27FC236}">
                <a16:creationId xmlns:a16="http://schemas.microsoft.com/office/drawing/2014/main" id="{ED1C40CC-2117-347F-C755-A40170EAAA80}"/>
              </a:ext>
            </a:extLst>
          </p:cNvPr>
          <p:cNvSpPr txBox="1">
            <a:spLocks noGrp="1"/>
          </p:cNvSpPr>
          <p:nvPr>
            <p:ph type="title"/>
          </p:nvPr>
        </p:nvSpPr>
        <p:spPr>
          <a:xfrm>
            <a:off x="847111" y="215968"/>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4400" b="1">
                <a:solidFill>
                  <a:schemeClr val="tx1"/>
                </a:solidFill>
                <a:latin typeface="Calibri"/>
                <a:ea typeface="Calibri"/>
                <a:cs typeface="Calibri"/>
              </a:rPr>
              <a:t>Overview</a:t>
            </a:r>
            <a:endParaRPr lang="en-US"/>
          </a:p>
        </p:txBody>
      </p:sp>
      <p:sp>
        <p:nvSpPr>
          <p:cNvPr id="269" name="Google Shape;269;p31">
            <a:extLst>
              <a:ext uri="{FF2B5EF4-FFF2-40B4-BE49-F238E27FC236}">
                <a16:creationId xmlns:a16="http://schemas.microsoft.com/office/drawing/2014/main" id="{52137B6E-1EEB-F4F1-FAEB-C4FAC9DCC6B5}"/>
              </a:ext>
            </a:extLst>
          </p:cNvPr>
          <p:cNvSpPr txBox="1">
            <a:spLocks noGrp="1"/>
          </p:cNvSpPr>
          <p:nvPr>
            <p:ph type="title" idx="2"/>
          </p:nvPr>
        </p:nvSpPr>
        <p:spPr>
          <a:xfrm>
            <a:off x="960000" y="1437804"/>
            <a:ext cx="979600" cy="596800"/>
          </a:xfrm>
          <a:prstGeom prst="rect">
            <a:avLst/>
          </a:prstGeom>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b="1">
                <a:latin typeface="Calibri"/>
                <a:ea typeface="Calibri"/>
                <a:cs typeface="Calibri"/>
              </a:rPr>
              <a:t>01</a:t>
            </a:r>
          </a:p>
        </p:txBody>
      </p:sp>
      <p:sp>
        <p:nvSpPr>
          <p:cNvPr id="270" name="Google Shape;270;p31">
            <a:extLst>
              <a:ext uri="{FF2B5EF4-FFF2-40B4-BE49-F238E27FC236}">
                <a16:creationId xmlns:a16="http://schemas.microsoft.com/office/drawing/2014/main" id="{249108AA-45DD-F094-72F3-B02BCB530E85}"/>
              </a:ext>
            </a:extLst>
          </p:cNvPr>
          <p:cNvSpPr txBox="1">
            <a:spLocks noGrp="1"/>
          </p:cNvSpPr>
          <p:nvPr>
            <p:ph type="title" idx="3"/>
          </p:nvPr>
        </p:nvSpPr>
        <p:spPr>
          <a:xfrm>
            <a:off x="960000" y="3033171"/>
            <a:ext cx="979600" cy="5968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b="1">
                <a:latin typeface="Calibri"/>
                <a:ea typeface="Calibri"/>
                <a:cs typeface="Calibri"/>
              </a:rPr>
              <a:t>04</a:t>
            </a:r>
          </a:p>
        </p:txBody>
      </p:sp>
      <p:sp>
        <p:nvSpPr>
          <p:cNvPr id="271" name="Google Shape;271;p31">
            <a:extLst>
              <a:ext uri="{FF2B5EF4-FFF2-40B4-BE49-F238E27FC236}">
                <a16:creationId xmlns:a16="http://schemas.microsoft.com/office/drawing/2014/main" id="{0AF8C8D4-CCB5-AB7C-391A-9EFCDEF3621A}"/>
              </a:ext>
            </a:extLst>
          </p:cNvPr>
          <p:cNvSpPr txBox="1">
            <a:spLocks noGrp="1"/>
          </p:cNvSpPr>
          <p:nvPr>
            <p:ph type="title" idx="4"/>
          </p:nvPr>
        </p:nvSpPr>
        <p:spPr>
          <a:xfrm>
            <a:off x="4408000" y="1437804"/>
            <a:ext cx="979600" cy="5968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b="1">
                <a:latin typeface="Calibri"/>
                <a:ea typeface="Calibri"/>
                <a:cs typeface="Calibri"/>
              </a:rPr>
              <a:t>02</a:t>
            </a:r>
          </a:p>
        </p:txBody>
      </p:sp>
      <p:sp>
        <p:nvSpPr>
          <p:cNvPr id="272" name="Google Shape;272;p31">
            <a:extLst>
              <a:ext uri="{FF2B5EF4-FFF2-40B4-BE49-F238E27FC236}">
                <a16:creationId xmlns:a16="http://schemas.microsoft.com/office/drawing/2014/main" id="{AC47095E-5B2C-F1A3-C212-CF2B81475159}"/>
              </a:ext>
            </a:extLst>
          </p:cNvPr>
          <p:cNvSpPr txBox="1">
            <a:spLocks noGrp="1"/>
          </p:cNvSpPr>
          <p:nvPr>
            <p:ph type="title" idx="5"/>
          </p:nvPr>
        </p:nvSpPr>
        <p:spPr>
          <a:xfrm>
            <a:off x="4408000" y="3033171"/>
            <a:ext cx="979600" cy="5968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b="1">
                <a:latin typeface="Calibri"/>
                <a:ea typeface="Calibri"/>
                <a:cs typeface="Calibri"/>
              </a:rPr>
              <a:t>05</a:t>
            </a:r>
          </a:p>
        </p:txBody>
      </p:sp>
      <p:sp>
        <p:nvSpPr>
          <p:cNvPr id="273" name="Google Shape;273;p31">
            <a:extLst>
              <a:ext uri="{FF2B5EF4-FFF2-40B4-BE49-F238E27FC236}">
                <a16:creationId xmlns:a16="http://schemas.microsoft.com/office/drawing/2014/main" id="{333CFA6D-36E6-4E01-73EB-EBE5D8986907}"/>
              </a:ext>
            </a:extLst>
          </p:cNvPr>
          <p:cNvSpPr txBox="1">
            <a:spLocks noGrp="1"/>
          </p:cNvSpPr>
          <p:nvPr>
            <p:ph type="title" idx="6"/>
          </p:nvPr>
        </p:nvSpPr>
        <p:spPr>
          <a:xfrm>
            <a:off x="7856000" y="1437804"/>
            <a:ext cx="979600" cy="5968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b="1">
                <a:latin typeface="Calibri"/>
                <a:ea typeface="Calibri"/>
                <a:cs typeface="Calibri"/>
              </a:rPr>
              <a:t>03</a:t>
            </a:r>
          </a:p>
        </p:txBody>
      </p:sp>
      <p:sp>
        <p:nvSpPr>
          <p:cNvPr id="274" name="Google Shape;274;p31">
            <a:extLst>
              <a:ext uri="{FF2B5EF4-FFF2-40B4-BE49-F238E27FC236}">
                <a16:creationId xmlns:a16="http://schemas.microsoft.com/office/drawing/2014/main" id="{0FF768EC-0646-1232-7A76-CF42230E1C0F}"/>
              </a:ext>
            </a:extLst>
          </p:cNvPr>
          <p:cNvSpPr txBox="1">
            <a:spLocks noGrp="1"/>
          </p:cNvSpPr>
          <p:nvPr>
            <p:ph type="title" idx="7"/>
          </p:nvPr>
        </p:nvSpPr>
        <p:spPr>
          <a:xfrm>
            <a:off x="7856000" y="3033171"/>
            <a:ext cx="979600" cy="5968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b="1">
                <a:latin typeface="Calibri"/>
                <a:ea typeface="Calibri"/>
                <a:cs typeface="Calibri"/>
              </a:rPr>
              <a:t>06</a:t>
            </a:r>
          </a:p>
        </p:txBody>
      </p:sp>
      <p:sp>
        <p:nvSpPr>
          <p:cNvPr id="275" name="Google Shape;275;p31">
            <a:extLst>
              <a:ext uri="{FF2B5EF4-FFF2-40B4-BE49-F238E27FC236}">
                <a16:creationId xmlns:a16="http://schemas.microsoft.com/office/drawing/2014/main" id="{61021DE7-E248-6547-BA3A-27F44775EC95}"/>
              </a:ext>
            </a:extLst>
          </p:cNvPr>
          <p:cNvSpPr txBox="1">
            <a:spLocks noGrp="1"/>
          </p:cNvSpPr>
          <p:nvPr>
            <p:ph type="subTitle" idx="1"/>
          </p:nvPr>
        </p:nvSpPr>
        <p:spPr>
          <a:xfrm>
            <a:off x="936617" y="2165226"/>
            <a:ext cx="2933768" cy="6704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r>
              <a:rPr lang="en-US" sz="2200" b="1">
                <a:solidFill>
                  <a:schemeClr val="tx1"/>
                </a:solidFill>
                <a:latin typeface="Calibri"/>
                <a:ea typeface="Calibri"/>
                <a:cs typeface="Calibri"/>
              </a:rPr>
              <a:t>Motivation &amp; Problem</a:t>
            </a:r>
            <a:endParaRPr lang="en-US" sz="2200">
              <a:solidFill>
                <a:schemeClr val="tx1"/>
              </a:solidFill>
              <a:latin typeface="Calibri"/>
              <a:ea typeface="Calibri"/>
              <a:cs typeface="Calibri"/>
            </a:endParaRPr>
          </a:p>
        </p:txBody>
      </p:sp>
      <p:sp>
        <p:nvSpPr>
          <p:cNvPr id="276" name="Google Shape;276;p31">
            <a:extLst>
              <a:ext uri="{FF2B5EF4-FFF2-40B4-BE49-F238E27FC236}">
                <a16:creationId xmlns:a16="http://schemas.microsoft.com/office/drawing/2014/main" id="{6B1428A6-1062-BA1A-E7A9-EE02E0C423BE}"/>
              </a:ext>
            </a:extLst>
          </p:cNvPr>
          <p:cNvSpPr txBox="1">
            <a:spLocks noGrp="1"/>
          </p:cNvSpPr>
          <p:nvPr>
            <p:ph type="subTitle" idx="8"/>
          </p:nvPr>
        </p:nvSpPr>
        <p:spPr>
          <a:xfrm>
            <a:off x="4297029" y="2165226"/>
            <a:ext cx="2233000" cy="6704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r>
              <a:rPr lang="en" sz="2200" b="1">
                <a:solidFill>
                  <a:schemeClr val="tx1"/>
                </a:solidFill>
                <a:latin typeface="Calibri"/>
                <a:ea typeface="Calibri"/>
                <a:cs typeface="Calibri"/>
              </a:rPr>
              <a:t>Related Work</a:t>
            </a:r>
            <a:endParaRPr lang="en-US" sz="2200">
              <a:solidFill>
                <a:schemeClr val="tx1"/>
              </a:solidFill>
              <a:latin typeface="Calibri"/>
              <a:ea typeface="Calibri"/>
              <a:cs typeface="Calibri"/>
            </a:endParaRPr>
          </a:p>
        </p:txBody>
      </p:sp>
      <p:sp>
        <p:nvSpPr>
          <p:cNvPr id="277" name="Google Shape;277;p31">
            <a:extLst>
              <a:ext uri="{FF2B5EF4-FFF2-40B4-BE49-F238E27FC236}">
                <a16:creationId xmlns:a16="http://schemas.microsoft.com/office/drawing/2014/main" id="{1B772601-A203-2F67-CBE5-C6BB75CD5B55}"/>
              </a:ext>
            </a:extLst>
          </p:cNvPr>
          <p:cNvSpPr txBox="1">
            <a:spLocks noGrp="1"/>
          </p:cNvSpPr>
          <p:nvPr>
            <p:ph type="subTitle" idx="9"/>
          </p:nvPr>
        </p:nvSpPr>
        <p:spPr>
          <a:xfrm>
            <a:off x="7671049" y="2165226"/>
            <a:ext cx="2212590" cy="6704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r>
              <a:rPr lang="en" sz="2200" b="1">
                <a:solidFill>
                  <a:schemeClr val="tx1"/>
                </a:solidFill>
                <a:latin typeface="Calibri"/>
                <a:ea typeface="Calibri"/>
                <a:cs typeface="Calibri"/>
              </a:rPr>
              <a:t>Methodology</a:t>
            </a:r>
            <a:endParaRPr lang="en" sz="1850">
              <a:solidFill>
                <a:schemeClr val="tx1"/>
              </a:solidFill>
              <a:ea typeface="Calibri"/>
            </a:endParaRPr>
          </a:p>
        </p:txBody>
      </p:sp>
      <p:sp>
        <p:nvSpPr>
          <p:cNvPr id="278" name="Google Shape;278;p31">
            <a:extLst>
              <a:ext uri="{FF2B5EF4-FFF2-40B4-BE49-F238E27FC236}">
                <a16:creationId xmlns:a16="http://schemas.microsoft.com/office/drawing/2014/main" id="{634501FC-39C7-C0B8-0976-7EDE5E5769B7}"/>
              </a:ext>
            </a:extLst>
          </p:cNvPr>
          <p:cNvSpPr txBox="1">
            <a:spLocks noGrp="1"/>
          </p:cNvSpPr>
          <p:nvPr>
            <p:ph type="subTitle" idx="13"/>
          </p:nvPr>
        </p:nvSpPr>
        <p:spPr>
          <a:xfrm>
            <a:off x="943420" y="3758776"/>
            <a:ext cx="1217762" cy="78069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r>
              <a:rPr lang="es-ES" sz="2200" b="1" err="1">
                <a:solidFill>
                  <a:schemeClr val="tx1"/>
                </a:solidFill>
                <a:latin typeface="Calibri"/>
                <a:ea typeface="Calibri"/>
                <a:cs typeface="Calibri"/>
              </a:rPr>
              <a:t>Results</a:t>
            </a:r>
            <a:endParaRPr lang="es-ES" sz="2200" b="1">
              <a:solidFill>
                <a:schemeClr val="tx1"/>
              </a:solidFill>
              <a:latin typeface="Calibri"/>
              <a:ea typeface="Calibri"/>
              <a:cs typeface="Calibri"/>
            </a:endParaRPr>
          </a:p>
        </p:txBody>
      </p:sp>
      <p:sp>
        <p:nvSpPr>
          <p:cNvPr id="279" name="Google Shape;279;p31">
            <a:extLst>
              <a:ext uri="{FF2B5EF4-FFF2-40B4-BE49-F238E27FC236}">
                <a16:creationId xmlns:a16="http://schemas.microsoft.com/office/drawing/2014/main" id="{4BE9AD3A-399A-BE79-3FD2-D695E67C659E}"/>
              </a:ext>
            </a:extLst>
          </p:cNvPr>
          <p:cNvSpPr txBox="1">
            <a:spLocks noGrp="1"/>
          </p:cNvSpPr>
          <p:nvPr>
            <p:ph type="subTitle" idx="14"/>
          </p:nvPr>
        </p:nvSpPr>
        <p:spPr>
          <a:xfrm>
            <a:off x="4303655" y="3746056"/>
            <a:ext cx="2065532" cy="791186"/>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r>
              <a:rPr lang="en" sz="2200" b="1">
                <a:solidFill>
                  <a:schemeClr val="tx1"/>
                </a:solidFill>
                <a:latin typeface="Calibri"/>
                <a:ea typeface="Calibri"/>
                <a:cs typeface="Calibri"/>
              </a:rPr>
              <a:t>Discussion</a:t>
            </a:r>
            <a:endParaRPr lang="en-US" sz="2200">
              <a:solidFill>
                <a:schemeClr val="tx1"/>
              </a:solidFill>
            </a:endParaRPr>
          </a:p>
        </p:txBody>
      </p:sp>
      <p:sp>
        <p:nvSpPr>
          <p:cNvPr id="280" name="Google Shape;280;p31">
            <a:extLst>
              <a:ext uri="{FF2B5EF4-FFF2-40B4-BE49-F238E27FC236}">
                <a16:creationId xmlns:a16="http://schemas.microsoft.com/office/drawing/2014/main" id="{1E2040CB-C883-89D1-5B8B-4732386D5209}"/>
              </a:ext>
            </a:extLst>
          </p:cNvPr>
          <p:cNvSpPr txBox="1">
            <a:spLocks noGrp="1"/>
          </p:cNvSpPr>
          <p:nvPr>
            <p:ph type="subTitle" idx="15"/>
          </p:nvPr>
        </p:nvSpPr>
        <p:spPr>
          <a:xfrm>
            <a:off x="7671049" y="3765580"/>
            <a:ext cx="1926840" cy="713624"/>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r>
              <a:rPr lang="en" sz="2200" b="1">
                <a:solidFill>
                  <a:schemeClr val="tx1"/>
                </a:solidFill>
                <a:latin typeface="Calibri"/>
                <a:ea typeface="Calibri"/>
                <a:cs typeface="Calibri"/>
              </a:rPr>
              <a:t>Limitations</a:t>
            </a:r>
            <a:endParaRPr lang="en-US" sz="2200" b="1">
              <a:solidFill>
                <a:schemeClr val="tx1"/>
              </a:solidFill>
              <a:latin typeface="Calibri"/>
              <a:ea typeface="Calibri"/>
              <a:cs typeface="Calibri"/>
            </a:endParaRPr>
          </a:p>
        </p:txBody>
      </p:sp>
      <p:sp>
        <p:nvSpPr>
          <p:cNvPr id="2" name="Google Shape;274;p31">
            <a:extLst>
              <a:ext uri="{FF2B5EF4-FFF2-40B4-BE49-F238E27FC236}">
                <a16:creationId xmlns:a16="http://schemas.microsoft.com/office/drawing/2014/main" id="{C98B0817-6F23-D254-112C-A87D310AC270}"/>
              </a:ext>
            </a:extLst>
          </p:cNvPr>
          <p:cNvSpPr txBox="1">
            <a:spLocks/>
          </p:cNvSpPr>
          <p:nvPr/>
        </p:nvSpPr>
        <p:spPr>
          <a:xfrm>
            <a:off x="960000" y="4515286"/>
            <a:ext cx="979600" cy="596800"/>
          </a:xfrm>
          <a:prstGeom prst="rect">
            <a:avLst/>
          </a:prstGeom>
          <a:solidFill>
            <a:schemeClr val="dk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000"/>
              <a:buFont typeface="Arial"/>
              <a:buNone/>
              <a:defRPr sz="1867" b="0" i="0" u="none" strike="noStrike" cap="none">
                <a:solidFill>
                  <a:srgbClr val="000000"/>
                </a:solidFill>
                <a:latin typeface="Arial"/>
                <a:ea typeface="Arial"/>
                <a:cs typeface="Arial"/>
                <a:sym typeface="Arial"/>
              </a:defRPr>
            </a:lvl9pPr>
          </a:lstStyle>
          <a:p>
            <a:r>
              <a:rPr lang="en" sz="2400" b="1" kern="0">
                <a:latin typeface="Calibri"/>
                <a:ea typeface="Calibri"/>
                <a:cs typeface="Calibri"/>
              </a:rPr>
              <a:t>07</a:t>
            </a:r>
          </a:p>
        </p:txBody>
      </p:sp>
      <p:sp>
        <p:nvSpPr>
          <p:cNvPr id="3" name="Google Shape;280;p31">
            <a:extLst>
              <a:ext uri="{FF2B5EF4-FFF2-40B4-BE49-F238E27FC236}">
                <a16:creationId xmlns:a16="http://schemas.microsoft.com/office/drawing/2014/main" id="{DD7828C6-E985-CADD-A940-6DBAE947E1E3}"/>
              </a:ext>
            </a:extLst>
          </p:cNvPr>
          <p:cNvSpPr txBox="1">
            <a:spLocks/>
          </p:cNvSpPr>
          <p:nvPr/>
        </p:nvSpPr>
        <p:spPr>
          <a:xfrm>
            <a:off x="809066" y="5254498"/>
            <a:ext cx="3267144" cy="666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9pPr>
          </a:lstStyle>
          <a:p>
            <a:pPr marL="0" indent="0"/>
            <a:r>
              <a:rPr lang="en" sz="2200" b="1" kern="0">
                <a:solidFill>
                  <a:schemeClr val="tx1"/>
                </a:solidFill>
                <a:latin typeface="Calibri"/>
                <a:ea typeface="Calibri"/>
                <a:cs typeface="Calibri"/>
              </a:rPr>
              <a:t>Conclusion &amp; Next Steps</a:t>
            </a:r>
            <a:endParaRPr lang="en-US" sz="2200" b="1" kern="0">
              <a:solidFill>
                <a:schemeClr val="tx1"/>
              </a:solidFill>
              <a:latin typeface="Calibri"/>
              <a:ea typeface="Calibri"/>
              <a:cs typeface="Calibri"/>
            </a:endParaRPr>
          </a:p>
        </p:txBody>
      </p:sp>
    </p:spTree>
    <p:extLst>
      <p:ext uri="{BB962C8B-B14F-4D97-AF65-F5344CB8AC3E}">
        <p14:creationId xmlns:p14="http://schemas.microsoft.com/office/powerpoint/2010/main" val="81803502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4">
          <a:extLst>
            <a:ext uri="{FF2B5EF4-FFF2-40B4-BE49-F238E27FC236}">
              <a16:creationId xmlns:a16="http://schemas.microsoft.com/office/drawing/2014/main" id="{49311680-A73D-4CA7-9792-8BBF75F80327}"/>
            </a:ext>
          </a:extLst>
        </p:cNvPr>
        <p:cNvGrpSpPr/>
        <p:nvPr/>
      </p:nvGrpSpPr>
      <p:grpSpPr>
        <a:xfrm>
          <a:off x="0" y="0"/>
          <a:ext cx="0" cy="0"/>
          <a:chOff x="0" y="0"/>
          <a:chExt cx="0" cy="0"/>
        </a:xfrm>
      </p:grpSpPr>
      <p:sp>
        <p:nvSpPr>
          <p:cNvPr id="315" name="Google Shape;315;p35">
            <a:extLst>
              <a:ext uri="{FF2B5EF4-FFF2-40B4-BE49-F238E27FC236}">
                <a16:creationId xmlns:a16="http://schemas.microsoft.com/office/drawing/2014/main" id="{9291DEFC-9C84-40BE-CF32-FE1FDDF6A531}"/>
              </a:ext>
            </a:extLst>
          </p:cNvPr>
          <p:cNvSpPr txBox="1">
            <a:spLocks noGrp="1"/>
          </p:cNvSpPr>
          <p:nvPr>
            <p:ph type="title"/>
          </p:nvPr>
        </p:nvSpPr>
        <p:spPr>
          <a:xfrm>
            <a:off x="1151527" y="400854"/>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4400" b="1">
                <a:solidFill>
                  <a:schemeClr val="tx1"/>
                </a:solidFill>
                <a:latin typeface="Calibri"/>
                <a:ea typeface="Calibri"/>
                <a:cs typeface="Calibri"/>
              </a:rPr>
              <a:t>Motivation: Reliability of LLM-Based Detection</a:t>
            </a:r>
            <a:endParaRPr lang="en-US" sz="1850">
              <a:solidFill>
                <a:schemeClr val="tx1"/>
              </a:solidFill>
            </a:endParaRPr>
          </a:p>
        </p:txBody>
      </p:sp>
      <p:sp>
        <p:nvSpPr>
          <p:cNvPr id="7" name="Google Shape;269;p31">
            <a:extLst>
              <a:ext uri="{FF2B5EF4-FFF2-40B4-BE49-F238E27FC236}">
                <a16:creationId xmlns:a16="http://schemas.microsoft.com/office/drawing/2014/main" id="{7BFAB5DE-48CA-6DCA-404E-A75C4E26F1A0}"/>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01</a:t>
            </a:r>
          </a:p>
        </p:txBody>
      </p:sp>
      <p:sp>
        <p:nvSpPr>
          <p:cNvPr id="11" name="TextBox 10">
            <a:extLst>
              <a:ext uri="{FF2B5EF4-FFF2-40B4-BE49-F238E27FC236}">
                <a16:creationId xmlns:a16="http://schemas.microsoft.com/office/drawing/2014/main" id="{894ABB77-866A-BB36-F12A-3B47DEEA903B}"/>
              </a:ext>
            </a:extLst>
          </p:cNvPr>
          <p:cNvSpPr txBox="1"/>
          <p:nvPr/>
        </p:nvSpPr>
        <p:spPr>
          <a:xfrm>
            <a:off x="767684" y="2780731"/>
            <a:ext cx="5157716" cy="3847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600">
                <a:latin typeface="Calibri"/>
                <a:ea typeface="Calibri"/>
                <a:cs typeface="Calibri"/>
              </a:rPr>
              <a:t>Online reviews strongly influence purchasing decisions</a:t>
            </a:r>
          </a:p>
          <a:p>
            <a:pPr marL="285750" indent="-285750">
              <a:buFont typeface="Arial"/>
              <a:buChar char="•"/>
            </a:pPr>
            <a:r>
              <a:rPr lang="en-US" sz="2600">
                <a:latin typeface="Calibri"/>
                <a:ea typeface="Calibri"/>
                <a:cs typeface="Calibri"/>
              </a:rPr>
              <a:t>Fake reviews undermine trust in digital platforms</a:t>
            </a:r>
          </a:p>
          <a:p>
            <a:pPr marL="285750" indent="-285750">
              <a:buFont typeface="Arial"/>
              <a:buChar char="•"/>
            </a:pPr>
            <a:r>
              <a:rPr lang="en-US" sz="2600">
                <a:latin typeface="Calibri"/>
                <a:ea typeface="Calibri"/>
                <a:cs typeface="Calibri"/>
              </a:rPr>
              <a:t>LLMs are increasingly used for moderation tasks</a:t>
            </a:r>
          </a:p>
          <a:p>
            <a:pPr marL="285750" indent="-285750">
              <a:buFont typeface="Arial"/>
              <a:buChar char="•"/>
            </a:pPr>
            <a:r>
              <a:rPr lang="en-US" sz="2600">
                <a:latin typeface="Calibri"/>
                <a:ea typeface="Calibri"/>
                <a:cs typeface="Calibri"/>
              </a:rPr>
              <a:t>Raises concerns about reliability in real-world systems</a:t>
            </a:r>
          </a:p>
          <a:p>
            <a:endParaRPr lang="en-US">
              <a:ea typeface="+mn-lt"/>
              <a:cs typeface="+mn-lt"/>
            </a:endParaRPr>
          </a:p>
          <a:p>
            <a:endParaRPr lang="en-US">
              <a:ea typeface="+mn-lt"/>
              <a:cs typeface="+mn-lt"/>
            </a:endParaRPr>
          </a:p>
        </p:txBody>
      </p:sp>
      <p:sp>
        <p:nvSpPr>
          <p:cNvPr id="15" name="Google Shape;269;p31">
            <a:extLst>
              <a:ext uri="{FF2B5EF4-FFF2-40B4-BE49-F238E27FC236}">
                <a16:creationId xmlns:a16="http://schemas.microsoft.com/office/drawing/2014/main" id="{7003D6FC-31CE-1A4B-50C0-E65B0DE1F69B}"/>
              </a:ext>
            </a:extLst>
          </p:cNvPr>
          <p:cNvSpPr txBox="1">
            <a:spLocks/>
          </p:cNvSpPr>
          <p:nvPr/>
        </p:nvSpPr>
        <p:spPr>
          <a:xfrm>
            <a:off x="6095577" y="2782943"/>
            <a:ext cx="5500144" cy="2947505"/>
          </a:xfrm>
          <a:prstGeom prst="rect">
            <a:avLst/>
          </a:prstGeom>
          <a:solidFill>
            <a:srgbClr val="E2E4FC"/>
          </a:solidFill>
          <a:ln>
            <a:solidFill>
              <a:srgbClr val="4C50C7"/>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endParaRPr lang="en" sz="2400" b="1" kern="0">
              <a:latin typeface="Calibri"/>
              <a:ea typeface="Calibri"/>
              <a:cs typeface="Calibri"/>
            </a:endParaRPr>
          </a:p>
        </p:txBody>
      </p:sp>
      <p:sp>
        <p:nvSpPr>
          <p:cNvPr id="5" name="Google Shape;8859;p63">
            <a:extLst>
              <a:ext uri="{FF2B5EF4-FFF2-40B4-BE49-F238E27FC236}">
                <a16:creationId xmlns:a16="http://schemas.microsoft.com/office/drawing/2014/main" id="{3A53141C-DE36-C89C-17F3-0F0A2F462CDD}"/>
              </a:ext>
            </a:extLst>
          </p:cNvPr>
          <p:cNvSpPr/>
          <p:nvPr/>
        </p:nvSpPr>
        <p:spPr>
          <a:xfrm>
            <a:off x="859445" y="2074877"/>
            <a:ext cx="565200" cy="561600"/>
          </a:xfrm>
          <a:custGeom>
            <a:avLst/>
            <a:gdLst/>
            <a:ahLst/>
            <a:cxnLst/>
            <a:rect l="l" t="t" r="r" b="b"/>
            <a:pathLst>
              <a:path w="12877" h="12724" extrusionOk="0">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chemeClr val="tx1">
              <a:lumMod val="40000"/>
              <a:lumOff val="60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 name="TextBox 15">
            <a:extLst>
              <a:ext uri="{FF2B5EF4-FFF2-40B4-BE49-F238E27FC236}">
                <a16:creationId xmlns:a16="http://schemas.microsoft.com/office/drawing/2014/main" id="{955B17D3-2128-339A-0886-C526612466CA}"/>
              </a:ext>
            </a:extLst>
          </p:cNvPr>
          <p:cNvSpPr txBox="1"/>
          <p:nvPr/>
        </p:nvSpPr>
        <p:spPr>
          <a:xfrm>
            <a:off x="6622523" y="2994749"/>
            <a:ext cx="4299270" cy="592481"/>
          </a:xfrm>
          <a:prstGeom prst="rect">
            <a:avLst/>
          </a:prstGeom>
          <a:solidFill>
            <a:schemeClr val="tx1">
              <a:lumMod val="20000"/>
              <a:lumOff val="80000"/>
            </a:schemeClr>
          </a:solidFill>
          <a:ln>
            <a:solidFill>
              <a:schemeClr val="tx1">
                <a:lumMod val="40000"/>
                <a:lumOff val="60000"/>
              </a:schemeClr>
            </a:solidFill>
          </a:ln>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83"/>
              </a:lnSpc>
            </a:pPr>
            <a:endParaRPr/>
          </a:p>
        </p:txBody>
      </p:sp>
      <p:sp>
        <p:nvSpPr>
          <p:cNvPr id="12" name="TextBox 11">
            <a:extLst>
              <a:ext uri="{FF2B5EF4-FFF2-40B4-BE49-F238E27FC236}">
                <a16:creationId xmlns:a16="http://schemas.microsoft.com/office/drawing/2014/main" id="{DF308533-5156-4B45-94F0-3E5CB96B61A8}"/>
              </a:ext>
            </a:extLst>
          </p:cNvPr>
          <p:cNvSpPr txBox="1"/>
          <p:nvPr/>
        </p:nvSpPr>
        <p:spPr>
          <a:xfrm>
            <a:off x="6289344" y="3076435"/>
            <a:ext cx="4964373"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241160"/>
                </a:solidFill>
                <a:latin typeface="Calibri"/>
                <a:ea typeface="Arial"/>
                <a:cs typeface="Arial"/>
              </a:rPr>
              <a:t>KEY CONCERN</a:t>
            </a:r>
          </a:p>
          <a:p>
            <a:endParaRPr lang="en-US" sz="2800" b="1">
              <a:solidFill>
                <a:srgbClr val="241160"/>
              </a:solidFill>
              <a:latin typeface="Arial"/>
              <a:ea typeface="Calibri"/>
              <a:cs typeface="Arial"/>
            </a:endParaRPr>
          </a:p>
          <a:p>
            <a:pPr algn="ctr"/>
            <a:r>
              <a:rPr lang="en-US" sz="2800">
                <a:solidFill>
                  <a:srgbClr val="241160"/>
                </a:solidFill>
                <a:latin typeface="Calibri"/>
                <a:ea typeface="Calibri"/>
                <a:cs typeface="Calibri"/>
              </a:rPr>
              <a:t>Are LLM-based classifiers </a:t>
            </a:r>
            <a:r>
              <a:rPr lang="en-US" sz="2800" b="1">
                <a:solidFill>
                  <a:srgbClr val="241160"/>
                </a:solidFill>
                <a:latin typeface="Calibri"/>
                <a:ea typeface="Calibri"/>
                <a:cs typeface="Calibri"/>
              </a:rPr>
              <a:t>robust </a:t>
            </a:r>
            <a:r>
              <a:rPr lang="en-US" sz="2800">
                <a:solidFill>
                  <a:srgbClr val="241160"/>
                </a:solidFill>
                <a:latin typeface="Calibri"/>
                <a:ea typeface="Calibri"/>
                <a:cs typeface="Calibri"/>
              </a:rPr>
              <a:t>to variations in prompt wording and review length?</a:t>
            </a:r>
            <a:endParaRPr lang="en-US" sz="2800" baseline="0">
              <a:solidFill>
                <a:srgbClr val="241160"/>
              </a:solidFill>
              <a:latin typeface="Calibri"/>
              <a:ea typeface="Calibri"/>
              <a:cs typeface="Calibri"/>
            </a:endParaRPr>
          </a:p>
          <a:p>
            <a:pPr algn="ctr"/>
            <a:endParaRPr lang="en-US"/>
          </a:p>
        </p:txBody>
      </p:sp>
      <p:cxnSp>
        <p:nvCxnSpPr>
          <p:cNvPr id="3" name="Straight Connector 2">
            <a:extLst>
              <a:ext uri="{FF2B5EF4-FFF2-40B4-BE49-F238E27FC236}">
                <a16:creationId xmlns:a16="http://schemas.microsoft.com/office/drawing/2014/main" id="{088F5C42-B809-FCD4-A8A8-9D94F4D96E6D}"/>
              </a:ext>
            </a:extLst>
          </p:cNvPr>
          <p:cNvCxnSpPr/>
          <p:nvPr/>
        </p:nvCxnSpPr>
        <p:spPr>
          <a:xfrm>
            <a:off x="767684" y="2780731"/>
            <a:ext cx="4915486" cy="0"/>
          </a:xfrm>
          <a:prstGeom prst="line">
            <a:avLst/>
          </a:prstGeom>
          <a:ln w="19050">
            <a:solidFill>
              <a:srgbClr val="9378E7"/>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FF59B5A-4989-8374-8786-8279F61E9F73}"/>
              </a:ext>
            </a:extLst>
          </p:cNvPr>
          <p:cNvSpPr txBox="1"/>
          <p:nvPr/>
        </p:nvSpPr>
        <p:spPr>
          <a:xfrm>
            <a:off x="6096000" y="5874224"/>
            <a:ext cx="60960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0" u="none" strike="noStrike" baseline="0">
                <a:solidFill>
                  <a:srgbClr val="241160"/>
                </a:solidFill>
                <a:latin typeface="Calibri"/>
                <a:ea typeface="Segoe UI"/>
                <a:cs typeface="Segoe UI"/>
              </a:rPr>
              <a:t>*We define robustness as prediction </a:t>
            </a:r>
            <a:r>
              <a:rPr lang="en-US" sz="2000" b="1">
                <a:solidFill>
                  <a:srgbClr val="241160"/>
                </a:solidFill>
                <a:latin typeface="Calibri"/>
                <a:ea typeface="Segoe UI"/>
                <a:cs typeface="Segoe UI"/>
              </a:rPr>
              <a:t>stability under</a:t>
            </a:r>
            <a:r>
              <a:rPr lang="en-US" sz="2000" b="1" i="0" u="none" strike="noStrike" baseline="0">
                <a:solidFill>
                  <a:srgbClr val="241160"/>
                </a:solidFill>
                <a:latin typeface="Calibri"/>
                <a:ea typeface="Segoe UI"/>
                <a:cs typeface="Segoe UI"/>
              </a:rPr>
              <a:t> prompt rewording and variation </a:t>
            </a:r>
            <a:r>
              <a:rPr lang="en-US" sz="2000" b="1">
                <a:solidFill>
                  <a:srgbClr val="241160"/>
                </a:solidFill>
                <a:latin typeface="Calibri"/>
                <a:ea typeface="Segoe UI"/>
                <a:cs typeface="Segoe UI"/>
              </a:rPr>
              <a:t>in review</a:t>
            </a:r>
            <a:r>
              <a:rPr lang="en-US" sz="2000" b="1" i="0" u="none" strike="noStrike" baseline="0">
                <a:solidFill>
                  <a:srgbClr val="241160"/>
                </a:solidFill>
                <a:latin typeface="Calibri"/>
                <a:ea typeface="Segoe UI"/>
                <a:cs typeface="Segoe UI"/>
              </a:rPr>
              <a:t> length</a:t>
            </a:r>
            <a:endParaRPr lang="en-US"/>
          </a:p>
          <a:p>
            <a:pPr algn="ctr"/>
            <a:endParaRPr lang="en-US"/>
          </a:p>
        </p:txBody>
      </p:sp>
    </p:spTree>
    <p:extLst>
      <p:ext uri="{BB962C8B-B14F-4D97-AF65-F5344CB8AC3E}">
        <p14:creationId xmlns:p14="http://schemas.microsoft.com/office/powerpoint/2010/main" val="76409078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
          <a:extLst>
            <a:ext uri="{FF2B5EF4-FFF2-40B4-BE49-F238E27FC236}">
              <a16:creationId xmlns:a16="http://schemas.microsoft.com/office/drawing/2014/main" id="{768A85AB-F0A9-1EBB-525D-180778908E91}"/>
            </a:ext>
          </a:extLst>
        </p:cNvPr>
        <p:cNvGrpSpPr/>
        <p:nvPr/>
      </p:nvGrpSpPr>
      <p:grpSpPr>
        <a:xfrm>
          <a:off x="0" y="0"/>
          <a:ext cx="0" cy="0"/>
          <a:chOff x="0" y="0"/>
          <a:chExt cx="0" cy="0"/>
        </a:xfrm>
      </p:grpSpPr>
      <p:sp>
        <p:nvSpPr>
          <p:cNvPr id="315" name="Google Shape;315;p35">
            <a:extLst>
              <a:ext uri="{FF2B5EF4-FFF2-40B4-BE49-F238E27FC236}">
                <a16:creationId xmlns:a16="http://schemas.microsoft.com/office/drawing/2014/main" id="{41EC72A4-DDC4-CEAD-5859-CE8F89DA2446}"/>
              </a:ext>
            </a:extLst>
          </p:cNvPr>
          <p:cNvSpPr txBox="1">
            <a:spLocks noGrp="1"/>
          </p:cNvSpPr>
          <p:nvPr>
            <p:ph type="title"/>
          </p:nvPr>
        </p:nvSpPr>
        <p:spPr>
          <a:xfrm>
            <a:off x="982194" y="519387"/>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4400" b="1">
                <a:solidFill>
                  <a:schemeClr val="tx1"/>
                </a:solidFill>
                <a:latin typeface="Calibri"/>
                <a:ea typeface="Calibri"/>
                <a:cs typeface="Calibri"/>
              </a:rPr>
              <a:t>Problem Statement &amp; Research Gap</a:t>
            </a:r>
          </a:p>
        </p:txBody>
      </p:sp>
      <p:sp>
        <p:nvSpPr>
          <p:cNvPr id="7" name="Google Shape;269;p31">
            <a:extLst>
              <a:ext uri="{FF2B5EF4-FFF2-40B4-BE49-F238E27FC236}">
                <a16:creationId xmlns:a16="http://schemas.microsoft.com/office/drawing/2014/main" id="{B5447EF0-3F66-4A3A-FFDC-7A40E0BA31D7}"/>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01</a:t>
            </a:r>
          </a:p>
        </p:txBody>
      </p:sp>
      <p:sp>
        <p:nvSpPr>
          <p:cNvPr id="11" name="TextBox 10">
            <a:extLst>
              <a:ext uri="{FF2B5EF4-FFF2-40B4-BE49-F238E27FC236}">
                <a16:creationId xmlns:a16="http://schemas.microsoft.com/office/drawing/2014/main" id="{6D13CDE8-EB33-892C-E604-2F7C6B82BE41}"/>
              </a:ext>
            </a:extLst>
          </p:cNvPr>
          <p:cNvSpPr txBox="1"/>
          <p:nvPr/>
        </p:nvSpPr>
        <p:spPr>
          <a:xfrm>
            <a:off x="567522" y="2376985"/>
            <a:ext cx="5088971" cy="449353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Calibri"/>
                <a:ea typeface="Calibri"/>
                <a:cs typeface="Calibri"/>
              </a:rPr>
              <a:t>  What's the Problem?</a:t>
            </a:r>
          </a:p>
          <a:p>
            <a:endParaRPr lang="en-US" sz="2800" b="1">
              <a:latin typeface="Calibri"/>
              <a:ea typeface="Calibri"/>
              <a:cs typeface="Calibri"/>
            </a:endParaRPr>
          </a:p>
          <a:p>
            <a:pPr>
              <a:buFont typeface="Arial"/>
              <a:buChar char="•"/>
            </a:pPr>
            <a:r>
              <a:rPr lang="en-US" sz="2600">
                <a:latin typeface="Calibri"/>
                <a:ea typeface="Calibri"/>
                <a:cs typeface="Calibri"/>
              </a:rPr>
              <a:t>  LLM-based classifiers achieve strong performance*</a:t>
            </a:r>
          </a:p>
          <a:p>
            <a:pPr>
              <a:buFont typeface="Arial"/>
              <a:buChar char="•"/>
            </a:pPr>
            <a:r>
              <a:rPr lang="en-US" sz="2600">
                <a:latin typeface="Calibri"/>
                <a:ea typeface="Calibri"/>
                <a:cs typeface="Calibri"/>
              </a:rPr>
              <a:t>  However, predictions may change under small input variations</a:t>
            </a:r>
          </a:p>
          <a:p>
            <a:pPr>
              <a:buFont typeface="Arial"/>
              <a:buChar char="•"/>
            </a:pPr>
            <a:r>
              <a:rPr lang="en-US" sz="2600">
                <a:latin typeface="Calibri"/>
                <a:ea typeface="Calibri"/>
                <a:cs typeface="Calibri"/>
              </a:rPr>
              <a:t> This raises concerns for real-world reliability</a:t>
            </a:r>
          </a:p>
          <a:p>
            <a:pPr>
              <a:buFont typeface="Arial"/>
              <a:buChar char="•"/>
            </a:pPr>
            <a:endParaRPr lang="en-US" sz="2600" b="1">
              <a:latin typeface="Calibri"/>
              <a:ea typeface="Calibri"/>
              <a:cs typeface="Calibri"/>
            </a:endParaRPr>
          </a:p>
          <a:p>
            <a:r>
              <a:rPr lang="en-US" sz="2000" b="1">
                <a:latin typeface="Calibri"/>
                <a:ea typeface="Calibri"/>
                <a:cs typeface="Calibri"/>
              </a:rPr>
              <a:t>*typically measured through high accuracy and F1-scores on benchmark datasets</a:t>
            </a:r>
            <a:endParaRPr lang="en-US" sz="2600">
              <a:latin typeface="Calibri"/>
              <a:ea typeface="Calibri"/>
              <a:cs typeface="Calibri"/>
            </a:endParaRPr>
          </a:p>
        </p:txBody>
      </p:sp>
      <p:sp>
        <p:nvSpPr>
          <p:cNvPr id="3" name="TextBox 2">
            <a:extLst>
              <a:ext uri="{FF2B5EF4-FFF2-40B4-BE49-F238E27FC236}">
                <a16:creationId xmlns:a16="http://schemas.microsoft.com/office/drawing/2014/main" id="{B7289626-A131-5708-60C1-E8C086B5D57A}"/>
              </a:ext>
            </a:extLst>
          </p:cNvPr>
          <p:cNvSpPr txBox="1"/>
          <p:nvPr/>
        </p:nvSpPr>
        <p:spPr>
          <a:xfrm>
            <a:off x="5934123" y="2376858"/>
            <a:ext cx="4892089" cy="393954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3600" b="1">
                <a:latin typeface="Calibri"/>
                <a:ea typeface="Calibri"/>
                <a:cs typeface="Calibri"/>
              </a:rPr>
              <a:t>What's Missing?</a:t>
            </a:r>
          </a:p>
          <a:p>
            <a:pPr lvl="1"/>
            <a:endParaRPr lang="en-US" sz="2800" b="1">
              <a:latin typeface="Calibri"/>
              <a:ea typeface="Calibri"/>
              <a:cs typeface="Calibri"/>
            </a:endParaRPr>
          </a:p>
          <a:p>
            <a:pPr marL="457200">
              <a:buFont typeface="Arial"/>
              <a:buChar char="•"/>
            </a:pPr>
            <a:r>
              <a:rPr lang="en-US" sz="2600">
                <a:latin typeface="Calibri"/>
                <a:ea typeface="Calibri"/>
                <a:cs typeface="Calibri"/>
              </a:rPr>
              <a:t> Prior work focuses on overall accuracy</a:t>
            </a:r>
          </a:p>
          <a:p>
            <a:pPr lvl="1">
              <a:buFont typeface="Arial"/>
              <a:buChar char="•"/>
            </a:pPr>
            <a:r>
              <a:rPr lang="en-US" sz="2600">
                <a:latin typeface="Calibri"/>
                <a:ea typeface="Calibri"/>
                <a:cs typeface="Calibri"/>
              </a:rPr>
              <a:t> Limited evaluation of robustness to prompt wording and input characteristics</a:t>
            </a:r>
          </a:p>
          <a:p>
            <a:pPr lvl="1">
              <a:buFont typeface="Arial"/>
              <a:buChar char="•"/>
            </a:pPr>
            <a:endParaRPr lang="en-US" sz="2800">
              <a:latin typeface="Calibri"/>
              <a:ea typeface="Calibri"/>
              <a:cs typeface="Calibri"/>
            </a:endParaRPr>
          </a:p>
          <a:p>
            <a:pPr marL="914400" lvl="1" indent="-457200">
              <a:buFont typeface="Arial"/>
              <a:buChar char="•"/>
            </a:pPr>
            <a:endParaRPr lang="en-US" sz="2800">
              <a:latin typeface="Calibri"/>
              <a:ea typeface="Calibri"/>
              <a:cs typeface="Calibri"/>
            </a:endParaRPr>
          </a:p>
        </p:txBody>
      </p:sp>
      <p:sp>
        <p:nvSpPr>
          <p:cNvPr id="15" name="Google Shape;322;p35">
            <a:extLst>
              <a:ext uri="{FF2B5EF4-FFF2-40B4-BE49-F238E27FC236}">
                <a16:creationId xmlns:a16="http://schemas.microsoft.com/office/drawing/2014/main" id="{005E1B13-7A95-716E-D3CF-B54037ABF9F2}"/>
              </a:ext>
            </a:extLst>
          </p:cNvPr>
          <p:cNvSpPr/>
          <p:nvPr/>
        </p:nvSpPr>
        <p:spPr>
          <a:xfrm>
            <a:off x="765928" y="1714450"/>
            <a:ext cx="438917" cy="438900"/>
          </a:xfrm>
          <a:custGeom>
            <a:avLst/>
            <a:gdLst/>
            <a:ahLst/>
            <a:cxnLst/>
            <a:rect l="l" t="t" r="r" b="b"/>
            <a:pathLst>
              <a:path w="11456" h="11551" extrusionOk="0">
                <a:moveTo>
                  <a:pt x="9717" y="715"/>
                </a:moveTo>
                <a:lnTo>
                  <a:pt x="9717" y="1501"/>
                </a:lnTo>
                <a:lnTo>
                  <a:pt x="5311" y="1501"/>
                </a:lnTo>
                <a:cubicBezTo>
                  <a:pt x="5073" y="1501"/>
                  <a:pt x="4906" y="1286"/>
                  <a:pt x="4930" y="1072"/>
                </a:cubicBezTo>
                <a:cubicBezTo>
                  <a:pt x="4954" y="881"/>
                  <a:pt x="5144" y="715"/>
                  <a:pt x="5359" y="715"/>
                </a:cubicBezTo>
                <a:close/>
                <a:moveTo>
                  <a:pt x="10764" y="3858"/>
                </a:moveTo>
                <a:lnTo>
                  <a:pt x="10764" y="4620"/>
                </a:lnTo>
                <a:lnTo>
                  <a:pt x="6359" y="4620"/>
                </a:lnTo>
                <a:cubicBezTo>
                  <a:pt x="6121" y="4620"/>
                  <a:pt x="5954" y="4406"/>
                  <a:pt x="5978" y="4215"/>
                </a:cubicBezTo>
                <a:cubicBezTo>
                  <a:pt x="6002" y="4001"/>
                  <a:pt x="6216" y="3858"/>
                  <a:pt x="6383" y="3858"/>
                </a:cubicBezTo>
                <a:close/>
                <a:moveTo>
                  <a:pt x="2072" y="4358"/>
                </a:moveTo>
                <a:cubicBezTo>
                  <a:pt x="2882" y="4358"/>
                  <a:pt x="3501" y="5001"/>
                  <a:pt x="3501" y="5787"/>
                </a:cubicBezTo>
                <a:cubicBezTo>
                  <a:pt x="3501" y="6597"/>
                  <a:pt x="2882" y="7216"/>
                  <a:pt x="2072" y="7216"/>
                </a:cubicBezTo>
                <a:cubicBezTo>
                  <a:pt x="1262" y="7216"/>
                  <a:pt x="643" y="6549"/>
                  <a:pt x="643" y="5787"/>
                </a:cubicBezTo>
                <a:cubicBezTo>
                  <a:pt x="643" y="4977"/>
                  <a:pt x="1310" y="4358"/>
                  <a:pt x="2072" y="4358"/>
                </a:cubicBezTo>
                <a:close/>
                <a:moveTo>
                  <a:pt x="10764" y="6978"/>
                </a:moveTo>
                <a:lnTo>
                  <a:pt x="10764" y="7740"/>
                </a:lnTo>
                <a:lnTo>
                  <a:pt x="6359" y="7740"/>
                </a:lnTo>
                <a:cubicBezTo>
                  <a:pt x="6121" y="7740"/>
                  <a:pt x="5954" y="7549"/>
                  <a:pt x="5978" y="7335"/>
                </a:cubicBezTo>
                <a:cubicBezTo>
                  <a:pt x="6002" y="7121"/>
                  <a:pt x="6216" y="6978"/>
                  <a:pt x="6383" y="6978"/>
                </a:cubicBezTo>
                <a:close/>
                <a:moveTo>
                  <a:pt x="9717" y="10098"/>
                </a:moveTo>
                <a:lnTo>
                  <a:pt x="9717" y="10883"/>
                </a:lnTo>
                <a:lnTo>
                  <a:pt x="5311" y="10883"/>
                </a:lnTo>
                <a:cubicBezTo>
                  <a:pt x="5073" y="10883"/>
                  <a:pt x="4906" y="10669"/>
                  <a:pt x="4930" y="10455"/>
                </a:cubicBezTo>
                <a:cubicBezTo>
                  <a:pt x="4954" y="10240"/>
                  <a:pt x="5144" y="10098"/>
                  <a:pt x="5359" y="10098"/>
                </a:cubicBezTo>
                <a:close/>
                <a:moveTo>
                  <a:pt x="5359" y="0"/>
                </a:moveTo>
                <a:cubicBezTo>
                  <a:pt x="4882" y="0"/>
                  <a:pt x="4477" y="310"/>
                  <a:pt x="4335" y="739"/>
                </a:cubicBezTo>
                <a:lnTo>
                  <a:pt x="3001" y="739"/>
                </a:lnTo>
                <a:lnTo>
                  <a:pt x="1858" y="3668"/>
                </a:lnTo>
                <a:cubicBezTo>
                  <a:pt x="834" y="3787"/>
                  <a:pt x="0" y="4668"/>
                  <a:pt x="0" y="5787"/>
                </a:cubicBezTo>
                <a:cubicBezTo>
                  <a:pt x="0" y="6883"/>
                  <a:pt x="834" y="7764"/>
                  <a:pt x="1858" y="7883"/>
                </a:cubicBezTo>
                <a:lnTo>
                  <a:pt x="3001" y="10812"/>
                </a:lnTo>
                <a:lnTo>
                  <a:pt x="4335" y="10812"/>
                </a:lnTo>
                <a:cubicBezTo>
                  <a:pt x="4477" y="11217"/>
                  <a:pt x="4882" y="11550"/>
                  <a:pt x="5359" y="11550"/>
                </a:cubicBezTo>
                <a:lnTo>
                  <a:pt x="10407" y="11550"/>
                </a:lnTo>
                <a:lnTo>
                  <a:pt x="10407" y="9383"/>
                </a:lnTo>
                <a:lnTo>
                  <a:pt x="5359" y="9383"/>
                </a:lnTo>
                <a:cubicBezTo>
                  <a:pt x="4882" y="9383"/>
                  <a:pt x="4477" y="9693"/>
                  <a:pt x="4335" y="10121"/>
                </a:cubicBezTo>
                <a:lnTo>
                  <a:pt x="3453" y="10121"/>
                </a:lnTo>
                <a:lnTo>
                  <a:pt x="2548" y="7835"/>
                </a:lnTo>
                <a:cubicBezTo>
                  <a:pt x="2929" y="7740"/>
                  <a:pt x="3287" y="7549"/>
                  <a:pt x="3572" y="7264"/>
                </a:cubicBezTo>
                <a:lnTo>
                  <a:pt x="4477" y="7668"/>
                </a:lnTo>
                <a:lnTo>
                  <a:pt x="5382" y="7668"/>
                </a:lnTo>
                <a:cubicBezTo>
                  <a:pt x="5525" y="8073"/>
                  <a:pt x="5906" y="8407"/>
                  <a:pt x="6383" y="8407"/>
                </a:cubicBezTo>
                <a:lnTo>
                  <a:pt x="11455" y="8407"/>
                </a:lnTo>
                <a:lnTo>
                  <a:pt x="11455" y="6263"/>
                </a:lnTo>
                <a:lnTo>
                  <a:pt x="6383" y="6263"/>
                </a:lnTo>
                <a:cubicBezTo>
                  <a:pt x="5906" y="6263"/>
                  <a:pt x="5525" y="6549"/>
                  <a:pt x="5382" y="7002"/>
                </a:cubicBezTo>
                <a:lnTo>
                  <a:pt x="4644" y="7002"/>
                </a:lnTo>
                <a:lnTo>
                  <a:pt x="3977" y="6740"/>
                </a:lnTo>
                <a:cubicBezTo>
                  <a:pt x="4120" y="6430"/>
                  <a:pt x="4192" y="6144"/>
                  <a:pt x="4192" y="5787"/>
                </a:cubicBezTo>
                <a:cubicBezTo>
                  <a:pt x="4192" y="5430"/>
                  <a:pt x="4096" y="5120"/>
                  <a:pt x="3977" y="4835"/>
                </a:cubicBezTo>
                <a:lnTo>
                  <a:pt x="4644" y="4549"/>
                </a:lnTo>
                <a:lnTo>
                  <a:pt x="5382" y="4549"/>
                </a:lnTo>
                <a:lnTo>
                  <a:pt x="5382" y="4573"/>
                </a:lnTo>
                <a:cubicBezTo>
                  <a:pt x="5525" y="4977"/>
                  <a:pt x="5906" y="5311"/>
                  <a:pt x="6383" y="5311"/>
                </a:cubicBezTo>
                <a:lnTo>
                  <a:pt x="11455" y="5311"/>
                </a:lnTo>
                <a:lnTo>
                  <a:pt x="11455" y="3144"/>
                </a:lnTo>
                <a:lnTo>
                  <a:pt x="6383" y="3144"/>
                </a:lnTo>
                <a:cubicBezTo>
                  <a:pt x="5906" y="3144"/>
                  <a:pt x="5525" y="3430"/>
                  <a:pt x="5382" y="3882"/>
                </a:cubicBezTo>
                <a:lnTo>
                  <a:pt x="4477" y="3882"/>
                </a:lnTo>
                <a:lnTo>
                  <a:pt x="3572" y="4263"/>
                </a:lnTo>
                <a:cubicBezTo>
                  <a:pt x="3287" y="4001"/>
                  <a:pt x="2929" y="3787"/>
                  <a:pt x="2548" y="3691"/>
                </a:cubicBezTo>
                <a:lnTo>
                  <a:pt x="3453" y="1405"/>
                </a:lnTo>
                <a:lnTo>
                  <a:pt x="4335" y="1405"/>
                </a:lnTo>
                <a:cubicBezTo>
                  <a:pt x="4477" y="1810"/>
                  <a:pt x="4882" y="2144"/>
                  <a:pt x="5359" y="2144"/>
                </a:cubicBezTo>
                <a:lnTo>
                  <a:pt x="10407" y="2144"/>
                </a:lnTo>
                <a:lnTo>
                  <a:pt x="10407" y="0"/>
                </a:lnTo>
                <a:close/>
              </a:path>
            </a:pathLst>
          </a:custGeom>
          <a:solidFill>
            <a:schemeClr val="tx1">
              <a:lumMod val="40000"/>
              <a:lumOff val="60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solidFill>
                <a:srgbClr val="F3F6F7"/>
              </a:solidFill>
            </a:endParaRPr>
          </a:p>
        </p:txBody>
      </p:sp>
      <p:sp>
        <p:nvSpPr>
          <p:cNvPr id="17" name="Google Shape;324;p35">
            <a:extLst>
              <a:ext uri="{FF2B5EF4-FFF2-40B4-BE49-F238E27FC236}">
                <a16:creationId xmlns:a16="http://schemas.microsoft.com/office/drawing/2014/main" id="{5814F0E0-54A2-2B2F-26C1-322D5672FDD6}"/>
              </a:ext>
            </a:extLst>
          </p:cNvPr>
          <p:cNvSpPr/>
          <p:nvPr/>
        </p:nvSpPr>
        <p:spPr>
          <a:xfrm>
            <a:off x="6526568" y="1714431"/>
            <a:ext cx="438916" cy="438919"/>
          </a:xfrm>
          <a:custGeom>
            <a:avLst/>
            <a:gdLst/>
            <a:ahLst/>
            <a:cxnLst/>
            <a:rect l="l" t="t" r="r" b="b"/>
            <a:pathLst>
              <a:path w="11503" h="11479" extrusionOk="0">
                <a:moveTo>
                  <a:pt x="10169" y="2429"/>
                </a:moveTo>
                <a:cubicBezTo>
                  <a:pt x="10360" y="2429"/>
                  <a:pt x="10550" y="2620"/>
                  <a:pt x="10550" y="2834"/>
                </a:cubicBezTo>
                <a:cubicBezTo>
                  <a:pt x="10550" y="3024"/>
                  <a:pt x="10360" y="3215"/>
                  <a:pt x="10169" y="3215"/>
                </a:cubicBezTo>
                <a:cubicBezTo>
                  <a:pt x="9955" y="3215"/>
                  <a:pt x="9764" y="3024"/>
                  <a:pt x="9764" y="2834"/>
                </a:cubicBezTo>
                <a:cubicBezTo>
                  <a:pt x="9764" y="2620"/>
                  <a:pt x="9931" y="2429"/>
                  <a:pt x="10169" y="2429"/>
                </a:cubicBezTo>
                <a:close/>
                <a:moveTo>
                  <a:pt x="8669" y="4763"/>
                </a:moveTo>
                <a:cubicBezTo>
                  <a:pt x="8883" y="4763"/>
                  <a:pt x="9050" y="4930"/>
                  <a:pt x="9050" y="5144"/>
                </a:cubicBezTo>
                <a:cubicBezTo>
                  <a:pt x="9050" y="5358"/>
                  <a:pt x="8883" y="5525"/>
                  <a:pt x="8669" y="5525"/>
                </a:cubicBezTo>
                <a:cubicBezTo>
                  <a:pt x="8454" y="5525"/>
                  <a:pt x="8288" y="5358"/>
                  <a:pt x="8288" y="5144"/>
                </a:cubicBezTo>
                <a:cubicBezTo>
                  <a:pt x="8288" y="4930"/>
                  <a:pt x="8454" y="4763"/>
                  <a:pt x="8669" y="4763"/>
                </a:cubicBezTo>
                <a:close/>
                <a:moveTo>
                  <a:pt x="4335" y="5358"/>
                </a:moveTo>
                <a:cubicBezTo>
                  <a:pt x="4525" y="5358"/>
                  <a:pt x="4716" y="5525"/>
                  <a:pt x="4716" y="5739"/>
                </a:cubicBezTo>
                <a:cubicBezTo>
                  <a:pt x="4716" y="5954"/>
                  <a:pt x="4525" y="6120"/>
                  <a:pt x="4335" y="6120"/>
                </a:cubicBezTo>
                <a:cubicBezTo>
                  <a:pt x="4120" y="6120"/>
                  <a:pt x="3930" y="5954"/>
                  <a:pt x="3930" y="5739"/>
                </a:cubicBezTo>
                <a:cubicBezTo>
                  <a:pt x="3906" y="5525"/>
                  <a:pt x="4096" y="5358"/>
                  <a:pt x="4335" y="5358"/>
                </a:cubicBezTo>
                <a:close/>
                <a:moveTo>
                  <a:pt x="6716" y="6811"/>
                </a:moveTo>
                <a:cubicBezTo>
                  <a:pt x="6906" y="6811"/>
                  <a:pt x="7097" y="6978"/>
                  <a:pt x="7097" y="7192"/>
                </a:cubicBezTo>
                <a:cubicBezTo>
                  <a:pt x="7097" y="7406"/>
                  <a:pt x="6906" y="7573"/>
                  <a:pt x="6716" y="7573"/>
                </a:cubicBezTo>
                <a:cubicBezTo>
                  <a:pt x="6502" y="7573"/>
                  <a:pt x="6311" y="7406"/>
                  <a:pt x="6311" y="7192"/>
                </a:cubicBezTo>
                <a:cubicBezTo>
                  <a:pt x="6311" y="6978"/>
                  <a:pt x="6478" y="6811"/>
                  <a:pt x="6716" y="6811"/>
                </a:cubicBezTo>
                <a:close/>
                <a:moveTo>
                  <a:pt x="2715" y="7740"/>
                </a:moveTo>
                <a:cubicBezTo>
                  <a:pt x="2929" y="7740"/>
                  <a:pt x="3096" y="7906"/>
                  <a:pt x="3096" y="8121"/>
                </a:cubicBezTo>
                <a:cubicBezTo>
                  <a:pt x="3096" y="8335"/>
                  <a:pt x="2929" y="8502"/>
                  <a:pt x="2715" y="8502"/>
                </a:cubicBezTo>
                <a:cubicBezTo>
                  <a:pt x="2501" y="8502"/>
                  <a:pt x="2334" y="8335"/>
                  <a:pt x="2334" y="8121"/>
                </a:cubicBezTo>
                <a:cubicBezTo>
                  <a:pt x="2334" y="7906"/>
                  <a:pt x="2501" y="7740"/>
                  <a:pt x="2715" y="7740"/>
                </a:cubicBezTo>
                <a:close/>
                <a:moveTo>
                  <a:pt x="0" y="0"/>
                </a:moveTo>
                <a:lnTo>
                  <a:pt x="0" y="11479"/>
                </a:lnTo>
                <a:lnTo>
                  <a:pt x="11503" y="11479"/>
                </a:lnTo>
                <a:lnTo>
                  <a:pt x="11503" y="10264"/>
                </a:lnTo>
                <a:lnTo>
                  <a:pt x="10836" y="10264"/>
                </a:lnTo>
                <a:lnTo>
                  <a:pt x="10836" y="10288"/>
                </a:lnTo>
                <a:lnTo>
                  <a:pt x="10836" y="10836"/>
                </a:lnTo>
                <a:lnTo>
                  <a:pt x="691" y="10836"/>
                </a:lnTo>
                <a:lnTo>
                  <a:pt x="691" y="9883"/>
                </a:lnTo>
                <a:lnTo>
                  <a:pt x="2072" y="8954"/>
                </a:lnTo>
                <a:cubicBezTo>
                  <a:pt x="2243" y="9082"/>
                  <a:pt x="2490" y="9172"/>
                  <a:pt x="2746" y="9172"/>
                </a:cubicBezTo>
                <a:cubicBezTo>
                  <a:pt x="2775" y="9172"/>
                  <a:pt x="2805" y="9171"/>
                  <a:pt x="2834" y="9169"/>
                </a:cubicBezTo>
                <a:cubicBezTo>
                  <a:pt x="3334" y="9097"/>
                  <a:pt x="3739" y="8716"/>
                  <a:pt x="3787" y="8216"/>
                </a:cubicBezTo>
                <a:cubicBezTo>
                  <a:pt x="3811" y="7930"/>
                  <a:pt x="3739" y="7668"/>
                  <a:pt x="3620" y="7478"/>
                </a:cubicBezTo>
                <a:lnTo>
                  <a:pt x="4049" y="6716"/>
                </a:lnTo>
                <a:cubicBezTo>
                  <a:pt x="4144" y="6740"/>
                  <a:pt x="4239" y="6740"/>
                  <a:pt x="4335" y="6740"/>
                </a:cubicBezTo>
                <a:cubicBezTo>
                  <a:pt x="4596" y="6740"/>
                  <a:pt x="4835" y="6668"/>
                  <a:pt x="5001" y="6478"/>
                </a:cubicBezTo>
                <a:lnTo>
                  <a:pt x="5644" y="6930"/>
                </a:lnTo>
                <a:cubicBezTo>
                  <a:pt x="5597" y="7073"/>
                  <a:pt x="5597" y="7216"/>
                  <a:pt x="5644" y="7382"/>
                </a:cubicBezTo>
                <a:cubicBezTo>
                  <a:pt x="5716" y="7787"/>
                  <a:pt x="6049" y="8121"/>
                  <a:pt x="6478" y="8168"/>
                </a:cubicBezTo>
                <a:cubicBezTo>
                  <a:pt x="6542" y="8180"/>
                  <a:pt x="6606" y="8186"/>
                  <a:pt x="6669" y="8186"/>
                </a:cubicBezTo>
                <a:cubicBezTo>
                  <a:pt x="7234" y="8186"/>
                  <a:pt x="7716" y="7723"/>
                  <a:pt x="7716" y="7144"/>
                </a:cubicBezTo>
                <a:cubicBezTo>
                  <a:pt x="7716" y="6954"/>
                  <a:pt x="7692" y="6811"/>
                  <a:pt x="7597" y="6692"/>
                </a:cubicBezTo>
                <a:lnTo>
                  <a:pt x="8169" y="6073"/>
                </a:lnTo>
                <a:cubicBezTo>
                  <a:pt x="8289" y="6124"/>
                  <a:pt x="8434" y="6163"/>
                  <a:pt x="8585" y="6163"/>
                </a:cubicBezTo>
                <a:cubicBezTo>
                  <a:pt x="8644" y="6163"/>
                  <a:pt x="8704" y="6157"/>
                  <a:pt x="8764" y="6144"/>
                </a:cubicBezTo>
                <a:cubicBezTo>
                  <a:pt x="9240" y="6097"/>
                  <a:pt x="9621" y="5715"/>
                  <a:pt x="9693" y="5239"/>
                </a:cubicBezTo>
                <a:cubicBezTo>
                  <a:pt x="9717" y="4906"/>
                  <a:pt x="9621" y="4620"/>
                  <a:pt x="9407" y="4406"/>
                </a:cubicBezTo>
                <a:lnTo>
                  <a:pt x="9836" y="3810"/>
                </a:lnTo>
                <a:cubicBezTo>
                  <a:pt x="9907" y="3822"/>
                  <a:pt x="9979" y="3828"/>
                  <a:pt x="10056" y="3828"/>
                </a:cubicBezTo>
                <a:cubicBezTo>
                  <a:pt x="10133" y="3828"/>
                  <a:pt x="10217" y="3822"/>
                  <a:pt x="10312" y="3810"/>
                </a:cubicBezTo>
                <a:cubicBezTo>
                  <a:pt x="10717" y="3715"/>
                  <a:pt x="11050" y="3382"/>
                  <a:pt x="11145" y="2977"/>
                </a:cubicBezTo>
                <a:cubicBezTo>
                  <a:pt x="11277" y="2319"/>
                  <a:pt x="10762" y="1701"/>
                  <a:pt x="10121" y="1701"/>
                </a:cubicBezTo>
                <a:cubicBezTo>
                  <a:pt x="10067" y="1701"/>
                  <a:pt x="10011" y="1705"/>
                  <a:pt x="9955" y="1715"/>
                </a:cubicBezTo>
                <a:cubicBezTo>
                  <a:pt x="9478" y="1786"/>
                  <a:pt x="9097" y="2167"/>
                  <a:pt x="9026" y="2667"/>
                </a:cubicBezTo>
                <a:cubicBezTo>
                  <a:pt x="9002" y="2977"/>
                  <a:pt x="9097" y="3239"/>
                  <a:pt x="9264" y="3453"/>
                </a:cubicBezTo>
                <a:lnTo>
                  <a:pt x="8859" y="4072"/>
                </a:lnTo>
                <a:cubicBezTo>
                  <a:pt x="8788" y="4048"/>
                  <a:pt x="8693" y="4048"/>
                  <a:pt x="8645" y="4048"/>
                </a:cubicBezTo>
                <a:cubicBezTo>
                  <a:pt x="8050" y="4048"/>
                  <a:pt x="7573" y="4525"/>
                  <a:pt x="7573" y="5120"/>
                </a:cubicBezTo>
                <a:cubicBezTo>
                  <a:pt x="7573" y="5287"/>
                  <a:pt x="7621" y="5477"/>
                  <a:pt x="7692" y="5620"/>
                </a:cubicBezTo>
                <a:lnTo>
                  <a:pt x="7145" y="6216"/>
                </a:lnTo>
                <a:cubicBezTo>
                  <a:pt x="7002" y="6120"/>
                  <a:pt x="6835" y="6097"/>
                  <a:pt x="6668" y="6097"/>
                </a:cubicBezTo>
                <a:cubicBezTo>
                  <a:pt x="6406" y="6097"/>
                  <a:pt x="6168" y="6192"/>
                  <a:pt x="5954" y="6358"/>
                </a:cubicBezTo>
                <a:lnTo>
                  <a:pt x="5335" y="5906"/>
                </a:lnTo>
                <a:cubicBezTo>
                  <a:pt x="5359" y="5787"/>
                  <a:pt x="5359" y="5692"/>
                  <a:pt x="5335" y="5549"/>
                </a:cubicBezTo>
                <a:cubicBezTo>
                  <a:pt x="5287" y="5096"/>
                  <a:pt x="4882" y="4691"/>
                  <a:pt x="4382" y="4644"/>
                </a:cubicBezTo>
                <a:cubicBezTo>
                  <a:pt x="4344" y="4639"/>
                  <a:pt x="4306" y="4637"/>
                  <a:pt x="4269" y="4637"/>
                </a:cubicBezTo>
                <a:cubicBezTo>
                  <a:pt x="3698" y="4637"/>
                  <a:pt x="3215" y="5134"/>
                  <a:pt x="3215" y="5715"/>
                </a:cubicBezTo>
                <a:cubicBezTo>
                  <a:pt x="3215" y="5977"/>
                  <a:pt x="3310" y="6192"/>
                  <a:pt x="3453" y="6382"/>
                </a:cubicBezTo>
                <a:lnTo>
                  <a:pt x="3049" y="7073"/>
                </a:lnTo>
                <a:cubicBezTo>
                  <a:pt x="2953" y="7049"/>
                  <a:pt x="2834" y="7025"/>
                  <a:pt x="2715" y="7025"/>
                </a:cubicBezTo>
                <a:cubicBezTo>
                  <a:pt x="2120" y="7025"/>
                  <a:pt x="1643" y="7502"/>
                  <a:pt x="1643" y="8097"/>
                </a:cubicBezTo>
                <a:cubicBezTo>
                  <a:pt x="1643" y="8168"/>
                  <a:pt x="1643" y="8264"/>
                  <a:pt x="1667" y="8359"/>
                </a:cubicBezTo>
                <a:lnTo>
                  <a:pt x="691" y="9002"/>
                </a:lnTo>
                <a:lnTo>
                  <a:pt x="691" y="691"/>
                </a:lnTo>
                <a:lnTo>
                  <a:pt x="1239" y="691"/>
                </a:lnTo>
                <a:lnTo>
                  <a:pt x="1239" y="0"/>
                </a:lnTo>
                <a:close/>
              </a:path>
            </a:pathLst>
          </a:custGeom>
          <a:solidFill>
            <a:schemeClr val="tx1">
              <a:lumMod val="40000"/>
              <a:lumOff val="60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solidFill>
                <a:srgbClr val="F3F6F7"/>
              </a:solidFill>
            </a:endParaRPr>
          </a:p>
        </p:txBody>
      </p:sp>
      <p:cxnSp>
        <p:nvCxnSpPr>
          <p:cNvPr id="4" name="Straight Connector 3">
            <a:extLst>
              <a:ext uri="{FF2B5EF4-FFF2-40B4-BE49-F238E27FC236}">
                <a16:creationId xmlns:a16="http://schemas.microsoft.com/office/drawing/2014/main" id="{FE537B8B-8E5F-34D6-0AD4-0A78A01456DB}"/>
              </a:ext>
            </a:extLst>
          </p:cNvPr>
          <p:cNvCxnSpPr/>
          <p:nvPr/>
        </p:nvCxnSpPr>
        <p:spPr>
          <a:xfrm>
            <a:off x="553195" y="3102465"/>
            <a:ext cx="4915486" cy="0"/>
          </a:xfrm>
          <a:prstGeom prst="line">
            <a:avLst/>
          </a:prstGeom>
          <a:ln w="19050">
            <a:solidFill>
              <a:srgbClr val="9378E7"/>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9D1649B-5B0B-B6A2-781B-2F1710CC16AD}"/>
              </a:ext>
            </a:extLst>
          </p:cNvPr>
          <p:cNvCxnSpPr/>
          <p:nvPr/>
        </p:nvCxnSpPr>
        <p:spPr>
          <a:xfrm>
            <a:off x="6096040" y="3074242"/>
            <a:ext cx="4915486" cy="0"/>
          </a:xfrm>
          <a:prstGeom prst="line">
            <a:avLst/>
          </a:prstGeom>
          <a:ln w="19050">
            <a:solidFill>
              <a:srgbClr val="9378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30044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4">
          <a:extLst>
            <a:ext uri="{FF2B5EF4-FFF2-40B4-BE49-F238E27FC236}">
              <a16:creationId xmlns:a16="http://schemas.microsoft.com/office/drawing/2014/main" id="{C882B74C-EF89-D4B8-F2CA-12020D890D01}"/>
            </a:ext>
          </a:extLst>
        </p:cNvPr>
        <p:cNvGrpSpPr/>
        <p:nvPr/>
      </p:nvGrpSpPr>
      <p:grpSpPr>
        <a:xfrm>
          <a:off x="0" y="0"/>
          <a:ext cx="0" cy="0"/>
          <a:chOff x="0" y="0"/>
          <a:chExt cx="0" cy="0"/>
        </a:xfrm>
      </p:grpSpPr>
      <p:sp>
        <p:nvSpPr>
          <p:cNvPr id="315" name="Google Shape;315;p35">
            <a:extLst>
              <a:ext uri="{FF2B5EF4-FFF2-40B4-BE49-F238E27FC236}">
                <a16:creationId xmlns:a16="http://schemas.microsoft.com/office/drawing/2014/main" id="{F15DCDAD-5386-EB2C-1486-0D6C7116889B}"/>
              </a:ext>
            </a:extLst>
          </p:cNvPr>
          <p:cNvSpPr txBox="1">
            <a:spLocks noGrp="1"/>
          </p:cNvSpPr>
          <p:nvPr>
            <p:ph type="title"/>
          </p:nvPr>
        </p:nvSpPr>
        <p:spPr>
          <a:xfrm>
            <a:off x="959448" y="240745"/>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4400" b="1">
                <a:solidFill>
                  <a:schemeClr val="tx1"/>
                </a:solidFill>
                <a:latin typeface="Calibri"/>
                <a:ea typeface="Calibri"/>
                <a:cs typeface="Calibri"/>
              </a:rPr>
              <a:t>Our Research Objective</a:t>
            </a:r>
            <a:endParaRPr lang="en-US">
              <a:solidFill>
                <a:schemeClr val="tx1"/>
              </a:solidFill>
            </a:endParaRPr>
          </a:p>
        </p:txBody>
      </p:sp>
      <p:sp>
        <p:nvSpPr>
          <p:cNvPr id="7" name="Google Shape;269;p31">
            <a:extLst>
              <a:ext uri="{FF2B5EF4-FFF2-40B4-BE49-F238E27FC236}">
                <a16:creationId xmlns:a16="http://schemas.microsoft.com/office/drawing/2014/main" id="{A13DC234-B2FE-6C82-CF29-F26BA72DF00A}"/>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01</a:t>
            </a:r>
          </a:p>
        </p:txBody>
      </p:sp>
      <p:sp>
        <p:nvSpPr>
          <p:cNvPr id="4" name="Flowchart: Alternate Process 3">
            <a:extLst>
              <a:ext uri="{FF2B5EF4-FFF2-40B4-BE49-F238E27FC236}">
                <a16:creationId xmlns:a16="http://schemas.microsoft.com/office/drawing/2014/main" id="{6CA3966E-367A-EED4-0310-C9B95A499CA7}"/>
              </a:ext>
            </a:extLst>
          </p:cNvPr>
          <p:cNvSpPr/>
          <p:nvPr/>
        </p:nvSpPr>
        <p:spPr>
          <a:xfrm>
            <a:off x="373683" y="1370834"/>
            <a:ext cx="3973554" cy="2626993"/>
          </a:xfrm>
          <a:prstGeom prst="flowChartAlternateProcess">
            <a:avLst/>
          </a:prstGeom>
          <a:solidFill>
            <a:srgbClr val="C5B0FF"/>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rtl="0"/>
            <a:r>
              <a:rPr lang="en-US" sz="3200" b="1" i="0" u="none" strike="noStrike" baseline="0">
                <a:solidFill>
                  <a:srgbClr val="241160"/>
                </a:solidFill>
                <a:latin typeface="Calibri"/>
                <a:ea typeface="Segoe UI"/>
                <a:cs typeface="Segoe UI"/>
              </a:rPr>
              <a:t>Main Objective</a:t>
            </a:r>
            <a:r>
              <a:rPr lang="en-US" sz="3200" b="0" i="0">
                <a:solidFill>
                  <a:srgbClr val="241160"/>
                </a:solidFill>
                <a:latin typeface="Calibri"/>
                <a:ea typeface="Segoe UI"/>
                <a:cs typeface="Segoe UI"/>
              </a:rPr>
              <a:t>​</a:t>
            </a:r>
          </a:p>
          <a:p>
            <a:endParaRPr lang="en-US" sz="2400">
              <a:solidFill>
                <a:srgbClr val="241160"/>
              </a:solidFill>
              <a:latin typeface="Calibri"/>
              <a:ea typeface="Arial"/>
              <a:cs typeface="Segoe UI"/>
            </a:endParaRPr>
          </a:p>
          <a:p>
            <a:r>
              <a:rPr lang="en-US" sz="2400" b="0" i="0" u="none" strike="noStrike" baseline="0">
                <a:solidFill>
                  <a:srgbClr val="241160"/>
                </a:solidFill>
                <a:latin typeface="Calibri"/>
                <a:ea typeface="Arial"/>
                <a:cs typeface="Arial"/>
              </a:rPr>
              <a:t>Evaluate robustness</a:t>
            </a:r>
            <a:endParaRPr lang="en-US" sz="2400">
              <a:solidFill>
                <a:srgbClr val="FFFFFF"/>
              </a:solidFill>
              <a:latin typeface="Arial"/>
              <a:ea typeface="Arial"/>
              <a:cs typeface="Arial"/>
            </a:endParaRPr>
          </a:p>
          <a:p>
            <a:r>
              <a:rPr lang="en-US" sz="2400">
                <a:solidFill>
                  <a:srgbClr val="241160"/>
                </a:solidFill>
                <a:latin typeface="Calibri"/>
                <a:ea typeface="Arial"/>
                <a:cs typeface="Arial"/>
              </a:rPr>
              <a:t> </a:t>
            </a:r>
            <a:r>
              <a:rPr lang="en-US" sz="2400" b="0" i="0" u="none" strike="noStrike" baseline="0">
                <a:solidFill>
                  <a:srgbClr val="241160"/>
                </a:solidFill>
                <a:latin typeface="Calibri"/>
                <a:ea typeface="Arial"/>
                <a:cs typeface="Arial"/>
              </a:rPr>
              <a:t>of LLM-based fake </a:t>
            </a:r>
            <a:endParaRPr lang="en-US" sz="2400">
              <a:solidFill>
                <a:srgbClr val="FFFFFF"/>
              </a:solidFill>
              <a:latin typeface="Arial"/>
              <a:ea typeface="Arial"/>
              <a:cs typeface="Arial"/>
            </a:endParaRPr>
          </a:p>
          <a:p>
            <a:pPr lvl="0" algn="l"/>
            <a:r>
              <a:rPr lang="en-US" sz="2400" b="0" i="0" u="none" strike="noStrike" baseline="0">
                <a:solidFill>
                  <a:srgbClr val="241160"/>
                </a:solidFill>
                <a:latin typeface="Calibri"/>
                <a:ea typeface="Arial"/>
                <a:cs typeface="Arial"/>
              </a:rPr>
              <a:t>review detection</a:t>
            </a:r>
            <a:endParaRPr lang="en-US" sz="2400">
              <a:cs typeface="Arial"/>
            </a:endParaRPr>
          </a:p>
        </p:txBody>
      </p:sp>
      <p:sp>
        <p:nvSpPr>
          <p:cNvPr id="9" name="Flowchart: Alternate Process 8">
            <a:extLst>
              <a:ext uri="{FF2B5EF4-FFF2-40B4-BE49-F238E27FC236}">
                <a16:creationId xmlns:a16="http://schemas.microsoft.com/office/drawing/2014/main" id="{2AC85929-2323-4F60-529F-D80A7CF838F3}"/>
              </a:ext>
            </a:extLst>
          </p:cNvPr>
          <p:cNvSpPr/>
          <p:nvPr/>
        </p:nvSpPr>
        <p:spPr>
          <a:xfrm>
            <a:off x="3306816" y="2683296"/>
            <a:ext cx="4144150" cy="2689545"/>
          </a:xfrm>
          <a:prstGeom prst="flowChartAlternateProcess">
            <a:avLst/>
          </a:prstGeom>
          <a:solidFill>
            <a:srgbClr val="DBCDF7"/>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2400" b="1">
              <a:solidFill>
                <a:srgbClr val="241160"/>
              </a:solidFill>
              <a:latin typeface="Calibri"/>
              <a:ea typeface="Arial"/>
              <a:cs typeface="Arial"/>
            </a:endParaRPr>
          </a:p>
          <a:p>
            <a:r>
              <a:rPr lang="en-US" sz="3200" b="1">
                <a:solidFill>
                  <a:srgbClr val="241160"/>
                </a:solidFill>
                <a:latin typeface="Calibri"/>
                <a:ea typeface="Arial"/>
                <a:cs typeface="Arial"/>
              </a:rPr>
              <a:t>What we</a:t>
            </a:r>
            <a:r>
              <a:rPr lang="en-US" sz="3200" b="1" i="0" u="none" strike="noStrike" baseline="0">
                <a:solidFill>
                  <a:srgbClr val="241160"/>
                </a:solidFill>
                <a:latin typeface="Calibri"/>
                <a:ea typeface="Arial"/>
                <a:cs typeface="Arial"/>
              </a:rPr>
              <a:t> </a:t>
            </a:r>
            <a:r>
              <a:rPr lang="en-US" sz="3200" b="1">
                <a:solidFill>
                  <a:srgbClr val="241160"/>
                </a:solidFill>
                <a:latin typeface="Calibri"/>
                <a:ea typeface="Arial"/>
                <a:cs typeface="Arial"/>
              </a:rPr>
              <a:t>study</a:t>
            </a:r>
            <a:endParaRPr lang="en-US" sz="3200" b="0" i="0">
              <a:solidFill>
                <a:srgbClr val="241160"/>
              </a:solidFill>
              <a:latin typeface="Calibri"/>
              <a:ea typeface="Arial"/>
              <a:cs typeface="Arial"/>
            </a:endParaRPr>
          </a:p>
          <a:p>
            <a:endParaRPr lang="en-US" sz="2400" b="1">
              <a:solidFill>
                <a:srgbClr val="241160"/>
              </a:solidFill>
              <a:latin typeface="Calibri"/>
              <a:ea typeface="Arial"/>
              <a:cs typeface="Arial"/>
            </a:endParaRPr>
          </a:p>
          <a:p>
            <a:pPr marL="457200" indent="-457200">
              <a:buAutoNum type="arabicParenR"/>
            </a:pPr>
            <a:r>
              <a:rPr lang="en-US" sz="2400">
                <a:solidFill>
                  <a:srgbClr val="241160"/>
                </a:solidFill>
                <a:latin typeface="Calibri"/>
                <a:ea typeface="Arial"/>
                <a:cs typeface="Arial"/>
              </a:rPr>
              <a:t>Sensitivity</a:t>
            </a:r>
            <a:r>
              <a:rPr lang="en-US" sz="2400" b="0" i="0" u="none" strike="noStrike" baseline="0">
                <a:solidFill>
                  <a:srgbClr val="241160"/>
                </a:solidFill>
                <a:latin typeface="Calibri"/>
                <a:ea typeface="Arial"/>
                <a:cs typeface="Arial"/>
              </a:rPr>
              <a:t> to </a:t>
            </a:r>
            <a:r>
              <a:rPr lang="en-US" sz="2400" i="0" u="none" strike="noStrike" baseline="0">
                <a:solidFill>
                  <a:srgbClr val="241160"/>
                </a:solidFill>
                <a:latin typeface="Calibri"/>
                <a:ea typeface="Arial"/>
                <a:cs typeface="Arial"/>
              </a:rPr>
              <a:t>prompt rewording</a:t>
            </a:r>
            <a:endParaRPr lang="en-US">
              <a:solidFill>
                <a:srgbClr val="FFFFFF"/>
              </a:solidFill>
              <a:latin typeface="Arial"/>
              <a:ea typeface="Arial"/>
              <a:cs typeface="Arial"/>
            </a:endParaRPr>
          </a:p>
          <a:p>
            <a:pPr marL="457200" indent="-457200">
              <a:buAutoNum type="arabicParenR"/>
            </a:pPr>
            <a:r>
              <a:rPr lang="en-US" sz="2400" b="0" i="0">
                <a:solidFill>
                  <a:srgbClr val="241160"/>
                </a:solidFill>
                <a:latin typeface="Calibri"/>
                <a:ea typeface="Arial"/>
                <a:cs typeface="Arial"/>
              </a:rPr>
              <a:t>​</a:t>
            </a:r>
            <a:r>
              <a:rPr lang="en-US" sz="2400" b="0" i="0" u="none" strike="noStrike" baseline="0">
                <a:solidFill>
                  <a:srgbClr val="241160"/>
                </a:solidFill>
                <a:latin typeface="Calibri"/>
                <a:ea typeface="Arial"/>
                <a:cs typeface="Arial"/>
              </a:rPr>
              <a:t>Performance across </a:t>
            </a:r>
            <a:r>
              <a:rPr lang="en-US" sz="2400" i="0" u="none" strike="noStrike" baseline="0">
                <a:solidFill>
                  <a:srgbClr val="241160"/>
                </a:solidFill>
                <a:latin typeface="Calibri"/>
                <a:ea typeface="Arial"/>
                <a:cs typeface="Arial"/>
              </a:rPr>
              <a:t>review lengths</a:t>
            </a:r>
            <a:r>
              <a:rPr lang="en-US" sz="2400" b="0" i="0">
                <a:solidFill>
                  <a:srgbClr val="241160"/>
                </a:solidFill>
                <a:latin typeface="Calibri"/>
                <a:ea typeface="Arial"/>
                <a:cs typeface="Arial"/>
              </a:rPr>
              <a:t>​</a:t>
            </a:r>
            <a:endParaRPr lang="en-US">
              <a:cs typeface="Arial"/>
            </a:endParaRPr>
          </a:p>
          <a:p>
            <a:pPr marL="285750" indent="-285750">
              <a:buAutoNum type="arabicParenR"/>
            </a:pPr>
            <a:endParaRPr lang="en-US">
              <a:cs typeface="Arial"/>
            </a:endParaRPr>
          </a:p>
        </p:txBody>
      </p:sp>
      <p:sp>
        <p:nvSpPr>
          <p:cNvPr id="6" name="Flowchart: Alternate Process 5">
            <a:extLst>
              <a:ext uri="{FF2B5EF4-FFF2-40B4-BE49-F238E27FC236}">
                <a16:creationId xmlns:a16="http://schemas.microsoft.com/office/drawing/2014/main" id="{7AB951AA-6514-C53E-E398-1801602C6173}"/>
              </a:ext>
            </a:extLst>
          </p:cNvPr>
          <p:cNvSpPr/>
          <p:nvPr/>
        </p:nvSpPr>
        <p:spPr>
          <a:xfrm>
            <a:off x="7231684" y="3998030"/>
            <a:ext cx="4166897" cy="2689545"/>
          </a:xfrm>
          <a:prstGeom prst="flowChartAlternateProcess">
            <a:avLst/>
          </a:prstGeom>
          <a:solidFill>
            <a:srgbClr val="F2EDFC"/>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3200" b="1">
                <a:solidFill>
                  <a:srgbClr val="241160"/>
                </a:solidFill>
                <a:latin typeface="Calibri"/>
                <a:ea typeface="Arial"/>
                <a:cs typeface="Arial"/>
              </a:rPr>
              <a:t>Our ultimate goal</a:t>
            </a:r>
            <a:r>
              <a:rPr lang="en-US" sz="3200" b="0" i="0">
                <a:solidFill>
                  <a:srgbClr val="241160"/>
                </a:solidFill>
                <a:latin typeface="Calibri"/>
                <a:ea typeface="Arial"/>
                <a:cs typeface="Arial"/>
              </a:rPr>
              <a:t>​</a:t>
            </a:r>
            <a:endParaRPr lang="en-US" sz="3200" b="0" i="0">
              <a:solidFill>
                <a:srgbClr val="241160"/>
              </a:solidFill>
              <a:latin typeface="Arial"/>
              <a:ea typeface="Arial"/>
              <a:cs typeface="Arial"/>
            </a:endParaRPr>
          </a:p>
          <a:p>
            <a:endParaRPr lang="en-US" sz="2400">
              <a:solidFill>
                <a:srgbClr val="241160"/>
              </a:solidFill>
              <a:latin typeface="Calibri"/>
              <a:ea typeface="Arial"/>
              <a:cs typeface="Arial"/>
            </a:endParaRPr>
          </a:p>
          <a:p>
            <a:r>
              <a:rPr lang="en-US" sz="2400" b="0" i="0" u="none" strike="noStrike" baseline="0">
                <a:solidFill>
                  <a:srgbClr val="241160"/>
                </a:solidFill>
                <a:latin typeface="Calibri"/>
                <a:ea typeface="Arial"/>
                <a:cs typeface="Arial"/>
              </a:rPr>
              <a:t>Move beyond accuracy </a:t>
            </a:r>
            <a:r>
              <a:rPr lang="en-US" sz="2400">
                <a:solidFill>
                  <a:srgbClr val="241160"/>
                </a:solidFill>
                <a:latin typeface="Calibri"/>
                <a:ea typeface="Arial"/>
                <a:cs typeface="Arial"/>
              </a:rPr>
              <a:t>&amp; </a:t>
            </a:r>
            <a:r>
              <a:rPr lang="en-US" sz="2400" b="0" i="0" u="none" strike="noStrike" baseline="0">
                <a:solidFill>
                  <a:srgbClr val="241160"/>
                </a:solidFill>
                <a:latin typeface="Calibri"/>
                <a:ea typeface="Arial"/>
                <a:cs typeface="Arial"/>
              </a:rPr>
              <a:t>understand </a:t>
            </a:r>
            <a:r>
              <a:rPr lang="en-US" sz="2400" i="0" u="none" strike="noStrike" baseline="0">
                <a:solidFill>
                  <a:srgbClr val="241160"/>
                </a:solidFill>
                <a:latin typeface="Calibri"/>
                <a:ea typeface="Arial"/>
                <a:cs typeface="Arial"/>
              </a:rPr>
              <a:t>prediction stability</a:t>
            </a:r>
            <a:endParaRPr lang="en-US" sz="2400">
              <a:cs typeface="Arial"/>
            </a:endParaRPr>
          </a:p>
        </p:txBody>
      </p:sp>
      <p:sp>
        <p:nvSpPr>
          <p:cNvPr id="10" name="Arrow: Bent 9">
            <a:extLst>
              <a:ext uri="{FF2B5EF4-FFF2-40B4-BE49-F238E27FC236}">
                <a16:creationId xmlns:a16="http://schemas.microsoft.com/office/drawing/2014/main" id="{8EBC6E2A-D521-AFE2-5E30-E01975304716}"/>
              </a:ext>
            </a:extLst>
          </p:cNvPr>
          <p:cNvSpPr/>
          <p:nvPr/>
        </p:nvSpPr>
        <p:spPr>
          <a:xfrm rot="5400000">
            <a:off x="4145560" y="1905850"/>
            <a:ext cx="838211" cy="44493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Bent 13">
            <a:extLst>
              <a:ext uri="{FF2B5EF4-FFF2-40B4-BE49-F238E27FC236}">
                <a16:creationId xmlns:a16="http://schemas.microsoft.com/office/drawing/2014/main" id="{6EE1FC38-8342-3021-3CC5-8C63FC14C001}"/>
              </a:ext>
            </a:extLst>
          </p:cNvPr>
          <p:cNvSpPr/>
          <p:nvPr/>
        </p:nvSpPr>
        <p:spPr>
          <a:xfrm rot="5400000">
            <a:off x="7250425" y="3202387"/>
            <a:ext cx="838211" cy="44493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6135346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F2F4A289-CE3B-928E-C8D3-33FC3461D6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EC92F5-C0DB-13CA-1188-37205480284D}"/>
              </a:ext>
            </a:extLst>
          </p:cNvPr>
          <p:cNvSpPr txBox="1"/>
          <p:nvPr/>
        </p:nvSpPr>
        <p:spPr>
          <a:xfrm>
            <a:off x="969416" y="54660"/>
            <a:ext cx="1024984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solidFill>
                  <a:srgbClr val="241160"/>
                </a:solidFill>
                <a:latin typeface="Calibri"/>
              </a:rPr>
              <a:t>Related Work- Positioning  in the Literature</a:t>
            </a:r>
            <a:endParaRPr lang="en-US" sz="4400" b="1">
              <a:latin typeface="Calibri"/>
              <a:ea typeface="Calibri"/>
              <a:cs typeface="Calibri"/>
            </a:endParaRPr>
          </a:p>
        </p:txBody>
      </p:sp>
      <p:sp>
        <p:nvSpPr>
          <p:cNvPr id="7" name="Google Shape;269;p31">
            <a:extLst>
              <a:ext uri="{FF2B5EF4-FFF2-40B4-BE49-F238E27FC236}">
                <a16:creationId xmlns:a16="http://schemas.microsoft.com/office/drawing/2014/main" id="{FB31962A-856F-3A3C-4E29-5968F7CC0CBA}"/>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02</a:t>
            </a:r>
          </a:p>
        </p:txBody>
      </p:sp>
      <p:pic>
        <p:nvPicPr>
          <p:cNvPr id="11" name="Picture 10" descr="A screenshot of a web page&#10;&#10;AI-generated content may be incorrect.">
            <a:extLst>
              <a:ext uri="{FF2B5EF4-FFF2-40B4-BE49-F238E27FC236}">
                <a16:creationId xmlns:a16="http://schemas.microsoft.com/office/drawing/2014/main" id="{F7D7D903-6C5F-7D9C-82B6-86D848DA63B0}"/>
              </a:ext>
            </a:extLst>
          </p:cNvPr>
          <p:cNvPicPr>
            <a:picLocks noChangeAspect="1"/>
          </p:cNvPicPr>
          <p:nvPr/>
        </p:nvPicPr>
        <p:blipFill>
          <a:blip r:embed="rId3"/>
          <a:stretch>
            <a:fillRect/>
          </a:stretch>
        </p:blipFill>
        <p:spPr>
          <a:xfrm>
            <a:off x="578303" y="822523"/>
            <a:ext cx="11035393" cy="6036184"/>
          </a:xfrm>
          <a:prstGeom prst="rect">
            <a:avLst/>
          </a:prstGeom>
        </p:spPr>
      </p:pic>
    </p:spTree>
    <p:extLst>
      <p:ext uri="{BB962C8B-B14F-4D97-AF65-F5344CB8AC3E}">
        <p14:creationId xmlns:p14="http://schemas.microsoft.com/office/powerpoint/2010/main" val="75857789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81430F01-8DB3-05EB-2055-B4217E2DDD4D}"/>
            </a:ext>
          </a:extLst>
        </p:cNvPr>
        <p:cNvGrpSpPr/>
        <p:nvPr/>
      </p:nvGrpSpPr>
      <p:grpSpPr>
        <a:xfrm>
          <a:off x="0" y="0"/>
          <a:ext cx="0" cy="0"/>
          <a:chOff x="0" y="0"/>
          <a:chExt cx="0" cy="0"/>
        </a:xfrm>
      </p:grpSpPr>
      <p:sp>
        <p:nvSpPr>
          <p:cNvPr id="303" name="Google Shape;303;p34">
            <a:extLst>
              <a:ext uri="{FF2B5EF4-FFF2-40B4-BE49-F238E27FC236}">
                <a16:creationId xmlns:a16="http://schemas.microsoft.com/office/drawing/2014/main" id="{6ED8F41D-79F0-FC2E-1E8B-6C3AE83F417A}"/>
              </a:ext>
            </a:extLst>
          </p:cNvPr>
          <p:cNvSpPr txBox="1">
            <a:spLocks noGrp="1"/>
          </p:cNvSpPr>
          <p:nvPr>
            <p:ph type="title"/>
          </p:nvPr>
        </p:nvSpPr>
        <p:spPr>
          <a:xfrm>
            <a:off x="960000" y="20792"/>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Positioning Our Work</a:t>
            </a:r>
          </a:p>
        </p:txBody>
      </p:sp>
      <p:sp>
        <p:nvSpPr>
          <p:cNvPr id="3" name="Google Shape;269;p31">
            <a:extLst>
              <a:ext uri="{FF2B5EF4-FFF2-40B4-BE49-F238E27FC236}">
                <a16:creationId xmlns:a16="http://schemas.microsoft.com/office/drawing/2014/main" id="{EF866A45-B7ED-79DD-55A1-96DA3F55C3B6}"/>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03</a:t>
            </a:r>
          </a:p>
        </p:txBody>
      </p:sp>
      <p:sp>
        <p:nvSpPr>
          <p:cNvPr id="2" name="TextBox 1">
            <a:extLst>
              <a:ext uri="{FF2B5EF4-FFF2-40B4-BE49-F238E27FC236}">
                <a16:creationId xmlns:a16="http://schemas.microsoft.com/office/drawing/2014/main" id="{B150159B-DA0F-4AAC-53F7-3F870FED4530}"/>
              </a:ext>
            </a:extLst>
          </p:cNvPr>
          <p:cNvSpPr txBox="1"/>
          <p:nvPr/>
        </p:nvSpPr>
        <p:spPr>
          <a:xfrm>
            <a:off x="550934" y="1397360"/>
            <a:ext cx="11461387" cy="5847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latin typeface="Calibri"/>
                <a:ea typeface="Calibri"/>
                <a:cs typeface="Calibri"/>
              </a:rPr>
              <a:t>Our work addresses both gaps by performing a task-specific robustness analysis of LLM-based fake review detection.</a:t>
            </a:r>
          </a:p>
          <a:p>
            <a:endParaRPr lang="en-US" sz="4400" b="1">
              <a:latin typeface="Calibri"/>
              <a:ea typeface="Calibri"/>
              <a:cs typeface="Calibri"/>
            </a:endParaRPr>
          </a:p>
          <a:p>
            <a:r>
              <a:rPr lang="en-US" sz="4400">
                <a:latin typeface="Calibri"/>
                <a:ea typeface="Calibri"/>
                <a:cs typeface="Calibri"/>
              </a:rPr>
              <a:t>Specifically, we evaluate how predictions change under prompt rewording and how performance varies across different review lengths.</a:t>
            </a:r>
          </a:p>
          <a:p>
            <a:endParaRPr lang="en-US" sz="1200">
              <a:solidFill>
                <a:srgbClr val="444444"/>
              </a:solidFill>
              <a:latin typeface="Calibri"/>
              <a:ea typeface="Calibri"/>
              <a:cs typeface="Calibri"/>
            </a:endParaRPr>
          </a:p>
          <a:p>
            <a:endParaRPr lang="en-US" sz="1200">
              <a:solidFill>
                <a:srgbClr val="444444"/>
              </a:solidFill>
              <a:latin typeface="Calibri"/>
              <a:ea typeface="Calibri"/>
              <a:cs typeface="Calibri"/>
            </a:endParaRPr>
          </a:p>
          <a:p>
            <a:endParaRPr lang="en-US" sz="1200">
              <a:solidFill>
                <a:srgbClr val="444444"/>
              </a:solidFill>
              <a:latin typeface="Calibri"/>
              <a:ea typeface="Calibri"/>
              <a:cs typeface="Calibri"/>
            </a:endParaRPr>
          </a:p>
          <a:p>
            <a:endParaRPr lang="en-US" sz="1200">
              <a:solidFill>
                <a:srgbClr val="444444"/>
              </a:solidFill>
              <a:latin typeface="Calibri"/>
              <a:ea typeface="Calibri"/>
              <a:cs typeface="Calibri"/>
            </a:endParaRPr>
          </a:p>
          <a:p>
            <a:pPr algn="l"/>
            <a:endParaRPr lang="en-US">
              <a:cs typeface="Arial"/>
            </a:endParaRPr>
          </a:p>
        </p:txBody>
      </p:sp>
    </p:spTree>
    <p:extLst>
      <p:ext uri="{BB962C8B-B14F-4D97-AF65-F5344CB8AC3E}">
        <p14:creationId xmlns:p14="http://schemas.microsoft.com/office/powerpoint/2010/main" val="34199465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01CB2CAA-423A-822B-36D6-0A384A604979}"/>
            </a:ext>
          </a:extLst>
        </p:cNvPr>
        <p:cNvGrpSpPr/>
        <p:nvPr/>
      </p:nvGrpSpPr>
      <p:grpSpPr>
        <a:xfrm>
          <a:off x="0" y="0"/>
          <a:ext cx="0" cy="0"/>
          <a:chOff x="0" y="0"/>
          <a:chExt cx="0" cy="0"/>
        </a:xfrm>
      </p:grpSpPr>
      <p:sp>
        <p:nvSpPr>
          <p:cNvPr id="303" name="Google Shape;303;p34">
            <a:extLst>
              <a:ext uri="{FF2B5EF4-FFF2-40B4-BE49-F238E27FC236}">
                <a16:creationId xmlns:a16="http://schemas.microsoft.com/office/drawing/2014/main" id="{2B4A4DD1-06B1-1100-4AC7-16EA3BBB1F7B}"/>
              </a:ext>
            </a:extLst>
          </p:cNvPr>
          <p:cNvSpPr txBox="1">
            <a:spLocks noGrp="1"/>
          </p:cNvSpPr>
          <p:nvPr>
            <p:ph type="title"/>
          </p:nvPr>
        </p:nvSpPr>
        <p:spPr>
          <a:xfrm>
            <a:off x="960000" y="20792"/>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Methodology: Dataset</a:t>
            </a:r>
          </a:p>
        </p:txBody>
      </p:sp>
      <p:sp>
        <p:nvSpPr>
          <p:cNvPr id="3" name="Google Shape;269;p31">
            <a:extLst>
              <a:ext uri="{FF2B5EF4-FFF2-40B4-BE49-F238E27FC236}">
                <a16:creationId xmlns:a16="http://schemas.microsoft.com/office/drawing/2014/main" id="{B8A77410-2081-63F7-7CF0-7B89C409D273}"/>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03</a:t>
            </a:r>
          </a:p>
        </p:txBody>
      </p:sp>
      <p:pic>
        <p:nvPicPr>
          <p:cNvPr id="5" name="Picture 4" descr="A diagram of a project&#10;&#10;AI-generated content may be incorrect.">
            <a:extLst>
              <a:ext uri="{FF2B5EF4-FFF2-40B4-BE49-F238E27FC236}">
                <a16:creationId xmlns:a16="http://schemas.microsoft.com/office/drawing/2014/main" id="{B8A8D6FD-A8DC-0E52-33DF-43DBD6A2C5CC}"/>
              </a:ext>
            </a:extLst>
          </p:cNvPr>
          <p:cNvPicPr>
            <a:picLocks noChangeAspect="1"/>
          </p:cNvPicPr>
          <p:nvPr/>
        </p:nvPicPr>
        <p:blipFill>
          <a:blip r:embed="rId3"/>
          <a:srcRect l="10868" t="6977" r="6883" b="4867"/>
          <a:stretch>
            <a:fillRect/>
          </a:stretch>
        </p:blipFill>
        <p:spPr>
          <a:xfrm>
            <a:off x="2130136" y="960247"/>
            <a:ext cx="8069610" cy="5894254"/>
          </a:xfrm>
          <a:prstGeom prst="rect">
            <a:avLst/>
          </a:prstGeom>
        </p:spPr>
      </p:pic>
    </p:spTree>
    <p:extLst>
      <p:ext uri="{BB962C8B-B14F-4D97-AF65-F5344CB8AC3E}">
        <p14:creationId xmlns:p14="http://schemas.microsoft.com/office/powerpoint/2010/main" val="71348372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F53AE8B2-44B0-9600-A962-91E7BAF18A7B}"/>
            </a:ext>
          </a:extLst>
        </p:cNvPr>
        <p:cNvGrpSpPr/>
        <p:nvPr/>
      </p:nvGrpSpPr>
      <p:grpSpPr>
        <a:xfrm>
          <a:off x="0" y="0"/>
          <a:ext cx="0" cy="0"/>
          <a:chOff x="0" y="0"/>
          <a:chExt cx="0" cy="0"/>
        </a:xfrm>
      </p:grpSpPr>
      <p:sp>
        <p:nvSpPr>
          <p:cNvPr id="3" name="Google Shape;269;p31">
            <a:extLst>
              <a:ext uri="{FF2B5EF4-FFF2-40B4-BE49-F238E27FC236}">
                <a16:creationId xmlns:a16="http://schemas.microsoft.com/office/drawing/2014/main" id="{D09FF180-897F-ABEE-7F58-29F8A6295DB1}"/>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03</a:t>
            </a:r>
          </a:p>
        </p:txBody>
      </p:sp>
      <p:sp>
        <p:nvSpPr>
          <p:cNvPr id="303" name="Google Shape;303;p34">
            <a:extLst>
              <a:ext uri="{FF2B5EF4-FFF2-40B4-BE49-F238E27FC236}">
                <a16:creationId xmlns:a16="http://schemas.microsoft.com/office/drawing/2014/main" id="{477D85C4-3FC6-BB52-9DEB-E66AFE037967}"/>
              </a:ext>
            </a:extLst>
          </p:cNvPr>
          <p:cNvSpPr txBox="1">
            <a:spLocks noGrp="1"/>
          </p:cNvSpPr>
          <p:nvPr>
            <p:ph type="title"/>
          </p:nvPr>
        </p:nvSpPr>
        <p:spPr>
          <a:xfrm>
            <a:off x="960000" y="401087"/>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Methodology: LLM</a:t>
            </a:r>
          </a:p>
        </p:txBody>
      </p:sp>
      <p:pic>
        <p:nvPicPr>
          <p:cNvPr id="5" name="Picture 4" descr="A diagram of a procedure&#10;&#10;AI-generated content may be incorrect.">
            <a:extLst>
              <a:ext uri="{FF2B5EF4-FFF2-40B4-BE49-F238E27FC236}">
                <a16:creationId xmlns:a16="http://schemas.microsoft.com/office/drawing/2014/main" id="{CD7A7988-F0FF-A6A0-B41F-28727018142B}"/>
              </a:ext>
            </a:extLst>
          </p:cNvPr>
          <p:cNvPicPr>
            <a:picLocks noChangeAspect="1"/>
          </p:cNvPicPr>
          <p:nvPr/>
        </p:nvPicPr>
        <p:blipFill>
          <a:blip r:embed="rId3"/>
          <a:srcRect l="11892" t="24976" r="19" b="20570"/>
          <a:stretch>
            <a:fillRect/>
          </a:stretch>
        </p:blipFill>
        <p:spPr>
          <a:xfrm>
            <a:off x="249511" y="1405216"/>
            <a:ext cx="11621598" cy="4793843"/>
          </a:xfrm>
          <a:prstGeom prst="rect">
            <a:avLst/>
          </a:prstGeom>
        </p:spPr>
      </p:pic>
    </p:spTree>
    <p:extLst>
      <p:ext uri="{BB962C8B-B14F-4D97-AF65-F5344CB8AC3E}">
        <p14:creationId xmlns:p14="http://schemas.microsoft.com/office/powerpoint/2010/main" val="3280421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3EF2DBC2-5536-2A94-A8F1-B2DBCF333842}"/>
            </a:ext>
          </a:extLst>
        </p:cNvPr>
        <p:cNvGrpSpPr/>
        <p:nvPr/>
      </p:nvGrpSpPr>
      <p:grpSpPr>
        <a:xfrm>
          <a:off x="0" y="0"/>
          <a:ext cx="0" cy="0"/>
          <a:chOff x="0" y="0"/>
          <a:chExt cx="0" cy="0"/>
        </a:xfrm>
      </p:grpSpPr>
      <p:sp>
        <p:nvSpPr>
          <p:cNvPr id="3" name="Google Shape;269;p31">
            <a:extLst>
              <a:ext uri="{FF2B5EF4-FFF2-40B4-BE49-F238E27FC236}">
                <a16:creationId xmlns:a16="http://schemas.microsoft.com/office/drawing/2014/main" id="{E42AFBE1-4193-AB81-2CD6-9D9F4D7B14BE}"/>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03</a:t>
            </a:r>
          </a:p>
        </p:txBody>
      </p:sp>
      <p:sp>
        <p:nvSpPr>
          <p:cNvPr id="303" name="Google Shape;303;p34">
            <a:extLst>
              <a:ext uri="{FF2B5EF4-FFF2-40B4-BE49-F238E27FC236}">
                <a16:creationId xmlns:a16="http://schemas.microsoft.com/office/drawing/2014/main" id="{B63B146E-A651-F86F-75CA-BEFEEED54A9F}"/>
              </a:ext>
            </a:extLst>
          </p:cNvPr>
          <p:cNvSpPr txBox="1">
            <a:spLocks noGrp="1"/>
          </p:cNvSpPr>
          <p:nvPr>
            <p:ph type="title"/>
          </p:nvPr>
        </p:nvSpPr>
        <p:spPr>
          <a:xfrm>
            <a:off x="960000" y="401087"/>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Methodology: Evaluation</a:t>
            </a:r>
          </a:p>
        </p:txBody>
      </p:sp>
      <p:pic>
        <p:nvPicPr>
          <p:cNvPr id="6" name="Picture 5" descr="A screenshot of a computer screen&#10;&#10;AI-generated content may be incorrect.">
            <a:extLst>
              <a:ext uri="{FF2B5EF4-FFF2-40B4-BE49-F238E27FC236}">
                <a16:creationId xmlns:a16="http://schemas.microsoft.com/office/drawing/2014/main" id="{D9FDB34F-6EDA-5D37-7C85-A2949B8DC38F}"/>
              </a:ext>
            </a:extLst>
          </p:cNvPr>
          <p:cNvPicPr>
            <a:picLocks noChangeAspect="1"/>
          </p:cNvPicPr>
          <p:nvPr/>
        </p:nvPicPr>
        <p:blipFill>
          <a:blip r:embed="rId3"/>
          <a:stretch>
            <a:fillRect/>
          </a:stretch>
        </p:blipFill>
        <p:spPr>
          <a:xfrm>
            <a:off x="477000" y="1737982"/>
            <a:ext cx="11240285" cy="3377038"/>
          </a:xfrm>
          <a:prstGeom prst="rect">
            <a:avLst/>
          </a:prstGeom>
        </p:spPr>
      </p:pic>
    </p:spTree>
    <p:extLst>
      <p:ext uri="{BB962C8B-B14F-4D97-AF65-F5344CB8AC3E}">
        <p14:creationId xmlns:p14="http://schemas.microsoft.com/office/powerpoint/2010/main" val="72010886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9C62217-2355-414B-98F5-DBADC14FE3EB}"/>
            </a:ext>
          </a:extLst>
        </p:cNvPr>
        <p:cNvGrpSpPr/>
        <p:nvPr/>
      </p:nvGrpSpPr>
      <p:grpSpPr>
        <a:xfrm>
          <a:off x="0" y="0"/>
          <a:ext cx="0" cy="0"/>
          <a:chOff x="0" y="0"/>
          <a:chExt cx="0" cy="0"/>
        </a:xfrm>
      </p:grpSpPr>
      <p:sp>
        <p:nvSpPr>
          <p:cNvPr id="3" name="Google Shape;269;p31">
            <a:extLst>
              <a:ext uri="{FF2B5EF4-FFF2-40B4-BE49-F238E27FC236}">
                <a16:creationId xmlns:a16="http://schemas.microsoft.com/office/drawing/2014/main" id="{C27EA332-F33D-287C-ECFE-81EFBE77A249}"/>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03</a:t>
            </a:r>
          </a:p>
        </p:txBody>
      </p:sp>
      <p:pic>
        <p:nvPicPr>
          <p:cNvPr id="2" name="Picture 1" descr="A diagram of a data processing process&#10;&#10;AI-generated content may be incorrect.">
            <a:extLst>
              <a:ext uri="{FF2B5EF4-FFF2-40B4-BE49-F238E27FC236}">
                <a16:creationId xmlns:a16="http://schemas.microsoft.com/office/drawing/2014/main" id="{A23F9325-D2A2-F9FF-940F-438507C61510}"/>
              </a:ext>
            </a:extLst>
          </p:cNvPr>
          <p:cNvPicPr>
            <a:picLocks noChangeAspect="1"/>
          </p:cNvPicPr>
          <p:nvPr/>
        </p:nvPicPr>
        <p:blipFill>
          <a:blip r:embed="rId3"/>
          <a:srcRect l="12140" t="4528" r="4005" b="-1510"/>
          <a:stretch>
            <a:fillRect/>
          </a:stretch>
        </p:blipFill>
        <p:spPr>
          <a:xfrm>
            <a:off x="2181143" y="776273"/>
            <a:ext cx="8075168" cy="6159024"/>
          </a:xfrm>
          <a:prstGeom prst="rect">
            <a:avLst/>
          </a:prstGeom>
          <a:ln>
            <a:noFill/>
          </a:ln>
        </p:spPr>
      </p:pic>
      <p:sp>
        <p:nvSpPr>
          <p:cNvPr id="303" name="Google Shape;303;p34">
            <a:extLst>
              <a:ext uri="{FF2B5EF4-FFF2-40B4-BE49-F238E27FC236}">
                <a16:creationId xmlns:a16="http://schemas.microsoft.com/office/drawing/2014/main" id="{A677E2C5-10C2-674D-F8E4-AF8504143BF7}"/>
              </a:ext>
            </a:extLst>
          </p:cNvPr>
          <p:cNvSpPr txBox="1">
            <a:spLocks noGrp="1"/>
          </p:cNvSpPr>
          <p:nvPr>
            <p:ph type="title"/>
          </p:nvPr>
        </p:nvSpPr>
        <p:spPr>
          <a:xfrm>
            <a:off x="960000" y="17039"/>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Methodology: System Architecture</a:t>
            </a:r>
          </a:p>
        </p:txBody>
      </p:sp>
    </p:spTree>
    <p:extLst>
      <p:ext uri="{BB962C8B-B14F-4D97-AF65-F5344CB8AC3E}">
        <p14:creationId xmlns:p14="http://schemas.microsoft.com/office/powerpoint/2010/main" val="93892653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CC091A96-8B78-6BE5-0FB5-2CDF76B19729}"/>
            </a:ext>
          </a:extLst>
        </p:cNvPr>
        <p:cNvGrpSpPr/>
        <p:nvPr/>
      </p:nvGrpSpPr>
      <p:grpSpPr>
        <a:xfrm>
          <a:off x="0" y="0"/>
          <a:ext cx="0" cy="0"/>
          <a:chOff x="0" y="0"/>
          <a:chExt cx="0" cy="0"/>
        </a:xfrm>
      </p:grpSpPr>
      <p:sp>
        <p:nvSpPr>
          <p:cNvPr id="303" name="Google Shape;303;p34">
            <a:extLst>
              <a:ext uri="{FF2B5EF4-FFF2-40B4-BE49-F238E27FC236}">
                <a16:creationId xmlns:a16="http://schemas.microsoft.com/office/drawing/2014/main" id="{C64244A9-A373-42AF-3C9E-D7F646A304C7}"/>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Experiment 1: </a:t>
            </a:r>
            <a:r>
              <a:rPr lang="en-US" sz="4400" b="1" err="1">
                <a:solidFill>
                  <a:srgbClr val="241160"/>
                </a:solidFill>
                <a:latin typeface="Calibri"/>
                <a:ea typeface="Calibri"/>
                <a:cs typeface="Calibri"/>
              </a:rPr>
              <a:t>RoBERTa</a:t>
            </a:r>
            <a:r>
              <a:rPr lang="en-US" sz="4400" b="1">
                <a:solidFill>
                  <a:srgbClr val="241160"/>
                </a:solidFill>
                <a:latin typeface="Calibri"/>
                <a:ea typeface="Calibri"/>
                <a:cs typeface="Calibri"/>
              </a:rPr>
              <a:t> (Fine-Tuned)</a:t>
            </a:r>
            <a:endParaRPr lang="en-US"/>
          </a:p>
        </p:txBody>
      </p:sp>
      <p:sp>
        <p:nvSpPr>
          <p:cNvPr id="3" name="Google Shape;269;p31">
            <a:extLst>
              <a:ext uri="{FF2B5EF4-FFF2-40B4-BE49-F238E27FC236}">
                <a16:creationId xmlns:a16="http://schemas.microsoft.com/office/drawing/2014/main" id="{B80A223C-6067-FF18-75DC-D6BF30E4CD5A}"/>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04</a:t>
            </a:r>
          </a:p>
        </p:txBody>
      </p:sp>
      <p:graphicFrame>
        <p:nvGraphicFramePr>
          <p:cNvPr id="18" name="Table 17">
            <a:extLst>
              <a:ext uri="{FF2B5EF4-FFF2-40B4-BE49-F238E27FC236}">
                <a16:creationId xmlns:a16="http://schemas.microsoft.com/office/drawing/2014/main" id="{D03E4E10-644A-3FB5-84C3-D67C88BDFB5B}"/>
              </a:ext>
            </a:extLst>
          </p:cNvPr>
          <p:cNvGraphicFramePr>
            <a:graphicFrameLocks noGrp="1"/>
          </p:cNvGraphicFramePr>
          <p:nvPr>
            <p:extLst>
              <p:ext uri="{D42A27DB-BD31-4B8C-83A1-F6EECF244321}">
                <p14:modId xmlns:p14="http://schemas.microsoft.com/office/powerpoint/2010/main" val="3671762004"/>
              </p:ext>
            </p:extLst>
          </p:nvPr>
        </p:nvGraphicFramePr>
        <p:xfrm>
          <a:off x="859484" y="4672950"/>
          <a:ext cx="8128000" cy="1483360"/>
        </p:xfrm>
        <a:graphic>
          <a:graphicData uri="http://schemas.openxmlformats.org/drawingml/2006/table">
            <a:tbl>
              <a:tblPr firstRow="1" bandRow="1">
                <a:tableStyleId>{B301B821-A1FF-4177-AEE7-76D212191A09}</a:tableStyleId>
              </a:tblPr>
              <a:tblGrid>
                <a:gridCol w="1625600">
                  <a:extLst>
                    <a:ext uri="{9D8B030D-6E8A-4147-A177-3AD203B41FA5}">
                      <a16:colId xmlns:a16="http://schemas.microsoft.com/office/drawing/2014/main" val="554201198"/>
                    </a:ext>
                  </a:extLst>
                </a:gridCol>
                <a:gridCol w="1625600">
                  <a:extLst>
                    <a:ext uri="{9D8B030D-6E8A-4147-A177-3AD203B41FA5}">
                      <a16:colId xmlns:a16="http://schemas.microsoft.com/office/drawing/2014/main" val="3506137152"/>
                    </a:ext>
                  </a:extLst>
                </a:gridCol>
                <a:gridCol w="1625600">
                  <a:extLst>
                    <a:ext uri="{9D8B030D-6E8A-4147-A177-3AD203B41FA5}">
                      <a16:colId xmlns:a16="http://schemas.microsoft.com/office/drawing/2014/main" val="1492002041"/>
                    </a:ext>
                  </a:extLst>
                </a:gridCol>
                <a:gridCol w="1625600">
                  <a:extLst>
                    <a:ext uri="{9D8B030D-6E8A-4147-A177-3AD203B41FA5}">
                      <a16:colId xmlns:a16="http://schemas.microsoft.com/office/drawing/2014/main" val="1429018363"/>
                    </a:ext>
                  </a:extLst>
                </a:gridCol>
                <a:gridCol w="1625600">
                  <a:extLst>
                    <a:ext uri="{9D8B030D-6E8A-4147-A177-3AD203B41FA5}">
                      <a16:colId xmlns:a16="http://schemas.microsoft.com/office/drawing/2014/main" val="1491969681"/>
                    </a:ext>
                  </a:extLst>
                </a:gridCol>
              </a:tblGrid>
              <a:tr h="370840">
                <a:tc>
                  <a:txBody>
                    <a:bodyPr/>
                    <a:lstStyle/>
                    <a:p>
                      <a:pPr algn="ctr"/>
                      <a:r>
                        <a:rPr lang="es-ES">
                          <a:latin typeface="Calibri"/>
                          <a:ea typeface="Calibri"/>
                          <a:cs typeface="Calibri"/>
                        </a:rPr>
                        <a:t>Length</a:t>
                      </a:r>
                      <a:endParaRPr lang="en-US">
                        <a:latin typeface="Calibri"/>
                        <a:ea typeface="Calibri"/>
                        <a:cs typeface="Calibri"/>
                      </a:endParaRPr>
                    </a:p>
                  </a:txBody>
                  <a:tcPr/>
                </a:tc>
                <a:tc>
                  <a:txBody>
                    <a:bodyPr/>
                    <a:lstStyle/>
                    <a:p>
                      <a:pPr algn="ctr"/>
                      <a:r>
                        <a:rPr lang="es-ES">
                          <a:latin typeface="Calibri"/>
                          <a:ea typeface="Calibri"/>
                          <a:cs typeface="Calibri"/>
                        </a:rPr>
                        <a:t>Accuracy</a:t>
                      </a:r>
                      <a:endParaRPr lang="en-US">
                        <a:latin typeface="Calibri"/>
                        <a:ea typeface="Calibri"/>
                        <a:cs typeface="Calibri"/>
                      </a:endParaRPr>
                    </a:p>
                  </a:txBody>
                  <a:tcPr/>
                </a:tc>
                <a:tc>
                  <a:txBody>
                    <a:bodyPr/>
                    <a:lstStyle/>
                    <a:p>
                      <a:pPr algn="ctr"/>
                      <a:r>
                        <a:rPr lang="es-ES">
                          <a:latin typeface="Calibri"/>
                          <a:ea typeface="Calibri"/>
                          <a:cs typeface="Calibri"/>
                        </a:rPr>
                        <a:t>Precision</a:t>
                      </a:r>
                      <a:endParaRPr lang="en-US">
                        <a:latin typeface="Calibri"/>
                        <a:ea typeface="Calibri"/>
                        <a:cs typeface="Calibri"/>
                      </a:endParaRPr>
                    </a:p>
                  </a:txBody>
                  <a:tcPr/>
                </a:tc>
                <a:tc>
                  <a:txBody>
                    <a:bodyPr/>
                    <a:lstStyle/>
                    <a:p>
                      <a:pPr algn="ctr"/>
                      <a:r>
                        <a:rPr lang="es-ES">
                          <a:latin typeface="Calibri"/>
                          <a:ea typeface="Calibri"/>
                          <a:cs typeface="Calibri"/>
                        </a:rPr>
                        <a:t>Recall</a:t>
                      </a:r>
                      <a:endParaRPr lang="en-US">
                        <a:latin typeface="Calibri"/>
                        <a:ea typeface="Calibri"/>
                        <a:cs typeface="Calibri"/>
                      </a:endParaRPr>
                    </a:p>
                  </a:txBody>
                  <a:tcPr/>
                </a:tc>
                <a:tc>
                  <a:txBody>
                    <a:bodyPr/>
                    <a:lstStyle/>
                    <a:p>
                      <a:pPr algn="ctr"/>
                      <a:r>
                        <a:rPr lang="es-ES">
                          <a:latin typeface="Calibri"/>
                          <a:ea typeface="Calibri"/>
                          <a:cs typeface="Calibri"/>
                        </a:rPr>
                        <a:t>F1</a:t>
                      </a:r>
                      <a:endParaRPr lang="en-US">
                        <a:latin typeface="Calibri"/>
                        <a:ea typeface="Calibri"/>
                        <a:cs typeface="Calibri"/>
                      </a:endParaRPr>
                    </a:p>
                  </a:txBody>
                  <a:tcPr/>
                </a:tc>
                <a:extLst>
                  <a:ext uri="{0D108BD9-81ED-4DB2-BD59-A6C34878D82A}">
                    <a16:rowId xmlns:a16="http://schemas.microsoft.com/office/drawing/2014/main" val="4255206335"/>
                  </a:ext>
                </a:extLst>
              </a:tr>
              <a:tr h="370840">
                <a:tc>
                  <a:txBody>
                    <a:bodyPr/>
                    <a:lstStyle/>
                    <a:p>
                      <a:pPr algn="ctr"/>
                      <a:r>
                        <a:rPr lang="es-ES">
                          <a:latin typeface="Calibri"/>
                          <a:ea typeface="Calibri"/>
                          <a:cs typeface="Calibri"/>
                        </a:rPr>
                        <a:t>Short</a:t>
                      </a:r>
                      <a:endParaRPr lang="en-US">
                        <a:latin typeface="Calibri"/>
                        <a:ea typeface="Calibri"/>
                        <a:cs typeface="Calibri"/>
                      </a:endParaRPr>
                    </a:p>
                  </a:txBody>
                  <a:tcPr/>
                </a:tc>
                <a:tc>
                  <a:txBody>
                    <a:bodyPr/>
                    <a:lstStyle/>
                    <a:p>
                      <a:pPr algn="ctr"/>
                      <a:r>
                        <a:rPr lang="es-ES">
                          <a:latin typeface="Calibri"/>
                          <a:ea typeface="Calibri"/>
                          <a:cs typeface="Calibri"/>
                        </a:rPr>
                        <a:t>0.70</a:t>
                      </a:r>
                      <a:endParaRPr lang="en-US">
                        <a:latin typeface="Calibri"/>
                        <a:ea typeface="Calibri"/>
                        <a:cs typeface="Calibri"/>
                      </a:endParaRPr>
                    </a:p>
                  </a:txBody>
                  <a:tcPr/>
                </a:tc>
                <a:tc>
                  <a:txBody>
                    <a:bodyPr/>
                    <a:lstStyle/>
                    <a:p>
                      <a:pPr algn="ctr"/>
                      <a:r>
                        <a:rPr lang="es-ES">
                          <a:latin typeface="Calibri"/>
                          <a:ea typeface="Calibri"/>
                          <a:cs typeface="Calibri"/>
                        </a:rPr>
                        <a:t>0.66</a:t>
                      </a:r>
                      <a:endParaRPr lang="en-US">
                        <a:latin typeface="Calibri"/>
                        <a:ea typeface="Calibri"/>
                        <a:cs typeface="Calibri"/>
                      </a:endParaRPr>
                    </a:p>
                  </a:txBody>
                  <a:tcPr/>
                </a:tc>
                <a:tc>
                  <a:txBody>
                    <a:bodyPr/>
                    <a:lstStyle/>
                    <a:p>
                      <a:pPr algn="ctr"/>
                      <a:r>
                        <a:rPr lang="es-ES">
                          <a:highlight>
                            <a:srgbClr val="FFFF00"/>
                          </a:highlight>
                          <a:latin typeface="Calibri"/>
                          <a:ea typeface="Calibri"/>
                          <a:cs typeface="Calibri"/>
                        </a:rPr>
                        <a:t>0.69</a:t>
                      </a:r>
                      <a:endParaRPr lang="en-US">
                        <a:highlight>
                          <a:srgbClr val="FFFF00"/>
                        </a:highlight>
                        <a:latin typeface="Calibri"/>
                        <a:ea typeface="Calibri"/>
                        <a:cs typeface="Calibri"/>
                      </a:endParaRPr>
                    </a:p>
                  </a:txBody>
                  <a:tcPr/>
                </a:tc>
                <a:tc>
                  <a:txBody>
                    <a:bodyPr/>
                    <a:lstStyle/>
                    <a:p>
                      <a:pPr algn="ctr"/>
                      <a:r>
                        <a:rPr lang="es-ES">
                          <a:highlight>
                            <a:srgbClr val="FFFF00"/>
                          </a:highlight>
                          <a:latin typeface="Calibri"/>
                          <a:ea typeface="Calibri"/>
                          <a:cs typeface="Calibri"/>
                        </a:rPr>
                        <a:t>0.68</a:t>
                      </a:r>
                      <a:endParaRPr lang="en-US">
                        <a:highlight>
                          <a:srgbClr val="FFFF00"/>
                        </a:highlight>
                        <a:latin typeface="Calibri"/>
                        <a:ea typeface="Calibri"/>
                        <a:cs typeface="Calibri"/>
                      </a:endParaRPr>
                    </a:p>
                  </a:txBody>
                  <a:tcPr/>
                </a:tc>
                <a:extLst>
                  <a:ext uri="{0D108BD9-81ED-4DB2-BD59-A6C34878D82A}">
                    <a16:rowId xmlns:a16="http://schemas.microsoft.com/office/drawing/2014/main" val="483639797"/>
                  </a:ext>
                </a:extLst>
              </a:tr>
              <a:tr h="370840">
                <a:tc>
                  <a:txBody>
                    <a:bodyPr/>
                    <a:lstStyle/>
                    <a:p>
                      <a:pPr algn="ctr"/>
                      <a:r>
                        <a:rPr lang="es-ES">
                          <a:latin typeface="Calibri"/>
                          <a:ea typeface="Calibri"/>
                          <a:cs typeface="Calibri"/>
                        </a:rPr>
                        <a:t>Medium</a:t>
                      </a:r>
                      <a:endParaRPr lang="en-US">
                        <a:latin typeface="Calibri"/>
                        <a:ea typeface="Calibri"/>
                        <a:cs typeface="Calibri"/>
                      </a:endParaRPr>
                    </a:p>
                  </a:txBody>
                  <a:tcPr/>
                </a:tc>
                <a:tc>
                  <a:txBody>
                    <a:bodyPr/>
                    <a:lstStyle/>
                    <a:p>
                      <a:pPr algn="ctr"/>
                      <a:r>
                        <a:rPr lang="es-ES">
                          <a:latin typeface="Calibri"/>
                          <a:ea typeface="Calibri"/>
                          <a:cs typeface="Calibri"/>
                        </a:rPr>
                        <a:t>0.70</a:t>
                      </a:r>
                      <a:endParaRPr lang="en-US">
                        <a:latin typeface="Calibri"/>
                        <a:ea typeface="Calibri"/>
                        <a:cs typeface="Calibri"/>
                      </a:endParaRPr>
                    </a:p>
                  </a:txBody>
                  <a:tcPr/>
                </a:tc>
                <a:tc>
                  <a:txBody>
                    <a:bodyPr/>
                    <a:lstStyle/>
                    <a:p>
                      <a:pPr algn="ctr"/>
                      <a:r>
                        <a:rPr lang="es-ES">
                          <a:latin typeface="Calibri"/>
                          <a:ea typeface="Calibri"/>
                          <a:cs typeface="Calibri"/>
                        </a:rPr>
                        <a:t>0.72</a:t>
                      </a:r>
                      <a:endParaRPr lang="en-US">
                        <a:latin typeface="Calibri"/>
                        <a:ea typeface="Calibri"/>
                        <a:cs typeface="Calibri"/>
                      </a:endParaRPr>
                    </a:p>
                  </a:txBody>
                  <a:tcPr/>
                </a:tc>
                <a:tc>
                  <a:txBody>
                    <a:bodyPr/>
                    <a:lstStyle/>
                    <a:p>
                      <a:pPr algn="ctr"/>
                      <a:r>
                        <a:rPr lang="es-ES">
                          <a:highlight>
                            <a:srgbClr val="FFFF00"/>
                          </a:highlight>
                          <a:latin typeface="Calibri"/>
                          <a:ea typeface="Calibri"/>
                          <a:cs typeface="Calibri"/>
                        </a:rPr>
                        <a:t>0.84</a:t>
                      </a:r>
                      <a:endParaRPr lang="en-US">
                        <a:highlight>
                          <a:srgbClr val="FFFF00"/>
                        </a:highlight>
                        <a:latin typeface="Calibri"/>
                        <a:ea typeface="Calibri"/>
                        <a:cs typeface="Calibri"/>
                      </a:endParaRPr>
                    </a:p>
                  </a:txBody>
                  <a:tcPr/>
                </a:tc>
                <a:tc>
                  <a:txBody>
                    <a:bodyPr/>
                    <a:lstStyle/>
                    <a:p>
                      <a:pPr algn="ctr"/>
                      <a:r>
                        <a:rPr lang="es-ES">
                          <a:highlight>
                            <a:srgbClr val="FFFF00"/>
                          </a:highlight>
                          <a:latin typeface="Calibri"/>
                          <a:ea typeface="Calibri"/>
                          <a:cs typeface="Calibri"/>
                        </a:rPr>
                        <a:t>0.77</a:t>
                      </a:r>
                      <a:endParaRPr lang="en-US">
                        <a:highlight>
                          <a:srgbClr val="FFFF00"/>
                        </a:highlight>
                        <a:latin typeface="Calibri"/>
                        <a:ea typeface="Calibri"/>
                        <a:cs typeface="Calibri"/>
                      </a:endParaRPr>
                    </a:p>
                  </a:txBody>
                  <a:tcPr/>
                </a:tc>
                <a:extLst>
                  <a:ext uri="{0D108BD9-81ED-4DB2-BD59-A6C34878D82A}">
                    <a16:rowId xmlns:a16="http://schemas.microsoft.com/office/drawing/2014/main" val="1851056655"/>
                  </a:ext>
                </a:extLst>
              </a:tr>
              <a:tr h="370840">
                <a:tc>
                  <a:txBody>
                    <a:bodyPr/>
                    <a:lstStyle/>
                    <a:p>
                      <a:pPr algn="ctr"/>
                      <a:r>
                        <a:rPr lang="es-ES">
                          <a:latin typeface="Calibri"/>
                          <a:ea typeface="Calibri"/>
                          <a:cs typeface="Calibri"/>
                        </a:rPr>
                        <a:t>Long</a:t>
                      </a:r>
                      <a:endParaRPr lang="en-US">
                        <a:latin typeface="Calibri"/>
                        <a:ea typeface="Calibri"/>
                        <a:cs typeface="Calibri"/>
                      </a:endParaRPr>
                    </a:p>
                  </a:txBody>
                  <a:tcPr/>
                </a:tc>
                <a:tc>
                  <a:txBody>
                    <a:bodyPr/>
                    <a:lstStyle/>
                    <a:p>
                      <a:pPr algn="ctr"/>
                      <a:r>
                        <a:rPr lang="es-ES">
                          <a:latin typeface="Calibri"/>
                          <a:ea typeface="Calibri"/>
                          <a:cs typeface="Calibri"/>
                        </a:rPr>
                        <a:t>0.75</a:t>
                      </a:r>
                      <a:endParaRPr lang="en-US">
                        <a:latin typeface="Calibri"/>
                        <a:ea typeface="Calibri"/>
                        <a:cs typeface="Calibri"/>
                      </a:endParaRPr>
                    </a:p>
                  </a:txBody>
                  <a:tcPr/>
                </a:tc>
                <a:tc>
                  <a:txBody>
                    <a:bodyPr/>
                    <a:lstStyle/>
                    <a:p>
                      <a:pPr algn="ctr"/>
                      <a:r>
                        <a:rPr lang="es-ES">
                          <a:latin typeface="Calibri"/>
                          <a:ea typeface="Calibri"/>
                          <a:cs typeface="Calibri"/>
                        </a:rPr>
                        <a:t>0.73</a:t>
                      </a:r>
                      <a:endParaRPr lang="en-US">
                        <a:latin typeface="Calibri"/>
                        <a:ea typeface="Calibri"/>
                        <a:cs typeface="Calibri"/>
                      </a:endParaRPr>
                    </a:p>
                  </a:txBody>
                  <a:tcPr/>
                </a:tc>
                <a:tc>
                  <a:txBody>
                    <a:bodyPr/>
                    <a:lstStyle/>
                    <a:p>
                      <a:pPr algn="ctr"/>
                      <a:r>
                        <a:rPr lang="es-ES">
                          <a:highlight>
                            <a:srgbClr val="FFFF00"/>
                          </a:highlight>
                          <a:latin typeface="Calibri"/>
                          <a:ea typeface="Calibri"/>
                          <a:cs typeface="Calibri"/>
                        </a:rPr>
                        <a:t>0.71</a:t>
                      </a:r>
                      <a:endParaRPr lang="en-US">
                        <a:highlight>
                          <a:srgbClr val="FFFF00"/>
                        </a:highlight>
                        <a:latin typeface="Calibri"/>
                        <a:ea typeface="Calibri"/>
                        <a:cs typeface="Calibri"/>
                      </a:endParaRPr>
                    </a:p>
                  </a:txBody>
                  <a:tcPr/>
                </a:tc>
                <a:tc>
                  <a:txBody>
                    <a:bodyPr/>
                    <a:lstStyle/>
                    <a:p>
                      <a:pPr algn="ctr"/>
                      <a:r>
                        <a:rPr lang="es-ES">
                          <a:highlight>
                            <a:srgbClr val="FFFF00"/>
                          </a:highlight>
                          <a:latin typeface="Calibri"/>
                          <a:ea typeface="Calibri"/>
                          <a:cs typeface="Calibri"/>
                        </a:rPr>
                        <a:t>0.72</a:t>
                      </a:r>
                      <a:endParaRPr lang="en-US">
                        <a:highlight>
                          <a:srgbClr val="FFFF00"/>
                        </a:highlight>
                        <a:latin typeface="Calibri"/>
                        <a:ea typeface="Calibri"/>
                        <a:cs typeface="Calibri"/>
                      </a:endParaRPr>
                    </a:p>
                  </a:txBody>
                  <a:tcPr/>
                </a:tc>
                <a:extLst>
                  <a:ext uri="{0D108BD9-81ED-4DB2-BD59-A6C34878D82A}">
                    <a16:rowId xmlns:a16="http://schemas.microsoft.com/office/drawing/2014/main" val="2548028496"/>
                  </a:ext>
                </a:extLst>
              </a:tr>
            </a:tbl>
          </a:graphicData>
        </a:graphic>
      </p:graphicFrame>
      <p:sp>
        <p:nvSpPr>
          <p:cNvPr id="20" name="TextBox 19">
            <a:extLst>
              <a:ext uri="{FF2B5EF4-FFF2-40B4-BE49-F238E27FC236}">
                <a16:creationId xmlns:a16="http://schemas.microsoft.com/office/drawing/2014/main" id="{2D4D1BAE-FF0E-6733-B718-6BE2C843DC73}"/>
              </a:ext>
            </a:extLst>
          </p:cNvPr>
          <p:cNvSpPr txBox="1"/>
          <p:nvPr/>
        </p:nvSpPr>
        <p:spPr>
          <a:xfrm>
            <a:off x="870279" y="2704030"/>
            <a:ext cx="4255218" cy="1938992"/>
          </a:xfrm>
          <a:prstGeom prst="rect">
            <a:avLst/>
          </a:prstGeom>
          <a:noFill/>
        </p:spPr>
        <p:txBody>
          <a:bodyPr wrap="square" lIns="91440" tIns="45720" rIns="91440" bIns="45720" anchor="t">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Binary classification: Fake vs real</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Tokenization with max length 512</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Truncation and padding applied</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Trained using Hugging Face Trainer</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Batch size: 16 (train &amp; eval)</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Number of epochs: 2</a:t>
            </a:r>
          </a:p>
        </p:txBody>
      </p:sp>
      <p:sp>
        <p:nvSpPr>
          <p:cNvPr id="21" name="Rectangle 20">
            <a:extLst>
              <a:ext uri="{FF2B5EF4-FFF2-40B4-BE49-F238E27FC236}">
                <a16:creationId xmlns:a16="http://schemas.microsoft.com/office/drawing/2014/main" id="{D5710731-0458-FC4E-956E-EB57DC340749}"/>
              </a:ext>
            </a:extLst>
          </p:cNvPr>
          <p:cNvSpPr/>
          <p:nvPr/>
        </p:nvSpPr>
        <p:spPr>
          <a:xfrm>
            <a:off x="6096000" y="4473433"/>
            <a:ext cx="2610678" cy="186855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ECB78E6D-B0CE-AA54-E7B7-37F36BDDBA65}"/>
              </a:ext>
            </a:extLst>
          </p:cNvPr>
          <p:cNvCxnSpPr/>
          <p:nvPr/>
        </p:nvCxnSpPr>
        <p:spPr>
          <a:xfrm flipV="1">
            <a:off x="7394713" y="4215016"/>
            <a:ext cx="0" cy="25841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E777084-2A10-AF47-C1CE-32040D5A05A1}"/>
              </a:ext>
            </a:extLst>
          </p:cNvPr>
          <p:cNvCxnSpPr>
            <a:cxnSpLocks/>
          </p:cNvCxnSpPr>
          <p:nvPr/>
        </p:nvCxnSpPr>
        <p:spPr>
          <a:xfrm>
            <a:off x="7364896" y="4215016"/>
            <a:ext cx="332831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Flowchart: Alternate Process 27">
            <a:extLst>
              <a:ext uri="{FF2B5EF4-FFF2-40B4-BE49-F238E27FC236}">
                <a16:creationId xmlns:a16="http://schemas.microsoft.com/office/drawing/2014/main" id="{AEBE93AF-D96F-84C4-4E4A-CEE6B97AEB8F}"/>
              </a:ext>
            </a:extLst>
          </p:cNvPr>
          <p:cNvSpPr/>
          <p:nvPr/>
        </p:nvSpPr>
        <p:spPr>
          <a:xfrm>
            <a:off x="9270698" y="4515506"/>
            <a:ext cx="2795406" cy="1717143"/>
          </a:xfrm>
          <a:prstGeom prst="flowChartAlternateProcess">
            <a:avLst/>
          </a:prstGeom>
          <a:solidFill>
            <a:srgbClr val="E2E4FC"/>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3FD7B4E6-49F0-0CE8-1B51-E73F7EB35010}"/>
              </a:ext>
            </a:extLst>
          </p:cNvPr>
          <p:cNvCxnSpPr>
            <a:cxnSpLocks/>
            <a:stCxn id="28" idx="0"/>
          </p:cNvCxnSpPr>
          <p:nvPr/>
        </p:nvCxnSpPr>
        <p:spPr>
          <a:xfrm flipV="1">
            <a:off x="10668401" y="4215016"/>
            <a:ext cx="0" cy="3004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7106D0F-7139-6B42-15EE-01C10E22BFB5}"/>
              </a:ext>
            </a:extLst>
          </p:cNvPr>
          <p:cNvSpPr txBox="1"/>
          <p:nvPr/>
        </p:nvSpPr>
        <p:spPr>
          <a:xfrm>
            <a:off x="9309425" y="4596750"/>
            <a:ext cx="2717951" cy="1862048"/>
          </a:xfrm>
          <a:prstGeom prst="rect">
            <a:avLst/>
          </a:prstGeom>
          <a:noFill/>
        </p:spPr>
        <p:txBody>
          <a:bodyPr wrap="square" lIns="91440" tIns="45720" rIns="91440" bIns="45720" rtlCol="0" anchor="t">
            <a:spAutoFit/>
          </a:bodyPr>
          <a:lstStyle/>
          <a:p>
            <a:pPr marL="285750" indent="-285750">
              <a:spcAft>
                <a:spcPts val="200"/>
              </a:spcAft>
              <a:buFont typeface="Wingdings" panose="05000000000000000000" pitchFamily="2" charset="2"/>
              <a:buChar char="v"/>
            </a:pPr>
            <a:r>
              <a:rPr lang="es-ES" sz="1600" err="1">
                <a:latin typeface="Calibri"/>
                <a:ea typeface="Calibri"/>
                <a:cs typeface="Calibri"/>
              </a:rPr>
              <a:t>Consistent</a:t>
            </a:r>
            <a:r>
              <a:rPr lang="es-ES" sz="1600">
                <a:latin typeface="Calibri"/>
                <a:ea typeface="Calibri"/>
                <a:cs typeface="Calibri"/>
              </a:rPr>
              <a:t> performance </a:t>
            </a:r>
            <a:r>
              <a:rPr lang="es-ES" sz="1600" err="1">
                <a:latin typeface="Calibri"/>
                <a:ea typeface="Calibri"/>
                <a:cs typeface="Calibri"/>
              </a:rPr>
              <a:t>across</a:t>
            </a:r>
            <a:r>
              <a:rPr lang="es-ES" sz="1600">
                <a:latin typeface="Calibri"/>
                <a:ea typeface="Calibri"/>
                <a:cs typeface="Calibri"/>
              </a:rPr>
              <a:t> </a:t>
            </a:r>
            <a:r>
              <a:rPr lang="es-ES" sz="1600" err="1">
                <a:latin typeface="Calibri"/>
                <a:ea typeface="Calibri"/>
                <a:cs typeface="Calibri"/>
              </a:rPr>
              <a:t>lengths</a:t>
            </a:r>
            <a:endParaRPr lang="es-ES" sz="1600">
              <a:latin typeface="Calibri"/>
              <a:ea typeface="Calibri"/>
              <a:cs typeface="Calibri"/>
            </a:endParaRPr>
          </a:p>
          <a:p>
            <a:pPr marL="285750" indent="-285750">
              <a:spcAft>
                <a:spcPts val="200"/>
              </a:spcAft>
              <a:buFont typeface="Wingdings" panose="05000000000000000000" pitchFamily="2" charset="2"/>
              <a:buChar char="v"/>
            </a:pPr>
            <a:r>
              <a:rPr lang="es-ES" sz="1600" err="1">
                <a:latin typeface="Calibri"/>
                <a:ea typeface="Calibri"/>
                <a:cs typeface="Calibri"/>
              </a:rPr>
              <a:t>Highest</a:t>
            </a:r>
            <a:r>
              <a:rPr lang="es-ES" sz="1600">
                <a:latin typeface="Calibri"/>
                <a:ea typeface="Calibri"/>
                <a:cs typeface="Calibri"/>
              </a:rPr>
              <a:t> </a:t>
            </a:r>
            <a:r>
              <a:rPr lang="es-ES" sz="1600" err="1">
                <a:latin typeface="Calibri"/>
                <a:ea typeface="Calibri"/>
                <a:cs typeface="Calibri"/>
              </a:rPr>
              <a:t>Recall</a:t>
            </a:r>
            <a:r>
              <a:rPr lang="es-ES" sz="1600">
                <a:latin typeface="Calibri"/>
                <a:ea typeface="Calibri"/>
                <a:cs typeface="Calibri"/>
              </a:rPr>
              <a:t>: Medium </a:t>
            </a:r>
            <a:r>
              <a:rPr lang="es-ES" sz="1600" err="1">
                <a:latin typeface="Calibri"/>
                <a:ea typeface="Calibri"/>
                <a:cs typeface="Calibri"/>
              </a:rPr>
              <a:t>Rev</a:t>
            </a:r>
            <a:endParaRPr lang="es-ES" sz="1600">
              <a:latin typeface="Calibri"/>
              <a:ea typeface="Calibri"/>
              <a:cs typeface="Calibri"/>
            </a:endParaRPr>
          </a:p>
          <a:p>
            <a:pPr marL="285750" indent="-285750">
              <a:spcAft>
                <a:spcPts val="200"/>
              </a:spcAft>
              <a:buFont typeface="Wingdings" panose="05000000000000000000" pitchFamily="2" charset="2"/>
              <a:buChar char="v"/>
            </a:pPr>
            <a:r>
              <a:rPr lang="en-US" sz="1600">
                <a:latin typeface="Calibri"/>
                <a:ea typeface="Calibri"/>
                <a:cs typeface="Calibri"/>
              </a:rPr>
              <a:t>Short less context, long noise</a:t>
            </a:r>
            <a:endParaRPr lang="es-ES" sz="1600">
              <a:latin typeface="Calibri"/>
              <a:ea typeface="Calibri"/>
              <a:cs typeface="Calibri"/>
            </a:endParaRPr>
          </a:p>
          <a:p>
            <a:endParaRPr lang="en-US" sz="1400"/>
          </a:p>
        </p:txBody>
      </p:sp>
      <p:cxnSp>
        <p:nvCxnSpPr>
          <p:cNvPr id="43" name="Straight Connector 42">
            <a:extLst>
              <a:ext uri="{FF2B5EF4-FFF2-40B4-BE49-F238E27FC236}">
                <a16:creationId xmlns:a16="http://schemas.microsoft.com/office/drawing/2014/main" id="{BB245D5F-2E65-84CD-FA1C-CD2C34517548}"/>
              </a:ext>
            </a:extLst>
          </p:cNvPr>
          <p:cNvCxnSpPr>
            <a:cxnSpLocks/>
          </p:cNvCxnSpPr>
          <p:nvPr/>
        </p:nvCxnSpPr>
        <p:spPr>
          <a:xfrm>
            <a:off x="1434353" y="1356967"/>
            <a:ext cx="0" cy="276524"/>
          </a:xfrm>
          <a:prstGeom prst="line">
            <a:avLst/>
          </a:prstGeom>
          <a:ln w="38100">
            <a:solidFill>
              <a:srgbClr val="545EEA"/>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5DE178F-C2CD-BE2F-C315-728F566201FA}"/>
              </a:ext>
            </a:extLst>
          </p:cNvPr>
          <p:cNvCxnSpPr>
            <a:cxnSpLocks/>
          </p:cNvCxnSpPr>
          <p:nvPr/>
        </p:nvCxnSpPr>
        <p:spPr>
          <a:xfrm flipH="1">
            <a:off x="1415303" y="1633490"/>
            <a:ext cx="445501" cy="1"/>
          </a:xfrm>
          <a:prstGeom prst="line">
            <a:avLst/>
          </a:prstGeom>
          <a:ln w="38100">
            <a:solidFill>
              <a:srgbClr val="545EEA"/>
            </a:solidFill>
          </a:ln>
        </p:spPr>
        <p:style>
          <a:lnRef idx="1">
            <a:schemeClr val="accent1"/>
          </a:lnRef>
          <a:fillRef idx="0">
            <a:schemeClr val="accent1"/>
          </a:fillRef>
          <a:effectRef idx="0">
            <a:schemeClr val="accent1"/>
          </a:effectRef>
          <a:fontRef idx="minor">
            <a:schemeClr val="tx1"/>
          </a:fontRef>
        </p:style>
      </p:cxnSp>
      <p:sp>
        <p:nvSpPr>
          <p:cNvPr id="47" name="Right Triangle 46">
            <a:extLst>
              <a:ext uri="{FF2B5EF4-FFF2-40B4-BE49-F238E27FC236}">
                <a16:creationId xmlns:a16="http://schemas.microsoft.com/office/drawing/2014/main" id="{5A5AB9FF-954E-B936-17BF-D0AE8DB8800F}"/>
              </a:ext>
            </a:extLst>
          </p:cNvPr>
          <p:cNvSpPr/>
          <p:nvPr/>
        </p:nvSpPr>
        <p:spPr>
          <a:xfrm rot="18403339" flipH="1">
            <a:off x="1803487" y="1577261"/>
            <a:ext cx="141081" cy="112459"/>
          </a:xfrm>
          <a:prstGeom prst="rtTriangle">
            <a:avLst/>
          </a:prstGeom>
          <a:solidFill>
            <a:srgbClr val="545EE9"/>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D3FE19A6-E070-23B2-3C7F-A50858E16926}"/>
              </a:ext>
            </a:extLst>
          </p:cNvPr>
          <p:cNvSpPr txBox="1"/>
          <p:nvPr/>
        </p:nvSpPr>
        <p:spPr>
          <a:xfrm>
            <a:off x="1938417" y="1380083"/>
            <a:ext cx="10200023" cy="707886"/>
          </a:xfrm>
          <a:prstGeom prst="rect">
            <a:avLst/>
          </a:prstGeom>
          <a:noFill/>
        </p:spPr>
        <p:txBody>
          <a:bodyPr wrap="square" lIns="91440" tIns="45720" rIns="91440" bIns="45720" anchor="t">
            <a:spAutoFit/>
          </a:bodyPr>
          <a:lstStyle/>
          <a:p>
            <a:r>
              <a:rPr lang="en-US" sz="2000" b="1" err="1">
                <a:latin typeface="Calibri"/>
                <a:ea typeface="Calibri"/>
                <a:cs typeface="Calibri"/>
              </a:rPr>
              <a:t>RoBERTa’s</a:t>
            </a:r>
            <a:r>
              <a:rPr lang="en-US" sz="2000" b="1">
                <a:latin typeface="Calibri"/>
                <a:ea typeface="Calibri"/>
                <a:cs typeface="Calibri"/>
              </a:rPr>
              <a:t> ability to model contextual language makes it effective at detecting subtle signals of deception, while serving as a strong supervised benchmark for this task.</a:t>
            </a:r>
          </a:p>
        </p:txBody>
      </p:sp>
      <p:sp>
        <p:nvSpPr>
          <p:cNvPr id="53" name="Rectangle: Rounded Corners 52">
            <a:extLst>
              <a:ext uri="{FF2B5EF4-FFF2-40B4-BE49-F238E27FC236}">
                <a16:creationId xmlns:a16="http://schemas.microsoft.com/office/drawing/2014/main" id="{0B92730B-A691-F7FC-C76D-4F2FCED9C6FE}"/>
              </a:ext>
            </a:extLst>
          </p:cNvPr>
          <p:cNvSpPr/>
          <p:nvPr/>
        </p:nvSpPr>
        <p:spPr>
          <a:xfrm>
            <a:off x="960000" y="2340453"/>
            <a:ext cx="2649975" cy="3557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1123F7AB-0F3F-5CFF-99A8-582B1085C416}"/>
              </a:ext>
            </a:extLst>
          </p:cNvPr>
          <p:cNvSpPr txBox="1"/>
          <p:nvPr/>
        </p:nvSpPr>
        <p:spPr>
          <a:xfrm>
            <a:off x="1112395" y="2327585"/>
            <a:ext cx="2451280" cy="369332"/>
          </a:xfrm>
          <a:prstGeom prst="rect">
            <a:avLst/>
          </a:prstGeom>
          <a:noFill/>
        </p:spPr>
        <p:txBody>
          <a:bodyPr wrap="square" lIns="91440" tIns="45720" rIns="91440" bIns="45720" anchor="t">
            <a:spAutoFit/>
          </a:bodyPr>
          <a:lstStyle/>
          <a:p>
            <a:r>
              <a:rPr lang="en-US" b="1">
                <a:solidFill>
                  <a:schemeClr val="bg1"/>
                </a:solidFill>
                <a:latin typeface="Calibri"/>
                <a:ea typeface="Calibri"/>
                <a:cs typeface="Calibri"/>
              </a:rPr>
              <a:t>Experimental Setup</a:t>
            </a:r>
          </a:p>
        </p:txBody>
      </p:sp>
      <p:sp>
        <p:nvSpPr>
          <p:cNvPr id="2" name="TextBox 1">
            <a:extLst>
              <a:ext uri="{FF2B5EF4-FFF2-40B4-BE49-F238E27FC236}">
                <a16:creationId xmlns:a16="http://schemas.microsoft.com/office/drawing/2014/main" id="{D602BA2A-20B8-646B-E88D-0FFB521E91B6}"/>
              </a:ext>
            </a:extLst>
          </p:cNvPr>
          <p:cNvSpPr txBox="1"/>
          <p:nvPr/>
        </p:nvSpPr>
        <p:spPr>
          <a:xfrm>
            <a:off x="950975" y="195071"/>
            <a:ext cx="22067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latin typeface="Calibri"/>
                <a:ea typeface="Calibri"/>
                <a:cs typeface="Calibri"/>
              </a:rPr>
              <a:t>Results</a:t>
            </a:r>
          </a:p>
        </p:txBody>
      </p:sp>
    </p:spTree>
    <p:extLst>
      <p:ext uri="{BB962C8B-B14F-4D97-AF65-F5344CB8AC3E}">
        <p14:creationId xmlns:p14="http://schemas.microsoft.com/office/powerpoint/2010/main" val="41740453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9B016448-0821-CD29-ECC8-0F44EDF1E9A2}"/>
            </a:ext>
          </a:extLst>
        </p:cNvPr>
        <p:cNvGrpSpPr/>
        <p:nvPr/>
      </p:nvGrpSpPr>
      <p:grpSpPr>
        <a:xfrm>
          <a:off x="0" y="0"/>
          <a:ext cx="0" cy="0"/>
          <a:chOff x="0" y="0"/>
          <a:chExt cx="0" cy="0"/>
        </a:xfrm>
      </p:grpSpPr>
      <p:sp>
        <p:nvSpPr>
          <p:cNvPr id="303" name="Google Shape;303;p34">
            <a:extLst>
              <a:ext uri="{FF2B5EF4-FFF2-40B4-BE49-F238E27FC236}">
                <a16:creationId xmlns:a16="http://schemas.microsoft.com/office/drawing/2014/main" id="{EF756294-AA23-E8D0-3889-D74C085D43A2}"/>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rgbClr val="241160"/>
                </a:solidFill>
                <a:latin typeface="Calibri"/>
                <a:ea typeface="Calibri"/>
                <a:cs typeface="Calibri"/>
              </a:rPr>
              <a:t>Experiment 2: Qwen2.5-7B</a:t>
            </a:r>
            <a:endParaRPr lang="en-US"/>
          </a:p>
        </p:txBody>
      </p:sp>
      <p:sp>
        <p:nvSpPr>
          <p:cNvPr id="3" name="Google Shape;269;p31">
            <a:extLst>
              <a:ext uri="{FF2B5EF4-FFF2-40B4-BE49-F238E27FC236}">
                <a16:creationId xmlns:a16="http://schemas.microsoft.com/office/drawing/2014/main" id="{18498A4B-4EFB-9E3B-300E-6B9F37C3F2FE}"/>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04</a:t>
            </a:r>
          </a:p>
        </p:txBody>
      </p:sp>
      <p:graphicFrame>
        <p:nvGraphicFramePr>
          <p:cNvPr id="18" name="Table 17">
            <a:extLst>
              <a:ext uri="{FF2B5EF4-FFF2-40B4-BE49-F238E27FC236}">
                <a16:creationId xmlns:a16="http://schemas.microsoft.com/office/drawing/2014/main" id="{E049C8B7-BE4E-0179-BE0E-7608712B0D47}"/>
              </a:ext>
            </a:extLst>
          </p:cNvPr>
          <p:cNvGraphicFramePr>
            <a:graphicFrameLocks noGrp="1"/>
          </p:cNvGraphicFramePr>
          <p:nvPr>
            <p:extLst>
              <p:ext uri="{D42A27DB-BD31-4B8C-83A1-F6EECF244321}">
                <p14:modId xmlns:p14="http://schemas.microsoft.com/office/powerpoint/2010/main" val="4281333982"/>
              </p:ext>
            </p:extLst>
          </p:nvPr>
        </p:nvGraphicFramePr>
        <p:xfrm>
          <a:off x="859484" y="4672950"/>
          <a:ext cx="8128000" cy="1483360"/>
        </p:xfrm>
        <a:graphic>
          <a:graphicData uri="http://schemas.openxmlformats.org/drawingml/2006/table">
            <a:tbl>
              <a:tblPr firstRow="1" bandRow="1">
                <a:tableStyleId>{B301B821-A1FF-4177-AEE7-76D212191A09}</a:tableStyleId>
              </a:tblPr>
              <a:tblGrid>
                <a:gridCol w="1625600">
                  <a:extLst>
                    <a:ext uri="{9D8B030D-6E8A-4147-A177-3AD203B41FA5}">
                      <a16:colId xmlns:a16="http://schemas.microsoft.com/office/drawing/2014/main" val="554201198"/>
                    </a:ext>
                  </a:extLst>
                </a:gridCol>
                <a:gridCol w="1625600">
                  <a:extLst>
                    <a:ext uri="{9D8B030D-6E8A-4147-A177-3AD203B41FA5}">
                      <a16:colId xmlns:a16="http://schemas.microsoft.com/office/drawing/2014/main" val="3506137152"/>
                    </a:ext>
                  </a:extLst>
                </a:gridCol>
                <a:gridCol w="1625600">
                  <a:extLst>
                    <a:ext uri="{9D8B030D-6E8A-4147-A177-3AD203B41FA5}">
                      <a16:colId xmlns:a16="http://schemas.microsoft.com/office/drawing/2014/main" val="1492002041"/>
                    </a:ext>
                  </a:extLst>
                </a:gridCol>
                <a:gridCol w="1625600">
                  <a:extLst>
                    <a:ext uri="{9D8B030D-6E8A-4147-A177-3AD203B41FA5}">
                      <a16:colId xmlns:a16="http://schemas.microsoft.com/office/drawing/2014/main" val="1429018363"/>
                    </a:ext>
                  </a:extLst>
                </a:gridCol>
                <a:gridCol w="1625600">
                  <a:extLst>
                    <a:ext uri="{9D8B030D-6E8A-4147-A177-3AD203B41FA5}">
                      <a16:colId xmlns:a16="http://schemas.microsoft.com/office/drawing/2014/main" val="1491969681"/>
                    </a:ext>
                  </a:extLst>
                </a:gridCol>
              </a:tblGrid>
              <a:tr h="370840">
                <a:tc>
                  <a:txBody>
                    <a:bodyPr/>
                    <a:lstStyle/>
                    <a:p>
                      <a:pPr algn="ctr"/>
                      <a:r>
                        <a:rPr lang="es-ES">
                          <a:latin typeface="Calibri"/>
                          <a:ea typeface="Calibri"/>
                          <a:cs typeface="Calibri"/>
                        </a:rPr>
                        <a:t>Length</a:t>
                      </a:r>
                      <a:endParaRPr lang="en-US">
                        <a:latin typeface="Calibri"/>
                        <a:ea typeface="Calibri"/>
                        <a:cs typeface="Calibri"/>
                      </a:endParaRPr>
                    </a:p>
                  </a:txBody>
                  <a:tcPr/>
                </a:tc>
                <a:tc>
                  <a:txBody>
                    <a:bodyPr/>
                    <a:lstStyle/>
                    <a:p>
                      <a:pPr algn="ctr"/>
                      <a:r>
                        <a:rPr lang="es-ES">
                          <a:latin typeface="Calibri"/>
                          <a:ea typeface="Calibri"/>
                          <a:cs typeface="Calibri"/>
                        </a:rPr>
                        <a:t>Accuracy</a:t>
                      </a:r>
                      <a:endParaRPr lang="en-US">
                        <a:latin typeface="Calibri"/>
                        <a:ea typeface="Calibri"/>
                        <a:cs typeface="Calibri"/>
                      </a:endParaRPr>
                    </a:p>
                  </a:txBody>
                  <a:tcPr/>
                </a:tc>
                <a:tc>
                  <a:txBody>
                    <a:bodyPr/>
                    <a:lstStyle/>
                    <a:p>
                      <a:pPr algn="ctr"/>
                      <a:r>
                        <a:rPr lang="es-ES">
                          <a:latin typeface="Calibri"/>
                          <a:ea typeface="Calibri"/>
                          <a:cs typeface="Calibri"/>
                        </a:rPr>
                        <a:t>Precision</a:t>
                      </a:r>
                      <a:endParaRPr lang="en-US">
                        <a:latin typeface="Calibri"/>
                        <a:ea typeface="Calibri"/>
                        <a:cs typeface="Calibri"/>
                      </a:endParaRPr>
                    </a:p>
                  </a:txBody>
                  <a:tcPr/>
                </a:tc>
                <a:tc>
                  <a:txBody>
                    <a:bodyPr/>
                    <a:lstStyle/>
                    <a:p>
                      <a:pPr algn="ctr"/>
                      <a:r>
                        <a:rPr lang="es-ES">
                          <a:latin typeface="Calibri"/>
                          <a:ea typeface="Calibri"/>
                          <a:cs typeface="Calibri"/>
                        </a:rPr>
                        <a:t>Recall</a:t>
                      </a:r>
                      <a:endParaRPr lang="en-US">
                        <a:latin typeface="Calibri"/>
                        <a:ea typeface="Calibri"/>
                        <a:cs typeface="Calibri"/>
                      </a:endParaRPr>
                    </a:p>
                  </a:txBody>
                  <a:tcPr/>
                </a:tc>
                <a:tc>
                  <a:txBody>
                    <a:bodyPr/>
                    <a:lstStyle/>
                    <a:p>
                      <a:pPr algn="ctr"/>
                      <a:r>
                        <a:rPr lang="es-ES">
                          <a:latin typeface="Calibri"/>
                          <a:ea typeface="Calibri"/>
                          <a:cs typeface="Calibri"/>
                        </a:rPr>
                        <a:t>F1</a:t>
                      </a:r>
                      <a:endParaRPr lang="en-US">
                        <a:latin typeface="Calibri"/>
                        <a:ea typeface="Calibri"/>
                        <a:cs typeface="Calibri"/>
                      </a:endParaRPr>
                    </a:p>
                  </a:txBody>
                  <a:tcPr/>
                </a:tc>
                <a:extLst>
                  <a:ext uri="{0D108BD9-81ED-4DB2-BD59-A6C34878D82A}">
                    <a16:rowId xmlns:a16="http://schemas.microsoft.com/office/drawing/2014/main" val="4255206335"/>
                  </a:ext>
                </a:extLst>
              </a:tr>
              <a:tr h="370840">
                <a:tc>
                  <a:txBody>
                    <a:bodyPr/>
                    <a:lstStyle/>
                    <a:p>
                      <a:pPr algn="ctr"/>
                      <a:r>
                        <a:rPr lang="es-ES">
                          <a:latin typeface="Calibri"/>
                          <a:ea typeface="Calibri"/>
                          <a:cs typeface="Calibri"/>
                        </a:rPr>
                        <a:t>Short</a:t>
                      </a:r>
                      <a:endParaRPr lang="en-US">
                        <a:latin typeface="Calibri"/>
                        <a:ea typeface="Calibri"/>
                        <a:cs typeface="Calibri"/>
                      </a:endParaRPr>
                    </a:p>
                  </a:txBody>
                  <a:tcPr/>
                </a:tc>
                <a:tc>
                  <a:txBody>
                    <a:bodyPr/>
                    <a:lstStyle/>
                    <a:p>
                      <a:pPr algn="ctr"/>
                      <a:r>
                        <a:rPr lang="es-ES">
                          <a:latin typeface="Calibri"/>
                          <a:ea typeface="Calibri"/>
                          <a:cs typeface="Calibri"/>
                        </a:rPr>
                        <a:t>0.61</a:t>
                      </a:r>
                      <a:endParaRPr lang="en-US">
                        <a:latin typeface="Calibri"/>
                        <a:ea typeface="Calibri"/>
                        <a:cs typeface="Calibri"/>
                      </a:endParaRPr>
                    </a:p>
                  </a:txBody>
                  <a:tcPr/>
                </a:tc>
                <a:tc>
                  <a:txBody>
                    <a:bodyPr/>
                    <a:lstStyle/>
                    <a:p>
                      <a:pPr algn="ctr"/>
                      <a:r>
                        <a:rPr lang="es-ES">
                          <a:latin typeface="Calibri"/>
                          <a:ea typeface="Calibri"/>
                          <a:cs typeface="Calibri"/>
                        </a:rPr>
                        <a:t>0.62</a:t>
                      </a:r>
                      <a:endParaRPr lang="en-US">
                        <a:latin typeface="Calibri"/>
                        <a:ea typeface="Calibri"/>
                        <a:cs typeface="Calibri"/>
                      </a:endParaRPr>
                    </a:p>
                  </a:txBody>
                  <a:tcPr/>
                </a:tc>
                <a:tc>
                  <a:txBody>
                    <a:bodyPr/>
                    <a:lstStyle/>
                    <a:p>
                      <a:pPr algn="ctr"/>
                      <a:r>
                        <a:rPr lang="es-ES">
                          <a:highlight>
                            <a:srgbClr val="FFFF00"/>
                          </a:highlight>
                          <a:latin typeface="Calibri"/>
                          <a:ea typeface="Calibri"/>
                          <a:cs typeface="Calibri"/>
                        </a:rPr>
                        <a:t>0.55</a:t>
                      </a:r>
                      <a:endParaRPr lang="en-US">
                        <a:highlight>
                          <a:srgbClr val="FFFF00"/>
                        </a:highlight>
                        <a:latin typeface="Calibri"/>
                        <a:ea typeface="Calibri"/>
                        <a:cs typeface="Calibri"/>
                      </a:endParaRPr>
                    </a:p>
                  </a:txBody>
                  <a:tcPr/>
                </a:tc>
                <a:tc>
                  <a:txBody>
                    <a:bodyPr/>
                    <a:lstStyle/>
                    <a:p>
                      <a:pPr algn="ctr"/>
                      <a:r>
                        <a:rPr lang="es-ES">
                          <a:highlight>
                            <a:srgbClr val="FFFF00"/>
                          </a:highlight>
                          <a:latin typeface="Calibri"/>
                          <a:ea typeface="Calibri"/>
                          <a:cs typeface="Calibri"/>
                        </a:rPr>
                        <a:t>0.58</a:t>
                      </a:r>
                      <a:endParaRPr lang="en-US">
                        <a:highlight>
                          <a:srgbClr val="FFFF00"/>
                        </a:highlight>
                        <a:latin typeface="Calibri"/>
                        <a:ea typeface="Calibri"/>
                        <a:cs typeface="Calibri"/>
                      </a:endParaRPr>
                    </a:p>
                  </a:txBody>
                  <a:tcPr/>
                </a:tc>
                <a:extLst>
                  <a:ext uri="{0D108BD9-81ED-4DB2-BD59-A6C34878D82A}">
                    <a16:rowId xmlns:a16="http://schemas.microsoft.com/office/drawing/2014/main" val="483639797"/>
                  </a:ext>
                </a:extLst>
              </a:tr>
              <a:tr h="370840">
                <a:tc>
                  <a:txBody>
                    <a:bodyPr/>
                    <a:lstStyle/>
                    <a:p>
                      <a:pPr algn="ctr"/>
                      <a:r>
                        <a:rPr lang="es-ES">
                          <a:latin typeface="Calibri"/>
                          <a:ea typeface="Calibri"/>
                          <a:cs typeface="Calibri"/>
                        </a:rPr>
                        <a:t>Medium</a:t>
                      </a:r>
                      <a:endParaRPr lang="en-US">
                        <a:latin typeface="Calibri"/>
                        <a:ea typeface="Calibri"/>
                        <a:cs typeface="Calibri"/>
                      </a:endParaRPr>
                    </a:p>
                  </a:txBody>
                  <a:tcPr/>
                </a:tc>
                <a:tc>
                  <a:txBody>
                    <a:bodyPr/>
                    <a:lstStyle/>
                    <a:p>
                      <a:pPr algn="ctr"/>
                      <a:r>
                        <a:rPr lang="es-ES">
                          <a:latin typeface="Calibri"/>
                          <a:ea typeface="Calibri"/>
                          <a:cs typeface="Calibri"/>
                        </a:rPr>
                        <a:t>0.64</a:t>
                      </a:r>
                      <a:endParaRPr lang="en-US">
                        <a:latin typeface="Calibri"/>
                        <a:ea typeface="Calibri"/>
                        <a:cs typeface="Calibri"/>
                      </a:endParaRPr>
                    </a:p>
                  </a:txBody>
                  <a:tcPr/>
                </a:tc>
                <a:tc>
                  <a:txBody>
                    <a:bodyPr/>
                    <a:lstStyle/>
                    <a:p>
                      <a:pPr algn="ctr"/>
                      <a:r>
                        <a:rPr lang="es-ES">
                          <a:latin typeface="Calibri"/>
                          <a:ea typeface="Calibri"/>
                          <a:cs typeface="Calibri"/>
                        </a:rPr>
                        <a:t>0.60</a:t>
                      </a:r>
                      <a:endParaRPr lang="en-US">
                        <a:latin typeface="Calibri"/>
                        <a:ea typeface="Calibri"/>
                        <a:cs typeface="Calibri"/>
                      </a:endParaRPr>
                    </a:p>
                  </a:txBody>
                  <a:tcPr/>
                </a:tc>
                <a:tc>
                  <a:txBody>
                    <a:bodyPr/>
                    <a:lstStyle/>
                    <a:p>
                      <a:pPr algn="ctr"/>
                      <a:r>
                        <a:rPr lang="es-ES">
                          <a:highlight>
                            <a:srgbClr val="FFFF00"/>
                          </a:highlight>
                          <a:latin typeface="Calibri"/>
                          <a:ea typeface="Calibri"/>
                          <a:cs typeface="Calibri"/>
                        </a:rPr>
                        <a:t>0.51</a:t>
                      </a:r>
                      <a:endParaRPr lang="en-US">
                        <a:highlight>
                          <a:srgbClr val="FFFF00"/>
                        </a:highlight>
                        <a:latin typeface="Calibri"/>
                        <a:ea typeface="Calibri"/>
                        <a:cs typeface="Calibri"/>
                      </a:endParaRPr>
                    </a:p>
                  </a:txBody>
                  <a:tcPr/>
                </a:tc>
                <a:tc>
                  <a:txBody>
                    <a:bodyPr/>
                    <a:lstStyle/>
                    <a:p>
                      <a:pPr algn="ctr"/>
                      <a:r>
                        <a:rPr lang="es-ES">
                          <a:highlight>
                            <a:srgbClr val="FFFF00"/>
                          </a:highlight>
                          <a:latin typeface="Calibri"/>
                          <a:ea typeface="Calibri"/>
                          <a:cs typeface="Calibri"/>
                        </a:rPr>
                        <a:t>0.55</a:t>
                      </a:r>
                      <a:endParaRPr lang="en-US">
                        <a:highlight>
                          <a:srgbClr val="FFFF00"/>
                        </a:highlight>
                        <a:latin typeface="Calibri"/>
                        <a:ea typeface="Calibri"/>
                        <a:cs typeface="Calibri"/>
                      </a:endParaRPr>
                    </a:p>
                  </a:txBody>
                  <a:tcPr/>
                </a:tc>
                <a:extLst>
                  <a:ext uri="{0D108BD9-81ED-4DB2-BD59-A6C34878D82A}">
                    <a16:rowId xmlns:a16="http://schemas.microsoft.com/office/drawing/2014/main" val="1851056655"/>
                  </a:ext>
                </a:extLst>
              </a:tr>
              <a:tr h="370840">
                <a:tc>
                  <a:txBody>
                    <a:bodyPr/>
                    <a:lstStyle/>
                    <a:p>
                      <a:pPr algn="ctr"/>
                      <a:r>
                        <a:rPr lang="es-ES">
                          <a:latin typeface="Calibri"/>
                          <a:ea typeface="Calibri"/>
                          <a:cs typeface="Calibri"/>
                        </a:rPr>
                        <a:t>Long</a:t>
                      </a:r>
                      <a:endParaRPr lang="en-US">
                        <a:latin typeface="Calibri"/>
                        <a:ea typeface="Calibri"/>
                        <a:cs typeface="Calibri"/>
                      </a:endParaRPr>
                    </a:p>
                  </a:txBody>
                  <a:tcPr/>
                </a:tc>
                <a:tc>
                  <a:txBody>
                    <a:bodyPr/>
                    <a:lstStyle/>
                    <a:p>
                      <a:pPr algn="ctr"/>
                      <a:r>
                        <a:rPr lang="es-ES">
                          <a:latin typeface="Calibri"/>
                          <a:ea typeface="Calibri"/>
                          <a:cs typeface="Calibri"/>
                        </a:rPr>
                        <a:t>0.73</a:t>
                      </a:r>
                      <a:endParaRPr lang="en-US">
                        <a:latin typeface="Calibri"/>
                        <a:ea typeface="Calibri"/>
                        <a:cs typeface="Calibri"/>
                      </a:endParaRPr>
                    </a:p>
                  </a:txBody>
                  <a:tcPr/>
                </a:tc>
                <a:tc>
                  <a:txBody>
                    <a:bodyPr/>
                    <a:lstStyle/>
                    <a:p>
                      <a:pPr algn="ctr"/>
                      <a:r>
                        <a:rPr lang="es-ES">
                          <a:latin typeface="Calibri"/>
                          <a:ea typeface="Calibri"/>
                          <a:cs typeface="Calibri"/>
                        </a:rPr>
                        <a:t>0.66</a:t>
                      </a:r>
                      <a:endParaRPr lang="en-US">
                        <a:latin typeface="Calibri"/>
                        <a:ea typeface="Calibri"/>
                        <a:cs typeface="Calibri"/>
                      </a:endParaRPr>
                    </a:p>
                  </a:txBody>
                  <a:tcPr/>
                </a:tc>
                <a:tc>
                  <a:txBody>
                    <a:bodyPr/>
                    <a:lstStyle/>
                    <a:p>
                      <a:pPr algn="ctr"/>
                      <a:r>
                        <a:rPr lang="es-ES">
                          <a:highlight>
                            <a:srgbClr val="FFFF00"/>
                          </a:highlight>
                          <a:latin typeface="Calibri"/>
                          <a:ea typeface="Calibri"/>
                          <a:cs typeface="Calibri"/>
                        </a:rPr>
                        <a:t>0.60</a:t>
                      </a:r>
                      <a:endParaRPr lang="en-US">
                        <a:highlight>
                          <a:srgbClr val="FFFF00"/>
                        </a:highlight>
                        <a:latin typeface="Calibri"/>
                        <a:ea typeface="Calibri"/>
                        <a:cs typeface="Calibri"/>
                      </a:endParaRPr>
                    </a:p>
                  </a:txBody>
                  <a:tcPr/>
                </a:tc>
                <a:tc>
                  <a:txBody>
                    <a:bodyPr/>
                    <a:lstStyle/>
                    <a:p>
                      <a:pPr algn="ctr"/>
                      <a:r>
                        <a:rPr lang="es-ES">
                          <a:highlight>
                            <a:srgbClr val="FFFF00"/>
                          </a:highlight>
                          <a:latin typeface="Calibri"/>
                          <a:ea typeface="Calibri"/>
                          <a:cs typeface="Calibri"/>
                        </a:rPr>
                        <a:t>0.63</a:t>
                      </a:r>
                      <a:endParaRPr lang="en-US">
                        <a:highlight>
                          <a:srgbClr val="FFFF00"/>
                        </a:highlight>
                        <a:latin typeface="Calibri"/>
                        <a:ea typeface="Calibri"/>
                        <a:cs typeface="Calibri"/>
                      </a:endParaRPr>
                    </a:p>
                  </a:txBody>
                  <a:tcPr/>
                </a:tc>
                <a:extLst>
                  <a:ext uri="{0D108BD9-81ED-4DB2-BD59-A6C34878D82A}">
                    <a16:rowId xmlns:a16="http://schemas.microsoft.com/office/drawing/2014/main" val="2548028496"/>
                  </a:ext>
                </a:extLst>
              </a:tr>
            </a:tbl>
          </a:graphicData>
        </a:graphic>
      </p:graphicFrame>
      <p:sp>
        <p:nvSpPr>
          <p:cNvPr id="20" name="TextBox 19">
            <a:extLst>
              <a:ext uri="{FF2B5EF4-FFF2-40B4-BE49-F238E27FC236}">
                <a16:creationId xmlns:a16="http://schemas.microsoft.com/office/drawing/2014/main" id="{66694516-25C4-D02B-484D-74B6F87EB91F}"/>
              </a:ext>
            </a:extLst>
          </p:cNvPr>
          <p:cNvSpPr txBox="1"/>
          <p:nvPr/>
        </p:nvSpPr>
        <p:spPr>
          <a:xfrm>
            <a:off x="870278" y="2632487"/>
            <a:ext cx="5891867" cy="1938992"/>
          </a:xfrm>
          <a:prstGeom prst="rect">
            <a:avLst/>
          </a:prstGeom>
          <a:noFill/>
        </p:spPr>
        <p:txBody>
          <a:bodyPr wrap="square" lIns="91440" tIns="45720" rIns="91440" bIns="45720" anchor="t">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Zero-shot classification (Fake vs real)</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Prompt-based input (instruction format)</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Max input length: 512 tokens</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Output parsed to binary label</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No fine-tuning (pre-trained knowledge only)</a:t>
            </a:r>
          </a:p>
          <a:p>
            <a:pPr marL="285750" lvl="0" indent="-285750" eaLnBrk="0" fontAlgn="base" hangingPunct="0">
              <a:spcBef>
                <a:spcPct val="0"/>
              </a:spcBef>
              <a:spcAft>
                <a:spcPct val="0"/>
              </a:spcAft>
              <a:buFont typeface="Arial" panose="020B0604020202020204" pitchFamily="34" charset="0"/>
              <a:buChar char="•"/>
            </a:pPr>
            <a:r>
              <a:rPr lang="en-US" altLang="en-US" sz="2000">
                <a:latin typeface="Calibri"/>
                <a:ea typeface="Calibri"/>
                <a:cs typeface="Calibri"/>
              </a:rPr>
              <a:t>Same preprocessing &amp; length groups</a:t>
            </a:r>
          </a:p>
        </p:txBody>
      </p:sp>
      <p:sp>
        <p:nvSpPr>
          <p:cNvPr id="21" name="Rectangle 20">
            <a:extLst>
              <a:ext uri="{FF2B5EF4-FFF2-40B4-BE49-F238E27FC236}">
                <a16:creationId xmlns:a16="http://schemas.microsoft.com/office/drawing/2014/main" id="{63C53E2E-0D01-AB3B-1010-F0F2EF9D5E21}"/>
              </a:ext>
            </a:extLst>
          </p:cNvPr>
          <p:cNvSpPr/>
          <p:nvPr/>
        </p:nvSpPr>
        <p:spPr>
          <a:xfrm>
            <a:off x="6096000" y="4473433"/>
            <a:ext cx="2610678" cy="186855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0ABF0D3E-7600-2D68-1BD9-0ECC6EC58092}"/>
              </a:ext>
            </a:extLst>
          </p:cNvPr>
          <p:cNvCxnSpPr/>
          <p:nvPr/>
        </p:nvCxnSpPr>
        <p:spPr>
          <a:xfrm flipV="1">
            <a:off x="7394713" y="4215016"/>
            <a:ext cx="0" cy="25841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DFD7604-CEB9-72A9-3D3A-E9C07994F9F2}"/>
              </a:ext>
            </a:extLst>
          </p:cNvPr>
          <p:cNvCxnSpPr>
            <a:cxnSpLocks/>
          </p:cNvCxnSpPr>
          <p:nvPr/>
        </p:nvCxnSpPr>
        <p:spPr>
          <a:xfrm>
            <a:off x="7364896" y="4215016"/>
            <a:ext cx="332831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Flowchart: Alternate Process 27">
            <a:extLst>
              <a:ext uri="{FF2B5EF4-FFF2-40B4-BE49-F238E27FC236}">
                <a16:creationId xmlns:a16="http://schemas.microsoft.com/office/drawing/2014/main" id="{938CEE51-8EB3-BD95-7953-821073043FE5}"/>
              </a:ext>
            </a:extLst>
          </p:cNvPr>
          <p:cNvSpPr/>
          <p:nvPr/>
        </p:nvSpPr>
        <p:spPr>
          <a:xfrm>
            <a:off x="9085503" y="4515506"/>
            <a:ext cx="3018211" cy="1717143"/>
          </a:xfrm>
          <a:prstGeom prst="flowChartAlternateProcess">
            <a:avLst/>
          </a:prstGeom>
          <a:solidFill>
            <a:srgbClr val="E2E4FC"/>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15E4BD6B-D5D3-076F-14B3-2733F8ADFCD4}"/>
              </a:ext>
            </a:extLst>
          </p:cNvPr>
          <p:cNvCxnSpPr>
            <a:cxnSpLocks/>
          </p:cNvCxnSpPr>
          <p:nvPr/>
        </p:nvCxnSpPr>
        <p:spPr>
          <a:xfrm flipH="1" flipV="1">
            <a:off x="10664058" y="4215016"/>
            <a:ext cx="1" cy="3004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86BC5C3-361A-A1C4-ED5C-0FED5DECC566}"/>
              </a:ext>
            </a:extLst>
          </p:cNvPr>
          <p:cNvSpPr txBox="1"/>
          <p:nvPr/>
        </p:nvSpPr>
        <p:spPr>
          <a:xfrm>
            <a:off x="9124231" y="4596750"/>
            <a:ext cx="3039889" cy="1620957"/>
          </a:xfrm>
          <a:prstGeom prst="rect">
            <a:avLst/>
          </a:prstGeom>
          <a:noFill/>
        </p:spPr>
        <p:txBody>
          <a:bodyPr wrap="square" lIns="91440" tIns="45720" rIns="91440" bIns="45720" rtlCol="0" anchor="t">
            <a:spAutoFit/>
          </a:bodyPr>
          <a:lstStyle/>
          <a:p>
            <a:pPr marL="285750" indent="-285750">
              <a:spcAft>
                <a:spcPts val="200"/>
              </a:spcAft>
              <a:buFont typeface="Wingdings" panose="05000000000000000000" pitchFamily="2" charset="2"/>
              <a:buChar char="v"/>
            </a:pPr>
            <a:r>
              <a:rPr lang="en-US" sz="1600">
                <a:latin typeface="Calibri"/>
                <a:ea typeface="Calibri"/>
                <a:cs typeface="Calibri"/>
              </a:rPr>
              <a:t>Strong generalization without training</a:t>
            </a:r>
          </a:p>
          <a:p>
            <a:pPr marL="285750" indent="-285750">
              <a:spcAft>
                <a:spcPts val="200"/>
              </a:spcAft>
              <a:buFont typeface="Wingdings" panose="05000000000000000000" pitchFamily="2" charset="2"/>
              <a:buChar char="v"/>
            </a:pPr>
            <a:r>
              <a:rPr lang="en-US" sz="1600">
                <a:latin typeface="Calibri"/>
                <a:ea typeface="Calibri"/>
                <a:cs typeface="Calibri"/>
              </a:rPr>
              <a:t>Performance varies across lengths</a:t>
            </a:r>
          </a:p>
          <a:p>
            <a:pPr marL="285750" indent="-285750">
              <a:spcAft>
                <a:spcPts val="200"/>
              </a:spcAft>
              <a:buFont typeface="Wingdings" panose="05000000000000000000" pitchFamily="2" charset="2"/>
              <a:buChar char="v"/>
            </a:pPr>
            <a:r>
              <a:rPr lang="en-US" sz="1600">
                <a:latin typeface="Calibri"/>
                <a:ea typeface="Calibri"/>
                <a:cs typeface="Calibri"/>
              </a:rPr>
              <a:t>Long reviews: better context understanding</a:t>
            </a:r>
            <a:endParaRPr lang="en-US" sz="1400">
              <a:latin typeface="Calibri"/>
              <a:ea typeface="Calibri"/>
              <a:cs typeface="Calibri"/>
            </a:endParaRPr>
          </a:p>
        </p:txBody>
      </p:sp>
      <p:cxnSp>
        <p:nvCxnSpPr>
          <p:cNvPr id="43" name="Straight Connector 42">
            <a:extLst>
              <a:ext uri="{FF2B5EF4-FFF2-40B4-BE49-F238E27FC236}">
                <a16:creationId xmlns:a16="http://schemas.microsoft.com/office/drawing/2014/main" id="{8025E99F-B8D5-F436-B731-AFCDA28AA106}"/>
              </a:ext>
            </a:extLst>
          </p:cNvPr>
          <p:cNvCxnSpPr>
            <a:cxnSpLocks/>
          </p:cNvCxnSpPr>
          <p:nvPr/>
        </p:nvCxnSpPr>
        <p:spPr>
          <a:xfrm>
            <a:off x="1434353" y="1356967"/>
            <a:ext cx="0" cy="276524"/>
          </a:xfrm>
          <a:prstGeom prst="line">
            <a:avLst/>
          </a:prstGeom>
          <a:ln w="38100">
            <a:solidFill>
              <a:srgbClr val="545EEA"/>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6DA7EF-FF20-AE1D-6203-6E98DF418BFC}"/>
              </a:ext>
            </a:extLst>
          </p:cNvPr>
          <p:cNvCxnSpPr>
            <a:cxnSpLocks/>
          </p:cNvCxnSpPr>
          <p:nvPr/>
        </p:nvCxnSpPr>
        <p:spPr>
          <a:xfrm flipH="1">
            <a:off x="1415303" y="1633490"/>
            <a:ext cx="445501" cy="1"/>
          </a:xfrm>
          <a:prstGeom prst="line">
            <a:avLst/>
          </a:prstGeom>
          <a:ln w="38100">
            <a:solidFill>
              <a:srgbClr val="545EEA"/>
            </a:solidFill>
          </a:ln>
        </p:spPr>
        <p:style>
          <a:lnRef idx="1">
            <a:schemeClr val="accent1"/>
          </a:lnRef>
          <a:fillRef idx="0">
            <a:schemeClr val="accent1"/>
          </a:fillRef>
          <a:effectRef idx="0">
            <a:schemeClr val="accent1"/>
          </a:effectRef>
          <a:fontRef idx="minor">
            <a:schemeClr val="tx1"/>
          </a:fontRef>
        </p:style>
      </p:cxnSp>
      <p:sp>
        <p:nvSpPr>
          <p:cNvPr id="47" name="Right Triangle 46">
            <a:extLst>
              <a:ext uri="{FF2B5EF4-FFF2-40B4-BE49-F238E27FC236}">
                <a16:creationId xmlns:a16="http://schemas.microsoft.com/office/drawing/2014/main" id="{FAB8626B-40D0-D749-12D1-C6E4E648F80E}"/>
              </a:ext>
            </a:extLst>
          </p:cNvPr>
          <p:cNvSpPr/>
          <p:nvPr/>
        </p:nvSpPr>
        <p:spPr>
          <a:xfrm rot="18403339" flipH="1">
            <a:off x="1803487" y="1577261"/>
            <a:ext cx="141081" cy="112459"/>
          </a:xfrm>
          <a:prstGeom prst="rtTriangle">
            <a:avLst/>
          </a:prstGeom>
          <a:solidFill>
            <a:srgbClr val="545EE9"/>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8B7B67F7-5FDF-83D9-691E-02969CD90159}"/>
              </a:ext>
            </a:extLst>
          </p:cNvPr>
          <p:cNvSpPr txBox="1"/>
          <p:nvPr/>
        </p:nvSpPr>
        <p:spPr>
          <a:xfrm>
            <a:off x="1938417" y="1380083"/>
            <a:ext cx="10200023" cy="707886"/>
          </a:xfrm>
          <a:prstGeom prst="rect">
            <a:avLst/>
          </a:prstGeom>
          <a:noFill/>
        </p:spPr>
        <p:txBody>
          <a:bodyPr wrap="square" lIns="91440" tIns="45720" rIns="91440" bIns="45720" anchor="t">
            <a:spAutoFit/>
          </a:bodyPr>
          <a:lstStyle/>
          <a:p>
            <a:r>
              <a:rPr lang="en-US" sz="2000">
                <a:latin typeface="Calibri"/>
                <a:ea typeface="Calibri"/>
                <a:cs typeface="Calibri"/>
              </a:rPr>
              <a:t>It can detect deceptive vs genuine reviews by leveraging general language understanding, even without additional training.</a:t>
            </a:r>
          </a:p>
        </p:txBody>
      </p:sp>
      <p:sp>
        <p:nvSpPr>
          <p:cNvPr id="6" name="Rectangle: Rounded Corners 5">
            <a:extLst>
              <a:ext uri="{FF2B5EF4-FFF2-40B4-BE49-F238E27FC236}">
                <a16:creationId xmlns:a16="http://schemas.microsoft.com/office/drawing/2014/main" id="{8C680575-9F34-4032-B7F9-2D2FBD50224F}"/>
              </a:ext>
            </a:extLst>
          </p:cNvPr>
          <p:cNvSpPr/>
          <p:nvPr/>
        </p:nvSpPr>
        <p:spPr>
          <a:xfrm>
            <a:off x="960000" y="2262612"/>
            <a:ext cx="2649975" cy="3557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F208B3C-8D98-7EB8-0BEF-F8FC8FF19BAA}"/>
              </a:ext>
            </a:extLst>
          </p:cNvPr>
          <p:cNvSpPr txBox="1"/>
          <p:nvPr/>
        </p:nvSpPr>
        <p:spPr>
          <a:xfrm>
            <a:off x="1135545" y="2262612"/>
            <a:ext cx="2451280" cy="369332"/>
          </a:xfrm>
          <a:prstGeom prst="rect">
            <a:avLst/>
          </a:prstGeom>
          <a:noFill/>
        </p:spPr>
        <p:txBody>
          <a:bodyPr wrap="square" lIns="91440" tIns="45720" rIns="91440" bIns="45720" anchor="t">
            <a:spAutoFit/>
          </a:bodyPr>
          <a:lstStyle/>
          <a:p>
            <a:r>
              <a:rPr lang="en-US" b="1">
                <a:solidFill>
                  <a:schemeClr val="bg1"/>
                </a:solidFill>
                <a:latin typeface="Calibri"/>
                <a:ea typeface="Calibri"/>
                <a:cs typeface="Calibri"/>
              </a:rPr>
              <a:t>Experimental Setup</a:t>
            </a:r>
          </a:p>
        </p:txBody>
      </p:sp>
      <p:sp>
        <p:nvSpPr>
          <p:cNvPr id="2" name="TextBox 1">
            <a:extLst>
              <a:ext uri="{FF2B5EF4-FFF2-40B4-BE49-F238E27FC236}">
                <a16:creationId xmlns:a16="http://schemas.microsoft.com/office/drawing/2014/main" id="{C06343D1-0623-63BC-EF54-F01AD9875055}"/>
              </a:ext>
            </a:extLst>
          </p:cNvPr>
          <p:cNvSpPr txBox="1"/>
          <p:nvPr/>
        </p:nvSpPr>
        <p:spPr>
          <a:xfrm>
            <a:off x="869244" y="183444"/>
            <a:ext cx="123048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i="0" u="none" strike="noStrike" baseline="0">
                <a:solidFill>
                  <a:srgbClr val="241160"/>
                </a:solidFill>
                <a:latin typeface="Calibri"/>
              </a:rPr>
              <a:t>Results</a:t>
            </a:r>
            <a:endParaRPr lang="en-US"/>
          </a:p>
          <a:p>
            <a:pPr algn="ctr"/>
            <a:endParaRPr lang="en-US"/>
          </a:p>
        </p:txBody>
      </p:sp>
    </p:spTree>
    <p:extLst>
      <p:ext uri="{BB962C8B-B14F-4D97-AF65-F5344CB8AC3E}">
        <p14:creationId xmlns:p14="http://schemas.microsoft.com/office/powerpoint/2010/main" val="307785008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AF1DDAE-CD4D-8DAB-A866-3591225F7F80}"/>
              </a:ext>
            </a:extLst>
          </p:cNvPr>
          <p:cNvGrpSpPr/>
          <p:nvPr/>
        </p:nvGrpSpPr>
        <p:grpSpPr>
          <a:xfrm>
            <a:off x="9020175" y="0"/>
            <a:ext cx="3171825" cy="4314825"/>
            <a:chOff x="9020175" y="0"/>
            <a:chExt cx="4229100" cy="5753100"/>
          </a:xfrm>
        </p:grpSpPr>
        <p:sp>
          <p:nvSpPr>
            <p:cNvPr id="20" name="Freeform 5">
              <a:extLst>
                <a:ext uri="{FF2B5EF4-FFF2-40B4-BE49-F238E27FC236}">
                  <a16:creationId xmlns:a16="http://schemas.microsoft.com/office/drawing/2014/main" id="{9B9D49AB-7B4A-BD01-BC94-C73A289EA674}"/>
                </a:ext>
              </a:extLst>
            </p:cNvPr>
            <p:cNvSpPr/>
            <p:nvPr/>
          </p:nvSpPr>
          <p:spPr>
            <a:xfrm flipV="1">
              <a:off x="9020175" y="0"/>
              <a:ext cx="4229100" cy="5753100"/>
            </a:xfrm>
            <a:custGeom>
              <a:avLst/>
              <a:gdLst/>
              <a:ahLst/>
              <a:cxnLst/>
              <a:rect l="l" t="t" r="r" b="b"/>
              <a:pathLst>
                <a:path w="4229100" h="5753100">
                  <a:moveTo>
                    <a:pt x="0" y="5753100"/>
                  </a:moveTo>
                  <a:lnTo>
                    <a:pt x="4229100" y="5753100"/>
                  </a:lnTo>
                  <a:lnTo>
                    <a:pt x="4229100" y="0"/>
                  </a:lnTo>
                  <a:lnTo>
                    <a:pt x="0" y="0"/>
                  </a:lnTo>
                  <a:lnTo>
                    <a:pt x="0" y="5753100"/>
                  </a:lnTo>
                  <a:close/>
                </a:path>
              </a:pathLst>
            </a:custGeom>
            <a:blipFill>
              <a:blip r:embed="rId2"/>
              <a:stretch>
                <a:fillRect/>
              </a:stretch>
            </a:blipFill>
          </p:spPr>
          <p:txBody>
            <a:bodyPr/>
            <a:lstStyle/>
            <a:p>
              <a:endParaRPr lang="en-GB"/>
            </a:p>
          </p:txBody>
        </p:sp>
      </p:grpSp>
      <p:sp>
        <p:nvSpPr>
          <p:cNvPr id="11" name="TextBox 8">
            <a:extLst>
              <a:ext uri="{FF2B5EF4-FFF2-40B4-BE49-F238E27FC236}">
                <a16:creationId xmlns:a16="http://schemas.microsoft.com/office/drawing/2014/main" id="{B3F809F0-991D-D4B4-A0A6-E5EDD7F1CA28}"/>
              </a:ext>
            </a:extLst>
          </p:cNvPr>
          <p:cNvSpPr txBox="1"/>
          <p:nvPr/>
        </p:nvSpPr>
        <p:spPr>
          <a:xfrm>
            <a:off x="1435486" y="108765"/>
            <a:ext cx="6780094" cy="84253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7000"/>
              </a:lnSpc>
            </a:pPr>
            <a:r>
              <a:rPr lang="en-US" sz="5000" b="1">
                <a:solidFill>
                  <a:srgbClr val="241160"/>
                </a:solidFill>
                <a:latin typeface="Calibri"/>
                <a:ea typeface="Calibri"/>
                <a:cs typeface="Calibri"/>
                <a:sym typeface="Calibri (MS) Bold"/>
              </a:rPr>
              <a:t>Discussion: Our Findings</a:t>
            </a:r>
          </a:p>
        </p:txBody>
      </p:sp>
      <p:sp>
        <p:nvSpPr>
          <p:cNvPr id="12" name="TextBox 9">
            <a:extLst>
              <a:ext uri="{FF2B5EF4-FFF2-40B4-BE49-F238E27FC236}">
                <a16:creationId xmlns:a16="http://schemas.microsoft.com/office/drawing/2014/main" id="{E4058DBB-6E91-77E3-E5DA-C2AC670C7480}"/>
              </a:ext>
            </a:extLst>
          </p:cNvPr>
          <p:cNvSpPr txBox="1"/>
          <p:nvPr/>
        </p:nvSpPr>
        <p:spPr>
          <a:xfrm>
            <a:off x="6615136" y="985753"/>
            <a:ext cx="1903096" cy="43088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spc="11">
                <a:solidFill>
                  <a:srgbClr val="241160"/>
                </a:solidFill>
                <a:latin typeface="Calibri"/>
                <a:ea typeface="Calibri"/>
                <a:cs typeface="Calibri"/>
                <a:sym typeface="Calibri (MS) Bold"/>
              </a:rPr>
              <a:t>Qwen2.5-7B</a:t>
            </a:r>
            <a:endParaRPr lang="en-US" sz="2800" spc="11">
              <a:solidFill>
                <a:srgbClr val="000000"/>
              </a:solidFill>
              <a:latin typeface="Calibri"/>
              <a:ea typeface="Calibri"/>
              <a:cs typeface="Calibri"/>
            </a:endParaRPr>
          </a:p>
        </p:txBody>
      </p:sp>
      <p:sp>
        <p:nvSpPr>
          <p:cNvPr id="13" name="TextBox 10">
            <a:extLst>
              <a:ext uri="{FF2B5EF4-FFF2-40B4-BE49-F238E27FC236}">
                <a16:creationId xmlns:a16="http://schemas.microsoft.com/office/drawing/2014/main" id="{C22FD02C-B1D0-517B-C5BF-5059FF5AF0D8}"/>
              </a:ext>
            </a:extLst>
          </p:cNvPr>
          <p:cNvSpPr txBox="1"/>
          <p:nvPr/>
        </p:nvSpPr>
        <p:spPr>
          <a:xfrm>
            <a:off x="372113" y="125292"/>
            <a:ext cx="309265" cy="443802"/>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3363"/>
              </a:lnSpc>
            </a:pPr>
            <a:r>
              <a:rPr lang="en-US" sz="2402" b="1">
                <a:solidFill>
                  <a:srgbClr val="000000"/>
                </a:solidFill>
                <a:latin typeface="Calibri (MS) Bold"/>
                <a:ea typeface="Calibri (MS) Bold"/>
                <a:cs typeface="Calibri (MS) Bold"/>
                <a:sym typeface="Calibri (MS) Bold"/>
              </a:rPr>
              <a:t>05</a:t>
            </a:r>
          </a:p>
        </p:txBody>
      </p:sp>
      <p:sp>
        <p:nvSpPr>
          <p:cNvPr id="14" name="TextBox 11">
            <a:extLst>
              <a:ext uri="{FF2B5EF4-FFF2-40B4-BE49-F238E27FC236}">
                <a16:creationId xmlns:a16="http://schemas.microsoft.com/office/drawing/2014/main" id="{285067C8-3BB9-D8F9-5EC8-485084770E1B}"/>
              </a:ext>
            </a:extLst>
          </p:cNvPr>
          <p:cNvSpPr txBox="1"/>
          <p:nvPr/>
        </p:nvSpPr>
        <p:spPr>
          <a:xfrm>
            <a:off x="1884359" y="4834395"/>
            <a:ext cx="70409" cy="38715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616"/>
              </a:lnSpc>
            </a:pPr>
            <a:r>
              <a:rPr lang="en-US" sz="2404" spc="1923">
                <a:solidFill>
                  <a:srgbClr val="241160"/>
                </a:solidFill>
                <a:latin typeface="Calibri (MS)"/>
                <a:ea typeface="Calibri (MS)"/>
                <a:cs typeface="Calibri (MS)"/>
                <a:sym typeface="Calibri (MS)"/>
              </a:rPr>
              <a:t> </a:t>
            </a:r>
          </a:p>
        </p:txBody>
      </p:sp>
      <p:sp>
        <p:nvSpPr>
          <p:cNvPr id="15" name="TextBox 12">
            <a:extLst>
              <a:ext uri="{FF2B5EF4-FFF2-40B4-BE49-F238E27FC236}">
                <a16:creationId xmlns:a16="http://schemas.microsoft.com/office/drawing/2014/main" id="{77893EF5-5F3A-50C3-EDD9-429CE6B5E4C0}"/>
              </a:ext>
            </a:extLst>
          </p:cNvPr>
          <p:cNvSpPr txBox="1"/>
          <p:nvPr/>
        </p:nvSpPr>
        <p:spPr>
          <a:xfrm>
            <a:off x="372113" y="1590384"/>
            <a:ext cx="5257162" cy="2333972"/>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18160" lvl="1" indent="-259080">
              <a:lnSpc>
                <a:spcPts val="2628"/>
              </a:lnSpc>
              <a:buFont typeface="Arial"/>
              <a:buChar char="•"/>
            </a:pPr>
            <a:r>
              <a:rPr lang="en-US" sz="2400">
                <a:solidFill>
                  <a:srgbClr val="241160"/>
                </a:solidFill>
                <a:latin typeface="Calibri"/>
                <a:ea typeface="Calibri"/>
                <a:cs typeface="Calibri"/>
                <a:sym typeface="Calibri (MS)"/>
              </a:rPr>
              <a:t>Fine-tuned on fake review detection</a:t>
            </a:r>
            <a:endParaRPr lang="en-US" sz="2400">
              <a:solidFill>
                <a:srgbClr val="241160"/>
              </a:solidFill>
              <a:latin typeface="Calibri"/>
              <a:ea typeface="Calibri"/>
              <a:cs typeface="Calibri"/>
            </a:endParaRPr>
          </a:p>
          <a:p>
            <a:pPr marL="518160" lvl="1" indent="-259080" algn="l">
              <a:lnSpc>
                <a:spcPts val="2628"/>
              </a:lnSpc>
              <a:buFont typeface="Arial"/>
              <a:buChar char="•"/>
            </a:pPr>
            <a:r>
              <a:rPr lang="en-US" sz="2400">
                <a:solidFill>
                  <a:srgbClr val="241160"/>
                </a:solidFill>
                <a:latin typeface="Calibri"/>
                <a:ea typeface="Calibri"/>
                <a:cs typeface="Calibri"/>
                <a:sym typeface="Calibri (MS)"/>
              </a:rPr>
              <a:t>Learns deception-specific linguistic patterns</a:t>
            </a:r>
            <a:endParaRPr lang="en-US" sz="2400">
              <a:solidFill>
                <a:srgbClr val="241160"/>
              </a:solidFill>
              <a:latin typeface="Calibri"/>
              <a:ea typeface="Calibri"/>
              <a:cs typeface="Calibri"/>
            </a:endParaRPr>
          </a:p>
          <a:p>
            <a:pPr marL="518160" lvl="1" indent="-259080" algn="l">
              <a:lnSpc>
                <a:spcPts val="2628"/>
              </a:lnSpc>
              <a:buFont typeface="Arial"/>
              <a:buChar char="•"/>
            </a:pPr>
            <a:r>
              <a:rPr lang="en-US" sz="2400">
                <a:solidFill>
                  <a:srgbClr val="241160"/>
                </a:solidFill>
                <a:latin typeface="Calibri"/>
                <a:ea typeface="Calibri"/>
                <a:cs typeface="Calibri"/>
                <a:sym typeface="Calibri (MS)"/>
              </a:rPr>
              <a:t>Optimized for recall (fake detection)</a:t>
            </a:r>
            <a:endParaRPr lang="en-US" sz="2400">
              <a:solidFill>
                <a:srgbClr val="241160"/>
              </a:solidFill>
              <a:latin typeface="Calibri"/>
              <a:ea typeface="Calibri"/>
              <a:cs typeface="Calibri"/>
            </a:endParaRPr>
          </a:p>
          <a:p>
            <a:pPr marL="518160" lvl="1" indent="-259080" algn="l">
              <a:lnSpc>
                <a:spcPts val="2628"/>
              </a:lnSpc>
              <a:buFont typeface="Arial"/>
              <a:buChar char="•"/>
            </a:pPr>
            <a:r>
              <a:rPr lang="en-US" sz="2400">
                <a:solidFill>
                  <a:srgbClr val="241160"/>
                </a:solidFill>
                <a:latin typeface="Calibri"/>
                <a:ea typeface="Calibri"/>
                <a:cs typeface="Calibri"/>
                <a:sym typeface="Calibri (MS)"/>
              </a:rPr>
              <a:t>More stable predictions</a:t>
            </a:r>
            <a:endParaRPr lang="en-US" sz="2400">
              <a:solidFill>
                <a:srgbClr val="241160"/>
              </a:solidFill>
              <a:latin typeface="Calibri"/>
              <a:ea typeface="Calibri"/>
              <a:cs typeface="Calibri"/>
            </a:endParaRPr>
          </a:p>
          <a:p>
            <a:pPr algn="l">
              <a:lnSpc>
                <a:spcPts val="2628"/>
              </a:lnSpc>
            </a:pPr>
            <a:endParaRPr lang="en-US" sz="2402">
              <a:solidFill>
                <a:srgbClr val="241160"/>
              </a:solidFill>
              <a:latin typeface="Calibri (MS)"/>
              <a:ea typeface="Calibri (MS)"/>
              <a:cs typeface="Calibri (MS)"/>
              <a:sym typeface="Calibri (MS)"/>
            </a:endParaRPr>
          </a:p>
          <a:p>
            <a:pPr algn="l">
              <a:lnSpc>
                <a:spcPts val="2628"/>
              </a:lnSpc>
            </a:pPr>
            <a:endParaRPr lang="en-US" sz="2402">
              <a:solidFill>
                <a:srgbClr val="241160"/>
              </a:solidFill>
              <a:latin typeface="Calibri (MS)"/>
              <a:ea typeface="Calibri (MS)"/>
              <a:cs typeface="Calibri (MS)"/>
              <a:sym typeface="Calibri (MS)"/>
            </a:endParaRPr>
          </a:p>
        </p:txBody>
      </p:sp>
      <p:sp>
        <p:nvSpPr>
          <p:cNvPr id="16" name="TextBox 13">
            <a:extLst>
              <a:ext uri="{FF2B5EF4-FFF2-40B4-BE49-F238E27FC236}">
                <a16:creationId xmlns:a16="http://schemas.microsoft.com/office/drawing/2014/main" id="{13A4E4BC-A6A1-FA27-FBED-A7DBEE6418AA}"/>
              </a:ext>
            </a:extLst>
          </p:cNvPr>
          <p:cNvSpPr txBox="1"/>
          <p:nvPr/>
        </p:nvSpPr>
        <p:spPr>
          <a:xfrm>
            <a:off x="6882622" y="2932319"/>
            <a:ext cx="70409" cy="39667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717"/>
              </a:lnSpc>
            </a:pPr>
            <a:r>
              <a:rPr lang="en-US" sz="2404" spc="1923">
                <a:solidFill>
                  <a:srgbClr val="241160"/>
                </a:solidFill>
                <a:latin typeface="Calibri (MS)"/>
                <a:ea typeface="Calibri (MS)"/>
                <a:cs typeface="Calibri (MS)"/>
                <a:sym typeface="Calibri (MS)"/>
              </a:rPr>
              <a:t> </a:t>
            </a:r>
          </a:p>
        </p:txBody>
      </p:sp>
      <p:sp>
        <p:nvSpPr>
          <p:cNvPr id="17" name="TextBox 14">
            <a:extLst>
              <a:ext uri="{FF2B5EF4-FFF2-40B4-BE49-F238E27FC236}">
                <a16:creationId xmlns:a16="http://schemas.microsoft.com/office/drawing/2014/main" id="{F0CD5040-3694-7D85-F580-024E824B49EC}"/>
              </a:ext>
            </a:extLst>
          </p:cNvPr>
          <p:cNvSpPr txBox="1"/>
          <p:nvPr/>
        </p:nvSpPr>
        <p:spPr>
          <a:xfrm>
            <a:off x="1296215" y="950936"/>
            <a:ext cx="1612059" cy="49872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4200"/>
              </a:lnSpc>
            </a:pPr>
            <a:r>
              <a:rPr lang="en-US" sz="2800" b="1" spc="6" err="1">
                <a:solidFill>
                  <a:srgbClr val="241160"/>
                </a:solidFill>
                <a:latin typeface="Calibri"/>
                <a:ea typeface="Calibri"/>
                <a:cs typeface="Calibri"/>
                <a:sym typeface="Calibri (MS) Bold"/>
              </a:rPr>
              <a:t>RoBERTa</a:t>
            </a:r>
            <a:endParaRPr lang="en-US" sz="2800" b="1" spc="6">
              <a:solidFill>
                <a:srgbClr val="241160"/>
              </a:solidFill>
              <a:latin typeface="Calibri"/>
              <a:ea typeface="Calibri"/>
              <a:cs typeface="Calibri"/>
            </a:endParaRPr>
          </a:p>
        </p:txBody>
      </p:sp>
      <p:sp>
        <p:nvSpPr>
          <p:cNvPr id="18" name="TextBox 15">
            <a:extLst>
              <a:ext uri="{FF2B5EF4-FFF2-40B4-BE49-F238E27FC236}">
                <a16:creationId xmlns:a16="http://schemas.microsoft.com/office/drawing/2014/main" id="{7D4448A3-5DDF-7327-037B-365DA1E27D9D}"/>
              </a:ext>
            </a:extLst>
          </p:cNvPr>
          <p:cNvSpPr txBox="1"/>
          <p:nvPr/>
        </p:nvSpPr>
        <p:spPr>
          <a:xfrm>
            <a:off x="5840845" y="1590384"/>
            <a:ext cx="5352906" cy="263815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18160" lvl="1" indent="-259080" algn="l">
              <a:lnSpc>
                <a:spcPts val="2628"/>
              </a:lnSpc>
              <a:buFont typeface="Arial"/>
              <a:buChar char="•"/>
            </a:pPr>
            <a:r>
              <a:rPr lang="en-US" sz="2400">
                <a:solidFill>
                  <a:srgbClr val="241160"/>
                </a:solidFill>
                <a:latin typeface="Calibri"/>
                <a:ea typeface="Calibri"/>
                <a:cs typeface="Calibri"/>
                <a:sym typeface="Calibri (MS)"/>
              </a:rPr>
              <a:t>No task adaptation</a:t>
            </a:r>
            <a:endParaRPr lang="en-US" sz="2400">
              <a:solidFill>
                <a:srgbClr val="241160"/>
              </a:solidFill>
              <a:latin typeface="Calibri"/>
              <a:ea typeface="Calibri"/>
              <a:cs typeface="Calibri"/>
            </a:endParaRPr>
          </a:p>
          <a:p>
            <a:pPr marL="518160" lvl="1" indent="-259080" algn="l">
              <a:lnSpc>
                <a:spcPts val="2628"/>
              </a:lnSpc>
              <a:buFont typeface="Arial"/>
              <a:buChar char="•"/>
            </a:pPr>
            <a:r>
              <a:rPr lang="en-US" sz="2400">
                <a:solidFill>
                  <a:srgbClr val="241160"/>
                </a:solidFill>
                <a:latin typeface="Calibri"/>
                <a:ea typeface="Calibri"/>
                <a:cs typeface="Calibri"/>
                <a:sym typeface="Calibri (MS)"/>
              </a:rPr>
              <a:t>Relies on general language knowledge</a:t>
            </a:r>
            <a:endParaRPr lang="en-US" sz="2400">
              <a:solidFill>
                <a:srgbClr val="241160"/>
              </a:solidFill>
              <a:latin typeface="Calibri"/>
              <a:ea typeface="Calibri"/>
              <a:cs typeface="Calibri"/>
            </a:endParaRPr>
          </a:p>
          <a:p>
            <a:pPr marL="518160" lvl="1" indent="-259080" algn="l">
              <a:lnSpc>
                <a:spcPts val="2628"/>
              </a:lnSpc>
              <a:buFont typeface="Arial"/>
              <a:buChar char="•"/>
            </a:pPr>
            <a:r>
              <a:rPr lang="en-US" sz="2400">
                <a:solidFill>
                  <a:srgbClr val="241160"/>
                </a:solidFill>
                <a:latin typeface="Calibri"/>
                <a:ea typeface="Calibri"/>
                <a:cs typeface="Calibri"/>
                <a:sym typeface="Calibri (MS)"/>
              </a:rPr>
              <a:t>Struggles with subtle deception cues</a:t>
            </a:r>
            <a:endParaRPr lang="en-US" sz="2400">
              <a:solidFill>
                <a:srgbClr val="241160"/>
              </a:solidFill>
              <a:latin typeface="Calibri"/>
              <a:ea typeface="Calibri"/>
              <a:cs typeface="Calibri"/>
            </a:endParaRPr>
          </a:p>
          <a:p>
            <a:pPr marL="518160" lvl="1" indent="-259080">
              <a:lnSpc>
                <a:spcPts val="2628"/>
              </a:lnSpc>
              <a:buFont typeface="Arial"/>
              <a:buChar char="•"/>
            </a:pPr>
            <a:r>
              <a:rPr lang="en-US" sz="2400">
                <a:solidFill>
                  <a:srgbClr val="241160"/>
                </a:solidFill>
                <a:latin typeface="Calibri"/>
                <a:ea typeface="Calibri"/>
                <a:cs typeface="Calibri"/>
                <a:sym typeface="Calibri (MS)"/>
              </a:rPr>
              <a:t>Lower recall and less stable performance</a:t>
            </a:r>
            <a:endParaRPr lang="en-US" sz="2400">
              <a:solidFill>
                <a:srgbClr val="241160"/>
              </a:solidFill>
              <a:latin typeface="Calibri"/>
              <a:ea typeface="Calibri"/>
              <a:cs typeface="Calibri"/>
            </a:endParaRPr>
          </a:p>
          <a:p>
            <a:pPr algn="l">
              <a:lnSpc>
                <a:spcPts val="2628"/>
              </a:lnSpc>
            </a:pPr>
            <a:endParaRPr lang="en-US" sz="1600">
              <a:solidFill>
                <a:srgbClr val="241160"/>
              </a:solidFill>
              <a:latin typeface="Calibri (MS)"/>
              <a:ea typeface="Calibri (MS)"/>
              <a:cs typeface="Calibri (MS)"/>
            </a:endParaRPr>
          </a:p>
          <a:p>
            <a:pPr algn="l">
              <a:lnSpc>
                <a:spcPts val="2628"/>
              </a:lnSpc>
            </a:pPr>
            <a:endParaRPr lang="en-US" sz="1600">
              <a:solidFill>
                <a:srgbClr val="241160"/>
              </a:solidFill>
              <a:latin typeface="Calibri (MS)"/>
              <a:ea typeface="Calibri (MS)"/>
              <a:cs typeface="Calibri (MS)"/>
            </a:endParaRPr>
          </a:p>
          <a:p>
            <a:pPr algn="l">
              <a:lnSpc>
                <a:spcPts val="2628"/>
              </a:lnSpc>
            </a:pPr>
            <a:endParaRPr lang="en-US" sz="1600">
              <a:solidFill>
                <a:srgbClr val="241160"/>
              </a:solidFill>
              <a:latin typeface="Calibri (MS)"/>
              <a:ea typeface="Calibri (MS)"/>
              <a:cs typeface="Calibri (MS)"/>
            </a:endParaRPr>
          </a:p>
        </p:txBody>
      </p:sp>
      <p:sp>
        <p:nvSpPr>
          <p:cNvPr id="23" name="Google Shape;269;p31">
            <a:extLst>
              <a:ext uri="{FF2B5EF4-FFF2-40B4-BE49-F238E27FC236}">
                <a16:creationId xmlns:a16="http://schemas.microsoft.com/office/drawing/2014/main" id="{3D57F05D-0680-9074-8EFE-84CFDA4F96A0}"/>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05</a:t>
            </a:r>
          </a:p>
        </p:txBody>
      </p:sp>
      <p:pic>
        <p:nvPicPr>
          <p:cNvPr id="2" name="Picture 1">
            <a:extLst>
              <a:ext uri="{FF2B5EF4-FFF2-40B4-BE49-F238E27FC236}">
                <a16:creationId xmlns:a16="http://schemas.microsoft.com/office/drawing/2014/main" id="{337E013A-B529-3965-8DA0-D108A63A00D5}"/>
              </a:ext>
            </a:extLst>
          </p:cNvPr>
          <p:cNvPicPr>
            <a:picLocks noChangeAspect="1"/>
          </p:cNvPicPr>
          <p:nvPr/>
        </p:nvPicPr>
        <p:blipFill>
          <a:blip r:embed="rId3"/>
          <a:srcRect l="-165" t="6174" r="5445" b="3104"/>
          <a:stretch>
            <a:fillRect/>
          </a:stretch>
        </p:blipFill>
        <p:spPr>
          <a:xfrm>
            <a:off x="1298333" y="3413448"/>
            <a:ext cx="4972631" cy="3447115"/>
          </a:xfrm>
          <a:prstGeom prst="rect">
            <a:avLst/>
          </a:prstGeom>
        </p:spPr>
      </p:pic>
      <p:sp>
        <p:nvSpPr>
          <p:cNvPr id="8" name="Flowchart: Alternate Process 27">
            <a:extLst>
              <a:ext uri="{FF2B5EF4-FFF2-40B4-BE49-F238E27FC236}">
                <a16:creationId xmlns:a16="http://schemas.microsoft.com/office/drawing/2014/main" id="{69FD6697-1596-709C-421A-609222BCEA3C}"/>
              </a:ext>
            </a:extLst>
          </p:cNvPr>
          <p:cNvSpPr/>
          <p:nvPr/>
        </p:nvSpPr>
        <p:spPr>
          <a:xfrm>
            <a:off x="6560372" y="4479334"/>
            <a:ext cx="4035586" cy="1451332"/>
          </a:xfrm>
          <a:prstGeom prst="flowChartAlternateProcess">
            <a:avLst/>
          </a:prstGeom>
          <a:solidFill>
            <a:srgbClr val="E2E4FC"/>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1B57967-2641-F30A-3836-8BB64C46F6BF}"/>
              </a:ext>
            </a:extLst>
          </p:cNvPr>
          <p:cNvSpPr txBox="1"/>
          <p:nvPr/>
        </p:nvSpPr>
        <p:spPr>
          <a:xfrm>
            <a:off x="6525519" y="4596596"/>
            <a:ext cx="4066612" cy="1692771"/>
          </a:xfrm>
          <a:prstGeom prst="rect">
            <a:avLst/>
          </a:prstGeom>
          <a:noFill/>
        </p:spPr>
        <p:txBody>
          <a:bodyPr wrap="square" lIns="91440" tIns="45720" rIns="91440" bIns="45720" rtlCol="0" anchor="t">
            <a:spAutoFit/>
          </a:bodyPr>
          <a:lstStyle/>
          <a:p>
            <a:pPr algn="ctr"/>
            <a:r>
              <a:rPr lang="en-GB">
                <a:ea typeface="+mn-lt"/>
                <a:cs typeface="+mn-lt"/>
              </a:rPr>
              <a:t>Fine-tuned model has better performance. Zero-shot shows general understanding but likely lacks sensitivity to domain-specific patterns.</a:t>
            </a:r>
            <a:endParaRPr lang="en-US"/>
          </a:p>
          <a:p>
            <a:endParaRPr lang="en-GB" sz="1600" b="1">
              <a:cs typeface="Arial"/>
            </a:endParaRPr>
          </a:p>
          <a:p>
            <a:pPr>
              <a:spcAft>
                <a:spcPts val="200"/>
              </a:spcAft>
            </a:pPr>
            <a:endParaRPr lang="es-ES" sz="1600">
              <a:cs typeface="Arial"/>
            </a:endParaRPr>
          </a:p>
        </p:txBody>
      </p:sp>
    </p:spTree>
    <p:extLst>
      <p:ext uri="{BB962C8B-B14F-4D97-AF65-F5344CB8AC3E}">
        <p14:creationId xmlns:p14="http://schemas.microsoft.com/office/powerpoint/2010/main" val="301768768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27BF376-EF95-4E21-2D35-7B99D71E46B6}"/>
              </a:ext>
            </a:extLst>
          </p:cNvPr>
          <p:cNvGrpSpPr/>
          <p:nvPr/>
        </p:nvGrpSpPr>
        <p:grpSpPr>
          <a:xfrm rot="-5400000">
            <a:off x="-752475" y="1981200"/>
            <a:ext cx="5629275" cy="4124325"/>
            <a:chOff x="-752475" y="1981200"/>
            <a:chExt cx="7505700" cy="5499100"/>
          </a:xfrm>
        </p:grpSpPr>
        <p:sp>
          <p:nvSpPr>
            <p:cNvPr id="20" name="Freeform 3">
              <a:extLst>
                <a:ext uri="{FF2B5EF4-FFF2-40B4-BE49-F238E27FC236}">
                  <a16:creationId xmlns:a16="http://schemas.microsoft.com/office/drawing/2014/main" id="{5A5DF469-50FF-7650-322C-B6273EAAC4AC}"/>
                </a:ext>
              </a:extLst>
            </p:cNvPr>
            <p:cNvSpPr/>
            <p:nvPr/>
          </p:nvSpPr>
          <p:spPr>
            <a:xfrm>
              <a:off x="-752475" y="1981200"/>
              <a:ext cx="7505700" cy="5499100"/>
            </a:xfrm>
            <a:custGeom>
              <a:avLst/>
              <a:gdLst/>
              <a:ahLst/>
              <a:cxnLst/>
              <a:rect l="l" t="t" r="r" b="b"/>
              <a:pathLst>
                <a:path w="7505700" h="5499100">
                  <a:moveTo>
                    <a:pt x="7505700" y="0"/>
                  </a:moveTo>
                  <a:lnTo>
                    <a:pt x="0" y="0"/>
                  </a:lnTo>
                  <a:lnTo>
                    <a:pt x="0" y="5499100"/>
                  </a:lnTo>
                  <a:lnTo>
                    <a:pt x="7505700" y="5499100"/>
                  </a:lnTo>
                  <a:close/>
                </a:path>
              </a:pathLst>
            </a:custGeom>
            <a:blipFill>
              <a:blip r:embed="rId2"/>
              <a:stretch>
                <a:fillRect/>
              </a:stretch>
            </a:blipFill>
          </p:spPr>
          <p:txBody>
            <a:bodyPr/>
            <a:lstStyle/>
            <a:p>
              <a:endParaRPr lang="en-GB"/>
            </a:p>
          </p:txBody>
        </p:sp>
      </p:grpSp>
      <p:grpSp>
        <p:nvGrpSpPr>
          <p:cNvPr id="10" name="Group 9">
            <a:extLst>
              <a:ext uri="{FF2B5EF4-FFF2-40B4-BE49-F238E27FC236}">
                <a16:creationId xmlns:a16="http://schemas.microsoft.com/office/drawing/2014/main" id="{EBC2E9C1-10E3-E54B-BF4B-E95141462D43}"/>
              </a:ext>
            </a:extLst>
          </p:cNvPr>
          <p:cNvGrpSpPr/>
          <p:nvPr/>
        </p:nvGrpSpPr>
        <p:grpSpPr>
          <a:xfrm>
            <a:off x="5910741" y="4787464"/>
            <a:ext cx="6084260" cy="1870552"/>
            <a:chOff x="5934113" y="3133725"/>
            <a:chExt cx="1990942" cy="587167"/>
          </a:xfrm>
        </p:grpSpPr>
        <p:sp>
          <p:nvSpPr>
            <p:cNvPr id="18" name="Freeform 5">
              <a:extLst>
                <a:ext uri="{FF2B5EF4-FFF2-40B4-BE49-F238E27FC236}">
                  <a16:creationId xmlns:a16="http://schemas.microsoft.com/office/drawing/2014/main" id="{F067FCCC-F1E3-B52D-4735-64F5570FFA62}"/>
                </a:ext>
              </a:extLst>
            </p:cNvPr>
            <p:cNvSpPr/>
            <p:nvPr/>
          </p:nvSpPr>
          <p:spPr>
            <a:xfrm>
              <a:off x="5934113" y="3171825"/>
              <a:ext cx="1990942" cy="549067"/>
            </a:xfrm>
            <a:custGeom>
              <a:avLst/>
              <a:gdLst/>
              <a:ahLst/>
              <a:cxnLst/>
              <a:rect l="l" t="t" r="r" b="b"/>
              <a:pathLst>
                <a:path w="1990942" h="549067">
                  <a:moveTo>
                    <a:pt x="0" y="0"/>
                  </a:moveTo>
                  <a:lnTo>
                    <a:pt x="1990942" y="0"/>
                  </a:lnTo>
                  <a:lnTo>
                    <a:pt x="1990942" y="549067"/>
                  </a:lnTo>
                  <a:lnTo>
                    <a:pt x="0" y="549067"/>
                  </a:lnTo>
                  <a:close/>
                </a:path>
              </a:pathLst>
            </a:custGeom>
            <a:solidFill>
              <a:srgbClr val="E2E4FC"/>
            </a:solidFill>
          </p:spPr>
          <p:txBody>
            <a:bodyPr/>
            <a:lstStyle/>
            <a:p>
              <a:endParaRPr lang="en-GB"/>
            </a:p>
          </p:txBody>
        </p:sp>
        <p:sp>
          <p:nvSpPr>
            <p:cNvPr id="19" name="TextBox 6">
              <a:extLst>
                <a:ext uri="{FF2B5EF4-FFF2-40B4-BE49-F238E27FC236}">
                  <a16:creationId xmlns:a16="http://schemas.microsoft.com/office/drawing/2014/main" id="{0762E1A1-CAF5-8283-A26F-0A145A9D16A0}"/>
                </a:ext>
              </a:extLst>
            </p:cNvPr>
            <p:cNvSpPr txBox="1"/>
            <p:nvPr/>
          </p:nvSpPr>
          <p:spPr>
            <a:xfrm>
              <a:off x="5934113" y="3133725"/>
              <a:ext cx="1990942" cy="587167"/>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83"/>
                </a:lnSpc>
              </a:pPr>
              <a:endParaRPr/>
            </a:p>
          </p:txBody>
        </p:sp>
      </p:grpSp>
      <p:sp>
        <p:nvSpPr>
          <p:cNvPr id="12" name="TextBox 12">
            <a:extLst>
              <a:ext uri="{FF2B5EF4-FFF2-40B4-BE49-F238E27FC236}">
                <a16:creationId xmlns:a16="http://schemas.microsoft.com/office/drawing/2014/main" id="{FB1F2982-4F6E-B805-20C8-CD3B6206054A}"/>
              </a:ext>
            </a:extLst>
          </p:cNvPr>
          <p:cNvSpPr txBox="1"/>
          <p:nvPr/>
        </p:nvSpPr>
        <p:spPr>
          <a:xfrm>
            <a:off x="429426" y="1711477"/>
            <a:ext cx="5711174" cy="589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4900"/>
              </a:lnSpc>
            </a:pPr>
            <a:r>
              <a:rPr lang="en-US" sz="3500" b="1">
                <a:solidFill>
                  <a:srgbClr val="241160"/>
                </a:solidFill>
                <a:latin typeface="Calibri"/>
                <a:ea typeface="Calibri"/>
                <a:cs typeface="Calibri"/>
                <a:sym typeface="Calibri (MS)"/>
              </a:rPr>
              <a:t>Review Length vs Recall</a:t>
            </a:r>
            <a:endParaRPr lang="en-US" sz="3500" b="1">
              <a:latin typeface="Calibri"/>
              <a:ea typeface="Calibri"/>
              <a:cs typeface="Calibri"/>
            </a:endParaRPr>
          </a:p>
        </p:txBody>
      </p:sp>
      <p:sp>
        <p:nvSpPr>
          <p:cNvPr id="14" name="TextBox 14">
            <a:extLst>
              <a:ext uri="{FF2B5EF4-FFF2-40B4-BE49-F238E27FC236}">
                <a16:creationId xmlns:a16="http://schemas.microsoft.com/office/drawing/2014/main" id="{4C786F29-8374-BF2B-1592-2DAC040FC561}"/>
              </a:ext>
            </a:extLst>
          </p:cNvPr>
          <p:cNvSpPr txBox="1"/>
          <p:nvPr/>
        </p:nvSpPr>
        <p:spPr>
          <a:xfrm>
            <a:off x="685800" y="2479548"/>
            <a:ext cx="4725286" cy="3692652"/>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424"/>
              </a:lnSpc>
            </a:pPr>
            <a:r>
              <a:rPr lang="en-US" sz="2400" b="1">
                <a:solidFill>
                  <a:srgbClr val="241160"/>
                </a:solidFill>
                <a:latin typeface="Calibri"/>
                <a:ea typeface="Calibri"/>
                <a:cs typeface="Calibri"/>
                <a:sym typeface="Calibri (MS) Bold"/>
              </a:rPr>
              <a:t>Short Reviews</a:t>
            </a:r>
            <a:endParaRPr lang="en-US" sz="2400" b="1">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Limited contextual information</a:t>
            </a:r>
            <a:endParaRPr lang="en-US" sz="2400">
              <a:solidFill>
                <a:srgbClr val="241160"/>
              </a:solidFill>
              <a:latin typeface="Calibri"/>
              <a:ea typeface="Calibri"/>
              <a:cs typeface="Calibri"/>
            </a:endParaRPr>
          </a:p>
          <a:p>
            <a:pPr marL="431800" lvl="1" indent="-215900">
              <a:lnSpc>
                <a:spcPts val="2424"/>
              </a:lnSpc>
              <a:buFont typeface="Arial"/>
              <a:buChar char="•"/>
            </a:pPr>
            <a:r>
              <a:rPr lang="en-US" sz="2400">
                <a:solidFill>
                  <a:srgbClr val="241160"/>
                </a:solidFill>
                <a:latin typeface="Calibri"/>
                <a:ea typeface="Calibri"/>
                <a:cs typeface="Calibri"/>
              </a:rPr>
              <a:t>Lower recall overall</a:t>
            </a:r>
          </a:p>
          <a:p>
            <a:pPr algn="l">
              <a:lnSpc>
                <a:spcPts val="2424"/>
              </a:lnSpc>
            </a:pPr>
            <a:endParaRPr lang="en-US" sz="2400">
              <a:solidFill>
                <a:srgbClr val="241160"/>
              </a:solidFill>
              <a:latin typeface="Calibri"/>
              <a:ea typeface="Calibri"/>
              <a:cs typeface="Calibri"/>
            </a:endParaRPr>
          </a:p>
          <a:p>
            <a:pPr algn="l">
              <a:lnSpc>
                <a:spcPts val="2424"/>
              </a:lnSpc>
            </a:pPr>
            <a:r>
              <a:rPr lang="en-US" sz="2400" b="1">
                <a:solidFill>
                  <a:srgbClr val="241160"/>
                </a:solidFill>
                <a:latin typeface="Calibri"/>
                <a:ea typeface="Calibri"/>
                <a:cs typeface="Calibri"/>
                <a:sym typeface="Calibri (MS) Bold"/>
              </a:rPr>
              <a:t>Medium Reviews</a:t>
            </a:r>
            <a:endParaRPr lang="en-US" sz="2400" b="1">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Best balance of signal and clarity</a:t>
            </a:r>
            <a:endParaRPr lang="en-US" sz="2400">
              <a:solidFill>
                <a:srgbClr val="241160"/>
              </a:solidFill>
              <a:latin typeface="Calibri"/>
              <a:ea typeface="Calibri"/>
              <a:cs typeface="Calibri"/>
            </a:endParaRPr>
          </a:p>
          <a:p>
            <a:pPr marL="431800" lvl="1" indent="-215900">
              <a:lnSpc>
                <a:spcPts val="2424"/>
              </a:lnSpc>
              <a:buFont typeface="Arial"/>
              <a:buChar char="•"/>
            </a:pPr>
            <a:r>
              <a:rPr lang="en-US" sz="2400">
                <a:solidFill>
                  <a:srgbClr val="241160"/>
                </a:solidFill>
                <a:latin typeface="Calibri"/>
                <a:ea typeface="Calibri"/>
                <a:cs typeface="Calibri"/>
                <a:sym typeface="Calibri (MS)"/>
              </a:rPr>
              <a:t>Highest recall performance overall</a:t>
            </a:r>
            <a:endParaRPr lang="en-US" sz="2400">
              <a:solidFill>
                <a:srgbClr val="241160"/>
              </a:solidFill>
              <a:latin typeface="Calibri"/>
              <a:ea typeface="Calibri"/>
              <a:cs typeface="Calibri"/>
            </a:endParaRPr>
          </a:p>
          <a:p>
            <a:pPr algn="l">
              <a:lnSpc>
                <a:spcPts val="2424"/>
              </a:lnSpc>
            </a:pPr>
            <a:endParaRPr lang="en-US" sz="2400">
              <a:solidFill>
                <a:srgbClr val="241160"/>
              </a:solidFill>
              <a:latin typeface="Calibri"/>
              <a:ea typeface="Calibri"/>
              <a:cs typeface="Calibri"/>
            </a:endParaRPr>
          </a:p>
          <a:p>
            <a:pPr algn="l">
              <a:lnSpc>
                <a:spcPts val="2424"/>
              </a:lnSpc>
            </a:pPr>
            <a:r>
              <a:rPr lang="en-US" sz="2400" b="1">
                <a:solidFill>
                  <a:srgbClr val="241160"/>
                </a:solidFill>
                <a:latin typeface="Calibri"/>
                <a:ea typeface="Calibri"/>
                <a:cs typeface="Calibri"/>
                <a:sym typeface="Calibri (MS) Bold"/>
              </a:rPr>
              <a:t>Long Reviews</a:t>
            </a:r>
            <a:endParaRPr lang="en-US" sz="2400" b="1">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More contextual cues</a:t>
            </a:r>
            <a:endParaRPr lang="en-US" sz="2400">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Possible noise introduced</a:t>
            </a:r>
            <a:endParaRPr lang="en-US" sz="2400">
              <a:solidFill>
                <a:srgbClr val="241160"/>
              </a:solidFill>
              <a:latin typeface="Calibri"/>
              <a:ea typeface="Calibri"/>
              <a:cs typeface="Calibri"/>
            </a:endParaRPr>
          </a:p>
          <a:p>
            <a:pPr algn="l">
              <a:lnSpc>
                <a:spcPts val="2424"/>
              </a:lnSpc>
            </a:pPr>
            <a:endParaRPr lang="en-US" sz="2000">
              <a:solidFill>
                <a:srgbClr val="241160"/>
              </a:solidFill>
              <a:latin typeface="Calibri (MS)"/>
              <a:ea typeface="Calibri (MS)"/>
              <a:cs typeface="Calibri (MS)"/>
              <a:sym typeface="Calibri (MS)"/>
            </a:endParaRPr>
          </a:p>
        </p:txBody>
      </p:sp>
      <p:sp>
        <p:nvSpPr>
          <p:cNvPr id="15" name="TextBox 15">
            <a:extLst>
              <a:ext uri="{FF2B5EF4-FFF2-40B4-BE49-F238E27FC236}">
                <a16:creationId xmlns:a16="http://schemas.microsoft.com/office/drawing/2014/main" id="{25847B7D-70ED-1B4D-2031-56185D31A7E1}"/>
              </a:ext>
            </a:extLst>
          </p:cNvPr>
          <p:cNvSpPr txBox="1"/>
          <p:nvPr/>
        </p:nvSpPr>
        <p:spPr>
          <a:xfrm>
            <a:off x="6100076" y="5068488"/>
            <a:ext cx="5833877" cy="215443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241160"/>
                </a:solidFill>
                <a:latin typeface="Calibri"/>
                <a:ea typeface="Calibri"/>
                <a:cs typeface="Calibri"/>
                <a:sym typeface="Calibri (MS)"/>
              </a:rPr>
              <a:t>Different models benefit from context differently. Fine-tuned model performs best with balanced input, while zero-shot model benefit more from longer context</a:t>
            </a:r>
            <a:endParaRPr lang="en-US">
              <a:latin typeface="Calibri"/>
              <a:ea typeface="Calibri"/>
              <a:cs typeface="Calibri"/>
            </a:endParaRPr>
          </a:p>
          <a:p>
            <a:endParaRPr lang="en-US" sz="2400">
              <a:solidFill>
                <a:srgbClr val="241160"/>
              </a:solidFill>
              <a:ea typeface="+mn-lt"/>
              <a:cs typeface="+mn-lt"/>
            </a:endParaRPr>
          </a:p>
          <a:p>
            <a:pPr>
              <a:lnSpc>
                <a:spcPts val="2424"/>
              </a:lnSpc>
            </a:pPr>
            <a:endParaRPr lang="en-US" sz="2400">
              <a:cs typeface="Arial"/>
            </a:endParaRPr>
          </a:p>
        </p:txBody>
      </p:sp>
      <p:sp>
        <p:nvSpPr>
          <p:cNvPr id="16" name="TextBox 16">
            <a:extLst>
              <a:ext uri="{FF2B5EF4-FFF2-40B4-BE49-F238E27FC236}">
                <a16:creationId xmlns:a16="http://schemas.microsoft.com/office/drawing/2014/main" id="{77B56123-ED3E-5AC3-819C-4527E3A64B95}"/>
              </a:ext>
            </a:extLst>
          </p:cNvPr>
          <p:cNvSpPr txBox="1"/>
          <p:nvPr/>
        </p:nvSpPr>
        <p:spPr>
          <a:xfrm>
            <a:off x="1091257" y="162960"/>
            <a:ext cx="10438129" cy="84253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7000"/>
              </a:lnSpc>
            </a:pPr>
            <a:r>
              <a:rPr lang="en-US" sz="5000" b="1">
                <a:solidFill>
                  <a:srgbClr val="241160"/>
                </a:solidFill>
                <a:latin typeface="Calibri"/>
                <a:ea typeface="Calibri"/>
                <a:cs typeface="Calibri"/>
                <a:sym typeface="Calibri (MS) Bold"/>
              </a:rPr>
              <a:t>Discussion: Observations &amp; Strengths</a:t>
            </a:r>
            <a:endParaRPr lang="en-US" sz="5000" b="1">
              <a:solidFill>
                <a:srgbClr val="241160"/>
              </a:solidFill>
              <a:latin typeface="Calibri"/>
              <a:ea typeface="Calibri"/>
              <a:cs typeface="Calibri"/>
            </a:endParaRPr>
          </a:p>
        </p:txBody>
      </p:sp>
      <p:sp>
        <p:nvSpPr>
          <p:cNvPr id="22" name="Google Shape;269;p31">
            <a:extLst>
              <a:ext uri="{FF2B5EF4-FFF2-40B4-BE49-F238E27FC236}">
                <a16:creationId xmlns:a16="http://schemas.microsoft.com/office/drawing/2014/main" id="{69BD4E69-D8FE-69F3-9FCD-09A59247917D}"/>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05</a:t>
            </a:r>
          </a:p>
        </p:txBody>
      </p:sp>
      <p:pic>
        <p:nvPicPr>
          <p:cNvPr id="3" name="Picture 2" descr="A graph of blue and orange bars&#10;&#10;AI-generated content may be incorrect.">
            <a:extLst>
              <a:ext uri="{FF2B5EF4-FFF2-40B4-BE49-F238E27FC236}">
                <a16:creationId xmlns:a16="http://schemas.microsoft.com/office/drawing/2014/main" id="{DBC6C712-F482-9FAA-8673-567A34FE21BE}"/>
              </a:ext>
            </a:extLst>
          </p:cNvPr>
          <p:cNvPicPr>
            <a:picLocks noChangeAspect="1"/>
          </p:cNvPicPr>
          <p:nvPr/>
        </p:nvPicPr>
        <p:blipFill>
          <a:blip r:embed="rId3"/>
          <a:srcRect l="179" t="1188" r="-179" b="3057"/>
          <a:stretch>
            <a:fillRect/>
          </a:stretch>
        </p:blipFill>
        <p:spPr>
          <a:xfrm>
            <a:off x="6111131" y="1001727"/>
            <a:ext cx="5276966" cy="3781262"/>
          </a:xfrm>
          <a:prstGeom prst="rect">
            <a:avLst/>
          </a:prstGeom>
        </p:spPr>
      </p:pic>
    </p:spTree>
    <p:extLst>
      <p:ext uri="{BB962C8B-B14F-4D97-AF65-F5344CB8AC3E}">
        <p14:creationId xmlns:p14="http://schemas.microsoft.com/office/powerpoint/2010/main" val="336601005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9CB9C-E5D7-D9D9-E56E-790D6A020DD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E345EBB5-A765-D33D-AB0F-1782984884C8}"/>
              </a:ext>
            </a:extLst>
          </p:cNvPr>
          <p:cNvGrpSpPr/>
          <p:nvPr/>
        </p:nvGrpSpPr>
        <p:grpSpPr>
          <a:xfrm rot="-5400000">
            <a:off x="-752475" y="1981200"/>
            <a:ext cx="5629275" cy="4124325"/>
            <a:chOff x="-752475" y="1981200"/>
            <a:chExt cx="7505700" cy="5499100"/>
          </a:xfrm>
        </p:grpSpPr>
        <p:sp>
          <p:nvSpPr>
            <p:cNvPr id="20" name="Freeform 3">
              <a:extLst>
                <a:ext uri="{FF2B5EF4-FFF2-40B4-BE49-F238E27FC236}">
                  <a16:creationId xmlns:a16="http://schemas.microsoft.com/office/drawing/2014/main" id="{A1E6D40F-5CED-C46B-29A0-9D7E8EBFA2E1}"/>
                </a:ext>
              </a:extLst>
            </p:cNvPr>
            <p:cNvSpPr/>
            <p:nvPr/>
          </p:nvSpPr>
          <p:spPr>
            <a:xfrm>
              <a:off x="-752475" y="1981200"/>
              <a:ext cx="7505700" cy="5499100"/>
            </a:xfrm>
            <a:custGeom>
              <a:avLst/>
              <a:gdLst/>
              <a:ahLst/>
              <a:cxnLst/>
              <a:rect l="l" t="t" r="r" b="b"/>
              <a:pathLst>
                <a:path w="7505700" h="5499100">
                  <a:moveTo>
                    <a:pt x="7505700" y="0"/>
                  </a:moveTo>
                  <a:lnTo>
                    <a:pt x="0" y="0"/>
                  </a:lnTo>
                  <a:lnTo>
                    <a:pt x="0" y="5499100"/>
                  </a:lnTo>
                  <a:lnTo>
                    <a:pt x="7505700" y="5499100"/>
                  </a:lnTo>
                  <a:close/>
                </a:path>
              </a:pathLst>
            </a:custGeom>
            <a:blipFill>
              <a:blip r:embed="rId2"/>
              <a:stretch>
                <a:fillRect/>
              </a:stretch>
            </a:blipFill>
          </p:spPr>
          <p:txBody>
            <a:bodyPr/>
            <a:lstStyle/>
            <a:p>
              <a:endParaRPr lang="en-GB"/>
            </a:p>
          </p:txBody>
        </p:sp>
      </p:grpSp>
      <p:grpSp>
        <p:nvGrpSpPr>
          <p:cNvPr id="10" name="Group 9">
            <a:extLst>
              <a:ext uri="{FF2B5EF4-FFF2-40B4-BE49-F238E27FC236}">
                <a16:creationId xmlns:a16="http://schemas.microsoft.com/office/drawing/2014/main" id="{9C554C91-5191-3B15-DE97-C7C24DE5D6EB}"/>
              </a:ext>
            </a:extLst>
          </p:cNvPr>
          <p:cNvGrpSpPr/>
          <p:nvPr/>
        </p:nvGrpSpPr>
        <p:grpSpPr>
          <a:xfrm>
            <a:off x="5800498" y="4504361"/>
            <a:ext cx="6137619" cy="2188932"/>
            <a:chOff x="5934113" y="3133725"/>
            <a:chExt cx="1990942" cy="587167"/>
          </a:xfrm>
        </p:grpSpPr>
        <p:sp>
          <p:nvSpPr>
            <p:cNvPr id="19" name="TextBox 6">
              <a:extLst>
                <a:ext uri="{FF2B5EF4-FFF2-40B4-BE49-F238E27FC236}">
                  <a16:creationId xmlns:a16="http://schemas.microsoft.com/office/drawing/2014/main" id="{CCF109A4-5DF0-37F2-6DCC-DC3ECF50F1BB}"/>
                </a:ext>
              </a:extLst>
            </p:cNvPr>
            <p:cNvSpPr txBox="1"/>
            <p:nvPr/>
          </p:nvSpPr>
          <p:spPr>
            <a:xfrm>
              <a:off x="5934113" y="3133725"/>
              <a:ext cx="1990942" cy="587167"/>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83"/>
                </a:lnSpc>
              </a:pPr>
              <a:endParaRPr/>
            </a:p>
          </p:txBody>
        </p:sp>
        <p:sp>
          <p:nvSpPr>
            <p:cNvPr id="18" name="Freeform 5">
              <a:extLst>
                <a:ext uri="{FF2B5EF4-FFF2-40B4-BE49-F238E27FC236}">
                  <a16:creationId xmlns:a16="http://schemas.microsoft.com/office/drawing/2014/main" id="{E8012B2F-5A6A-B232-0174-2795D8E8404F}"/>
                </a:ext>
              </a:extLst>
            </p:cNvPr>
            <p:cNvSpPr/>
            <p:nvPr/>
          </p:nvSpPr>
          <p:spPr>
            <a:xfrm>
              <a:off x="5934113" y="3171825"/>
              <a:ext cx="1990942" cy="549067"/>
            </a:xfrm>
            <a:custGeom>
              <a:avLst/>
              <a:gdLst/>
              <a:ahLst/>
              <a:cxnLst/>
              <a:rect l="l" t="t" r="r" b="b"/>
              <a:pathLst>
                <a:path w="1990942" h="549067">
                  <a:moveTo>
                    <a:pt x="0" y="0"/>
                  </a:moveTo>
                  <a:lnTo>
                    <a:pt x="1990942" y="0"/>
                  </a:lnTo>
                  <a:lnTo>
                    <a:pt x="1990942" y="549067"/>
                  </a:lnTo>
                  <a:lnTo>
                    <a:pt x="0" y="549067"/>
                  </a:lnTo>
                  <a:close/>
                </a:path>
              </a:pathLst>
            </a:custGeom>
            <a:solidFill>
              <a:srgbClr val="E2E4FC"/>
            </a:solidFill>
          </p:spPr>
          <p:txBody>
            <a:bodyPr/>
            <a:lstStyle/>
            <a:p>
              <a:endParaRPr lang="en-GB"/>
            </a:p>
          </p:txBody>
        </p:sp>
      </p:grpSp>
      <p:sp>
        <p:nvSpPr>
          <p:cNvPr id="12" name="TextBox 12">
            <a:extLst>
              <a:ext uri="{FF2B5EF4-FFF2-40B4-BE49-F238E27FC236}">
                <a16:creationId xmlns:a16="http://schemas.microsoft.com/office/drawing/2014/main" id="{17E4C1B6-0E90-6209-B6F8-7664710401CD}"/>
              </a:ext>
            </a:extLst>
          </p:cNvPr>
          <p:cNvSpPr txBox="1"/>
          <p:nvPr/>
        </p:nvSpPr>
        <p:spPr>
          <a:xfrm>
            <a:off x="429426" y="1711477"/>
            <a:ext cx="5711174" cy="589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4900"/>
              </a:lnSpc>
            </a:pPr>
            <a:r>
              <a:rPr lang="en-US" sz="3500" b="1">
                <a:solidFill>
                  <a:srgbClr val="241160"/>
                </a:solidFill>
                <a:latin typeface="Calibri"/>
                <a:ea typeface="Calibri"/>
                <a:cs typeface="Calibri"/>
                <a:sym typeface="Calibri (MS)"/>
              </a:rPr>
              <a:t>Review Length vs F1 score</a:t>
            </a:r>
            <a:endParaRPr lang="en-US" sz="3500" b="1">
              <a:latin typeface="Calibri"/>
              <a:ea typeface="Calibri"/>
              <a:cs typeface="Calibri"/>
            </a:endParaRPr>
          </a:p>
        </p:txBody>
      </p:sp>
      <p:sp>
        <p:nvSpPr>
          <p:cNvPr id="14" name="TextBox 14">
            <a:extLst>
              <a:ext uri="{FF2B5EF4-FFF2-40B4-BE49-F238E27FC236}">
                <a16:creationId xmlns:a16="http://schemas.microsoft.com/office/drawing/2014/main" id="{47124004-E8DD-6F93-2225-95B6E92437AC}"/>
              </a:ext>
            </a:extLst>
          </p:cNvPr>
          <p:cNvSpPr txBox="1"/>
          <p:nvPr/>
        </p:nvSpPr>
        <p:spPr>
          <a:xfrm>
            <a:off x="685800" y="2479548"/>
            <a:ext cx="4725286" cy="400109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424"/>
              </a:lnSpc>
            </a:pPr>
            <a:r>
              <a:rPr lang="en-US" sz="2400" b="1">
                <a:solidFill>
                  <a:srgbClr val="241160"/>
                </a:solidFill>
                <a:latin typeface="Calibri"/>
                <a:ea typeface="Calibri"/>
                <a:cs typeface="Calibri"/>
                <a:sym typeface="Calibri (MS) Bold"/>
              </a:rPr>
              <a:t>Short Reviews</a:t>
            </a:r>
            <a:endParaRPr lang="en-US" sz="2400" b="1">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Limited contextual information</a:t>
            </a:r>
            <a:endParaRPr lang="en-US" sz="2400">
              <a:solidFill>
                <a:srgbClr val="241160"/>
              </a:solidFill>
              <a:latin typeface="Calibri"/>
              <a:ea typeface="Calibri"/>
              <a:cs typeface="Calibri"/>
            </a:endParaRPr>
          </a:p>
          <a:p>
            <a:pPr marL="431800" lvl="1" indent="-215900">
              <a:lnSpc>
                <a:spcPts val="2424"/>
              </a:lnSpc>
              <a:buFont typeface="Arial"/>
              <a:buChar char="•"/>
            </a:pPr>
            <a:r>
              <a:rPr lang="en-US" sz="2400">
                <a:solidFill>
                  <a:srgbClr val="241160"/>
                </a:solidFill>
                <a:latin typeface="Calibri"/>
                <a:ea typeface="Calibri"/>
                <a:cs typeface="Calibri"/>
              </a:rPr>
              <a:t>Lower F1 score for both models</a:t>
            </a:r>
          </a:p>
          <a:p>
            <a:pPr algn="l">
              <a:lnSpc>
                <a:spcPts val="2424"/>
              </a:lnSpc>
            </a:pPr>
            <a:endParaRPr lang="en-US" sz="2400">
              <a:solidFill>
                <a:srgbClr val="241160"/>
              </a:solidFill>
              <a:latin typeface="Calibri"/>
              <a:ea typeface="Calibri"/>
              <a:cs typeface="Calibri"/>
            </a:endParaRPr>
          </a:p>
          <a:p>
            <a:pPr algn="l">
              <a:lnSpc>
                <a:spcPts val="2424"/>
              </a:lnSpc>
            </a:pPr>
            <a:r>
              <a:rPr lang="en-US" sz="2400" b="1">
                <a:solidFill>
                  <a:srgbClr val="241160"/>
                </a:solidFill>
                <a:latin typeface="Calibri"/>
                <a:ea typeface="Calibri"/>
                <a:cs typeface="Calibri"/>
                <a:sym typeface="Calibri (MS) Bold"/>
              </a:rPr>
              <a:t>Medium Reviews</a:t>
            </a:r>
            <a:endParaRPr lang="en-US" sz="2400" b="1">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Best balance of signal and clarity</a:t>
            </a:r>
            <a:endParaRPr lang="en-US" sz="2400">
              <a:solidFill>
                <a:srgbClr val="241160"/>
              </a:solidFill>
              <a:latin typeface="Calibri"/>
              <a:ea typeface="Calibri"/>
              <a:cs typeface="Calibri"/>
            </a:endParaRPr>
          </a:p>
          <a:p>
            <a:pPr marL="431800" lvl="1" indent="-215900">
              <a:lnSpc>
                <a:spcPts val="2424"/>
              </a:lnSpc>
              <a:buFont typeface="Arial"/>
              <a:buChar char="•"/>
            </a:pPr>
            <a:r>
              <a:rPr lang="en-US" sz="2400">
                <a:solidFill>
                  <a:srgbClr val="241160"/>
                </a:solidFill>
                <a:latin typeface="Calibri"/>
                <a:ea typeface="Calibri"/>
                <a:cs typeface="Calibri"/>
                <a:sym typeface="Calibri (MS)"/>
              </a:rPr>
              <a:t>Highest recall performance overall but Qwen performs worse</a:t>
            </a:r>
            <a:endParaRPr lang="en-US" sz="2400">
              <a:solidFill>
                <a:srgbClr val="241160"/>
              </a:solidFill>
              <a:latin typeface="Calibri"/>
              <a:ea typeface="Calibri"/>
              <a:cs typeface="Calibri"/>
            </a:endParaRPr>
          </a:p>
          <a:p>
            <a:pPr algn="l">
              <a:lnSpc>
                <a:spcPts val="2424"/>
              </a:lnSpc>
            </a:pPr>
            <a:endParaRPr lang="en-US" sz="2400">
              <a:solidFill>
                <a:srgbClr val="241160"/>
              </a:solidFill>
              <a:latin typeface="Calibri"/>
              <a:ea typeface="Calibri"/>
              <a:cs typeface="Calibri"/>
            </a:endParaRPr>
          </a:p>
          <a:p>
            <a:pPr algn="l">
              <a:lnSpc>
                <a:spcPts val="2424"/>
              </a:lnSpc>
            </a:pPr>
            <a:r>
              <a:rPr lang="en-US" sz="2400" b="1">
                <a:solidFill>
                  <a:srgbClr val="241160"/>
                </a:solidFill>
                <a:latin typeface="Calibri"/>
                <a:ea typeface="Calibri"/>
                <a:cs typeface="Calibri"/>
                <a:sym typeface="Calibri (MS) Bold"/>
              </a:rPr>
              <a:t>Long Reviews</a:t>
            </a:r>
            <a:endParaRPr lang="en-US" sz="2400" b="1">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More contextual cues</a:t>
            </a:r>
            <a:endParaRPr lang="en-US" sz="2400">
              <a:solidFill>
                <a:srgbClr val="241160"/>
              </a:solidFill>
              <a:latin typeface="Calibri"/>
              <a:ea typeface="Calibri"/>
              <a:cs typeface="Calibri"/>
            </a:endParaRPr>
          </a:p>
          <a:p>
            <a:pPr marL="431800" lvl="1" indent="-215900" algn="l">
              <a:lnSpc>
                <a:spcPts val="2424"/>
              </a:lnSpc>
              <a:buFont typeface="Arial"/>
              <a:buChar char="•"/>
            </a:pPr>
            <a:r>
              <a:rPr lang="en-US" sz="2400">
                <a:solidFill>
                  <a:srgbClr val="241160"/>
                </a:solidFill>
                <a:latin typeface="Calibri"/>
                <a:ea typeface="Calibri"/>
                <a:cs typeface="Calibri"/>
                <a:sym typeface="Calibri (MS)"/>
              </a:rPr>
              <a:t>Possible noise introduced</a:t>
            </a:r>
            <a:endParaRPr lang="en-US" sz="2400">
              <a:solidFill>
                <a:srgbClr val="241160"/>
              </a:solidFill>
              <a:latin typeface="Calibri"/>
              <a:ea typeface="Calibri"/>
              <a:cs typeface="Calibri"/>
            </a:endParaRPr>
          </a:p>
          <a:p>
            <a:pPr algn="l">
              <a:lnSpc>
                <a:spcPts val="2424"/>
              </a:lnSpc>
            </a:pPr>
            <a:endParaRPr lang="en-US" sz="2000">
              <a:solidFill>
                <a:srgbClr val="241160"/>
              </a:solidFill>
              <a:latin typeface="Calibri (MS)"/>
              <a:ea typeface="Calibri (MS)"/>
              <a:cs typeface="Calibri (MS)"/>
              <a:sym typeface="Calibri (MS)"/>
            </a:endParaRPr>
          </a:p>
        </p:txBody>
      </p:sp>
      <p:sp>
        <p:nvSpPr>
          <p:cNvPr id="15" name="TextBox 15">
            <a:extLst>
              <a:ext uri="{FF2B5EF4-FFF2-40B4-BE49-F238E27FC236}">
                <a16:creationId xmlns:a16="http://schemas.microsoft.com/office/drawing/2014/main" id="{46D98339-719E-B3B9-BA16-DF9B5FC3A96A}"/>
              </a:ext>
            </a:extLst>
          </p:cNvPr>
          <p:cNvSpPr txBox="1"/>
          <p:nvPr/>
        </p:nvSpPr>
        <p:spPr>
          <a:xfrm>
            <a:off x="5925022" y="4759569"/>
            <a:ext cx="5833877" cy="252376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241160"/>
                </a:solidFill>
                <a:ea typeface="+mn-lt"/>
                <a:cs typeface="+mn-lt"/>
                <a:sym typeface="Calibri (MS)"/>
              </a:rPr>
              <a:t>F1 results show that model effectiveness depends on both context length and training. Fine-tuned model performs best with balanced input, while the zero-shot model requires more context to improve.</a:t>
            </a:r>
            <a:endParaRPr lang="en-US"/>
          </a:p>
          <a:p>
            <a:endParaRPr lang="en-US" sz="2400">
              <a:solidFill>
                <a:srgbClr val="241160"/>
              </a:solidFill>
              <a:ea typeface="+mn-lt"/>
              <a:cs typeface="+mn-lt"/>
            </a:endParaRPr>
          </a:p>
          <a:p>
            <a:pPr>
              <a:lnSpc>
                <a:spcPts val="2424"/>
              </a:lnSpc>
            </a:pPr>
            <a:endParaRPr lang="en-US" sz="2400">
              <a:cs typeface="Arial"/>
            </a:endParaRPr>
          </a:p>
        </p:txBody>
      </p:sp>
      <p:sp>
        <p:nvSpPr>
          <p:cNvPr id="22" name="Google Shape;269;p31">
            <a:extLst>
              <a:ext uri="{FF2B5EF4-FFF2-40B4-BE49-F238E27FC236}">
                <a16:creationId xmlns:a16="http://schemas.microsoft.com/office/drawing/2014/main" id="{A7BD0745-737A-6F0C-7944-526A0E822CB4}"/>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05</a:t>
            </a:r>
          </a:p>
        </p:txBody>
      </p:sp>
      <p:pic>
        <p:nvPicPr>
          <p:cNvPr id="4" name="Picture 3" descr="A graph of a bar chart&#10;&#10;AI-generated content may be incorrect.">
            <a:extLst>
              <a:ext uri="{FF2B5EF4-FFF2-40B4-BE49-F238E27FC236}">
                <a16:creationId xmlns:a16="http://schemas.microsoft.com/office/drawing/2014/main" id="{B345FD0B-8E26-C666-8F9E-0C81F9164D6A}"/>
              </a:ext>
            </a:extLst>
          </p:cNvPr>
          <p:cNvPicPr>
            <a:picLocks noChangeAspect="1"/>
          </p:cNvPicPr>
          <p:nvPr/>
        </p:nvPicPr>
        <p:blipFill>
          <a:blip r:embed="rId3"/>
          <a:srcRect l="2529" t="560" r="277" b="-267"/>
          <a:stretch>
            <a:fillRect/>
          </a:stretch>
        </p:blipFill>
        <p:spPr>
          <a:xfrm>
            <a:off x="6734608" y="922171"/>
            <a:ext cx="4367943" cy="3682969"/>
          </a:xfrm>
          <a:prstGeom prst="rect">
            <a:avLst/>
          </a:prstGeom>
        </p:spPr>
      </p:pic>
      <p:sp>
        <p:nvSpPr>
          <p:cNvPr id="16" name="TextBox 16">
            <a:extLst>
              <a:ext uri="{FF2B5EF4-FFF2-40B4-BE49-F238E27FC236}">
                <a16:creationId xmlns:a16="http://schemas.microsoft.com/office/drawing/2014/main" id="{CBA1AFE4-3423-70DA-4888-5B3E8F5DD5A2}"/>
              </a:ext>
            </a:extLst>
          </p:cNvPr>
          <p:cNvSpPr txBox="1"/>
          <p:nvPr/>
        </p:nvSpPr>
        <p:spPr>
          <a:xfrm>
            <a:off x="1243657" y="169056"/>
            <a:ext cx="9859009" cy="84253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7000"/>
              </a:lnSpc>
            </a:pPr>
            <a:r>
              <a:rPr lang="en-US" sz="5000" b="1">
                <a:solidFill>
                  <a:srgbClr val="241160"/>
                </a:solidFill>
                <a:latin typeface="Calibri"/>
                <a:ea typeface="Calibri"/>
                <a:cs typeface="Calibri"/>
                <a:sym typeface="Calibri (MS) Bold"/>
              </a:rPr>
              <a:t>Discussion: Observations &amp; Strengths</a:t>
            </a:r>
          </a:p>
        </p:txBody>
      </p:sp>
    </p:spTree>
    <p:extLst>
      <p:ext uri="{BB962C8B-B14F-4D97-AF65-F5344CB8AC3E}">
        <p14:creationId xmlns:p14="http://schemas.microsoft.com/office/powerpoint/2010/main" val="92574705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1">
          <a:extLst>
            <a:ext uri="{FF2B5EF4-FFF2-40B4-BE49-F238E27FC236}">
              <a16:creationId xmlns:a16="http://schemas.microsoft.com/office/drawing/2014/main" id="{D38DA77A-04F0-A214-B122-FAC6F700F931}"/>
            </a:ext>
          </a:extLst>
        </p:cNvPr>
        <p:cNvGrpSpPr/>
        <p:nvPr/>
      </p:nvGrpSpPr>
      <p:grpSpPr>
        <a:xfrm>
          <a:off x="0" y="0"/>
          <a:ext cx="0" cy="0"/>
          <a:chOff x="0" y="0"/>
          <a:chExt cx="0" cy="0"/>
        </a:xfrm>
      </p:grpSpPr>
      <p:sp>
        <p:nvSpPr>
          <p:cNvPr id="303" name="Google Shape;303;p34">
            <a:extLst>
              <a:ext uri="{FF2B5EF4-FFF2-40B4-BE49-F238E27FC236}">
                <a16:creationId xmlns:a16="http://schemas.microsoft.com/office/drawing/2014/main" id="{BF8F7393-8C5A-CE07-0C5D-B1BA942EF5CF}"/>
              </a:ext>
            </a:extLst>
          </p:cNvPr>
          <p:cNvSpPr txBox="1">
            <a:spLocks noGrp="1"/>
          </p:cNvSpPr>
          <p:nvPr>
            <p:ph type="title"/>
          </p:nvPr>
        </p:nvSpPr>
        <p:spPr>
          <a:xfrm>
            <a:off x="960000" y="233367"/>
            <a:ext cx="102720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4400" b="1">
                <a:solidFill>
                  <a:schemeClr val="tx1">
                    <a:lumMod val="76000"/>
                  </a:schemeClr>
                </a:solidFill>
                <a:latin typeface="Calibri"/>
                <a:ea typeface="Calibri"/>
                <a:cs typeface="Calibri"/>
              </a:rPr>
              <a:t>Limitations in Various Contexts</a:t>
            </a:r>
            <a:endParaRPr lang="en-US">
              <a:solidFill>
                <a:schemeClr val="tx1">
                  <a:lumMod val="76000"/>
                </a:schemeClr>
              </a:solidFill>
            </a:endParaRPr>
          </a:p>
        </p:txBody>
      </p:sp>
      <p:sp>
        <p:nvSpPr>
          <p:cNvPr id="3" name="Google Shape;269;p31">
            <a:extLst>
              <a:ext uri="{FF2B5EF4-FFF2-40B4-BE49-F238E27FC236}">
                <a16:creationId xmlns:a16="http://schemas.microsoft.com/office/drawing/2014/main" id="{ECAB2F7A-B9B2-1A49-4A5D-95FCF609E05F}"/>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06</a:t>
            </a:r>
          </a:p>
        </p:txBody>
      </p:sp>
      <p:sp>
        <p:nvSpPr>
          <p:cNvPr id="8" name="Flowchart: Alternate Process 7">
            <a:extLst>
              <a:ext uri="{FF2B5EF4-FFF2-40B4-BE49-F238E27FC236}">
                <a16:creationId xmlns:a16="http://schemas.microsoft.com/office/drawing/2014/main" id="{6FC20040-3E42-94B9-49FC-402341D29F65}"/>
              </a:ext>
            </a:extLst>
          </p:cNvPr>
          <p:cNvSpPr/>
          <p:nvPr/>
        </p:nvSpPr>
        <p:spPr>
          <a:xfrm>
            <a:off x="1795683" y="1220834"/>
            <a:ext cx="3829554" cy="2626993"/>
          </a:xfrm>
          <a:prstGeom prst="flowChartAlternateProcess">
            <a:avLst/>
          </a:prstGeom>
          <a:solidFill>
            <a:schemeClr val="bg1"/>
          </a:solidFill>
          <a:ln>
            <a:solidFill>
              <a:srgbClr val="545EE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3200" b="1">
                <a:solidFill>
                  <a:schemeClr val="accent1">
                    <a:lumMod val="76000"/>
                  </a:schemeClr>
                </a:solidFill>
                <a:latin typeface="Calibri"/>
                <a:ea typeface="Segoe UI"/>
                <a:cs typeface="Segoe UI"/>
              </a:rPr>
              <a:t>Dataset</a:t>
            </a:r>
            <a:endParaRPr lang="en-US" sz="3200" b="1" i="0">
              <a:solidFill>
                <a:schemeClr val="accent1">
                  <a:lumMod val="76000"/>
                </a:schemeClr>
              </a:solidFill>
              <a:latin typeface="Calibri"/>
              <a:ea typeface="Segoe UI"/>
              <a:cs typeface="Segoe UI"/>
            </a:endParaRPr>
          </a:p>
          <a:p>
            <a:pPr marL="285750" indent="-285750">
              <a:buFont typeface="Arial"/>
              <a:buChar char="•"/>
            </a:pPr>
            <a:r>
              <a:rPr lang="en-US" sz="2000">
                <a:solidFill>
                  <a:schemeClr val="accent1">
                    <a:lumMod val="76000"/>
                  </a:schemeClr>
                </a:solidFill>
                <a:latin typeface="Calibri"/>
                <a:ea typeface="Calibri"/>
                <a:cs typeface="Calibri"/>
              </a:rPr>
              <a:t>Benchmark dataset may not reflect real-world review distributions</a:t>
            </a:r>
          </a:p>
          <a:p>
            <a:pPr marL="285750" indent="-285750">
              <a:buFont typeface="Arial"/>
              <a:buChar char="•"/>
            </a:pPr>
            <a:r>
              <a:rPr lang="en-US" sz="2000">
                <a:solidFill>
                  <a:schemeClr val="accent1">
                    <a:lumMod val="76000"/>
                  </a:schemeClr>
                </a:solidFill>
                <a:latin typeface="Calibri"/>
                <a:ea typeface="Calibri"/>
                <a:cs typeface="Calibri"/>
              </a:rPr>
              <a:t>Potential stylistic bias in </a:t>
            </a:r>
            <a:r>
              <a:rPr lang="en-US" sz="2000" err="1">
                <a:solidFill>
                  <a:schemeClr val="accent1">
                    <a:lumMod val="76000"/>
                  </a:schemeClr>
                </a:solidFill>
                <a:latin typeface="Calibri"/>
                <a:ea typeface="Calibri"/>
                <a:cs typeface="Calibri"/>
              </a:rPr>
              <a:t>DiFraud</a:t>
            </a:r>
            <a:r>
              <a:rPr lang="en-US" sz="2000">
                <a:solidFill>
                  <a:schemeClr val="accent1">
                    <a:lumMod val="76000"/>
                  </a:schemeClr>
                </a:solidFill>
                <a:latin typeface="Calibri"/>
                <a:ea typeface="Calibri"/>
                <a:cs typeface="Calibri"/>
              </a:rPr>
              <a:t> reviews</a:t>
            </a:r>
          </a:p>
        </p:txBody>
      </p:sp>
      <p:sp>
        <p:nvSpPr>
          <p:cNvPr id="11" name="Flowchart: Alternate Process 10">
            <a:extLst>
              <a:ext uri="{FF2B5EF4-FFF2-40B4-BE49-F238E27FC236}">
                <a16:creationId xmlns:a16="http://schemas.microsoft.com/office/drawing/2014/main" id="{0EA06663-864A-8DED-E60B-80029A372EA6}"/>
              </a:ext>
            </a:extLst>
          </p:cNvPr>
          <p:cNvSpPr/>
          <p:nvPr/>
        </p:nvSpPr>
        <p:spPr>
          <a:xfrm>
            <a:off x="1798083" y="4055234"/>
            <a:ext cx="3829554" cy="2626993"/>
          </a:xfrm>
          <a:prstGeom prst="flowChartAlternateProcess">
            <a:avLst/>
          </a:prstGeom>
          <a:solidFill>
            <a:schemeClr val="bg1"/>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3200" b="1">
                <a:solidFill>
                  <a:schemeClr val="accent1">
                    <a:lumMod val="49000"/>
                  </a:schemeClr>
                </a:solidFill>
                <a:latin typeface="Calibri"/>
                <a:ea typeface="Segoe UI"/>
                <a:cs typeface="Segoe UI"/>
              </a:rPr>
              <a:t>Experimental</a:t>
            </a:r>
            <a:endParaRPr lang="en-US" sz="3200" b="1" i="0">
              <a:solidFill>
                <a:schemeClr val="accent1">
                  <a:lumMod val="49000"/>
                </a:schemeClr>
              </a:solidFill>
              <a:latin typeface="Calibri"/>
              <a:ea typeface="Segoe UI"/>
              <a:cs typeface="Segoe UI"/>
            </a:endParaRPr>
          </a:p>
          <a:p>
            <a:pPr marL="285750" indent="-285750">
              <a:buFont typeface="Arial"/>
              <a:buChar char="•"/>
            </a:pPr>
            <a:r>
              <a:rPr lang="en-US" sz="2000">
                <a:solidFill>
                  <a:schemeClr val="accent1">
                    <a:lumMod val="49000"/>
                  </a:schemeClr>
                </a:solidFill>
                <a:latin typeface="Calibri"/>
                <a:ea typeface="Calibri"/>
                <a:cs typeface="Calibri"/>
              </a:rPr>
              <a:t>Limited number </a:t>
            </a:r>
            <a:r>
              <a:rPr lang="en-US" sz="2000" b="0" i="0" u="none" strike="noStrike" baseline="0">
                <a:solidFill>
                  <a:schemeClr val="accent1">
                    <a:lumMod val="49000"/>
                  </a:schemeClr>
                </a:solidFill>
                <a:latin typeface="Calibri"/>
                <a:ea typeface="Calibri"/>
                <a:cs typeface="Calibri"/>
              </a:rPr>
              <a:t>of </a:t>
            </a:r>
            <a:r>
              <a:rPr lang="en-US" sz="2000">
                <a:solidFill>
                  <a:schemeClr val="accent1">
                    <a:lumMod val="49000"/>
                  </a:schemeClr>
                </a:solidFill>
                <a:latin typeface="Calibri"/>
                <a:ea typeface="Calibri"/>
                <a:cs typeface="Calibri"/>
              </a:rPr>
              <a:t>prompt variations evaluated</a:t>
            </a:r>
          </a:p>
          <a:p>
            <a:pPr marL="285750" indent="-285750">
              <a:buFont typeface="Arial"/>
              <a:buChar char="•"/>
            </a:pPr>
            <a:r>
              <a:rPr lang="en-US" sz="2000">
                <a:solidFill>
                  <a:schemeClr val="accent1">
                    <a:lumMod val="49000"/>
                  </a:schemeClr>
                </a:solidFill>
                <a:latin typeface="Calibri"/>
                <a:ea typeface="Calibri"/>
                <a:cs typeface="Calibri"/>
              </a:rPr>
              <a:t>Review length grouping simplifies continuous variation</a:t>
            </a:r>
          </a:p>
        </p:txBody>
      </p:sp>
      <p:sp>
        <p:nvSpPr>
          <p:cNvPr id="15" name="Flowchart: Alternate Process 14">
            <a:extLst>
              <a:ext uri="{FF2B5EF4-FFF2-40B4-BE49-F238E27FC236}">
                <a16:creationId xmlns:a16="http://schemas.microsoft.com/office/drawing/2014/main" id="{08134D50-0C90-7B2F-095A-D53BE3B40BCA}"/>
              </a:ext>
            </a:extLst>
          </p:cNvPr>
          <p:cNvSpPr/>
          <p:nvPr/>
        </p:nvSpPr>
        <p:spPr>
          <a:xfrm>
            <a:off x="5911683" y="1220834"/>
            <a:ext cx="3973554" cy="2626993"/>
          </a:xfrm>
          <a:prstGeom prst="flowChartAlternateProcess">
            <a:avLst/>
          </a:prstGeom>
          <a:solidFill>
            <a:schemeClr val="bg1"/>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3200" b="1">
                <a:solidFill>
                  <a:schemeClr val="accent3">
                    <a:lumMod val="49000"/>
                  </a:schemeClr>
                </a:solidFill>
                <a:latin typeface="Calibri"/>
                <a:ea typeface="Segoe UI"/>
                <a:cs typeface="Segoe UI"/>
              </a:rPr>
              <a:t>Model</a:t>
            </a:r>
            <a:endParaRPr lang="en-US" sz="3200" b="0" i="0">
              <a:solidFill>
                <a:schemeClr val="accent3">
                  <a:lumMod val="49000"/>
                </a:schemeClr>
              </a:solidFill>
              <a:latin typeface="Calibri"/>
              <a:ea typeface="Segoe UI"/>
              <a:cs typeface="Segoe UI"/>
            </a:endParaRPr>
          </a:p>
          <a:p>
            <a:pPr marL="285750" indent="-285750">
              <a:buFont typeface="Arial"/>
              <a:buChar char="•"/>
            </a:pPr>
            <a:r>
              <a:rPr lang="en-US" sz="2000">
                <a:solidFill>
                  <a:schemeClr val="accent3">
                    <a:lumMod val="49000"/>
                  </a:schemeClr>
                </a:solidFill>
                <a:latin typeface="Calibri"/>
                <a:ea typeface="Calibri"/>
                <a:cs typeface="Calibri"/>
              </a:rPr>
              <a:t>Zero-shot LLM evaluation may not reflect full model capability</a:t>
            </a:r>
          </a:p>
          <a:p>
            <a:pPr marL="285750" indent="-285750">
              <a:buFont typeface="Arial"/>
              <a:buChar char="•"/>
            </a:pPr>
            <a:r>
              <a:rPr lang="en-US" sz="2000">
                <a:solidFill>
                  <a:schemeClr val="accent3">
                    <a:lumMod val="49000"/>
                  </a:schemeClr>
                </a:solidFill>
                <a:latin typeface="Calibri"/>
                <a:ea typeface="Calibri"/>
                <a:cs typeface="Calibri"/>
              </a:rPr>
              <a:t>Comparison limited to a small set </a:t>
            </a:r>
            <a:r>
              <a:rPr lang="en-US" sz="2000" b="0" i="0" u="none" strike="noStrike" baseline="0">
                <a:solidFill>
                  <a:schemeClr val="accent3">
                    <a:lumMod val="49000"/>
                  </a:schemeClr>
                </a:solidFill>
                <a:latin typeface="Calibri"/>
                <a:ea typeface="Calibri"/>
                <a:cs typeface="Calibri"/>
              </a:rPr>
              <a:t>of </a:t>
            </a:r>
            <a:r>
              <a:rPr lang="en-US" sz="2000">
                <a:solidFill>
                  <a:schemeClr val="accent3">
                    <a:lumMod val="49000"/>
                  </a:schemeClr>
                </a:solidFill>
                <a:latin typeface="Calibri"/>
                <a:ea typeface="Calibri"/>
                <a:cs typeface="Calibri"/>
              </a:rPr>
              <a:t>models</a:t>
            </a:r>
          </a:p>
          <a:p>
            <a:pPr lvl="0" algn="l"/>
            <a:endParaRPr lang="en-US" sz="2000">
              <a:solidFill>
                <a:srgbClr val="241160"/>
              </a:solidFill>
              <a:latin typeface="Calibri"/>
              <a:ea typeface="Calibri"/>
              <a:cs typeface="Calibri"/>
            </a:endParaRPr>
          </a:p>
        </p:txBody>
      </p:sp>
      <p:sp>
        <p:nvSpPr>
          <p:cNvPr id="19" name="Flowchart: Alternate Process 18">
            <a:extLst>
              <a:ext uri="{FF2B5EF4-FFF2-40B4-BE49-F238E27FC236}">
                <a16:creationId xmlns:a16="http://schemas.microsoft.com/office/drawing/2014/main" id="{29DB6119-957D-7454-E1E0-BA590D3F40AE}"/>
              </a:ext>
            </a:extLst>
          </p:cNvPr>
          <p:cNvSpPr/>
          <p:nvPr/>
        </p:nvSpPr>
        <p:spPr>
          <a:xfrm>
            <a:off x="5911683" y="4052834"/>
            <a:ext cx="3973554" cy="2626993"/>
          </a:xfrm>
          <a:prstGeom prst="flowChartAlternateProcess">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3200" b="1">
                <a:solidFill>
                  <a:srgbClr val="0070C0"/>
                </a:solidFill>
                <a:latin typeface="Calibri"/>
                <a:ea typeface="Segoe UI"/>
                <a:cs typeface="Segoe UI"/>
              </a:rPr>
              <a:t>Computational</a:t>
            </a:r>
            <a:endParaRPr lang="en-US">
              <a:solidFill>
                <a:srgbClr val="0070C0"/>
              </a:solidFill>
            </a:endParaRPr>
          </a:p>
          <a:p>
            <a:pPr marL="285750" indent="-285750">
              <a:buFont typeface="Arial"/>
              <a:buChar char="•"/>
            </a:pPr>
            <a:r>
              <a:rPr lang="en-US" sz="2000">
                <a:solidFill>
                  <a:srgbClr val="0070C0"/>
                </a:solidFill>
                <a:latin typeface="Calibri"/>
                <a:ea typeface="Calibri"/>
                <a:cs typeface="Calibri"/>
              </a:rPr>
              <a:t>Limited resources restrict experiment scale</a:t>
            </a:r>
          </a:p>
          <a:p>
            <a:pPr marL="285750" indent="-285750">
              <a:buFont typeface="Arial"/>
              <a:buChar char="•"/>
            </a:pPr>
            <a:r>
              <a:rPr lang="en-US" sz="2000">
                <a:solidFill>
                  <a:srgbClr val="0070C0"/>
                </a:solidFill>
                <a:latin typeface="Calibri"/>
                <a:ea typeface="Calibri"/>
                <a:cs typeface="Calibri"/>
              </a:rPr>
              <a:t>Sequential LLM inference limits evaluation breadth</a:t>
            </a:r>
          </a:p>
          <a:p>
            <a:endParaRPr lang="en-US" sz="2400">
              <a:solidFill>
                <a:srgbClr val="241160"/>
              </a:solidFill>
              <a:latin typeface="Calibri"/>
              <a:ea typeface="Calibri"/>
              <a:cs typeface="Arial"/>
            </a:endParaRPr>
          </a:p>
        </p:txBody>
      </p:sp>
    </p:spTree>
    <p:extLst>
      <p:ext uri="{BB962C8B-B14F-4D97-AF65-F5344CB8AC3E}">
        <p14:creationId xmlns:p14="http://schemas.microsoft.com/office/powerpoint/2010/main" val="394741086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4">
          <a:extLst>
            <a:ext uri="{FF2B5EF4-FFF2-40B4-BE49-F238E27FC236}">
              <a16:creationId xmlns:a16="http://schemas.microsoft.com/office/drawing/2014/main" id="{48906798-84BB-9695-33A7-619AA74FE9A6}"/>
            </a:ext>
          </a:extLst>
        </p:cNvPr>
        <p:cNvGrpSpPr/>
        <p:nvPr/>
      </p:nvGrpSpPr>
      <p:grpSpPr>
        <a:xfrm>
          <a:off x="0" y="0"/>
          <a:ext cx="0" cy="0"/>
          <a:chOff x="0" y="0"/>
          <a:chExt cx="0" cy="0"/>
        </a:xfrm>
      </p:grpSpPr>
      <p:sp>
        <p:nvSpPr>
          <p:cNvPr id="315" name="Google Shape;315;p35">
            <a:extLst>
              <a:ext uri="{FF2B5EF4-FFF2-40B4-BE49-F238E27FC236}">
                <a16:creationId xmlns:a16="http://schemas.microsoft.com/office/drawing/2014/main" id="{FF0EBF7C-BA0C-B6D0-E7BE-3038EB314FD6}"/>
              </a:ext>
            </a:extLst>
          </p:cNvPr>
          <p:cNvSpPr txBox="1">
            <a:spLocks noGrp="1"/>
          </p:cNvSpPr>
          <p:nvPr>
            <p:ph type="title"/>
          </p:nvPr>
        </p:nvSpPr>
        <p:spPr>
          <a:xfrm>
            <a:off x="581987" y="399648"/>
            <a:ext cx="6890977"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 sz="4400" b="1">
                <a:solidFill>
                  <a:schemeClr val="tx1"/>
                </a:solidFill>
                <a:latin typeface="Calibri"/>
                <a:ea typeface="Calibri"/>
                <a:cs typeface="Calibri"/>
              </a:rPr>
              <a:t>Conclusion &amp; Next Steps</a:t>
            </a:r>
            <a:endParaRPr lang="en-US">
              <a:solidFill>
                <a:schemeClr val="tx1"/>
              </a:solidFill>
            </a:endParaRPr>
          </a:p>
        </p:txBody>
      </p:sp>
      <p:sp>
        <p:nvSpPr>
          <p:cNvPr id="317" name="Google Shape;317;p35">
            <a:extLst>
              <a:ext uri="{FF2B5EF4-FFF2-40B4-BE49-F238E27FC236}">
                <a16:creationId xmlns:a16="http://schemas.microsoft.com/office/drawing/2014/main" id="{EDB93761-A155-4828-92C1-1938D5B4F84F}"/>
              </a:ext>
            </a:extLst>
          </p:cNvPr>
          <p:cNvSpPr txBox="1">
            <a:spLocks noGrp="1"/>
          </p:cNvSpPr>
          <p:nvPr>
            <p:ph type="subTitle" idx="5"/>
          </p:nvPr>
        </p:nvSpPr>
        <p:spPr>
          <a:xfrm>
            <a:off x="4543164" y="2340755"/>
            <a:ext cx="2907506" cy="557452"/>
          </a:xfrm>
          <a:prstGeom prst="rect">
            <a:avLst/>
          </a:prstGeom>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r>
              <a:rPr lang="en" sz="2800" b="1">
                <a:solidFill>
                  <a:schemeClr val="tx1"/>
                </a:solidFill>
                <a:latin typeface="Calibri"/>
                <a:ea typeface="Calibri"/>
                <a:cs typeface="Calibri"/>
              </a:rPr>
              <a:t>Core Contribution</a:t>
            </a:r>
            <a:endParaRPr lang="en-US" sz="2800" b="1">
              <a:solidFill>
                <a:schemeClr val="tx1"/>
              </a:solidFill>
              <a:latin typeface="Calibri"/>
              <a:ea typeface="Calibri"/>
              <a:cs typeface="Calibri"/>
            </a:endParaRPr>
          </a:p>
        </p:txBody>
      </p:sp>
      <p:sp>
        <p:nvSpPr>
          <p:cNvPr id="318" name="Google Shape;318;p35">
            <a:extLst>
              <a:ext uri="{FF2B5EF4-FFF2-40B4-BE49-F238E27FC236}">
                <a16:creationId xmlns:a16="http://schemas.microsoft.com/office/drawing/2014/main" id="{644C386D-030E-F9A0-126F-C2A3F5F3B0A4}"/>
              </a:ext>
            </a:extLst>
          </p:cNvPr>
          <p:cNvSpPr txBox="1">
            <a:spLocks noGrp="1"/>
          </p:cNvSpPr>
          <p:nvPr>
            <p:ph type="subTitle" idx="1"/>
          </p:nvPr>
        </p:nvSpPr>
        <p:spPr>
          <a:xfrm>
            <a:off x="344940" y="2891824"/>
            <a:ext cx="3521726" cy="24832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Char char="•"/>
            </a:pPr>
            <a:r>
              <a:rPr lang="en-US" sz="2200">
                <a:solidFill>
                  <a:schemeClr val="tx1"/>
                </a:solidFill>
                <a:latin typeface="Calibri"/>
                <a:ea typeface="Calibri"/>
                <a:cs typeface="Calibri"/>
              </a:rPr>
              <a:t>Fake review detection as a binary classification task</a:t>
            </a:r>
          </a:p>
          <a:p>
            <a:pPr>
              <a:buChar char="•"/>
            </a:pPr>
            <a:r>
              <a:rPr lang="en-US" sz="2200">
                <a:solidFill>
                  <a:schemeClr val="tx1"/>
                </a:solidFill>
                <a:latin typeface="Calibri"/>
                <a:ea typeface="Calibri"/>
                <a:cs typeface="Calibri"/>
              </a:rPr>
              <a:t>Compared </a:t>
            </a:r>
            <a:r>
              <a:rPr lang="en-US" sz="2200" err="1">
                <a:solidFill>
                  <a:schemeClr val="tx1"/>
                </a:solidFill>
                <a:latin typeface="Calibri"/>
                <a:ea typeface="Calibri"/>
                <a:cs typeface="Calibri"/>
              </a:rPr>
              <a:t>RoBERTa</a:t>
            </a:r>
            <a:r>
              <a:rPr lang="en-US" sz="2200">
                <a:solidFill>
                  <a:schemeClr val="tx1"/>
                </a:solidFill>
                <a:latin typeface="Calibri"/>
                <a:ea typeface="Calibri"/>
                <a:cs typeface="Calibri"/>
              </a:rPr>
              <a:t> vs zero-shot LLM (Qwen)</a:t>
            </a:r>
          </a:p>
          <a:p>
            <a:pPr>
              <a:buChar char="•"/>
            </a:pPr>
            <a:r>
              <a:rPr lang="en-US" sz="2200">
                <a:solidFill>
                  <a:schemeClr val="tx1"/>
                </a:solidFill>
                <a:latin typeface="Calibri"/>
                <a:ea typeface="Calibri"/>
                <a:cs typeface="Calibri"/>
              </a:rPr>
              <a:t>Evaluated performance across review lengths</a:t>
            </a:r>
          </a:p>
          <a:p>
            <a:pPr>
              <a:buChar char="•"/>
            </a:pPr>
            <a:r>
              <a:rPr lang="en-US" sz="2200">
                <a:solidFill>
                  <a:schemeClr val="tx1"/>
                </a:solidFill>
                <a:latin typeface="Calibri"/>
                <a:ea typeface="Calibri"/>
                <a:cs typeface="Calibri"/>
              </a:rPr>
              <a:t>Analyzed robustness under input variation</a:t>
            </a:r>
            <a:endParaRPr lang="en-US" sz="2200">
              <a:solidFill>
                <a:schemeClr val="tx1"/>
              </a:solidFill>
              <a:ea typeface="Calibri"/>
              <a:cs typeface="Calibri"/>
            </a:endParaRPr>
          </a:p>
          <a:p>
            <a:pPr>
              <a:buChar char="•"/>
            </a:pPr>
            <a:endParaRPr lang="en-US" sz="2200">
              <a:solidFill>
                <a:schemeClr val="tx1"/>
              </a:solidFill>
              <a:latin typeface="Calibri"/>
              <a:ea typeface="Calibri"/>
              <a:cs typeface="Calibri"/>
            </a:endParaRPr>
          </a:p>
          <a:p>
            <a:pPr>
              <a:buChar char="•"/>
            </a:pPr>
            <a:endParaRPr lang="en-US" sz="2200">
              <a:solidFill>
                <a:schemeClr val="tx1"/>
              </a:solidFill>
              <a:latin typeface="Calibri"/>
              <a:ea typeface="Calibri"/>
              <a:cs typeface="Calibri"/>
            </a:endParaRPr>
          </a:p>
          <a:p>
            <a:pPr marL="285750" indent="-285750">
              <a:lnSpc>
                <a:spcPct val="90000"/>
              </a:lnSpc>
              <a:spcBef>
                <a:spcPts val="1000"/>
              </a:spcBef>
              <a:buChar char="•"/>
            </a:pPr>
            <a:endParaRPr lang="en-US" sz="2200">
              <a:solidFill>
                <a:schemeClr val="tx1"/>
              </a:solidFill>
              <a:latin typeface="Calibri"/>
              <a:ea typeface="Calibri"/>
              <a:cs typeface="Calibri"/>
            </a:endParaRPr>
          </a:p>
          <a:p>
            <a:pPr marL="285750" indent="-285750">
              <a:lnSpc>
                <a:spcPct val="90000"/>
              </a:lnSpc>
              <a:spcBef>
                <a:spcPts val="1000"/>
              </a:spcBef>
              <a:buChar char="•"/>
            </a:pPr>
            <a:endParaRPr lang="en-US" sz="2200">
              <a:solidFill>
                <a:schemeClr val="tx1"/>
              </a:solidFill>
              <a:latin typeface="Calibri"/>
              <a:ea typeface="Calibri"/>
              <a:cs typeface="Calibri"/>
            </a:endParaRPr>
          </a:p>
        </p:txBody>
      </p:sp>
      <p:sp>
        <p:nvSpPr>
          <p:cNvPr id="319" name="Google Shape;319;p35">
            <a:extLst>
              <a:ext uri="{FF2B5EF4-FFF2-40B4-BE49-F238E27FC236}">
                <a16:creationId xmlns:a16="http://schemas.microsoft.com/office/drawing/2014/main" id="{B46C6F7E-34EA-A550-BE07-A848483BD192}"/>
              </a:ext>
            </a:extLst>
          </p:cNvPr>
          <p:cNvSpPr txBox="1">
            <a:spLocks noGrp="1"/>
          </p:cNvSpPr>
          <p:nvPr>
            <p:ph type="subTitle" idx="2"/>
          </p:nvPr>
        </p:nvSpPr>
        <p:spPr>
          <a:xfrm>
            <a:off x="4111378" y="2896294"/>
            <a:ext cx="3765465" cy="24772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Char char="•"/>
            </a:pPr>
            <a:r>
              <a:rPr lang="en-US" sz="2200">
                <a:solidFill>
                  <a:schemeClr val="tx1"/>
                </a:solidFill>
                <a:latin typeface="Calibri"/>
                <a:ea typeface="Calibri"/>
                <a:cs typeface="Calibri"/>
              </a:rPr>
              <a:t>Task-specific robustness evaluation for fake reviews</a:t>
            </a:r>
          </a:p>
          <a:p>
            <a:pPr>
              <a:buChar char="•"/>
            </a:pPr>
            <a:r>
              <a:rPr lang="en-US" sz="2200">
                <a:solidFill>
                  <a:schemeClr val="tx1"/>
                </a:solidFill>
                <a:latin typeface="Calibri"/>
                <a:ea typeface="Calibri"/>
                <a:cs typeface="Calibri"/>
              </a:rPr>
              <a:t>Focus on prediction stability (not just accuracy)</a:t>
            </a:r>
          </a:p>
          <a:p>
            <a:pPr>
              <a:buChar char="•"/>
            </a:pPr>
            <a:r>
              <a:rPr lang="en-US" sz="2200">
                <a:solidFill>
                  <a:schemeClr val="tx1"/>
                </a:solidFill>
                <a:latin typeface="Calibri"/>
                <a:ea typeface="Calibri"/>
                <a:cs typeface="Calibri"/>
              </a:rPr>
              <a:t>Analysis of prompt sensitivity &amp; input length </a:t>
            </a:r>
          </a:p>
          <a:p>
            <a:pPr>
              <a:buChar char="•"/>
            </a:pPr>
            <a:r>
              <a:rPr lang="en-US" sz="2200">
                <a:solidFill>
                  <a:schemeClr val="tx1"/>
                </a:solidFill>
                <a:latin typeface="Calibri"/>
                <a:ea typeface="Calibri"/>
                <a:cs typeface="Calibri"/>
              </a:rPr>
              <a:t>Empirical comparison of supervised vs zero-shot LLMs</a:t>
            </a:r>
            <a:endParaRPr lang="en-US" sz="2200">
              <a:solidFill>
                <a:schemeClr val="tx1"/>
              </a:solidFill>
              <a:latin typeface="Calibri"/>
              <a:cs typeface="Calibri"/>
            </a:endParaRPr>
          </a:p>
          <a:p>
            <a:pPr marL="285750" indent="-285750">
              <a:lnSpc>
                <a:spcPct val="90000"/>
              </a:lnSpc>
              <a:spcBef>
                <a:spcPts val="1000"/>
              </a:spcBef>
              <a:buChar char="•"/>
            </a:pPr>
            <a:endParaRPr lang="en-US" sz="2200">
              <a:solidFill>
                <a:schemeClr val="tx1"/>
              </a:solidFill>
              <a:latin typeface="Calibri"/>
              <a:ea typeface="Calibri"/>
              <a:cs typeface="Calibri"/>
            </a:endParaRPr>
          </a:p>
          <a:p>
            <a:pPr marL="285750" indent="-285750">
              <a:lnSpc>
                <a:spcPct val="90000"/>
              </a:lnSpc>
              <a:spcBef>
                <a:spcPts val="1000"/>
              </a:spcBef>
              <a:buChar char="•"/>
            </a:pPr>
            <a:endParaRPr>
              <a:solidFill>
                <a:schemeClr val="tx1"/>
              </a:solidFill>
              <a:latin typeface="Calibri"/>
              <a:ea typeface="Calibri"/>
              <a:cs typeface="Calibri"/>
            </a:endParaRPr>
          </a:p>
        </p:txBody>
      </p:sp>
      <p:sp>
        <p:nvSpPr>
          <p:cNvPr id="320" name="Google Shape;320;p35">
            <a:extLst>
              <a:ext uri="{FF2B5EF4-FFF2-40B4-BE49-F238E27FC236}">
                <a16:creationId xmlns:a16="http://schemas.microsoft.com/office/drawing/2014/main" id="{440E609B-990E-3B1A-A3C6-CB2339A97CA9}"/>
              </a:ext>
            </a:extLst>
          </p:cNvPr>
          <p:cNvSpPr txBox="1">
            <a:spLocks noGrp="1"/>
          </p:cNvSpPr>
          <p:nvPr>
            <p:ph type="subTitle" idx="3"/>
          </p:nvPr>
        </p:nvSpPr>
        <p:spPr>
          <a:xfrm>
            <a:off x="7975583" y="2892207"/>
            <a:ext cx="3654167" cy="3467556"/>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Char char="•"/>
            </a:pPr>
            <a:r>
              <a:rPr lang="en-US" sz="2200">
                <a:solidFill>
                  <a:schemeClr val="tx1"/>
                </a:solidFill>
                <a:latin typeface="Calibri"/>
                <a:ea typeface="Calibri"/>
                <a:cs typeface="Calibri"/>
              </a:rPr>
              <a:t>Systematic prompt rewording evaluation</a:t>
            </a:r>
          </a:p>
          <a:p>
            <a:pPr>
              <a:buChar char="•"/>
            </a:pPr>
            <a:r>
              <a:rPr lang="en-US" sz="2200">
                <a:solidFill>
                  <a:schemeClr val="tx1"/>
                </a:solidFill>
                <a:latin typeface="Calibri"/>
                <a:ea typeface="Calibri"/>
                <a:cs typeface="Calibri"/>
              </a:rPr>
              <a:t>Explore more zero shot prompting strategies</a:t>
            </a:r>
          </a:p>
          <a:p>
            <a:pPr>
              <a:buChar char="•"/>
            </a:pPr>
            <a:r>
              <a:rPr lang="en-US" sz="2200">
                <a:solidFill>
                  <a:schemeClr val="tx1"/>
                </a:solidFill>
                <a:latin typeface="Calibri"/>
                <a:ea typeface="Calibri"/>
                <a:cs typeface="Calibri"/>
              </a:rPr>
              <a:t>Compare with stronger open/closed LLMs</a:t>
            </a:r>
          </a:p>
          <a:p>
            <a:pPr>
              <a:buChar char="•"/>
            </a:pPr>
            <a:r>
              <a:rPr lang="en-US" sz="2200">
                <a:solidFill>
                  <a:schemeClr val="tx1"/>
                </a:solidFill>
                <a:latin typeface="Calibri"/>
                <a:ea typeface="Calibri"/>
                <a:cs typeface="Calibri"/>
              </a:rPr>
              <a:t>Perform deeper error and stability analysis</a:t>
            </a:r>
          </a:p>
          <a:p>
            <a:pPr>
              <a:buChar char="•"/>
            </a:pPr>
            <a:endParaRPr lang="en-US" sz="2400">
              <a:solidFill>
                <a:schemeClr val="tx1"/>
              </a:solidFill>
              <a:latin typeface="Calibri"/>
              <a:ea typeface="Calibri"/>
              <a:cs typeface="Calibri"/>
            </a:endParaRPr>
          </a:p>
          <a:p>
            <a:pPr>
              <a:buChar char="•"/>
            </a:pPr>
            <a:endParaRPr lang="en-US" sz="2200">
              <a:solidFill>
                <a:schemeClr val="tx1"/>
              </a:solidFill>
              <a:latin typeface="Calibri"/>
              <a:ea typeface="Calibri"/>
              <a:cs typeface="Calibri"/>
            </a:endParaRPr>
          </a:p>
          <a:p>
            <a:pPr marL="285750" indent="-285750">
              <a:lnSpc>
                <a:spcPct val="90000"/>
              </a:lnSpc>
              <a:spcBef>
                <a:spcPts val="1000"/>
              </a:spcBef>
              <a:buChar char="•"/>
            </a:pPr>
            <a:endParaRPr lang="en-US" sz="2200">
              <a:solidFill>
                <a:schemeClr val="tx1"/>
              </a:solidFill>
              <a:latin typeface="Calibri"/>
              <a:ea typeface="Calibri"/>
              <a:cs typeface="Calibri"/>
            </a:endParaRPr>
          </a:p>
          <a:p>
            <a:pPr marL="0" indent="0">
              <a:lnSpc>
                <a:spcPct val="90000"/>
              </a:lnSpc>
              <a:spcBef>
                <a:spcPts val="1000"/>
              </a:spcBef>
            </a:pPr>
            <a:endParaRPr lang="en-US" sz="2200">
              <a:latin typeface="Calibri"/>
              <a:ea typeface="Calibri"/>
              <a:cs typeface="Calibri"/>
            </a:endParaRPr>
          </a:p>
        </p:txBody>
      </p:sp>
      <p:grpSp>
        <p:nvGrpSpPr>
          <p:cNvPr id="4" name="Google Shape;10277;p67">
            <a:extLst>
              <a:ext uri="{FF2B5EF4-FFF2-40B4-BE49-F238E27FC236}">
                <a16:creationId xmlns:a16="http://schemas.microsoft.com/office/drawing/2014/main" id="{2EE931C0-8285-C187-F8CA-64DD963D9DC0}"/>
              </a:ext>
            </a:extLst>
          </p:cNvPr>
          <p:cNvGrpSpPr/>
          <p:nvPr/>
        </p:nvGrpSpPr>
        <p:grpSpPr>
          <a:xfrm>
            <a:off x="2039195" y="1622472"/>
            <a:ext cx="561061" cy="564044"/>
            <a:chOff x="-3852025" y="2764950"/>
            <a:chExt cx="291450" cy="293000"/>
          </a:xfrm>
          <a:solidFill>
            <a:schemeClr val="tx1">
              <a:lumMod val="40000"/>
              <a:lumOff val="60000"/>
            </a:schemeClr>
          </a:solidFill>
        </p:grpSpPr>
        <p:sp>
          <p:nvSpPr>
            <p:cNvPr id="5" name="Google Shape;10278;p67">
              <a:extLst>
                <a:ext uri="{FF2B5EF4-FFF2-40B4-BE49-F238E27FC236}">
                  <a16:creationId xmlns:a16="http://schemas.microsoft.com/office/drawing/2014/main" id="{4A287F98-B414-FFCA-8EEC-0F1501974EAA}"/>
                </a:ext>
              </a:extLst>
            </p:cNvPr>
            <p:cNvSpPr/>
            <p:nvPr/>
          </p:nvSpPr>
          <p:spPr>
            <a:xfrm>
              <a:off x="-3852025" y="2764950"/>
              <a:ext cx="291450" cy="293000"/>
            </a:xfrm>
            <a:custGeom>
              <a:avLst/>
              <a:gdLst/>
              <a:ahLst/>
              <a:cxnLst/>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6" name="Google Shape;10279;p67">
              <a:extLst>
                <a:ext uri="{FF2B5EF4-FFF2-40B4-BE49-F238E27FC236}">
                  <a16:creationId xmlns:a16="http://schemas.microsoft.com/office/drawing/2014/main" id="{5DAE10AA-2649-0A28-13C3-42C35E6187EC}"/>
                </a:ext>
              </a:extLst>
            </p:cNvPr>
            <p:cNvSpPr/>
            <p:nvPr/>
          </p:nvSpPr>
          <p:spPr>
            <a:xfrm>
              <a:off x="-3707100" y="2937425"/>
              <a:ext cx="103200" cy="67775"/>
            </a:xfrm>
            <a:custGeom>
              <a:avLst/>
              <a:gdLst/>
              <a:ahLst/>
              <a:cxnLst/>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pFill/>
            <a:ln>
              <a:solidFill>
                <a:srgbClr val="E2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15" name="Google Shape;317;p35">
            <a:extLst>
              <a:ext uri="{FF2B5EF4-FFF2-40B4-BE49-F238E27FC236}">
                <a16:creationId xmlns:a16="http://schemas.microsoft.com/office/drawing/2014/main" id="{DDC6F85A-D436-2B2F-6482-C2569CC05DF2}"/>
              </a:ext>
            </a:extLst>
          </p:cNvPr>
          <p:cNvSpPr txBox="1">
            <a:spLocks/>
          </p:cNvSpPr>
          <p:nvPr/>
        </p:nvSpPr>
        <p:spPr>
          <a:xfrm>
            <a:off x="51381" y="2453644"/>
            <a:ext cx="3985595" cy="444563"/>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9pPr>
          </a:lstStyle>
          <a:p>
            <a:pPr marL="0" indent="0" algn="ctr"/>
            <a:r>
              <a:rPr lang="en" sz="2800" b="1" kern="0">
                <a:solidFill>
                  <a:schemeClr val="tx1"/>
                </a:solidFill>
                <a:latin typeface="Calibri"/>
                <a:ea typeface="Calibri"/>
                <a:cs typeface="Calibri"/>
              </a:rPr>
              <a:t>Project Summary</a:t>
            </a:r>
            <a:endParaRPr lang="en-US" sz="2800" b="1" kern="0">
              <a:solidFill>
                <a:schemeClr val="tx1"/>
              </a:solidFill>
              <a:latin typeface="Calibri"/>
              <a:ea typeface="Calibri"/>
              <a:cs typeface="Calibri"/>
            </a:endParaRPr>
          </a:p>
        </p:txBody>
      </p:sp>
      <p:sp>
        <p:nvSpPr>
          <p:cNvPr id="18" name="Google Shape;317;p35">
            <a:extLst>
              <a:ext uri="{FF2B5EF4-FFF2-40B4-BE49-F238E27FC236}">
                <a16:creationId xmlns:a16="http://schemas.microsoft.com/office/drawing/2014/main" id="{D84CF601-C7E6-BD6E-919F-1A6C7E80A096}"/>
              </a:ext>
            </a:extLst>
          </p:cNvPr>
          <p:cNvSpPr txBox="1">
            <a:spLocks/>
          </p:cNvSpPr>
          <p:nvPr/>
        </p:nvSpPr>
        <p:spPr>
          <a:xfrm>
            <a:off x="7983644" y="2459288"/>
            <a:ext cx="3142804" cy="438919"/>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9pPr>
          </a:lstStyle>
          <a:p>
            <a:pPr marL="0" indent="0" algn="ctr"/>
            <a:r>
              <a:rPr lang="en" sz="2800" b="1" kern="0">
                <a:solidFill>
                  <a:schemeClr val="tx1"/>
                </a:solidFill>
                <a:latin typeface="Calibri"/>
                <a:ea typeface="Calibri"/>
                <a:cs typeface="Calibri"/>
              </a:rPr>
              <a:t>Next Steps</a:t>
            </a:r>
            <a:endParaRPr lang="en-US" sz="2800" b="1" kern="0">
              <a:solidFill>
                <a:schemeClr val="tx1"/>
              </a:solidFill>
              <a:latin typeface="Calibri"/>
              <a:ea typeface="Calibri"/>
              <a:cs typeface="Calibri"/>
            </a:endParaRPr>
          </a:p>
        </p:txBody>
      </p:sp>
      <p:grpSp>
        <p:nvGrpSpPr>
          <p:cNvPr id="19" name="Google Shape;8628;p62">
            <a:extLst>
              <a:ext uri="{FF2B5EF4-FFF2-40B4-BE49-F238E27FC236}">
                <a16:creationId xmlns:a16="http://schemas.microsoft.com/office/drawing/2014/main" id="{420B6E3F-C97E-167F-20AB-11B5951506AB}"/>
              </a:ext>
            </a:extLst>
          </p:cNvPr>
          <p:cNvGrpSpPr/>
          <p:nvPr/>
        </p:nvGrpSpPr>
        <p:grpSpPr>
          <a:xfrm>
            <a:off x="9312754" y="1630197"/>
            <a:ext cx="561061" cy="565200"/>
            <a:chOff x="-38275925" y="1946600"/>
            <a:chExt cx="231600" cy="317450"/>
          </a:xfrm>
          <a:solidFill>
            <a:schemeClr val="tx1">
              <a:lumMod val="40000"/>
              <a:lumOff val="60000"/>
            </a:schemeClr>
          </a:solidFill>
        </p:grpSpPr>
        <p:sp>
          <p:nvSpPr>
            <p:cNvPr id="20" name="Google Shape;8629;p62">
              <a:extLst>
                <a:ext uri="{FF2B5EF4-FFF2-40B4-BE49-F238E27FC236}">
                  <a16:creationId xmlns:a16="http://schemas.microsoft.com/office/drawing/2014/main" id="{33BEF4D8-E667-9FE6-8F4A-81598A52B9EC}"/>
                </a:ext>
              </a:extLst>
            </p:cNvPr>
            <p:cNvSpPr/>
            <p:nvPr/>
          </p:nvSpPr>
          <p:spPr>
            <a:xfrm>
              <a:off x="-38275925" y="1946600"/>
              <a:ext cx="231600" cy="317450"/>
            </a:xfrm>
            <a:custGeom>
              <a:avLst/>
              <a:gdLst/>
              <a:ahLst/>
              <a:cxnLst/>
              <a:rect l="l" t="t" r="r" b="b"/>
              <a:pathLst>
                <a:path w="9264" h="12698" extrusionOk="0">
                  <a:moveTo>
                    <a:pt x="4546" y="892"/>
                  </a:moveTo>
                  <a:cubicBezTo>
                    <a:pt x="4811" y="892"/>
                    <a:pt x="5082" y="920"/>
                    <a:pt x="5357" y="977"/>
                  </a:cubicBezTo>
                  <a:cubicBezTo>
                    <a:pt x="6964" y="1292"/>
                    <a:pt x="8287" y="2742"/>
                    <a:pt x="8287" y="4600"/>
                  </a:cubicBezTo>
                  <a:cubicBezTo>
                    <a:pt x="8287" y="5987"/>
                    <a:pt x="7531" y="7215"/>
                    <a:pt x="6396" y="7845"/>
                  </a:cubicBezTo>
                  <a:cubicBezTo>
                    <a:pt x="5987" y="8034"/>
                    <a:pt x="5798" y="8475"/>
                    <a:pt x="5798" y="8885"/>
                  </a:cubicBezTo>
                  <a:lnTo>
                    <a:pt x="5798" y="9169"/>
                  </a:lnTo>
                  <a:lnTo>
                    <a:pt x="3309" y="9169"/>
                  </a:lnTo>
                  <a:lnTo>
                    <a:pt x="3309" y="8854"/>
                  </a:lnTo>
                  <a:cubicBezTo>
                    <a:pt x="3309" y="8412"/>
                    <a:pt x="3088" y="8034"/>
                    <a:pt x="2679" y="7782"/>
                  </a:cubicBezTo>
                  <a:cubicBezTo>
                    <a:pt x="1545" y="7121"/>
                    <a:pt x="820" y="5955"/>
                    <a:pt x="820" y="4600"/>
                  </a:cubicBezTo>
                  <a:cubicBezTo>
                    <a:pt x="820" y="2536"/>
                    <a:pt x="2499" y="892"/>
                    <a:pt x="4546" y="892"/>
                  </a:cubicBezTo>
                  <a:close/>
                  <a:moveTo>
                    <a:pt x="5798" y="9956"/>
                  </a:moveTo>
                  <a:lnTo>
                    <a:pt x="5798" y="10681"/>
                  </a:lnTo>
                  <a:cubicBezTo>
                    <a:pt x="5798" y="10901"/>
                    <a:pt x="5609" y="11059"/>
                    <a:pt x="5357" y="11090"/>
                  </a:cubicBezTo>
                  <a:lnTo>
                    <a:pt x="3719" y="11090"/>
                  </a:lnTo>
                  <a:cubicBezTo>
                    <a:pt x="3467" y="11090"/>
                    <a:pt x="3309" y="10901"/>
                    <a:pt x="3277" y="10681"/>
                  </a:cubicBezTo>
                  <a:lnTo>
                    <a:pt x="3277" y="9956"/>
                  </a:lnTo>
                  <a:close/>
                  <a:moveTo>
                    <a:pt x="4443" y="1"/>
                  </a:moveTo>
                  <a:cubicBezTo>
                    <a:pt x="2049" y="32"/>
                    <a:pt x="1" y="2080"/>
                    <a:pt x="1" y="4600"/>
                  </a:cubicBezTo>
                  <a:cubicBezTo>
                    <a:pt x="1" y="6270"/>
                    <a:pt x="883" y="7719"/>
                    <a:pt x="2238" y="8539"/>
                  </a:cubicBezTo>
                  <a:cubicBezTo>
                    <a:pt x="2332" y="8570"/>
                    <a:pt x="2395" y="8696"/>
                    <a:pt x="2458" y="8759"/>
                  </a:cubicBezTo>
                  <a:lnTo>
                    <a:pt x="2458" y="10681"/>
                  </a:lnTo>
                  <a:cubicBezTo>
                    <a:pt x="2458" y="11216"/>
                    <a:pt x="2805" y="11689"/>
                    <a:pt x="3309" y="11847"/>
                  </a:cubicBezTo>
                  <a:cubicBezTo>
                    <a:pt x="3467" y="12351"/>
                    <a:pt x="3939" y="12697"/>
                    <a:pt x="4506" y="12697"/>
                  </a:cubicBezTo>
                  <a:cubicBezTo>
                    <a:pt x="5042" y="12697"/>
                    <a:pt x="5514" y="12351"/>
                    <a:pt x="5672" y="11847"/>
                  </a:cubicBezTo>
                  <a:cubicBezTo>
                    <a:pt x="6176" y="11689"/>
                    <a:pt x="6554" y="11216"/>
                    <a:pt x="6554" y="10681"/>
                  </a:cubicBezTo>
                  <a:lnTo>
                    <a:pt x="6554" y="8854"/>
                  </a:lnTo>
                  <a:cubicBezTo>
                    <a:pt x="6554" y="8728"/>
                    <a:pt x="6617" y="8570"/>
                    <a:pt x="6712" y="8507"/>
                  </a:cubicBezTo>
                  <a:cubicBezTo>
                    <a:pt x="8318" y="7593"/>
                    <a:pt x="9263" y="5735"/>
                    <a:pt x="8948" y="3750"/>
                  </a:cubicBezTo>
                  <a:cubicBezTo>
                    <a:pt x="8602" y="1702"/>
                    <a:pt x="6806" y="1"/>
                    <a:pt x="4443"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1" name="Google Shape;8630;p62">
              <a:extLst>
                <a:ext uri="{FF2B5EF4-FFF2-40B4-BE49-F238E27FC236}">
                  <a16:creationId xmlns:a16="http://schemas.microsoft.com/office/drawing/2014/main" id="{73BF62F7-2124-249A-2C9D-0CE2A0A4FAC6}"/>
                </a:ext>
              </a:extLst>
            </p:cNvPr>
            <p:cNvSpPr/>
            <p:nvPr/>
          </p:nvSpPr>
          <p:spPr>
            <a:xfrm>
              <a:off x="-38235750" y="1989125"/>
              <a:ext cx="84300" cy="83525"/>
            </a:xfrm>
            <a:custGeom>
              <a:avLst/>
              <a:gdLst/>
              <a:ahLst/>
              <a:cxnLst/>
              <a:rect l="l" t="t" r="r" b="b"/>
              <a:pathLst>
                <a:path w="3372" h="3341" extrusionOk="0">
                  <a:moveTo>
                    <a:pt x="2931" y="1"/>
                  </a:moveTo>
                  <a:cubicBezTo>
                    <a:pt x="1355" y="1"/>
                    <a:pt x="64" y="1293"/>
                    <a:pt x="1" y="2899"/>
                  </a:cubicBezTo>
                  <a:cubicBezTo>
                    <a:pt x="1" y="3120"/>
                    <a:pt x="158" y="3340"/>
                    <a:pt x="410" y="3340"/>
                  </a:cubicBezTo>
                  <a:cubicBezTo>
                    <a:pt x="631" y="3340"/>
                    <a:pt x="851" y="3120"/>
                    <a:pt x="851" y="2899"/>
                  </a:cubicBezTo>
                  <a:cubicBezTo>
                    <a:pt x="883" y="1765"/>
                    <a:pt x="1796" y="820"/>
                    <a:pt x="2931" y="820"/>
                  </a:cubicBezTo>
                  <a:cubicBezTo>
                    <a:pt x="3151" y="820"/>
                    <a:pt x="3372" y="631"/>
                    <a:pt x="3372" y="379"/>
                  </a:cubicBezTo>
                  <a:cubicBezTo>
                    <a:pt x="3372" y="190"/>
                    <a:pt x="3151" y="1"/>
                    <a:pt x="2931" y="1"/>
                  </a:cubicBezTo>
                  <a:close/>
                </a:path>
              </a:pathLst>
            </a:custGeom>
            <a:grp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22" name="Google Shape;8859;p63">
            <a:extLst>
              <a:ext uri="{FF2B5EF4-FFF2-40B4-BE49-F238E27FC236}">
                <a16:creationId xmlns:a16="http://schemas.microsoft.com/office/drawing/2014/main" id="{F3E55192-3243-C1C5-84E5-46F4CFA8E69B}"/>
              </a:ext>
            </a:extLst>
          </p:cNvPr>
          <p:cNvSpPr/>
          <p:nvPr/>
        </p:nvSpPr>
        <p:spPr>
          <a:xfrm>
            <a:off x="5715073" y="1630197"/>
            <a:ext cx="565200" cy="561600"/>
          </a:xfrm>
          <a:custGeom>
            <a:avLst/>
            <a:gdLst/>
            <a:ahLst/>
            <a:cxnLst/>
            <a:rect l="l" t="t" r="r" b="b"/>
            <a:pathLst>
              <a:path w="12877" h="12724" extrusionOk="0">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chemeClr val="tx1">
              <a:lumMod val="40000"/>
              <a:lumOff val="60000"/>
            </a:schemeClr>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8" name="Google Shape;269;p31">
            <a:extLst>
              <a:ext uri="{FF2B5EF4-FFF2-40B4-BE49-F238E27FC236}">
                <a16:creationId xmlns:a16="http://schemas.microsoft.com/office/drawing/2014/main" id="{A10D2D21-2732-7B78-5F84-8316658E0DB2}"/>
              </a:ext>
            </a:extLst>
          </p:cNvPr>
          <p:cNvSpPr txBox="1">
            <a:spLocks/>
          </p:cNvSpPr>
          <p:nvPr/>
        </p:nvSpPr>
        <p:spPr>
          <a:xfrm>
            <a:off x="249786" y="184181"/>
            <a:ext cx="609698" cy="434043"/>
          </a:xfrm>
          <a:prstGeom prst="rect">
            <a:avLst/>
          </a:prstGeom>
          <a:solidFill>
            <a:srgbClr val="E2E4FC"/>
          </a:solidFill>
          <a:ln>
            <a:solidFill>
              <a:srgbClr val="E3E4FC"/>
            </a:solidFill>
          </a:ln>
        </p:spPr>
        <p:txBody>
          <a:bodyPr spcFirstLastPara="1" wrap="square" lIns="121900" tIns="121900" rIns="121900" bIns="121900" anchor="ctr" anchorCtr="0">
            <a:noAutofit/>
          </a:bodyPr>
          <a:lstStyle>
            <a:defPPr marR="0" lvl="0" algn="l" rtl="0">
              <a:lnSpc>
                <a:spcPct val="100000"/>
              </a:lnSpc>
              <a:spcBef>
                <a:spcPts val="0"/>
              </a:spcBef>
              <a:spcAft>
                <a:spcPts val="0"/>
              </a:spcAft>
              <a:defRPr/>
            </a:defPPr>
            <a:lvl1pPr marL="457200" marR="0" lvl="0"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1pPr>
            <a:lvl2pPr marL="914400" marR="0" lvl="1"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2pPr>
            <a:lvl3pPr marL="1371600" marR="0" lvl="2"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3pPr>
            <a:lvl4pPr marL="1828800" marR="0" lvl="3"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4pPr>
            <a:lvl5pPr marL="2286000" marR="0" lvl="4"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5pPr>
            <a:lvl6pPr marL="2743200" marR="0" lvl="5"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6pPr>
            <a:lvl7pPr marL="3200400" marR="0" lvl="6"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7pPr>
            <a:lvl8pPr marL="3657600" marR="0" lvl="7"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8pPr>
            <a:lvl9pPr marL="4114800" marR="0" lvl="8" indent="-304800" algn="l" rtl="0">
              <a:lnSpc>
                <a:spcPct val="100000"/>
              </a:lnSpc>
              <a:spcBef>
                <a:spcPts val="0"/>
              </a:spcBef>
              <a:spcAft>
                <a:spcPts val="0"/>
              </a:spcAft>
              <a:buClr>
                <a:srgbClr val="000000"/>
              </a:buClr>
              <a:buSzPts val="1200"/>
              <a:buFont typeface="Arial"/>
              <a:buNone/>
              <a:defRPr sz="1867" b="0" i="0" u="none" strike="noStrike" cap="none">
                <a:solidFill>
                  <a:srgbClr val="000000"/>
                </a:solidFill>
                <a:latin typeface="Arial"/>
                <a:ea typeface="Arial"/>
                <a:cs typeface="Arial"/>
                <a:sym typeface="Arial"/>
              </a:defRPr>
            </a:lvl9pPr>
          </a:lstStyle>
          <a:p>
            <a:pPr marL="0" indent="0"/>
            <a:r>
              <a:rPr lang="en" sz="2400" b="1" kern="0">
                <a:latin typeface="Calibri"/>
                <a:ea typeface="Calibri"/>
                <a:cs typeface="Calibri"/>
              </a:rPr>
              <a:t>07</a:t>
            </a:r>
          </a:p>
        </p:txBody>
      </p:sp>
    </p:spTree>
    <p:extLst>
      <p:ext uri="{BB962C8B-B14F-4D97-AF65-F5344CB8AC3E}">
        <p14:creationId xmlns:p14="http://schemas.microsoft.com/office/powerpoint/2010/main" val="2105624432"/>
      </p:ext>
    </p:extLst>
  </p:cSld>
  <p:clrMapOvr>
    <a:masterClrMapping/>
  </p:clrMapOvr>
  <p:transition spd="slow">
    <p:push dir="u"/>
  </p:transition>
</p:sld>
</file>

<file path=ppt/theme/theme1.xml><?xml version="1.0" encoding="utf-8"?>
<a:theme xmlns:a="http://schemas.openxmlformats.org/drawingml/2006/main"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15</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Data Migration Project Proposal by Slidesgo</vt:lpstr>
      <vt:lpstr>Robust Fake Review Detection with Large Language Models:  A Prompt Rewording and Review Length Analysis</vt:lpstr>
      <vt:lpstr>Overview</vt:lpstr>
      <vt:lpstr>Motivation: Reliability of LLM-Based Detection</vt:lpstr>
      <vt:lpstr>Problem Statement &amp; Research Gap</vt:lpstr>
      <vt:lpstr>Our Research Objective</vt:lpstr>
      <vt:lpstr>PowerPoint Presentation</vt:lpstr>
      <vt:lpstr>Positioning Our Work</vt:lpstr>
      <vt:lpstr>Methodology: Dataset</vt:lpstr>
      <vt:lpstr>Methodology: LLM</vt:lpstr>
      <vt:lpstr>Methodology: Evaluation</vt:lpstr>
      <vt:lpstr>Methodology: System Architecture</vt:lpstr>
      <vt:lpstr>Experiment 1: RoBERTa (Fine-Tuned)</vt:lpstr>
      <vt:lpstr>Experiment 2: Qwen2.5-7B</vt:lpstr>
      <vt:lpstr>PowerPoint Presentation</vt:lpstr>
      <vt:lpstr>PowerPoint Presentation</vt:lpstr>
      <vt:lpstr>PowerPoint Presentation</vt:lpstr>
      <vt:lpstr>Limitations in Various Contexts</vt:lpstr>
      <vt:lpstr>Conclusion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92</cp:revision>
  <dcterms:created xsi:type="dcterms:W3CDTF">2026-02-19T00:56:23Z</dcterms:created>
  <dcterms:modified xsi:type="dcterms:W3CDTF">2026-03-19T15:20:57Z</dcterms:modified>
</cp:coreProperties>
</file>